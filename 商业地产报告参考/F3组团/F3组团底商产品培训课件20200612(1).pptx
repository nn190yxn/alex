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9" r:id="rId3"/>
    <p:sldId id="829" r:id="rId4"/>
    <p:sldId id="855" r:id="rId5"/>
    <p:sldId id="909" r:id="rId6"/>
    <p:sldId id="910" r:id="rId7"/>
    <p:sldId id="911" r:id="rId8"/>
    <p:sldId id="836" r:id="rId10"/>
    <p:sldId id="901" r:id="rId11"/>
    <p:sldId id="856" r:id="rId12"/>
    <p:sldId id="337" r:id="rId13"/>
    <p:sldId id="345" r:id="rId14"/>
    <p:sldId id="912" r:id="rId15"/>
    <p:sldId id="914" r:id="rId16"/>
    <p:sldId id="915" r:id="rId17"/>
    <p:sldId id="916" r:id="rId18"/>
    <p:sldId id="918" r:id="rId19"/>
    <p:sldId id="919" r:id="rId20"/>
    <p:sldId id="920" r:id="rId21"/>
    <p:sldId id="917" r:id="rId22"/>
    <p:sldId id="261" r:id="rId23"/>
  </p:sldIdLst>
  <p:sldSz cx="12192000" cy="6858000"/>
  <p:notesSz cx="6858000" cy="9144000"/>
  <p:defaultText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AEAEA"/>
    <a:srgbClr val="FCEBE0"/>
    <a:srgbClr val="FBE6D7"/>
    <a:srgbClr val="13F2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16" autoAdjust="0"/>
    <p:restoredTop sz="95092" autoAdjust="0"/>
  </p:normalViewPr>
  <p:slideViewPr>
    <p:cSldViewPr snapToGrid="0" snapToObjects="1">
      <p:cViewPr varScale="1">
        <p:scale>
          <a:sx n="83" d="100"/>
          <a:sy n="83" d="100"/>
        </p:scale>
        <p:origin x="-389" y="-58"/>
      </p:cViewPr>
      <p:guideLst>
        <p:guide orient="horz" pos="19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D6D34-55E3-9D4E-B67C-09DA4E963701}"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26835-E369-1A46-ADD8-1C724DDDCB0A}"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F275422B-04BC-46EC-8F26-E0FD5848B6D5}"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179DCC44-D59F-4ADE-8026-ABD66ABC10F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21C6598B-FAAE-4690-9035-5835A3AFBB6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9"/>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9"/>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0BC48129-8B90-41C3-8F8E-DB4D7B7F548C}"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9"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2"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7B6694DC-26CC-4915-8BB7-D24181C39364}" type="datetime1">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3984791-77BA-4685-B37B-727AF02D8C22}"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C85BAF-EE3B-433E-A07A-C1F3C0AA974E}" type="datetime1">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8B629CEC-C61E-434C-82C7-67ABF48A2B80}"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3C293CB-100E-4030-B3F4-6713F6FB69B1}"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764F6251-1005-4933-8BC6-880E49782A1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a:xfrm>
            <a:off x="838202" y="365127"/>
            <a:ext cx="7734300" cy="5811839"/>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CD6ABBE1-587B-4096-841B-9A0155F08494}"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D9CB2F3D-D3E3-4F8C-A985-E0E087285DDE}" type="datetime1">
              <a:rPr kumimoji="1" lang="zh-CN" altLang="en-US" smtClean="0"/>
            </a:fld>
            <a:endParaRPr kumimoji="1"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7054C4FD-7E9E-A448-98D3-6D4D6A94B966}" type="slidenum">
              <a:rPr kumimoji="1" lang="zh-CN" altLang="en-US" smtClean="0"/>
            </a:fld>
            <a:endParaRPr kumimoji="1" lang="zh-CN" altLang="en-US"/>
          </a:p>
        </p:txBody>
      </p:sp>
      <p:sp>
        <p:nvSpPr>
          <p:cNvPr id="8" name="矩形 7"/>
          <p:cNvSpPr/>
          <p:nvPr userDrawn="1"/>
        </p:nvSpPr>
        <p:spPr>
          <a:xfrm>
            <a:off x="1682151" y="6346626"/>
            <a:ext cx="9411419" cy="400105"/>
          </a:xfrm>
          <a:prstGeom prst="rect">
            <a:avLst/>
          </a:prstGeom>
          <a:noFill/>
        </p:spPr>
        <p:txBody>
          <a:bodyPr wrap="square" lIns="91436" tIns="45718" rIns="91436" bIns="45718">
            <a:spAutoFit/>
            <a:scene3d>
              <a:camera prst="orthographicFront"/>
              <a:lightRig rig="soft" dir="t">
                <a:rot lat="0" lon="0" rev="10800000"/>
              </a:lightRig>
            </a:scene3d>
            <a:sp3d>
              <a:bevelT w="27940" h="12700"/>
              <a:contourClr>
                <a:srgbClr val="DDDDDD"/>
              </a:contourClr>
            </a:sp3d>
          </a:bodyPr>
          <a:lstStyle/>
          <a:p>
            <a:pPr algn="dist"/>
            <a:r>
              <a:rPr lang="zh-CN" altLang="en-US" sz="2000" b="1" cap="none" spc="151" dirty="0">
                <a:ln w="11430"/>
                <a:solidFill>
                  <a:srgbClr val="F8F8F8"/>
                </a:solidFill>
                <a:effectLst>
                  <a:outerShdw blurRad="25400" algn="tl" rotWithShape="0">
                    <a:srgbClr val="000000">
                      <a:alpha val="43000"/>
                    </a:srgbClr>
                  </a:outerShdw>
                </a:effectLst>
              </a:rPr>
              <a:t>仅供内部培训使用</a:t>
            </a:r>
            <a:endParaRPr lang="zh-CN" altLang="en-US" sz="2000" b="1" cap="none" spc="151" dirty="0">
              <a:ln w="11430"/>
              <a:solidFill>
                <a:srgbClr val="F8F8F8"/>
              </a:solidFill>
              <a:effectLst>
                <a:outerShdw blurRad="25400" algn="tl" rotWithShape="0">
                  <a:srgbClr val="000000">
                    <a:alpha val="43000"/>
                  </a:srgbClr>
                </a:outerShdw>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9pPr>
    </p:bodyStyle>
    <p:other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3.jpeg"/><Relationship Id="rId7" Type="http://schemas.openxmlformats.org/officeDocument/2006/relationships/image" Target="../media/image32.jpeg"/><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jpeg"/><Relationship Id="rId1" Type="http://schemas.openxmlformats.org/officeDocument/2006/relationships/image" Target="../media/image34.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325882" y="2240282"/>
            <a:ext cx="9292591" cy="707887"/>
          </a:xfrm>
          <a:prstGeom prst="rect">
            <a:avLst/>
          </a:prstGeom>
          <a:noFill/>
        </p:spPr>
        <p:txBody>
          <a:bodyPr wrap="square" lIns="91436" tIns="45718" rIns="91436" bIns="45718" rtlCol="0">
            <a:spAutoFit/>
          </a:bodyPr>
          <a:lstStyle/>
          <a:p>
            <a:pPr algn="ctr"/>
            <a:r>
              <a:rPr lang="en-US" altLang="zh-CN" sz="4000" b="1" dirty="0">
                <a:solidFill>
                  <a:srgbClr val="002060"/>
                </a:solidFill>
                <a:latin typeface="微软雅黑" panose="020B0503020204020204" pitchFamily="34" charset="-122"/>
                <a:ea typeface="微软雅黑" panose="020B0503020204020204" pitchFamily="34" charset="-122"/>
              </a:rPr>
              <a:t>F3</a:t>
            </a:r>
            <a:r>
              <a:rPr lang="zh-CN" altLang="en-US" sz="4000" b="1" dirty="0">
                <a:solidFill>
                  <a:srgbClr val="002060"/>
                </a:solidFill>
                <a:latin typeface="微软雅黑" panose="020B0503020204020204" pitchFamily="34" charset="-122"/>
                <a:ea typeface="微软雅黑" panose="020B0503020204020204" pitchFamily="34" charset="-122"/>
              </a:rPr>
              <a:t>组团底商产品培训</a:t>
            </a:r>
            <a:endParaRPr lang="zh-CN" altLang="en-US" sz="4000" b="1" dirty="0">
              <a:solidFill>
                <a:srgbClr val="00206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4297680" y="3309203"/>
            <a:ext cx="3017520" cy="523220"/>
          </a:xfrm>
          <a:prstGeom prst="rect">
            <a:avLst/>
          </a:prstGeom>
          <a:noFill/>
        </p:spPr>
        <p:txBody>
          <a:bodyPr wrap="square" lIns="91436" tIns="45718" rIns="91436" bIns="45718" rtlCol="0">
            <a:spAutoFit/>
          </a:bodyPr>
          <a:lstStyle/>
          <a:p>
            <a:pPr algn="ctr"/>
            <a:r>
              <a:rPr lang="en-US" altLang="zh-CN" sz="2800" b="1" dirty="0">
                <a:solidFill>
                  <a:srgbClr val="002060"/>
                </a:solidFill>
                <a:latin typeface="微软雅黑" panose="020B0503020204020204" pitchFamily="34" charset="-122"/>
                <a:ea typeface="微软雅黑" panose="020B0503020204020204" pitchFamily="34" charset="-122"/>
              </a:rPr>
              <a:t>2020</a:t>
            </a:r>
            <a:r>
              <a:rPr lang="zh-CN" altLang="en-US" sz="2800" b="1" dirty="0">
                <a:solidFill>
                  <a:srgbClr val="002060"/>
                </a:solidFill>
                <a:latin typeface="微软雅黑" panose="020B0503020204020204" pitchFamily="34" charset="-122"/>
                <a:ea typeface="微软雅黑" panose="020B0503020204020204" pitchFamily="34" charset="-122"/>
              </a:rPr>
              <a:t>年</a:t>
            </a:r>
            <a:r>
              <a:rPr lang="en-US" altLang="zh-CN" sz="2800" b="1" dirty="0">
                <a:solidFill>
                  <a:srgbClr val="002060"/>
                </a:solidFill>
                <a:latin typeface="微软雅黑" panose="020B0503020204020204" pitchFamily="34" charset="-122"/>
                <a:ea typeface="微软雅黑" panose="020B0503020204020204" pitchFamily="34" charset="-122"/>
              </a:rPr>
              <a:t>·6</a:t>
            </a:r>
            <a:r>
              <a:rPr lang="zh-CN" altLang="en-US" sz="2800" b="1" dirty="0">
                <a:solidFill>
                  <a:srgbClr val="002060"/>
                </a:solidFill>
                <a:latin typeface="微软雅黑" panose="020B0503020204020204" pitchFamily="34" charset="-122"/>
                <a:ea typeface="微软雅黑" panose="020B0503020204020204" pitchFamily="34" charset="-122"/>
              </a:rPr>
              <a:t>月</a:t>
            </a:r>
            <a:endParaRPr lang="zh-CN" altLang="en-US" sz="2800" b="1" dirty="0">
              <a:solidFill>
                <a:srgbClr val="00206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2050576" y="0"/>
            <a:ext cx="7882501" cy="6858000"/>
          </a:xfrm>
          <a:prstGeom prst="rect">
            <a:avLst/>
          </a:prstGeom>
        </p:spPr>
      </p:pic>
      <p:sp>
        <p:nvSpPr>
          <p:cNvPr id="22" name="TextBox 17"/>
          <p:cNvSpPr txBox="1">
            <a:spLocks noChangeArrowheads="1"/>
          </p:cNvSpPr>
          <p:nvPr/>
        </p:nvSpPr>
        <p:spPr bwMode="auto">
          <a:xfrm>
            <a:off x="286160" y="3560889"/>
            <a:ext cx="1798243"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北京东路</a:t>
            </a:r>
            <a:endParaRPr lang="zh-CN" altLang="en-US" b="1" dirty="0">
              <a:solidFill>
                <a:srgbClr val="FFFFFF"/>
              </a:solidFill>
              <a:latin typeface="微软雅黑" panose="020B0503020204020204" pitchFamily="34" charset="-122"/>
            </a:endParaRPr>
          </a:p>
        </p:txBody>
      </p:sp>
      <p:sp>
        <p:nvSpPr>
          <p:cNvPr id="23" name="TextBox 19"/>
          <p:cNvSpPr txBox="1">
            <a:spLocks noChangeArrowheads="1"/>
          </p:cNvSpPr>
          <p:nvPr/>
        </p:nvSpPr>
        <p:spPr bwMode="auto">
          <a:xfrm>
            <a:off x="5854437" y="1672844"/>
            <a:ext cx="1217961"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水东路</a:t>
            </a:r>
            <a:endParaRPr lang="zh-CN" altLang="en-US" b="1" dirty="0">
              <a:solidFill>
                <a:srgbClr val="FFFFFF"/>
              </a:solidFill>
              <a:latin typeface="微软雅黑" panose="020B0503020204020204" pitchFamily="34" charset="-122"/>
            </a:endParaRPr>
          </a:p>
        </p:txBody>
      </p:sp>
      <p:sp>
        <p:nvSpPr>
          <p:cNvPr id="24" name="TextBox 20"/>
          <p:cNvSpPr txBox="1">
            <a:spLocks noChangeArrowheads="1"/>
          </p:cNvSpPr>
          <p:nvPr/>
        </p:nvSpPr>
        <p:spPr bwMode="auto">
          <a:xfrm>
            <a:off x="5266847" y="6402360"/>
            <a:ext cx="1218735"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a:solidFill>
                  <a:srgbClr val="FFFFFF"/>
                </a:solidFill>
                <a:latin typeface="微软雅黑" panose="020B0503020204020204" pitchFamily="34" charset="-122"/>
              </a:rPr>
              <a:t>水东路</a:t>
            </a:r>
            <a:endParaRPr lang="zh-CN" altLang="en-US" b="1">
              <a:solidFill>
                <a:srgbClr val="FFFFFF"/>
              </a:solidFill>
              <a:latin typeface="微软雅黑" panose="020B0503020204020204" pitchFamily="34" charset="-122"/>
            </a:endParaRPr>
          </a:p>
        </p:txBody>
      </p:sp>
      <p:sp>
        <p:nvSpPr>
          <p:cNvPr id="25" name="TextBox 24"/>
          <p:cNvSpPr txBox="1">
            <a:spLocks noChangeArrowheads="1"/>
          </p:cNvSpPr>
          <p:nvPr/>
        </p:nvSpPr>
        <p:spPr bwMode="auto">
          <a:xfrm>
            <a:off x="709680" y="5917610"/>
            <a:ext cx="1458789"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东山路</a:t>
            </a:r>
            <a:endParaRPr lang="zh-CN" altLang="en-US" b="1" dirty="0">
              <a:solidFill>
                <a:srgbClr val="FFFFFF"/>
              </a:solidFill>
              <a:latin typeface="微软雅黑" panose="020B0503020204020204" pitchFamily="34" charset="-122"/>
            </a:endParaRPr>
          </a:p>
        </p:txBody>
      </p:sp>
      <p:sp>
        <p:nvSpPr>
          <p:cNvPr id="26" name="TextBox 25"/>
          <p:cNvSpPr txBox="1">
            <a:spLocks noChangeArrowheads="1"/>
          </p:cNvSpPr>
          <p:nvPr/>
        </p:nvSpPr>
        <p:spPr bwMode="auto">
          <a:xfrm>
            <a:off x="638381" y="4582603"/>
            <a:ext cx="1528951" cy="861702"/>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延安东路支线</a:t>
            </a:r>
            <a:endParaRPr lang="zh-CN" altLang="en-US" b="1" dirty="0">
              <a:solidFill>
                <a:srgbClr val="FFFFFF"/>
              </a:solidFill>
              <a:latin typeface="微软雅黑" panose="020B0503020204020204" pitchFamily="34" charset="-122"/>
            </a:endParaRPr>
          </a:p>
        </p:txBody>
      </p:sp>
      <p:sp>
        <p:nvSpPr>
          <p:cNvPr id="27" name="TextBox 26"/>
          <p:cNvSpPr txBox="1">
            <a:spLocks noChangeArrowheads="1"/>
          </p:cNvSpPr>
          <p:nvPr/>
        </p:nvSpPr>
        <p:spPr bwMode="auto">
          <a:xfrm>
            <a:off x="2385682" y="1180339"/>
            <a:ext cx="1376932"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中环路</a:t>
            </a:r>
            <a:endParaRPr lang="zh-CN" altLang="en-US" b="1" dirty="0">
              <a:solidFill>
                <a:srgbClr val="FFFFFF"/>
              </a:solidFill>
              <a:latin typeface="微软雅黑" panose="020B0503020204020204" pitchFamily="34" charset="-122"/>
            </a:endParaRPr>
          </a:p>
        </p:txBody>
      </p:sp>
      <p:sp>
        <p:nvSpPr>
          <p:cNvPr id="28" name="TextBox 17"/>
          <p:cNvSpPr txBox="1">
            <a:spLocks noChangeArrowheads="1"/>
          </p:cNvSpPr>
          <p:nvPr/>
        </p:nvSpPr>
        <p:spPr bwMode="auto">
          <a:xfrm>
            <a:off x="8223223" y="5671422"/>
            <a:ext cx="1596309" cy="49237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北京东路</a:t>
            </a:r>
            <a:endParaRPr lang="zh-CN" altLang="en-US" b="1" dirty="0">
              <a:solidFill>
                <a:srgbClr val="FFFFFF"/>
              </a:solidFill>
              <a:latin typeface="微软雅黑" panose="020B0503020204020204" pitchFamily="34" charset="-122"/>
            </a:endParaRPr>
          </a:p>
        </p:txBody>
      </p:sp>
      <p:sp>
        <p:nvSpPr>
          <p:cNvPr id="19" name="任意多边形 18"/>
          <p:cNvSpPr/>
          <p:nvPr/>
        </p:nvSpPr>
        <p:spPr>
          <a:xfrm>
            <a:off x="3762823" y="1668116"/>
            <a:ext cx="2190815" cy="1940560"/>
          </a:xfrm>
          <a:custGeom>
            <a:avLst/>
            <a:gdLst>
              <a:gd name="connsiteX0" fmla="*/ 2762250 w 2825065"/>
              <a:gd name="connsiteY0" fmla="*/ 0 h 2254250"/>
              <a:gd name="connsiteX1" fmla="*/ 2819400 w 2825065"/>
              <a:gd name="connsiteY1" fmla="*/ 152400 h 2254250"/>
              <a:gd name="connsiteX2" fmla="*/ 2819400 w 2825065"/>
              <a:gd name="connsiteY2" fmla="*/ 298450 h 2254250"/>
              <a:gd name="connsiteX3" fmla="*/ 2787650 w 2825065"/>
              <a:gd name="connsiteY3" fmla="*/ 393700 h 2254250"/>
              <a:gd name="connsiteX4" fmla="*/ 2660650 w 2825065"/>
              <a:gd name="connsiteY4" fmla="*/ 469900 h 2254250"/>
              <a:gd name="connsiteX5" fmla="*/ 2432050 w 2825065"/>
              <a:gd name="connsiteY5" fmla="*/ 425450 h 2254250"/>
              <a:gd name="connsiteX6" fmla="*/ 2241550 w 2825065"/>
              <a:gd name="connsiteY6" fmla="*/ 368300 h 2254250"/>
              <a:gd name="connsiteX7" fmla="*/ 2120900 w 2825065"/>
              <a:gd name="connsiteY7" fmla="*/ 374650 h 2254250"/>
              <a:gd name="connsiteX8" fmla="*/ 2012950 w 2825065"/>
              <a:gd name="connsiteY8" fmla="*/ 457200 h 2254250"/>
              <a:gd name="connsiteX9" fmla="*/ 1917700 w 2825065"/>
              <a:gd name="connsiteY9" fmla="*/ 603250 h 2254250"/>
              <a:gd name="connsiteX10" fmla="*/ 1816100 w 2825065"/>
              <a:gd name="connsiteY10" fmla="*/ 711200 h 2254250"/>
              <a:gd name="connsiteX11" fmla="*/ 1295400 w 2825065"/>
              <a:gd name="connsiteY11" fmla="*/ 711200 h 2254250"/>
              <a:gd name="connsiteX12" fmla="*/ 1231900 w 2825065"/>
              <a:gd name="connsiteY12" fmla="*/ 717550 h 2254250"/>
              <a:gd name="connsiteX13" fmla="*/ 831850 w 2825065"/>
              <a:gd name="connsiteY13" fmla="*/ 641350 h 2254250"/>
              <a:gd name="connsiteX14" fmla="*/ 742950 w 2825065"/>
              <a:gd name="connsiteY14" fmla="*/ 596900 h 2254250"/>
              <a:gd name="connsiteX15" fmla="*/ 704850 w 2825065"/>
              <a:gd name="connsiteY15" fmla="*/ 685800 h 2254250"/>
              <a:gd name="connsiteX16" fmla="*/ 685800 w 2825065"/>
              <a:gd name="connsiteY16" fmla="*/ 971550 h 2254250"/>
              <a:gd name="connsiteX17" fmla="*/ 781050 w 2825065"/>
              <a:gd name="connsiteY17" fmla="*/ 1231900 h 2254250"/>
              <a:gd name="connsiteX18" fmla="*/ 819150 w 2825065"/>
              <a:gd name="connsiteY18" fmla="*/ 1409700 h 2254250"/>
              <a:gd name="connsiteX19" fmla="*/ 800100 w 2825065"/>
              <a:gd name="connsiteY19" fmla="*/ 1466850 h 2254250"/>
              <a:gd name="connsiteX20" fmla="*/ 749300 w 2825065"/>
              <a:gd name="connsiteY20" fmla="*/ 1524000 h 2254250"/>
              <a:gd name="connsiteX21" fmla="*/ 615950 w 2825065"/>
              <a:gd name="connsiteY21" fmla="*/ 1524000 h 2254250"/>
              <a:gd name="connsiteX22" fmla="*/ 463550 w 2825065"/>
              <a:gd name="connsiteY22" fmla="*/ 1530350 h 2254250"/>
              <a:gd name="connsiteX23" fmla="*/ 279400 w 2825065"/>
              <a:gd name="connsiteY23" fmla="*/ 1631950 h 2254250"/>
              <a:gd name="connsiteX24" fmla="*/ 114300 w 2825065"/>
              <a:gd name="connsiteY24" fmla="*/ 1879600 h 2254250"/>
              <a:gd name="connsiteX25" fmla="*/ 0 w 2825065"/>
              <a:gd name="connsiteY25" fmla="*/ 2254250 h 2254250"/>
              <a:gd name="connsiteX0-1" fmla="*/ 2762250 w 2825065"/>
              <a:gd name="connsiteY0-2" fmla="*/ 0 h 2254250"/>
              <a:gd name="connsiteX1-3" fmla="*/ 2819400 w 2825065"/>
              <a:gd name="connsiteY1-4" fmla="*/ 152400 h 2254250"/>
              <a:gd name="connsiteX2-5" fmla="*/ 2819400 w 2825065"/>
              <a:gd name="connsiteY2-6" fmla="*/ 298450 h 2254250"/>
              <a:gd name="connsiteX3-7" fmla="*/ 2787650 w 2825065"/>
              <a:gd name="connsiteY3-8" fmla="*/ 393700 h 2254250"/>
              <a:gd name="connsiteX4-9" fmla="*/ 2660650 w 2825065"/>
              <a:gd name="connsiteY4-10" fmla="*/ 469900 h 2254250"/>
              <a:gd name="connsiteX5-11" fmla="*/ 2432050 w 2825065"/>
              <a:gd name="connsiteY5-12" fmla="*/ 425450 h 2254250"/>
              <a:gd name="connsiteX6-13" fmla="*/ 2241550 w 2825065"/>
              <a:gd name="connsiteY6-14" fmla="*/ 368300 h 2254250"/>
              <a:gd name="connsiteX7-15" fmla="*/ 2120900 w 2825065"/>
              <a:gd name="connsiteY7-16" fmla="*/ 374650 h 2254250"/>
              <a:gd name="connsiteX8-17" fmla="*/ 2012950 w 2825065"/>
              <a:gd name="connsiteY8-18" fmla="*/ 457200 h 2254250"/>
              <a:gd name="connsiteX9-19" fmla="*/ 1917700 w 2825065"/>
              <a:gd name="connsiteY9-20" fmla="*/ 603250 h 2254250"/>
              <a:gd name="connsiteX10-21" fmla="*/ 1816100 w 2825065"/>
              <a:gd name="connsiteY10-22" fmla="*/ 711200 h 2254250"/>
              <a:gd name="connsiteX11-23" fmla="*/ 1295400 w 2825065"/>
              <a:gd name="connsiteY11-24" fmla="*/ 711200 h 2254250"/>
              <a:gd name="connsiteX12-25" fmla="*/ 1231900 w 2825065"/>
              <a:gd name="connsiteY12-26" fmla="*/ 717550 h 2254250"/>
              <a:gd name="connsiteX13-27" fmla="*/ 831850 w 2825065"/>
              <a:gd name="connsiteY13-28" fmla="*/ 641350 h 2254250"/>
              <a:gd name="connsiteX14-29" fmla="*/ 742950 w 2825065"/>
              <a:gd name="connsiteY14-30" fmla="*/ 596900 h 2254250"/>
              <a:gd name="connsiteX15-31" fmla="*/ 704850 w 2825065"/>
              <a:gd name="connsiteY15-32" fmla="*/ 685800 h 2254250"/>
              <a:gd name="connsiteX16-33" fmla="*/ 735330 w 2825065"/>
              <a:gd name="connsiteY16-34" fmla="*/ 948690 h 2254250"/>
              <a:gd name="connsiteX17-35" fmla="*/ 781050 w 2825065"/>
              <a:gd name="connsiteY17-36" fmla="*/ 1231900 h 2254250"/>
              <a:gd name="connsiteX18-37" fmla="*/ 819150 w 2825065"/>
              <a:gd name="connsiteY18-38" fmla="*/ 1409700 h 2254250"/>
              <a:gd name="connsiteX19-39" fmla="*/ 800100 w 2825065"/>
              <a:gd name="connsiteY19-40" fmla="*/ 1466850 h 2254250"/>
              <a:gd name="connsiteX20-41" fmla="*/ 749300 w 2825065"/>
              <a:gd name="connsiteY20-42" fmla="*/ 1524000 h 2254250"/>
              <a:gd name="connsiteX21-43" fmla="*/ 615950 w 2825065"/>
              <a:gd name="connsiteY21-44" fmla="*/ 1524000 h 2254250"/>
              <a:gd name="connsiteX22-45" fmla="*/ 463550 w 2825065"/>
              <a:gd name="connsiteY22-46" fmla="*/ 1530350 h 2254250"/>
              <a:gd name="connsiteX23-47" fmla="*/ 279400 w 2825065"/>
              <a:gd name="connsiteY23-48" fmla="*/ 1631950 h 2254250"/>
              <a:gd name="connsiteX24-49" fmla="*/ 114300 w 2825065"/>
              <a:gd name="connsiteY24-50" fmla="*/ 1879600 h 2254250"/>
              <a:gd name="connsiteX25-51" fmla="*/ 0 w 2825065"/>
              <a:gd name="connsiteY25-52" fmla="*/ 2254250 h 2254250"/>
              <a:gd name="connsiteX0-53" fmla="*/ 2762250 w 2825065"/>
              <a:gd name="connsiteY0-54" fmla="*/ 0 h 2254250"/>
              <a:gd name="connsiteX1-55" fmla="*/ 2819400 w 2825065"/>
              <a:gd name="connsiteY1-56" fmla="*/ 152400 h 2254250"/>
              <a:gd name="connsiteX2-57" fmla="*/ 2819400 w 2825065"/>
              <a:gd name="connsiteY2-58" fmla="*/ 298450 h 2254250"/>
              <a:gd name="connsiteX3-59" fmla="*/ 2787650 w 2825065"/>
              <a:gd name="connsiteY3-60" fmla="*/ 393700 h 2254250"/>
              <a:gd name="connsiteX4-61" fmla="*/ 2660650 w 2825065"/>
              <a:gd name="connsiteY4-62" fmla="*/ 469900 h 2254250"/>
              <a:gd name="connsiteX5-63" fmla="*/ 2432050 w 2825065"/>
              <a:gd name="connsiteY5-64" fmla="*/ 425450 h 2254250"/>
              <a:gd name="connsiteX6-65" fmla="*/ 2241550 w 2825065"/>
              <a:gd name="connsiteY6-66" fmla="*/ 368300 h 2254250"/>
              <a:gd name="connsiteX7-67" fmla="*/ 2120900 w 2825065"/>
              <a:gd name="connsiteY7-68" fmla="*/ 374650 h 2254250"/>
              <a:gd name="connsiteX8-69" fmla="*/ 2012950 w 2825065"/>
              <a:gd name="connsiteY8-70" fmla="*/ 457200 h 2254250"/>
              <a:gd name="connsiteX9-71" fmla="*/ 1917700 w 2825065"/>
              <a:gd name="connsiteY9-72" fmla="*/ 603250 h 2254250"/>
              <a:gd name="connsiteX10-73" fmla="*/ 1816100 w 2825065"/>
              <a:gd name="connsiteY10-74" fmla="*/ 711200 h 2254250"/>
              <a:gd name="connsiteX11-75" fmla="*/ 1295400 w 2825065"/>
              <a:gd name="connsiteY11-76" fmla="*/ 711200 h 2254250"/>
              <a:gd name="connsiteX12-77" fmla="*/ 1239520 w 2825065"/>
              <a:gd name="connsiteY12-78" fmla="*/ 687070 h 2254250"/>
              <a:gd name="connsiteX13-79" fmla="*/ 831850 w 2825065"/>
              <a:gd name="connsiteY13-80" fmla="*/ 641350 h 2254250"/>
              <a:gd name="connsiteX14-81" fmla="*/ 742950 w 2825065"/>
              <a:gd name="connsiteY14-82" fmla="*/ 596900 h 2254250"/>
              <a:gd name="connsiteX15-83" fmla="*/ 704850 w 2825065"/>
              <a:gd name="connsiteY15-84" fmla="*/ 685800 h 2254250"/>
              <a:gd name="connsiteX16-85" fmla="*/ 735330 w 2825065"/>
              <a:gd name="connsiteY16-86" fmla="*/ 948690 h 2254250"/>
              <a:gd name="connsiteX17-87" fmla="*/ 781050 w 2825065"/>
              <a:gd name="connsiteY17-88" fmla="*/ 1231900 h 2254250"/>
              <a:gd name="connsiteX18-89" fmla="*/ 819150 w 2825065"/>
              <a:gd name="connsiteY18-90" fmla="*/ 1409700 h 2254250"/>
              <a:gd name="connsiteX19-91" fmla="*/ 800100 w 2825065"/>
              <a:gd name="connsiteY19-92" fmla="*/ 1466850 h 2254250"/>
              <a:gd name="connsiteX20-93" fmla="*/ 749300 w 2825065"/>
              <a:gd name="connsiteY20-94" fmla="*/ 1524000 h 2254250"/>
              <a:gd name="connsiteX21-95" fmla="*/ 615950 w 2825065"/>
              <a:gd name="connsiteY21-96" fmla="*/ 1524000 h 2254250"/>
              <a:gd name="connsiteX22-97" fmla="*/ 463550 w 2825065"/>
              <a:gd name="connsiteY22-98" fmla="*/ 1530350 h 2254250"/>
              <a:gd name="connsiteX23-99" fmla="*/ 279400 w 2825065"/>
              <a:gd name="connsiteY23-100" fmla="*/ 1631950 h 2254250"/>
              <a:gd name="connsiteX24-101" fmla="*/ 114300 w 2825065"/>
              <a:gd name="connsiteY24-102" fmla="*/ 1879600 h 2254250"/>
              <a:gd name="connsiteX25-103" fmla="*/ 0 w 2825065"/>
              <a:gd name="connsiteY25-104" fmla="*/ 2254250 h 2254250"/>
              <a:gd name="connsiteX0-105" fmla="*/ 2762250 w 2825065"/>
              <a:gd name="connsiteY0-106" fmla="*/ 0 h 2254250"/>
              <a:gd name="connsiteX1-107" fmla="*/ 2819400 w 2825065"/>
              <a:gd name="connsiteY1-108" fmla="*/ 152400 h 2254250"/>
              <a:gd name="connsiteX2-109" fmla="*/ 2819400 w 2825065"/>
              <a:gd name="connsiteY2-110" fmla="*/ 298450 h 2254250"/>
              <a:gd name="connsiteX3-111" fmla="*/ 2787650 w 2825065"/>
              <a:gd name="connsiteY3-112" fmla="*/ 393700 h 2254250"/>
              <a:gd name="connsiteX4-113" fmla="*/ 2660650 w 2825065"/>
              <a:gd name="connsiteY4-114" fmla="*/ 469900 h 2254250"/>
              <a:gd name="connsiteX5-115" fmla="*/ 2432050 w 2825065"/>
              <a:gd name="connsiteY5-116" fmla="*/ 425450 h 2254250"/>
              <a:gd name="connsiteX6-117" fmla="*/ 2241550 w 2825065"/>
              <a:gd name="connsiteY6-118" fmla="*/ 368300 h 2254250"/>
              <a:gd name="connsiteX7-119" fmla="*/ 2120900 w 2825065"/>
              <a:gd name="connsiteY7-120" fmla="*/ 374650 h 2254250"/>
              <a:gd name="connsiteX8-121" fmla="*/ 2012950 w 2825065"/>
              <a:gd name="connsiteY8-122" fmla="*/ 457200 h 2254250"/>
              <a:gd name="connsiteX9-123" fmla="*/ 1917700 w 2825065"/>
              <a:gd name="connsiteY9-124" fmla="*/ 603250 h 2254250"/>
              <a:gd name="connsiteX10-125" fmla="*/ 1816100 w 2825065"/>
              <a:gd name="connsiteY10-126" fmla="*/ 711200 h 2254250"/>
              <a:gd name="connsiteX11-127" fmla="*/ 1360170 w 2825065"/>
              <a:gd name="connsiteY11-128" fmla="*/ 680720 h 2254250"/>
              <a:gd name="connsiteX12-129" fmla="*/ 1239520 w 2825065"/>
              <a:gd name="connsiteY12-130" fmla="*/ 687070 h 2254250"/>
              <a:gd name="connsiteX13-131" fmla="*/ 831850 w 2825065"/>
              <a:gd name="connsiteY13-132" fmla="*/ 641350 h 2254250"/>
              <a:gd name="connsiteX14-133" fmla="*/ 742950 w 2825065"/>
              <a:gd name="connsiteY14-134" fmla="*/ 596900 h 2254250"/>
              <a:gd name="connsiteX15-135" fmla="*/ 704850 w 2825065"/>
              <a:gd name="connsiteY15-136" fmla="*/ 685800 h 2254250"/>
              <a:gd name="connsiteX16-137" fmla="*/ 735330 w 2825065"/>
              <a:gd name="connsiteY16-138" fmla="*/ 948690 h 2254250"/>
              <a:gd name="connsiteX17-139" fmla="*/ 781050 w 2825065"/>
              <a:gd name="connsiteY17-140" fmla="*/ 1231900 h 2254250"/>
              <a:gd name="connsiteX18-141" fmla="*/ 819150 w 2825065"/>
              <a:gd name="connsiteY18-142" fmla="*/ 1409700 h 2254250"/>
              <a:gd name="connsiteX19-143" fmla="*/ 800100 w 2825065"/>
              <a:gd name="connsiteY19-144" fmla="*/ 1466850 h 2254250"/>
              <a:gd name="connsiteX20-145" fmla="*/ 749300 w 2825065"/>
              <a:gd name="connsiteY20-146" fmla="*/ 1524000 h 2254250"/>
              <a:gd name="connsiteX21-147" fmla="*/ 615950 w 2825065"/>
              <a:gd name="connsiteY21-148" fmla="*/ 1524000 h 2254250"/>
              <a:gd name="connsiteX22-149" fmla="*/ 463550 w 2825065"/>
              <a:gd name="connsiteY22-150" fmla="*/ 1530350 h 2254250"/>
              <a:gd name="connsiteX23-151" fmla="*/ 279400 w 2825065"/>
              <a:gd name="connsiteY23-152" fmla="*/ 1631950 h 2254250"/>
              <a:gd name="connsiteX24-153" fmla="*/ 114300 w 2825065"/>
              <a:gd name="connsiteY24-154" fmla="*/ 1879600 h 2254250"/>
              <a:gd name="connsiteX25-155" fmla="*/ 0 w 2825065"/>
              <a:gd name="connsiteY25-156" fmla="*/ 2254250 h 2254250"/>
              <a:gd name="connsiteX0-157" fmla="*/ 2762250 w 2825065"/>
              <a:gd name="connsiteY0-158" fmla="*/ 0 h 2254250"/>
              <a:gd name="connsiteX1-159" fmla="*/ 2819400 w 2825065"/>
              <a:gd name="connsiteY1-160" fmla="*/ 152400 h 2254250"/>
              <a:gd name="connsiteX2-161" fmla="*/ 2819400 w 2825065"/>
              <a:gd name="connsiteY2-162" fmla="*/ 298450 h 2254250"/>
              <a:gd name="connsiteX3-163" fmla="*/ 2787650 w 2825065"/>
              <a:gd name="connsiteY3-164" fmla="*/ 393700 h 2254250"/>
              <a:gd name="connsiteX4-165" fmla="*/ 2660650 w 2825065"/>
              <a:gd name="connsiteY4-166" fmla="*/ 469900 h 2254250"/>
              <a:gd name="connsiteX5-167" fmla="*/ 2432050 w 2825065"/>
              <a:gd name="connsiteY5-168" fmla="*/ 425450 h 2254250"/>
              <a:gd name="connsiteX6-169" fmla="*/ 2241550 w 2825065"/>
              <a:gd name="connsiteY6-170" fmla="*/ 368300 h 2254250"/>
              <a:gd name="connsiteX7-171" fmla="*/ 2120900 w 2825065"/>
              <a:gd name="connsiteY7-172" fmla="*/ 374650 h 2254250"/>
              <a:gd name="connsiteX8-173" fmla="*/ 2012950 w 2825065"/>
              <a:gd name="connsiteY8-174" fmla="*/ 457200 h 2254250"/>
              <a:gd name="connsiteX9-175" fmla="*/ 1917700 w 2825065"/>
              <a:gd name="connsiteY9-176" fmla="*/ 603250 h 2254250"/>
              <a:gd name="connsiteX10-177" fmla="*/ 1579880 w 2825065"/>
              <a:gd name="connsiteY10-178" fmla="*/ 692150 h 2254250"/>
              <a:gd name="connsiteX11-179" fmla="*/ 1360170 w 2825065"/>
              <a:gd name="connsiteY11-180" fmla="*/ 680720 h 2254250"/>
              <a:gd name="connsiteX12-181" fmla="*/ 1239520 w 2825065"/>
              <a:gd name="connsiteY12-182" fmla="*/ 687070 h 2254250"/>
              <a:gd name="connsiteX13-183" fmla="*/ 831850 w 2825065"/>
              <a:gd name="connsiteY13-184" fmla="*/ 641350 h 2254250"/>
              <a:gd name="connsiteX14-185" fmla="*/ 742950 w 2825065"/>
              <a:gd name="connsiteY14-186" fmla="*/ 596900 h 2254250"/>
              <a:gd name="connsiteX15-187" fmla="*/ 704850 w 2825065"/>
              <a:gd name="connsiteY15-188" fmla="*/ 685800 h 2254250"/>
              <a:gd name="connsiteX16-189" fmla="*/ 735330 w 2825065"/>
              <a:gd name="connsiteY16-190" fmla="*/ 948690 h 2254250"/>
              <a:gd name="connsiteX17-191" fmla="*/ 781050 w 2825065"/>
              <a:gd name="connsiteY17-192" fmla="*/ 1231900 h 2254250"/>
              <a:gd name="connsiteX18-193" fmla="*/ 819150 w 2825065"/>
              <a:gd name="connsiteY18-194" fmla="*/ 1409700 h 2254250"/>
              <a:gd name="connsiteX19-195" fmla="*/ 800100 w 2825065"/>
              <a:gd name="connsiteY19-196" fmla="*/ 1466850 h 2254250"/>
              <a:gd name="connsiteX20-197" fmla="*/ 749300 w 2825065"/>
              <a:gd name="connsiteY20-198" fmla="*/ 1524000 h 2254250"/>
              <a:gd name="connsiteX21-199" fmla="*/ 615950 w 2825065"/>
              <a:gd name="connsiteY21-200" fmla="*/ 1524000 h 2254250"/>
              <a:gd name="connsiteX22-201" fmla="*/ 463550 w 2825065"/>
              <a:gd name="connsiteY22-202" fmla="*/ 1530350 h 2254250"/>
              <a:gd name="connsiteX23-203" fmla="*/ 279400 w 2825065"/>
              <a:gd name="connsiteY23-204" fmla="*/ 1631950 h 2254250"/>
              <a:gd name="connsiteX24-205" fmla="*/ 114300 w 2825065"/>
              <a:gd name="connsiteY24-206" fmla="*/ 1879600 h 2254250"/>
              <a:gd name="connsiteX25-207" fmla="*/ 0 w 2825065"/>
              <a:gd name="connsiteY25-208" fmla="*/ 2254250 h 2254250"/>
              <a:gd name="connsiteX0-209" fmla="*/ 2762250 w 2825065"/>
              <a:gd name="connsiteY0-210" fmla="*/ 0 h 2254250"/>
              <a:gd name="connsiteX1-211" fmla="*/ 2819400 w 2825065"/>
              <a:gd name="connsiteY1-212" fmla="*/ 152400 h 2254250"/>
              <a:gd name="connsiteX2-213" fmla="*/ 2819400 w 2825065"/>
              <a:gd name="connsiteY2-214" fmla="*/ 298450 h 2254250"/>
              <a:gd name="connsiteX3-215" fmla="*/ 2787650 w 2825065"/>
              <a:gd name="connsiteY3-216" fmla="*/ 393700 h 2254250"/>
              <a:gd name="connsiteX4-217" fmla="*/ 2660650 w 2825065"/>
              <a:gd name="connsiteY4-218" fmla="*/ 469900 h 2254250"/>
              <a:gd name="connsiteX5-219" fmla="*/ 2432050 w 2825065"/>
              <a:gd name="connsiteY5-220" fmla="*/ 425450 h 2254250"/>
              <a:gd name="connsiteX6-221" fmla="*/ 2241550 w 2825065"/>
              <a:gd name="connsiteY6-222" fmla="*/ 368300 h 2254250"/>
              <a:gd name="connsiteX7-223" fmla="*/ 2120900 w 2825065"/>
              <a:gd name="connsiteY7-224" fmla="*/ 374650 h 2254250"/>
              <a:gd name="connsiteX8-225" fmla="*/ 2012950 w 2825065"/>
              <a:gd name="connsiteY8-226" fmla="*/ 457200 h 2254250"/>
              <a:gd name="connsiteX9-227" fmla="*/ 1677670 w 2825065"/>
              <a:gd name="connsiteY9-228" fmla="*/ 523240 h 2254250"/>
              <a:gd name="connsiteX10-229" fmla="*/ 1579880 w 2825065"/>
              <a:gd name="connsiteY10-230" fmla="*/ 692150 h 2254250"/>
              <a:gd name="connsiteX11-231" fmla="*/ 1360170 w 2825065"/>
              <a:gd name="connsiteY11-232" fmla="*/ 680720 h 2254250"/>
              <a:gd name="connsiteX12-233" fmla="*/ 1239520 w 2825065"/>
              <a:gd name="connsiteY12-234" fmla="*/ 687070 h 2254250"/>
              <a:gd name="connsiteX13-235" fmla="*/ 831850 w 2825065"/>
              <a:gd name="connsiteY13-236" fmla="*/ 641350 h 2254250"/>
              <a:gd name="connsiteX14-237" fmla="*/ 742950 w 2825065"/>
              <a:gd name="connsiteY14-238" fmla="*/ 596900 h 2254250"/>
              <a:gd name="connsiteX15-239" fmla="*/ 704850 w 2825065"/>
              <a:gd name="connsiteY15-240" fmla="*/ 685800 h 2254250"/>
              <a:gd name="connsiteX16-241" fmla="*/ 735330 w 2825065"/>
              <a:gd name="connsiteY16-242" fmla="*/ 948690 h 2254250"/>
              <a:gd name="connsiteX17-243" fmla="*/ 781050 w 2825065"/>
              <a:gd name="connsiteY17-244" fmla="*/ 1231900 h 2254250"/>
              <a:gd name="connsiteX18-245" fmla="*/ 819150 w 2825065"/>
              <a:gd name="connsiteY18-246" fmla="*/ 1409700 h 2254250"/>
              <a:gd name="connsiteX19-247" fmla="*/ 800100 w 2825065"/>
              <a:gd name="connsiteY19-248" fmla="*/ 1466850 h 2254250"/>
              <a:gd name="connsiteX20-249" fmla="*/ 749300 w 2825065"/>
              <a:gd name="connsiteY20-250" fmla="*/ 1524000 h 2254250"/>
              <a:gd name="connsiteX21-251" fmla="*/ 615950 w 2825065"/>
              <a:gd name="connsiteY21-252" fmla="*/ 1524000 h 2254250"/>
              <a:gd name="connsiteX22-253" fmla="*/ 463550 w 2825065"/>
              <a:gd name="connsiteY22-254" fmla="*/ 1530350 h 2254250"/>
              <a:gd name="connsiteX23-255" fmla="*/ 279400 w 2825065"/>
              <a:gd name="connsiteY23-256" fmla="*/ 1631950 h 2254250"/>
              <a:gd name="connsiteX24-257" fmla="*/ 114300 w 2825065"/>
              <a:gd name="connsiteY24-258" fmla="*/ 1879600 h 2254250"/>
              <a:gd name="connsiteX25-259" fmla="*/ 0 w 2825065"/>
              <a:gd name="connsiteY25-260" fmla="*/ 2254250 h 2254250"/>
              <a:gd name="connsiteX0-261" fmla="*/ 2762250 w 2825065"/>
              <a:gd name="connsiteY0-262" fmla="*/ 0 h 2254250"/>
              <a:gd name="connsiteX1-263" fmla="*/ 2819400 w 2825065"/>
              <a:gd name="connsiteY1-264" fmla="*/ 152400 h 2254250"/>
              <a:gd name="connsiteX2-265" fmla="*/ 2819400 w 2825065"/>
              <a:gd name="connsiteY2-266" fmla="*/ 298450 h 2254250"/>
              <a:gd name="connsiteX3-267" fmla="*/ 2787650 w 2825065"/>
              <a:gd name="connsiteY3-268" fmla="*/ 393700 h 2254250"/>
              <a:gd name="connsiteX4-269" fmla="*/ 2660650 w 2825065"/>
              <a:gd name="connsiteY4-270" fmla="*/ 469900 h 2254250"/>
              <a:gd name="connsiteX5-271" fmla="*/ 2432050 w 2825065"/>
              <a:gd name="connsiteY5-272" fmla="*/ 425450 h 2254250"/>
              <a:gd name="connsiteX6-273" fmla="*/ 2241550 w 2825065"/>
              <a:gd name="connsiteY6-274" fmla="*/ 368300 h 2254250"/>
              <a:gd name="connsiteX7-275" fmla="*/ 2120900 w 2825065"/>
              <a:gd name="connsiteY7-276" fmla="*/ 374650 h 2254250"/>
              <a:gd name="connsiteX8-277" fmla="*/ 1784350 w 2825065"/>
              <a:gd name="connsiteY8-278" fmla="*/ 422910 h 2254250"/>
              <a:gd name="connsiteX9-279" fmla="*/ 1677670 w 2825065"/>
              <a:gd name="connsiteY9-280" fmla="*/ 523240 h 2254250"/>
              <a:gd name="connsiteX10-281" fmla="*/ 1579880 w 2825065"/>
              <a:gd name="connsiteY10-282" fmla="*/ 692150 h 2254250"/>
              <a:gd name="connsiteX11-283" fmla="*/ 1360170 w 2825065"/>
              <a:gd name="connsiteY11-284" fmla="*/ 680720 h 2254250"/>
              <a:gd name="connsiteX12-285" fmla="*/ 1239520 w 2825065"/>
              <a:gd name="connsiteY12-286" fmla="*/ 687070 h 2254250"/>
              <a:gd name="connsiteX13-287" fmla="*/ 831850 w 2825065"/>
              <a:gd name="connsiteY13-288" fmla="*/ 641350 h 2254250"/>
              <a:gd name="connsiteX14-289" fmla="*/ 742950 w 2825065"/>
              <a:gd name="connsiteY14-290" fmla="*/ 596900 h 2254250"/>
              <a:gd name="connsiteX15-291" fmla="*/ 704850 w 2825065"/>
              <a:gd name="connsiteY15-292" fmla="*/ 685800 h 2254250"/>
              <a:gd name="connsiteX16-293" fmla="*/ 735330 w 2825065"/>
              <a:gd name="connsiteY16-294" fmla="*/ 948690 h 2254250"/>
              <a:gd name="connsiteX17-295" fmla="*/ 781050 w 2825065"/>
              <a:gd name="connsiteY17-296" fmla="*/ 1231900 h 2254250"/>
              <a:gd name="connsiteX18-297" fmla="*/ 819150 w 2825065"/>
              <a:gd name="connsiteY18-298" fmla="*/ 1409700 h 2254250"/>
              <a:gd name="connsiteX19-299" fmla="*/ 800100 w 2825065"/>
              <a:gd name="connsiteY19-300" fmla="*/ 1466850 h 2254250"/>
              <a:gd name="connsiteX20-301" fmla="*/ 749300 w 2825065"/>
              <a:gd name="connsiteY20-302" fmla="*/ 1524000 h 2254250"/>
              <a:gd name="connsiteX21-303" fmla="*/ 615950 w 2825065"/>
              <a:gd name="connsiteY21-304" fmla="*/ 1524000 h 2254250"/>
              <a:gd name="connsiteX22-305" fmla="*/ 463550 w 2825065"/>
              <a:gd name="connsiteY22-306" fmla="*/ 1530350 h 2254250"/>
              <a:gd name="connsiteX23-307" fmla="*/ 279400 w 2825065"/>
              <a:gd name="connsiteY23-308" fmla="*/ 1631950 h 2254250"/>
              <a:gd name="connsiteX24-309" fmla="*/ 114300 w 2825065"/>
              <a:gd name="connsiteY24-310" fmla="*/ 1879600 h 2254250"/>
              <a:gd name="connsiteX25-311" fmla="*/ 0 w 2825065"/>
              <a:gd name="connsiteY25-312" fmla="*/ 2254250 h 2254250"/>
              <a:gd name="connsiteX0-313" fmla="*/ 2762250 w 2825065"/>
              <a:gd name="connsiteY0-314" fmla="*/ 0 h 2254250"/>
              <a:gd name="connsiteX1-315" fmla="*/ 2819400 w 2825065"/>
              <a:gd name="connsiteY1-316" fmla="*/ 152400 h 2254250"/>
              <a:gd name="connsiteX2-317" fmla="*/ 2819400 w 2825065"/>
              <a:gd name="connsiteY2-318" fmla="*/ 298450 h 2254250"/>
              <a:gd name="connsiteX3-319" fmla="*/ 2787650 w 2825065"/>
              <a:gd name="connsiteY3-320" fmla="*/ 393700 h 2254250"/>
              <a:gd name="connsiteX4-321" fmla="*/ 2660650 w 2825065"/>
              <a:gd name="connsiteY4-322" fmla="*/ 469900 h 2254250"/>
              <a:gd name="connsiteX5-323" fmla="*/ 2432050 w 2825065"/>
              <a:gd name="connsiteY5-324" fmla="*/ 425450 h 2254250"/>
              <a:gd name="connsiteX6-325" fmla="*/ 2241550 w 2825065"/>
              <a:gd name="connsiteY6-326" fmla="*/ 368300 h 2254250"/>
              <a:gd name="connsiteX7-327" fmla="*/ 2090420 w 2825065"/>
              <a:gd name="connsiteY7-328" fmla="*/ 496570 h 2254250"/>
              <a:gd name="connsiteX8-329" fmla="*/ 1784350 w 2825065"/>
              <a:gd name="connsiteY8-330" fmla="*/ 422910 h 2254250"/>
              <a:gd name="connsiteX9-331" fmla="*/ 1677670 w 2825065"/>
              <a:gd name="connsiteY9-332" fmla="*/ 523240 h 2254250"/>
              <a:gd name="connsiteX10-333" fmla="*/ 1579880 w 2825065"/>
              <a:gd name="connsiteY10-334" fmla="*/ 692150 h 2254250"/>
              <a:gd name="connsiteX11-335" fmla="*/ 1360170 w 2825065"/>
              <a:gd name="connsiteY11-336" fmla="*/ 680720 h 2254250"/>
              <a:gd name="connsiteX12-337" fmla="*/ 1239520 w 2825065"/>
              <a:gd name="connsiteY12-338" fmla="*/ 687070 h 2254250"/>
              <a:gd name="connsiteX13-339" fmla="*/ 831850 w 2825065"/>
              <a:gd name="connsiteY13-340" fmla="*/ 641350 h 2254250"/>
              <a:gd name="connsiteX14-341" fmla="*/ 742950 w 2825065"/>
              <a:gd name="connsiteY14-342" fmla="*/ 596900 h 2254250"/>
              <a:gd name="connsiteX15-343" fmla="*/ 704850 w 2825065"/>
              <a:gd name="connsiteY15-344" fmla="*/ 685800 h 2254250"/>
              <a:gd name="connsiteX16-345" fmla="*/ 735330 w 2825065"/>
              <a:gd name="connsiteY16-346" fmla="*/ 948690 h 2254250"/>
              <a:gd name="connsiteX17-347" fmla="*/ 781050 w 2825065"/>
              <a:gd name="connsiteY17-348" fmla="*/ 1231900 h 2254250"/>
              <a:gd name="connsiteX18-349" fmla="*/ 819150 w 2825065"/>
              <a:gd name="connsiteY18-350" fmla="*/ 1409700 h 2254250"/>
              <a:gd name="connsiteX19-351" fmla="*/ 800100 w 2825065"/>
              <a:gd name="connsiteY19-352" fmla="*/ 1466850 h 2254250"/>
              <a:gd name="connsiteX20-353" fmla="*/ 749300 w 2825065"/>
              <a:gd name="connsiteY20-354" fmla="*/ 1524000 h 2254250"/>
              <a:gd name="connsiteX21-355" fmla="*/ 615950 w 2825065"/>
              <a:gd name="connsiteY21-356" fmla="*/ 1524000 h 2254250"/>
              <a:gd name="connsiteX22-357" fmla="*/ 463550 w 2825065"/>
              <a:gd name="connsiteY22-358" fmla="*/ 1530350 h 2254250"/>
              <a:gd name="connsiteX23-359" fmla="*/ 279400 w 2825065"/>
              <a:gd name="connsiteY23-360" fmla="*/ 1631950 h 2254250"/>
              <a:gd name="connsiteX24-361" fmla="*/ 114300 w 2825065"/>
              <a:gd name="connsiteY24-362" fmla="*/ 1879600 h 2254250"/>
              <a:gd name="connsiteX25-363" fmla="*/ 0 w 2825065"/>
              <a:gd name="connsiteY25-364" fmla="*/ 2254250 h 2254250"/>
              <a:gd name="connsiteX0-365" fmla="*/ 2762250 w 2825065"/>
              <a:gd name="connsiteY0-366" fmla="*/ 0 h 2254250"/>
              <a:gd name="connsiteX1-367" fmla="*/ 2819400 w 2825065"/>
              <a:gd name="connsiteY1-368" fmla="*/ 152400 h 2254250"/>
              <a:gd name="connsiteX2-369" fmla="*/ 2819400 w 2825065"/>
              <a:gd name="connsiteY2-370" fmla="*/ 298450 h 2254250"/>
              <a:gd name="connsiteX3-371" fmla="*/ 2787650 w 2825065"/>
              <a:gd name="connsiteY3-372" fmla="*/ 393700 h 2254250"/>
              <a:gd name="connsiteX4-373" fmla="*/ 2660650 w 2825065"/>
              <a:gd name="connsiteY4-374" fmla="*/ 469900 h 2254250"/>
              <a:gd name="connsiteX5-375" fmla="*/ 2432050 w 2825065"/>
              <a:gd name="connsiteY5-376" fmla="*/ 425450 h 2254250"/>
              <a:gd name="connsiteX6-377" fmla="*/ 2241550 w 2825065"/>
              <a:gd name="connsiteY6-378" fmla="*/ 368300 h 2254250"/>
              <a:gd name="connsiteX7-379" fmla="*/ 2090420 w 2825065"/>
              <a:gd name="connsiteY7-380" fmla="*/ 496570 h 2254250"/>
              <a:gd name="connsiteX8-381" fmla="*/ 1784350 w 2825065"/>
              <a:gd name="connsiteY8-382" fmla="*/ 422910 h 2254250"/>
              <a:gd name="connsiteX9-383" fmla="*/ 1677670 w 2825065"/>
              <a:gd name="connsiteY9-384" fmla="*/ 523240 h 2254250"/>
              <a:gd name="connsiteX10-385" fmla="*/ 1579880 w 2825065"/>
              <a:gd name="connsiteY10-386" fmla="*/ 692150 h 2254250"/>
              <a:gd name="connsiteX11-387" fmla="*/ 1360170 w 2825065"/>
              <a:gd name="connsiteY11-388" fmla="*/ 680720 h 2254250"/>
              <a:gd name="connsiteX12-389" fmla="*/ 1239520 w 2825065"/>
              <a:gd name="connsiteY12-390" fmla="*/ 687070 h 2254250"/>
              <a:gd name="connsiteX13-391" fmla="*/ 831850 w 2825065"/>
              <a:gd name="connsiteY13-392" fmla="*/ 641350 h 2254250"/>
              <a:gd name="connsiteX14-393" fmla="*/ 742950 w 2825065"/>
              <a:gd name="connsiteY14-394" fmla="*/ 596900 h 2254250"/>
              <a:gd name="connsiteX15-395" fmla="*/ 704850 w 2825065"/>
              <a:gd name="connsiteY15-396" fmla="*/ 685800 h 2254250"/>
              <a:gd name="connsiteX16-397" fmla="*/ 735330 w 2825065"/>
              <a:gd name="connsiteY16-398" fmla="*/ 948690 h 2254250"/>
              <a:gd name="connsiteX17-399" fmla="*/ 781050 w 2825065"/>
              <a:gd name="connsiteY17-400" fmla="*/ 1231900 h 2254250"/>
              <a:gd name="connsiteX18-401" fmla="*/ 819150 w 2825065"/>
              <a:gd name="connsiteY18-402" fmla="*/ 1409700 h 2254250"/>
              <a:gd name="connsiteX19-403" fmla="*/ 800100 w 2825065"/>
              <a:gd name="connsiteY19-404" fmla="*/ 1466850 h 2254250"/>
              <a:gd name="connsiteX20-405" fmla="*/ 749300 w 2825065"/>
              <a:gd name="connsiteY20-406" fmla="*/ 1524000 h 2254250"/>
              <a:gd name="connsiteX21-407" fmla="*/ 615950 w 2825065"/>
              <a:gd name="connsiteY21-408" fmla="*/ 1524000 h 2254250"/>
              <a:gd name="connsiteX22-409" fmla="*/ 463550 w 2825065"/>
              <a:gd name="connsiteY22-410" fmla="*/ 1530350 h 2254250"/>
              <a:gd name="connsiteX23-411" fmla="*/ 279400 w 2825065"/>
              <a:gd name="connsiteY23-412" fmla="*/ 1631950 h 2254250"/>
              <a:gd name="connsiteX24-413" fmla="*/ 114300 w 2825065"/>
              <a:gd name="connsiteY24-414" fmla="*/ 1879600 h 2254250"/>
              <a:gd name="connsiteX25-415" fmla="*/ 0 w 2825065"/>
              <a:gd name="connsiteY25-416" fmla="*/ 2254250 h 2254250"/>
              <a:gd name="connsiteX0-417" fmla="*/ 2762250 w 2825065"/>
              <a:gd name="connsiteY0-418" fmla="*/ 0 h 2254250"/>
              <a:gd name="connsiteX1-419" fmla="*/ 2819400 w 2825065"/>
              <a:gd name="connsiteY1-420" fmla="*/ 152400 h 2254250"/>
              <a:gd name="connsiteX2-421" fmla="*/ 2819400 w 2825065"/>
              <a:gd name="connsiteY2-422" fmla="*/ 298450 h 2254250"/>
              <a:gd name="connsiteX3-423" fmla="*/ 2787650 w 2825065"/>
              <a:gd name="connsiteY3-424" fmla="*/ 393700 h 2254250"/>
              <a:gd name="connsiteX4-425" fmla="*/ 2660650 w 2825065"/>
              <a:gd name="connsiteY4-426" fmla="*/ 469900 h 2254250"/>
              <a:gd name="connsiteX5-427" fmla="*/ 2432050 w 2825065"/>
              <a:gd name="connsiteY5-428" fmla="*/ 425450 h 2254250"/>
              <a:gd name="connsiteX6-429" fmla="*/ 2241550 w 2825065"/>
              <a:gd name="connsiteY6-430" fmla="*/ 368300 h 2254250"/>
              <a:gd name="connsiteX7-431" fmla="*/ 2090420 w 2825065"/>
              <a:gd name="connsiteY7-432" fmla="*/ 496570 h 2254250"/>
              <a:gd name="connsiteX8-433" fmla="*/ 1784350 w 2825065"/>
              <a:gd name="connsiteY8-434" fmla="*/ 422910 h 2254250"/>
              <a:gd name="connsiteX9-435" fmla="*/ 1677670 w 2825065"/>
              <a:gd name="connsiteY9-436" fmla="*/ 523240 h 2254250"/>
              <a:gd name="connsiteX10-437" fmla="*/ 1579880 w 2825065"/>
              <a:gd name="connsiteY10-438" fmla="*/ 692150 h 2254250"/>
              <a:gd name="connsiteX11-439" fmla="*/ 1360170 w 2825065"/>
              <a:gd name="connsiteY11-440" fmla="*/ 680720 h 2254250"/>
              <a:gd name="connsiteX12-441" fmla="*/ 1239520 w 2825065"/>
              <a:gd name="connsiteY12-442" fmla="*/ 687070 h 2254250"/>
              <a:gd name="connsiteX13-443" fmla="*/ 831850 w 2825065"/>
              <a:gd name="connsiteY13-444" fmla="*/ 641350 h 2254250"/>
              <a:gd name="connsiteX14-445" fmla="*/ 742950 w 2825065"/>
              <a:gd name="connsiteY14-446" fmla="*/ 596900 h 2254250"/>
              <a:gd name="connsiteX15-447" fmla="*/ 704850 w 2825065"/>
              <a:gd name="connsiteY15-448" fmla="*/ 685800 h 2254250"/>
              <a:gd name="connsiteX16-449" fmla="*/ 735330 w 2825065"/>
              <a:gd name="connsiteY16-450" fmla="*/ 948690 h 2254250"/>
              <a:gd name="connsiteX17-451" fmla="*/ 781050 w 2825065"/>
              <a:gd name="connsiteY17-452" fmla="*/ 1231900 h 2254250"/>
              <a:gd name="connsiteX18-453" fmla="*/ 819150 w 2825065"/>
              <a:gd name="connsiteY18-454" fmla="*/ 1409700 h 2254250"/>
              <a:gd name="connsiteX19-455" fmla="*/ 800100 w 2825065"/>
              <a:gd name="connsiteY19-456" fmla="*/ 1466850 h 2254250"/>
              <a:gd name="connsiteX20-457" fmla="*/ 749300 w 2825065"/>
              <a:gd name="connsiteY20-458" fmla="*/ 1524000 h 2254250"/>
              <a:gd name="connsiteX21-459" fmla="*/ 615950 w 2825065"/>
              <a:gd name="connsiteY21-460" fmla="*/ 1524000 h 2254250"/>
              <a:gd name="connsiteX22-461" fmla="*/ 463550 w 2825065"/>
              <a:gd name="connsiteY22-462" fmla="*/ 1530350 h 2254250"/>
              <a:gd name="connsiteX23-463" fmla="*/ 279400 w 2825065"/>
              <a:gd name="connsiteY23-464" fmla="*/ 1631950 h 2254250"/>
              <a:gd name="connsiteX24-465" fmla="*/ 114300 w 2825065"/>
              <a:gd name="connsiteY24-466" fmla="*/ 1879600 h 2254250"/>
              <a:gd name="connsiteX25-467" fmla="*/ 0 w 2825065"/>
              <a:gd name="connsiteY25-468" fmla="*/ 2254250 h 2254250"/>
              <a:gd name="connsiteX0-469" fmla="*/ 2762250 w 2825065"/>
              <a:gd name="connsiteY0-470" fmla="*/ 0 h 2254250"/>
              <a:gd name="connsiteX1-471" fmla="*/ 2819400 w 2825065"/>
              <a:gd name="connsiteY1-472" fmla="*/ 152400 h 2254250"/>
              <a:gd name="connsiteX2-473" fmla="*/ 2819400 w 2825065"/>
              <a:gd name="connsiteY2-474" fmla="*/ 298450 h 2254250"/>
              <a:gd name="connsiteX3-475" fmla="*/ 2787650 w 2825065"/>
              <a:gd name="connsiteY3-476" fmla="*/ 393700 h 2254250"/>
              <a:gd name="connsiteX4-477" fmla="*/ 2660650 w 2825065"/>
              <a:gd name="connsiteY4-478" fmla="*/ 469900 h 2254250"/>
              <a:gd name="connsiteX5-479" fmla="*/ 2432050 w 2825065"/>
              <a:gd name="connsiteY5-480" fmla="*/ 425450 h 2254250"/>
              <a:gd name="connsiteX6-481" fmla="*/ 2241550 w 2825065"/>
              <a:gd name="connsiteY6-482" fmla="*/ 368300 h 2254250"/>
              <a:gd name="connsiteX7-483" fmla="*/ 2090420 w 2825065"/>
              <a:gd name="connsiteY7-484" fmla="*/ 496570 h 2254250"/>
              <a:gd name="connsiteX8-485" fmla="*/ 1784350 w 2825065"/>
              <a:gd name="connsiteY8-486" fmla="*/ 422910 h 2254250"/>
              <a:gd name="connsiteX9-487" fmla="*/ 1677670 w 2825065"/>
              <a:gd name="connsiteY9-488" fmla="*/ 523240 h 2254250"/>
              <a:gd name="connsiteX10-489" fmla="*/ 1579880 w 2825065"/>
              <a:gd name="connsiteY10-490" fmla="*/ 692150 h 2254250"/>
              <a:gd name="connsiteX11-491" fmla="*/ 1360170 w 2825065"/>
              <a:gd name="connsiteY11-492" fmla="*/ 680720 h 2254250"/>
              <a:gd name="connsiteX12-493" fmla="*/ 1239520 w 2825065"/>
              <a:gd name="connsiteY12-494" fmla="*/ 687070 h 2254250"/>
              <a:gd name="connsiteX13-495" fmla="*/ 831850 w 2825065"/>
              <a:gd name="connsiteY13-496" fmla="*/ 641350 h 2254250"/>
              <a:gd name="connsiteX14-497" fmla="*/ 742950 w 2825065"/>
              <a:gd name="connsiteY14-498" fmla="*/ 596900 h 2254250"/>
              <a:gd name="connsiteX15-499" fmla="*/ 704850 w 2825065"/>
              <a:gd name="connsiteY15-500" fmla="*/ 685800 h 2254250"/>
              <a:gd name="connsiteX16-501" fmla="*/ 735330 w 2825065"/>
              <a:gd name="connsiteY16-502" fmla="*/ 948690 h 2254250"/>
              <a:gd name="connsiteX17-503" fmla="*/ 781050 w 2825065"/>
              <a:gd name="connsiteY17-504" fmla="*/ 1231900 h 2254250"/>
              <a:gd name="connsiteX18-505" fmla="*/ 819150 w 2825065"/>
              <a:gd name="connsiteY18-506" fmla="*/ 1409700 h 2254250"/>
              <a:gd name="connsiteX19-507" fmla="*/ 800100 w 2825065"/>
              <a:gd name="connsiteY19-508" fmla="*/ 1466850 h 2254250"/>
              <a:gd name="connsiteX20-509" fmla="*/ 749300 w 2825065"/>
              <a:gd name="connsiteY20-510" fmla="*/ 1524000 h 2254250"/>
              <a:gd name="connsiteX21-511" fmla="*/ 615950 w 2825065"/>
              <a:gd name="connsiteY21-512" fmla="*/ 1524000 h 2254250"/>
              <a:gd name="connsiteX22-513" fmla="*/ 463550 w 2825065"/>
              <a:gd name="connsiteY22-514" fmla="*/ 1530350 h 2254250"/>
              <a:gd name="connsiteX23-515" fmla="*/ 279400 w 2825065"/>
              <a:gd name="connsiteY23-516" fmla="*/ 1631950 h 2254250"/>
              <a:gd name="connsiteX24-517" fmla="*/ 114300 w 2825065"/>
              <a:gd name="connsiteY24-518" fmla="*/ 1879600 h 2254250"/>
              <a:gd name="connsiteX25-519" fmla="*/ 0 w 2825065"/>
              <a:gd name="connsiteY25-520" fmla="*/ 2254250 h 2254250"/>
              <a:gd name="connsiteX0-521" fmla="*/ 2762250 w 2825065"/>
              <a:gd name="connsiteY0-522" fmla="*/ 0 h 2254250"/>
              <a:gd name="connsiteX1-523" fmla="*/ 2819400 w 2825065"/>
              <a:gd name="connsiteY1-524" fmla="*/ 152400 h 2254250"/>
              <a:gd name="connsiteX2-525" fmla="*/ 2819400 w 2825065"/>
              <a:gd name="connsiteY2-526" fmla="*/ 298450 h 2254250"/>
              <a:gd name="connsiteX3-527" fmla="*/ 2787650 w 2825065"/>
              <a:gd name="connsiteY3-528" fmla="*/ 393700 h 2254250"/>
              <a:gd name="connsiteX4-529" fmla="*/ 2660650 w 2825065"/>
              <a:gd name="connsiteY4-530" fmla="*/ 469900 h 2254250"/>
              <a:gd name="connsiteX5-531" fmla="*/ 2432050 w 2825065"/>
              <a:gd name="connsiteY5-532" fmla="*/ 425450 h 2254250"/>
              <a:gd name="connsiteX6-533" fmla="*/ 2249170 w 2825065"/>
              <a:gd name="connsiteY6-534" fmla="*/ 482600 h 2254250"/>
              <a:gd name="connsiteX7-535" fmla="*/ 2090420 w 2825065"/>
              <a:gd name="connsiteY7-536" fmla="*/ 496570 h 2254250"/>
              <a:gd name="connsiteX8-537" fmla="*/ 1784350 w 2825065"/>
              <a:gd name="connsiteY8-538" fmla="*/ 422910 h 2254250"/>
              <a:gd name="connsiteX9-539" fmla="*/ 1677670 w 2825065"/>
              <a:gd name="connsiteY9-540" fmla="*/ 523240 h 2254250"/>
              <a:gd name="connsiteX10-541" fmla="*/ 1579880 w 2825065"/>
              <a:gd name="connsiteY10-542" fmla="*/ 692150 h 2254250"/>
              <a:gd name="connsiteX11-543" fmla="*/ 1360170 w 2825065"/>
              <a:gd name="connsiteY11-544" fmla="*/ 680720 h 2254250"/>
              <a:gd name="connsiteX12-545" fmla="*/ 1239520 w 2825065"/>
              <a:gd name="connsiteY12-546" fmla="*/ 687070 h 2254250"/>
              <a:gd name="connsiteX13-547" fmla="*/ 831850 w 2825065"/>
              <a:gd name="connsiteY13-548" fmla="*/ 641350 h 2254250"/>
              <a:gd name="connsiteX14-549" fmla="*/ 742950 w 2825065"/>
              <a:gd name="connsiteY14-550" fmla="*/ 596900 h 2254250"/>
              <a:gd name="connsiteX15-551" fmla="*/ 704850 w 2825065"/>
              <a:gd name="connsiteY15-552" fmla="*/ 685800 h 2254250"/>
              <a:gd name="connsiteX16-553" fmla="*/ 735330 w 2825065"/>
              <a:gd name="connsiteY16-554" fmla="*/ 948690 h 2254250"/>
              <a:gd name="connsiteX17-555" fmla="*/ 781050 w 2825065"/>
              <a:gd name="connsiteY17-556" fmla="*/ 1231900 h 2254250"/>
              <a:gd name="connsiteX18-557" fmla="*/ 819150 w 2825065"/>
              <a:gd name="connsiteY18-558" fmla="*/ 1409700 h 2254250"/>
              <a:gd name="connsiteX19-559" fmla="*/ 800100 w 2825065"/>
              <a:gd name="connsiteY19-560" fmla="*/ 1466850 h 2254250"/>
              <a:gd name="connsiteX20-561" fmla="*/ 749300 w 2825065"/>
              <a:gd name="connsiteY20-562" fmla="*/ 1524000 h 2254250"/>
              <a:gd name="connsiteX21-563" fmla="*/ 615950 w 2825065"/>
              <a:gd name="connsiteY21-564" fmla="*/ 1524000 h 2254250"/>
              <a:gd name="connsiteX22-565" fmla="*/ 463550 w 2825065"/>
              <a:gd name="connsiteY22-566" fmla="*/ 1530350 h 2254250"/>
              <a:gd name="connsiteX23-567" fmla="*/ 279400 w 2825065"/>
              <a:gd name="connsiteY23-568" fmla="*/ 1631950 h 2254250"/>
              <a:gd name="connsiteX24-569" fmla="*/ 114300 w 2825065"/>
              <a:gd name="connsiteY24-570" fmla="*/ 1879600 h 2254250"/>
              <a:gd name="connsiteX25-571" fmla="*/ 0 w 2825065"/>
              <a:gd name="connsiteY25-572" fmla="*/ 2254250 h 2254250"/>
              <a:gd name="connsiteX0-573" fmla="*/ 2762250 w 2825065"/>
              <a:gd name="connsiteY0-574" fmla="*/ 0 h 2254250"/>
              <a:gd name="connsiteX1-575" fmla="*/ 2819400 w 2825065"/>
              <a:gd name="connsiteY1-576" fmla="*/ 152400 h 2254250"/>
              <a:gd name="connsiteX2-577" fmla="*/ 2819400 w 2825065"/>
              <a:gd name="connsiteY2-578" fmla="*/ 298450 h 2254250"/>
              <a:gd name="connsiteX3-579" fmla="*/ 2787650 w 2825065"/>
              <a:gd name="connsiteY3-580" fmla="*/ 393700 h 2254250"/>
              <a:gd name="connsiteX4-581" fmla="*/ 2660650 w 2825065"/>
              <a:gd name="connsiteY4-582" fmla="*/ 469900 h 2254250"/>
              <a:gd name="connsiteX5-583" fmla="*/ 2432050 w 2825065"/>
              <a:gd name="connsiteY5-584" fmla="*/ 425450 h 2254250"/>
              <a:gd name="connsiteX6-585" fmla="*/ 2249170 w 2825065"/>
              <a:gd name="connsiteY6-586" fmla="*/ 482600 h 2254250"/>
              <a:gd name="connsiteX7-587" fmla="*/ 2090420 w 2825065"/>
              <a:gd name="connsiteY7-588" fmla="*/ 496570 h 2254250"/>
              <a:gd name="connsiteX8-589" fmla="*/ 1784350 w 2825065"/>
              <a:gd name="connsiteY8-590" fmla="*/ 422910 h 2254250"/>
              <a:gd name="connsiteX9-591" fmla="*/ 1677670 w 2825065"/>
              <a:gd name="connsiteY9-592" fmla="*/ 523240 h 2254250"/>
              <a:gd name="connsiteX10-593" fmla="*/ 1579880 w 2825065"/>
              <a:gd name="connsiteY10-594" fmla="*/ 692150 h 2254250"/>
              <a:gd name="connsiteX11-595" fmla="*/ 1360170 w 2825065"/>
              <a:gd name="connsiteY11-596" fmla="*/ 680720 h 2254250"/>
              <a:gd name="connsiteX12-597" fmla="*/ 1239520 w 2825065"/>
              <a:gd name="connsiteY12-598" fmla="*/ 687070 h 2254250"/>
              <a:gd name="connsiteX13-599" fmla="*/ 831850 w 2825065"/>
              <a:gd name="connsiteY13-600" fmla="*/ 641350 h 2254250"/>
              <a:gd name="connsiteX14-601" fmla="*/ 742950 w 2825065"/>
              <a:gd name="connsiteY14-602" fmla="*/ 596900 h 2254250"/>
              <a:gd name="connsiteX15-603" fmla="*/ 704850 w 2825065"/>
              <a:gd name="connsiteY15-604" fmla="*/ 685800 h 2254250"/>
              <a:gd name="connsiteX16-605" fmla="*/ 735330 w 2825065"/>
              <a:gd name="connsiteY16-606" fmla="*/ 948690 h 2254250"/>
              <a:gd name="connsiteX17-607" fmla="*/ 781050 w 2825065"/>
              <a:gd name="connsiteY17-608" fmla="*/ 1231900 h 2254250"/>
              <a:gd name="connsiteX18-609" fmla="*/ 819150 w 2825065"/>
              <a:gd name="connsiteY18-610" fmla="*/ 1409700 h 2254250"/>
              <a:gd name="connsiteX19-611" fmla="*/ 800100 w 2825065"/>
              <a:gd name="connsiteY19-612" fmla="*/ 1466850 h 2254250"/>
              <a:gd name="connsiteX20-613" fmla="*/ 749300 w 2825065"/>
              <a:gd name="connsiteY20-614" fmla="*/ 1524000 h 2254250"/>
              <a:gd name="connsiteX21-615" fmla="*/ 615950 w 2825065"/>
              <a:gd name="connsiteY21-616" fmla="*/ 1524000 h 2254250"/>
              <a:gd name="connsiteX22-617" fmla="*/ 463550 w 2825065"/>
              <a:gd name="connsiteY22-618" fmla="*/ 1530350 h 2254250"/>
              <a:gd name="connsiteX23-619" fmla="*/ 279400 w 2825065"/>
              <a:gd name="connsiteY23-620" fmla="*/ 1631950 h 2254250"/>
              <a:gd name="connsiteX24-621" fmla="*/ 114300 w 2825065"/>
              <a:gd name="connsiteY24-622" fmla="*/ 1879600 h 2254250"/>
              <a:gd name="connsiteX25-623" fmla="*/ 0 w 2825065"/>
              <a:gd name="connsiteY25-624" fmla="*/ 2254250 h 2254250"/>
              <a:gd name="connsiteX0-625" fmla="*/ 2762250 w 2825065"/>
              <a:gd name="connsiteY0-626" fmla="*/ 0 h 2254250"/>
              <a:gd name="connsiteX1-627" fmla="*/ 2819400 w 2825065"/>
              <a:gd name="connsiteY1-628" fmla="*/ 152400 h 2254250"/>
              <a:gd name="connsiteX2-629" fmla="*/ 2819400 w 2825065"/>
              <a:gd name="connsiteY2-630" fmla="*/ 298450 h 2254250"/>
              <a:gd name="connsiteX3-631" fmla="*/ 2787650 w 2825065"/>
              <a:gd name="connsiteY3-632" fmla="*/ 393700 h 2254250"/>
              <a:gd name="connsiteX4-633" fmla="*/ 2660650 w 2825065"/>
              <a:gd name="connsiteY4-634" fmla="*/ 469900 h 2254250"/>
              <a:gd name="connsiteX5-635" fmla="*/ 2432050 w 2825065"/>
              <a:gd name="connsiteY5-636" fmla="*/ 425450 h 2254250"/>
              <a:gd name="connsiteX6-637" fmla="*/ 2249170 w 2825065"/>
              <a:gd name="connsiteY6-638" fmla="*/ 482600 h 2254250"/>
              <a:gd name="connsiteX7-639" fmla="*/ 2090420 w 2825065"/>
              <a:gd name="connsiteY7-640" fmla="*/ 496570 h 2254250"/>
              <a:gd name="connsiteX8-641" fmla="*/ 1784350 w 2825065"/>
              <a:gd name="connsiteY8-642" fmla="*/ 422910 h 2254250"/>
              <a:gd name="connsiteX9-643" fmla="*/ 1677670 w 2825065"/>
              <a:gd name="connsiteY9-644" fmla="*/ 523240 h 2254250"/>
              <a:gd name="connsiteX10-645" fmla="*/ 1579880 w 2825065"/>
              <a:gd name="connsiteY10-646" fmla="*/ 692150 h 2254250"/>
              <a:gd name="connsiteX11-647" fmla="*/ 1360170 w 2825065"/>
              <a:gd name="connsiteY11-648" fmla="*/ 680720 h 2254250"/>
              <a:gd name="connsiteX12-649" fmla="*/ 1239520 w 2825065"/>
              <a:gd name="connsiteY12-650" fmla="*/ 687070 h 2254250"/>
              <a:gd name="connsiteX13-651" fmla="*/ 831850 w 2825065"/>
              <a:gd name="connsiteY13-652" fmla="*/ 641350 h 2254250"/>
              <a:gd name="connsiteX14-653" fmla="*/ 742950 w 2825065"/>
              <a:gd name="connsiteY14-654" fmla="*/ 596900 h 2254250"/>
              <a:gd name="connsiteX15-655" fmla="*/ 704850 w 2825065"/>
              <a:gd name="connsiteY15-656" fmla="*/ 685800 h 2254250"/>
              <a:gd name="connsiteX16-657" fmla="*/ 735330 w 2825065"/>
              <a:gd name="connsiteY16-658" fmla="*/ 948690 h 2254250"/>
              <a:gd name="connsiteX17-659" fmla="*/ 781050 w 2825065"/>
              <a:gd name="connsiteY17-660" fmla="*/ 1231900 h 2254250"/>
              <a:gd name="connsiteX18-661" fmla="*/ 819150 w 2825065"/>
              <a:gd name="connsiteY18-662" fmla="*/ 1409700 h 2254250"/>
              <a:gd name="connsiteX19-663" fmla="*/ 800100 w 2825065"/>
              <a:gd name="connsiteY19-664" fmla="*/ 1466850 h 2254250"/>
              <a:gd name="connsiteX20-665" fmla="*/ 749300 w 2825065"/>
              <a:gd name="connsiteY20-666" fmla="*/ 1524000 h 2254250"/>
              <a:gd name="connsiteX21-667" fmla="*/ 615950 w 2825065"/>
              <a:gd name="connsiteY21-668" fmla="*/ 1524000 h 2254250"/>
              <a:gd name="connsiteX22-669" fmla="*/ 463550 w 2825065"/>
              <a:gd name="connsiteY22-670" fmla="*/ 1530350 h 2254250"/>
              <a:gd name="connsiteX23-671" fmla="*/ 279400 w 2825065"/>
              <a:gd name="connsiteY23-672" fmla="*/ 1631950 h 2254250"/>
              <a:gd name="connsiteX24-673" fmla="*/ 114300 w 2825065"/>
              <a:gd name="connsiteY24-674" fmla="*/ 1879600 h 2254250"/>
              <a:gd name="connsiteX25-675" fmla="*/ 0 w 2825065"/>
              <a:gd name="connsiteY25-676" fmla="*/ 2254250 h 2254250"/>
              <a:gd name="connsiteX0-677" fmla="*/ 2762250 w 2825065"/>
              <a:gd name="connsiteY0-678" fmla="*/ 0 h 2254250"/>
              <a:gd name="connsiteX1-679" fmla="*/ 2819400 w 2825065"/>
              <a:gd name="connsiteY1-680" fmla="*/ 152400 h 2254250"/>
              <a:gd name="connsiteX2-681" fmla="*/ 2819400 w 2825065"/>
              <a:gd name="connsiteY2-682" fmla="*/ 298450 h 2254250"/>
              <a:gd name="connsiteX3-683" fmla="*/ 2787650 w 2825065"/>
              <a:gd name="connsiteY3-684" fmla="*/ 393700 h 2254250"/>
              <a:gd name="connsiteX4-685" fmla="*/ 2660650 w 2825065"/>
              <a:gd name="connsiteY4-686" fmla="*/ 469900 h 2254250"/>
              <a:gd name="connsiteX5-687" fmla="*/ 2432050 w 2825065"/>
              <a:gd name="connsiteY5-688" fmla="*/ 425450 h 2254250"/>
              <a:gd name="connsiteX6-689" fmla="*/ 2249170 w 2825065"/>
              <a:gd name="connsiteY6-690" fmla="*/ 482600 h 2254250"/>
              <a:gd name="connsiteX7-691" fmla="*/ 2090420 w 2825065"/>
              <a:gd name="connsiteY7-692" fmla="*/ 496570 h 2254250"/>
              <a:gd name="connsiteX8-693" fmla="*/ 1784350 w 2825065"/>
              <a:gd name="connsiteY8-694" fmla="*/ 422910 h 2254250"/>
              <a:gd name="connsiteX9-695" fmla="*/ 1677670 w 2825065"/>
              <a:gd name="connsiteY9-696" fmla="*/ 523240 h 2254250"/>
              <a:gd name="connsiteX10-697" fmla="*/ 1579880 w 2825065"/>
              <a:gd name="connsiteY10-698" fmla="*/ 692150 h 2254250"/>
              <a:gd name="connsiteX11-699" fmla="*/ 1360170 w 2825065"/>
              <a:gd name="connsiteY11-700" fmla="*/ 680720 h 2254250"/>
              <a:gd name="connsiteX12-701" fmla="*/ 1239520 w 2825065"/>
              <a:gd name="connsiteY12-702" fmla="*/ 687070 h 2254250"/>
              <a:gd name="connsiteX13-703" fmla="*/ 831850 w 2825065"/>
              <a:gd name="connsiteY13-704" fmla="*/ 641350 h 2254250"/>
              <a:gd name="connsiteX14-705" fmla="*/ 742950 w 2825065"/>
              <a:gd name="connsiteY14-706" fmla="*/ 596900 h 2254250"/>
              <a:gd name="connsiteX15-707" fmla="*/ 704850 w 2825065"/>
              <a:gd name="connsiteY15-708" fmla="*/ 685800 h 2254250"/>
              <a:gd name="connsiteX16-709" fmla="*/ 735330 w 2825065"/>
              <a:gd name="connsiteY16-710" fmla="*/ 948690 h 2254250"/>
              <a:gd name="connsiteX17-711" fmla="*/ 781050 w 2825065"/>
              <a:gd name="connsiteY17-712" fmla="*/ 1231900 h 2254250"/>
              <a:gd name="connsiteX18-713" fmla="*/ 819150 w 2825065"/>
              <a:gd name="connsiteY18-714" fmla="*/ 1409700 h 2254250"/>
              <a:gd name="connsiteX19-715" fmla="*/ 800100 w 2825065"/>
              <a:gd name="connsiteY19-716" fmla="*/ 1466850 h 2254250"/>
              <a:gd name="connsiteX20-717" fmla="*/ 749300 w 2825065"/>
              <a:gd name="connsiteY20-718" fmla="*/ 1524000 h 2254250"/>
              <a:gd name="connsiteX21-719" fmla="*/ 615950 w 2825065"/>
              <a:gd name="connsiteY21-720" fmla="*/ 1524000 h 2254250"/>
              <a:gd name="connsiteX22-721" fmla="*/ 463550 w 2825065"/>
              <a:gd name="connsiteY22-722" fmla="*/ 1530350 h 2254250"/>
              <a:gd name="connsiteX23-723" fmla="*/ 279400 w 2825065"/>
              <a:gd name="connsiteY23-724" fmla="*/ 1631950 h 2254250"/>
              <a:gd name="connsiteX24-725" fmla="*/ 114300 w 2825065"/>
              <a:gd name="connsiteY24-726" fmla="*/ 1879600 h 2254250"/>
              <a:gd name="connsiteX25-727" fmla="*/ 0 w 2825065"/>
              <a:gd name="connsiteY25-728" fmla="*/ 2254250 h 2254250"/>
              <a:gd name="connsiteX0-729" fmla="*/ 2762250 w 2825065"/>
              <a:gd name="connsiteY0-730" fmla="*/ 0 h 2254250"/>
              <a:gd name="connsiteX1-731" fmla="*/ 2819400 w 2825065"/>
              <a:gd name="connsiteY1-732" fmla="*/ 152400 h 2254250"/>
              <a:gd name="connsiteX2-733" fmla="*/ 2819400 w 2825065"/>
              <a:gd name="connsiteY2-734" fmla="*/ 298450 h 2254250"/>
              <a:gd name="connsiteX3-735" fmla="*/ 2787650 w 2825065"/>
              <a:gd name="connsiteY3-736" fmla="*/ 393700 h 2254250"/>
              <a:gd name="connsiteX4-737" fmla="*/ 2660650 w 2825065"/>
              <a:gd name="connsiteY4-738" fmla="*/ 469900 h 2254250"/>
              <a:gd name="connsiteX5-739" fmla="*/ 2432050 w 2825065"/>
              <a:gd name="connsiteY5-740" fmla="*/ 425450 h 2254250"/>
              <a:gd name="connsiteX6-741" fmla="*/ 2249170 w 2825065"/>
              <a:gd name="connsiteY6-742" fmla="*/ 482600 h 2254250"/>
              <a:gd name="connsiteX7-743" fmla="*/ 2090420 w 2825065"/>
              <a:gd name="connsiteY7-744" fmla="*/ 496570 h 2254250"/>
              <a:gd name="connsiteX8-745" fmla="*/ 1784350 w 2825065"/>
              <a:gd name="connsiteY8-746" fmla="*/ 422910 h 2254250"/>
              <a:gd name="connsiteX9-747" fmla="*/ 1677670 w 2825065"/>
              <a:gd name="connsiteY9-748" fmla="*/ 523240 h 2254250"/>
              <a:gd name="connsiteX10-749" fmla="*/ 1579880 w 2825065"/>
              <a:gd name="connsiteY10-750" fmla="*/ 692150 h 2254250"/>
              <a:gd name="connsiteX11-751" fmla="*/ 1360170 w 2825065"/>
              <a:gd name="connsiteY11-752" fmla="*/ 680720 h 2254250"/>
              <a:gd name="connsiteX12-753" fmla="*/ 1239520 w 2825065"/>
              <a:gd name="connsiteY12-754" fmla="*/ 687070 h 2254250"/>
              <a:gd name="connsiteX13-755" fmla="*/ 831850 w 2825065"/>
              <a:gd name="connsiteY13-756" fmla="*/ 641350 h 2254250"/>
              <a:gd name="connsiteX14-757" fmla="*/ 742950 w 2825065"/>
              <a:gd name="connsiteY14-758" fmla="*/ 596900 h 2254250"/>
              <a:gd name="connsiteX15-759" fmla="*/ 704850 w 2825065"/>
              <a:gd name="connsiteY15-760" fmla="*/ 685800 h 2254250"/>
              <a:gd name="connsiteX16-761" fmla="*/ 735330 w 2825065"/>
              <a:gd name="connsiteY16-762" fmla="*/ 948690 h 2254250"/>
              <a:gd name="connsiteX17-763" fmla="*/ 781050 w 2825065"/>
              <a:gd name="connsiteY17-764" fmla="*/ 1231900 h 2254250"/>
              <a:gd name="connsiteX18-765" fmla="*/ 819150 w 2825065"/>
              <a:gd name="connsiteY18-766" fmla="*/ 1409700 h 2254250"/>
              <a:gd name="connsiteX19-767" fmla="*/ 800100 w 2825065"/>
              <a:gd name="connsiteY19-768" fmla="*/ 1466850 h 2254250"/>
              <a:gd name="connsiteX20-769" fmla="*/ 749300 w 2825065"/>
              <a:gd name="connsiteY20-770" fmla="*/ 1524000 h 2254250"/>
              <a:gd name="connsiteX21-771" fmla="*/ 615950 w 2825065"/>
              <a:gd name="connsiteY21-772" fmla="*/ 1524000 h 2254250"/>
              <a:gd name="connsiteX22-773" fmla="*/ 463550 w 2825065"/>
              <a:gd name="connsiteY22-774" fmla="*/ 1530350 h 2254250"/>
              <a:gd name="connsiteX23-775" fmla="*/ 279400 w 2825065"/>
              <a:gd name="connsiteY23-776" fmla="*/ 1631950 h 2254250"/>
              <a:gd name="connsiteX24-777" fmla="*/ 114300 w 2825065"/>
              <a:gd name="connsiteY24-778" fmla="*/ 1879600 h 2254250"/>
              <a:gd name="connsiteX25-779" fmla="*/ 0 w 2825065"/>
              <a:gd name="connsiteY25-780" fmla="*/ 2254250 h 2254250"/>
              <a:gd name="connsiteX0-781" fmla="*/ 2762250 w 2825065"/>
              <a:gd name="connsiteY0-782" fmla="*/ 0 h 2254250"/>
              <a:gd name="connsiteX1-783" fmla="*/ 2819400 w 2825065"/>
              <a:gd name="connsiteY1-784" fmla="*/ 152400 h 2254250"/>
              <a:gd name="connsiteX2-785" fmla="*/ 2819400 w 2825065"/>
              <a:gd name="connsiteY2-786" fmla="*/ 298450 h 2254250"/>
              <a:gd name="connsiteX3-787" fmla="*/ 2787650 w 2825065"/>
              <a:gd name="connsiteY3-788" fmla="*/ 393700 h 2254250"/>
              <a:gd name="connsiteX4-789" fmla="*/ 2660650 w 2825065"/>
              <a:gd name="connsiteY4-790" fmla="*/ 469900 h 2254250"/>
              <a:gd name="connsiteX5-791" fmla="*/ 2428240 w 2825065"/>
              <a:gd name="connsiteY5-792" fmla="*/ 356870 h 2254250"/>
              <a:gd name="connsiteX6-793" fmla="*/ 2249170 w 2825065"/>
              <a:gd name="connsiteY6-794" fmla="*/ 482600 h 2254250"/>
              <a:gd name="connsiteX7-795" fmla="*/ 2090420 w 2825065"/>
              <a:gd name="connsiteY7-796" fmla="*/ 496570 h 2254250"/>
              <a:gd name="connsiteX8-797" fmla="*/ 1784350 w 2825065"/>
              <a:gd name="connsiteY8-798" fmla="*/ 422910 h 2254250"/>
              <a:gd name="connsiteX9-799" fmla="*/ 1677670 w 2825065"/>
              <a:gd name="connsiteY9-800" fmla="*/ 523240 h 2254250"/>
              <a:gd name="connsiteX10-801" fmla="*/ 1579880 w 2825065"/>
              <a:gd name="connsiteY10-802" fmla="*/ 692150 h 2254250"/>
              <a:gd name="connsiteX11-803" fmla="*/ 1360170 w 2825065"/>
              <a:gd name="connsiteY11-804" fmla="*/ 680720 h 2254250"/>
              <a:gd name="connsiteX12-805" fmla="*/ 1239520 w 2825065"/>
              <a:gd name="connsiteY12-806" fmla="*/ 687070 h 2254250"/>
              <a:gd name="connsiteX13-807" fmla="*/ 831850 w 2825065"/>
              <a:gd name="connsiteY13-808" fmla="*/ 641350 h 2254250"/>
              <a:gd name="connsiteX14-809" fmla="*/ 742950 w 2825065"/>
              <a:gd name="connsiteY14-810" fmla="*/ 596900 h 2254250"/>
              <a:gd name="connsiteX15-811" fmla="*/ 704850 w 2825065"/>
              <a:gd name="connsiteY15-812" fmla="*/ 685800 h 2254250"/>
              <a:gd name="connsiteX16-813" fmla="*/ 735330 w 2825065"/>
              <a:gd name="connsiteY16-814" fmla="*/ 948690 h 2254250"/>
              <a:gd name="connsiteX17-815" fmla="*/ 781050 w 2825065"/>
              <a:gd name="connsiteY17-816" fmla="*/ 1231900 h 2254250"/>
              <a:gd name="connsiteX18-817" fmla="*/ 819150 w 2825065"/>
              <a:gd name="connsiteY18-818" fmla="*/ 1409700 h 2254250"/>
              <a:gd name="connsiteX19-819" fmla="*/ 800100 w 2825065"/>
              <a:gd name="connsiteY19-820" fmla="*/ 1466850 h 2254250"/>
              <a:gd name="connsiteX20-821" fmla="*/ 749300 w 2825065"/>
              <a:gd name="connsiteY20-822" fmla="*/ 1524000 h 2254250"/>
              <a:gd name="connsiteX21-823" fmla="*/ 615950 w 2825065"/>
              <a:gd name="connsiteY21-824" fmla="*/ 1524000 h 2254250"/>
              <a:gd name="connsiteX22-825" fmla="*/ 463550 w 2825065"/>
              <a:gd name="connsiteY22-826" fmla="*/ 1530350 h 2254250"/>
              <a:gd name="connsiteX23-827" fmla="*/ 279400 w 2825065"/>
              <a:gd name="connsiteY23-828" fmla="*/ 1631950 h 2254250"/>
              <a:gd name="connsiteX24-829" fmla="*/ 114300 w 2825065"/>
              <a:gd name="connsiteY24-830" fmla="*/ 1879600 h 2254250"/>
              <a:gd name="connsiteX25-831" fmla="*/ 0 w 2825065"/>
              <a:gd name="connsiteY25-832" fmla="*/ 2254250 h 2254250"/>
              <a:gd name="connsiteX0-833" fmla="*/ 2762250 w 2825065"/>
              <a:gd name="connsiteY0-834" fmla="*/ 0 h 2254250"/>
              <a:gd name="connsiteX1-835" fmla="*/ 2819400 w 2825065"/>
              <a:gd name="connsiteY1-836" fmla="*/ 152400 h 2254250"/>
              <a:gd name="connsiteX2-837" fmla="*/ 2819400 w 2825065"/>
              <a:gd name="connsiteY2-838" fmla="*/ 298450 h 2254250"/>
              <a:gd name="connsiteX3-839" fmla="*/ 2787650 w 2825065"/>
              <a:gd name="connsiteY3-840" fmla="*/ 393700 h 2254250"/>
              <a:gd name="connsiteX4-841" fmla="*/ 2660650 w 2825065"/>
              <a:gd name="connsiteY4-842" fmla="*/ 469900 h 2254250"/>
              <a:gd name="connsiteX5-843" fmla="*/ 2332990 w 2825065"/>
              <a:gd name="connsiteY5-844" fmla="*/ 391160 h 2254250"/>
              <a:gd name="connsiteX6-845" fmla="*/ 2249170 w 2825065"/>
              <a:gd name="connsiteY6-846" fmla="*/ 482600 h 2254250"/>
              <a:gd name="connsiteX7-847" fmla="*/ 2090420 w 2825065"/>
              <a:gd name="connsiteY7-848" fmla="*/ 496570 h 2254250"/>
              <a:gd name="connsiteX8-849" fmla="*/ 1784350 w 2825065"/>
              <a:gd name="connsiteY8-850" fmla="*/ 422910 h 2254250"/>
              <a:gd name="connsiteX9-851" fmla="*/ 1677670 w 2825065"/>
              <a:gd name="connsiteY9-852" fmla="*/ 523240 h 2254250"/>
              <a:gd name="connsiteX10-853" fmla="*/ 1579880 w 2825065"/>
              <a:gd name="connsiteY10-854" fmla="*/ 692150 h 2254250"/>
              <a:gd name="connsiteX11-855" fmla="*/ 1360170 w 2825065"/>
              <a:gd name="connsiteY11-856" fmla="*/ 680720 h 2254250"/>
              <a:gd name="connsiteX12-857" fmla="*/ 1239520 w 2825065"/>
              <a:gd name="connsiteY12-858" fmla="*/ 687070 h 2254250"/>
              <a:gd name="connsiteX13-859" fmla="*/ 831850 w 2825065"/>
              <a:gd name="connsiteY13-860" fmla="*/ 641350 h 2254250"/>
              <a:gd name="connsiteX14-861" fmla="*/ 742950 w 2825065"/>
              <a:gd name="connsiteY14-862" fmla="*/ 596900 h 2254250"/>
              <a:gd name="connsiteX15-863" fmla="*/ 704850 w 2825065"/>
              <a:gd name="connsiteY15-864" fmla="*/ 685800 h 2254250"/>
              <a:gd name="connsiteX16-865" fmla="*/ 735330 w 2825065"/>
              <a:gd name="connsiteY16-866" fmla="*/ 948690 h 2254250"/>
              <a:gd name="connsiteX17-867" fmla="*/ 781050 w 2825065"/>
              <a:gd name="connsiteY17-868" fmla="*/ 1231900 h 2254250"/>
              <a:gd name="connsiteX18-869" fmla="*/ 819150 w 2825065"/>
              <a:gd name="connsiteY18-870" fmla="*/ 1409700 h 2254250"/>
              <a:gd name="connsiteX19-871" fmla="*/ 800100 w 2825065"/>
              <a:gd name="connsiteY19-872" fmla="*/ 1466850 h 2254250"/>
              <a:gd name="connsiteX20-873" fmla="*/ 749300 w 2825065"/>
              <a:gd name="connsiteY20-874" fmla="*/ 1524000 h 2254250"/>
              <a:gd name="connsiteX21-875" fmla="*/ 615950 w 2825065"/>
              <a:gd name="connsiteY21-876" fmla="*/ 1524000 h 2254250"/>
              <a:gd name="connsiteX22-877" fmla="*/ 463550 w 2825065"/>
              <a:gd name="connsiteY22-878" fmla="*/ 1530350 h 2254250"/>
              <a:gd name="connsiteX23-879" fmla="*/ 279400 w 2825065"/>
              <a:gd name="connsiteY23-880" fmla="*/ 1631950 h 2254250"/>
              <a:gd name="connsiteX24-881" fmla="*/ 114300 w 2825065"/>
              <a:gd name="connsiteY24-882" fmla="*/ 1879600 h 2254250"/>
              <a:gd name="connsiteX25-883" fmla="*/ 0 w 2825065"/>
              <a:gd name="connsiteY25-884" fmla="*/ 2254250 h 2254250"/>
              <a:gd name="connsiteX0-885" fmla="*/ 2762250 w 2825065"/>
              <a:gd name="connsiteY0-886" fmla="*/ 0 h 2254250"/>
              <a:gd name="connsiteX1-887" fmla="*/ 2819400 w 2825065"/>
              <a:gd name="connsiteY1-888" fmla="*/ 152400 h 2254250"/>
              <a:gd name="connsiteX2-889" fmla="*/ 2819400 w 2825065"/>
              <a:gd name="connsiteY2-890" fmla="*/ 298450 h 2254250"/>
              <a:gd name="connsiteX3-891" fmla="*/ 2787650 w 2825065"/>
              <a:gd name="connsiteY3-892" fmla="*/ 393700 h 2254250"/>
              <a:gd name="connsiteX4-893" fmla="*/ 2660650 w 2825065"/>
              <a:gd name="connsiteY4-894" fmla="*/ 469900 h 2254250"/>
              <a:gd name="connsiteX5-895" fmla="*/ 2332990 w 2825065"/>
              <a:gd name="connsiteY5-896" fmla="*/ 391160 h 2254250"/>
              <a:gd name="connsiteX6-897" fmla="*/ 2249170 w 2825065"/>
              <a:gd name="connsiteY6-898" fmla="*/ 482600 h 2254250"/>
              <a:gd name="connsiteX7-899" fmla="*/ 2090420 w 2825065"/>
              <a:gd name="connsiteY7-900" fmla="*/ 496570 h 2254250"/>
              <a:gd name="connsiteX8-901" fmla="*/ 1784350 w 2825065"/>
              <a:gd name="connsiteY8-902" fmla="*/ 422910 h 2254250"/>
              <a:gd name="connsiteX9-903" fmla="*/ 1677670 w 2825065"/>
              <a:gd name="connsiteY9-904" fmla="*/ 523240 h 2254250"/>
              <a:gd name="connsiteX10-905" fmla="*/ 1579880 w 2825065"/>
              <a:gd name="connsiteY10-906" fmla="*/ 692150 h 2254250"/>
              <a:gd name="connsiteX11-907" fmla="*/ 1360170 w 2825065"/>
              <a:gd name="connsiteY11-908" fmla="*/ 680720 h 2254250"/>
              <a:gd name="connsiteX12-909" fmla="*/ 1239520 w 2825065"/>
              <a:gd name="connsiteY12-910" fmla="*/ 687070 h 2254250"/>
              <a:gd name="connsiteX13-911" fmla="*/ 831850 w 2825065"/>
              <a:gd name="connsiteY13-912" fmla="*/ 641350 h 2254250"/>
              <a:gd name="connsiteX14-913" fmla="*/ 742950 w 2825065"/>
              <a:gd name="connsiteY14-914" fmla="*/ 596900 h 2254250"/>
              <a:gd name="connsiteX15-915" fmla="*/ 704850 w 2825065"/>
              <a:gd name="connsiteY15-916" fmla="*/ 685800 h 2254250"/>
              <a:gd name="connsiteX16-917" fmla="*/ 735330 w 2825065"/>
              <a:gd name="connsiteY16-918" fmla="*/ 948690 h 2254250"/>
              <a:gd name="connsiteX17-919" fmla="*/ 781050 w 2825065"/>
              <a:gd name="connsiteY17-920" fmla="*/ 1231900 h 2254250"/>
              <a:gd name="connsiteX18-921" fmla="*/ 819150 w 2825065"/>
              <a:gd name="connsiteY18-922" fmla="*/ 1409700 h 2254250"/>
              <a:gd name="connsiteX19-923" fmla="*/ 800100 w 2825065"/>
              <a:gd name="connsiteY19-924" fmla="*/ 1466850 h 2254250"/>
              <a:gd name="connsiteX20-925" fmla="*/ 749300 w 2825065"/>
              <a:gd name="connsiteY20-926" fmla="*/ 1524000 h 2254250"/>
              <a:gd name="connsiteX21-927" fmla="*/ 615950 w 2825065"/>
              <a:gd name="connsiteY21-928" fmla="*/ 1524000 h 2254250"/>
              <a:gd name="connsiteX22-929" fmla="*/ 463550 w 2825065"/>
              <a:gd name="connsiteY22-930" fmla="*/ 1530350 h 2254250"/>
              <a:gd name="connsiteX23-931" fmla="*/ 279400 w 2825065"/>
              <a:gd name="connsiteY23-932" fmla="*/ 1631950 h 2254250"/>
              <a:gd name="connsiteX24-933" fmla="*/ 114300 w 2825065"/>
              <a:gd name="connsiteY24-934" fmla="*/ 1879600 h 2254250"/>
              <a:gd name="connsiteX25-935" fmla="*/ 0 w 2825065"/>
              <a:gd name="connsiteY25-936" fmla="*/ 2254250 h 2254250"/>
              <a:gd name="connsiteX0-937" fmla="*/ 2762250 w 2829377"/>
              <a:gd name="connsiteY0-938" fmla="*/ 0 h 2254250"/>
              <a:gd name="connsiteX1-939" fmla="*/ 2819400 w 2829377"/>
              <a:gd name="connsiteY1-940" fmla="*/ 152400 h 2254250"/>
              <a:gd name="connsiteX2-941" fmla="*/ 2819400 w 2829377"/>
              <a:gd name="connsiteY2-942" fmla="*/ 298450 h 2254250"/>
              <a:gd name="connsiteX3-943" fmla="*/ 2787650 w 2829377"/>
              <a:gd name="connsiteY3-944" fmla="*/ 393700 h 2254250"/>
              <a:gd name="connsiteX4-945" fmla="*/ 2378710 w 2829377"/>
              <a:gd name="connsiteY4-946" fmla="*/ 298450 h 2254250"/>
              <a:gd name="connsiteX5-947" fmla="*/ 2332990 w 2829377"/>
              <a:gd name="connsiteY5-948" fmla="*/ 391160 h 2254250"/>
              <a:gd name="connsiteX6-949" fmla="*/ 2249170 w 2829377"/>
              <a:gd name="connsiteY6-950" fmla="*/ 482600 h 2254250"/>
              <a:gd name="connsiteX7-951" fmla="*/ 2090420 w 2829377"/>
              <a:gd name="connsiteY7-952" fmla="*/ 496570 h 2254250"/>
              <a:gd name="connsiteX8-953" fmla="*/ 1784350 w 2829377"/>
              <a:gd name="connsiteY8-954" fmla="*/ 422910 h 2254250"/>
              <a:gd name="connsiteX9-955" fmla="*/ 1677670 w 2829377"/>
              <a:gd name="connsiteY9-956" fmla="*/ 523240 h 2254250"/>
              <a:gd name="connsiteX10-957" fmla="*/ 1579880 w 2829377"/>
              <a:gd name="connsiteY10-958" fmla="*/ 692150 h 2254250"/>
              <a:gd name="connsiteX11-959" fmla="*/ 1360170 w 2829377"/>
              <a:gd name="connsiteY11-960" fmla="*/ 680720 h 2254250"/>
              <a:gd name="connsiteX12-961" fmla="*/ 1239520 w 2829377"/>
              <a:gd name="connsiteY12-962" fmla="*/ 687070 h 2254250"/>
              <a:gd name="connsiteX13-963" fmla="*/ 831850 w 2829377"/>
              <a:gd name="connsiteY13-964" fmla="*/ 641350 h 2254250"/>
              <a:gd name="connsiteX14-965" fmla="*/ 742950 w 2829377"/>
              <a:gd name="connsiteY14-966" fmla="*/ 596900 h 2254250"/>
              <a:gd name="connsiteX15-967" fmla="*/ 704850 w 2829377"/>
              <a:gd name="connsiteY15-968" fmla="*/ 685800 h 2254250"/>
              <a:gd name="connsiteX16-969" fmla="*/ 735330 w 2829377"/>
              <a:gd name="connsiteY16-970" fmla="*/ 948690 h 2254250"/>
              <a:gd name="connsiteX17-971" fmla="*/ 781050 w 2829377"/>
              <a:gd name="connsiteY17-972" fmla="*/ 1231900 h 2254250"/>
              <a:gd name="connsiteX18-973" fmla="*/ 819150 w 2829377"/>
              <a:gd name="connsiteY18-974" fmla="*/ 1409700 h 2254250"/>
              <a:gd name="connsiteX19-975" fmla="*/ 800100 w 2829377"/>
              <a:gd name="connsiteY19-976" fmla="*/ 1466850 h 2254250"/>
              <a:gd name="connsiteX20-977" fmla="*/ 749300 w 2829377"/>
              <a:gd name="connsiteY20-978" fmla="*/ 1524000 h 2254250"/>
              <a:gd name="connsiteX21-979" fmla="*/ 615950 w 2829377"/>
              <a:gd name="connsiteY21-980" fmla="*/ 1524000 h 2254250"/>
              <a:gd name="connsiteX22-981" fmla="*/ 463550 w 2829377"/>
              <a:gd name="connsiteY22-982" fmla="*/ 1530350 h 2254250"/>
              <a:gd name="connsiteX23-983" fmla="*/ 279400 w 2829377"/>
              <a:gd name="connsiteY23-984" fmla="*/ 1631950 h 2254250"/>
              <a:gd name="connsiteX24-985" fmla="*/ 114300 w 2829377"/>
              <a:gd name="connsiteY24-986" fmla="*/ 1879600 h 2254250"/>
              <a:gd name="connsiteX25-987" fmla="*/ 0 w 2829377"/>
              <a:gd name="connsiteY25-988" fmla="*/ 2254250 h 2254250"/>
              <a:gd name="connsiteX0-989" fmla="*/ 2762250 w 2829377"/>
              <a:gd name="connsiteY0-990" fmla="*/ 0 h 2254250"/>
              <a:gd name="connsiteX1-991" fmla="*/ 2819400 w 2829377"/>
              <a:gd name="connsiteY1-992" fmla="*/ 152400 h 2254250"/>
              <a:gd name="connsiteX2-993" fmla="*/ 2819400 w 2829377"/>
              <a:gd name="connsiteY2-994" fmla="*/ 298450 h 2254250"/>
              <a:gd name="connsiteX3-995" fmla="*/ 2787650 w 2829377"/>
              <a:gd name="connsiteY3-996" fmla="*/ 393700 h 2254250"/>
              <a:gd name="connsiteX4-997" fmla="*/ 2378710 w 2829377"/>
              <a:gd name="connsiteY4-998" fmla="*/ 298450 h 2254250"/>
              <a:gd name="connsiteX5-999" fmla="*/ 2332990 w 2829377"/>
              <a:gd name="connsiteY5-1000" fmla="*/ 391160 h 2254250"/>
              <a:gd name="connsiteX6-1001" fmla="*/ 2249170 w 2829377"/>
              <a:gd name="connsiteY6-1002" fmla="*/ 482600 h 2254250"/>
              <a:gd name="connsiteX7-1003" fmla="*/ 2090420 w 2829377"/>
              <a:gd name="connsiteY7-1004" fmla="*/ 496570 h 2254250"/>
              <a:gd name="connsiteX8-1005" fmla="*/ 1784350 w 2829377"/>
              <a:gd name="connsiteY8-1006" fmla="*/ 422910 h 2254250"/>
              <a:gd name="connsiteX9-1007" fmla="*/ 1677670 w 2829377"/>
              <a:gd name="connsiteY9-1008" fmla="*/ 523240 h 2254250"/>
              <a:gd name="connsiteX10-1009" fmla="*/ 1579880 w 2829377"/>
              <a:gd name="connsiteY10-1010" fmla="*/ 692150 h 2254250"/>
              <a:gd name="connsiteX11-1011" fmla="*/ 1360170 w 2829377"/>
              <a:gd name="connsiteY11-1012" fmla="*/ 680720 h 2254250"/>
              <a:gd name="connsiteX12-1013" fmla="*/ 1239520 w 2829377"/>
              <a:gd name="connsiteY12-1014" fmla="*/ 687070 h 2254250"/>
              <a:gd name="connsiteX13-1015" fmla="*/ 831850 w 2829377"/>
              <a:gd name="connsiteY13-1016" fmla="*/ 641350 h 2254250"/>
              <a:gd name="connsiteX14-1017" fmla="*/ 742950 w 2829377"/>
              <a:gd name="connsiteY14-1018" fmla="*/ 596900 h 2254250"/>
              <a:gd name="connsiteX15-1019" fmla="*/ 704850 w 2829377"/>
              <a:gd name="connsiteY15-1020" fmla="*/ 685800 h 2254250"/>
              <a:gd name="connsiteX16-1021" fmla="*/ 735330 w 2829377"/>
              <a:gd name="connsiteY16-1022" fmla="*/ 948690 h 2254250"/>
              <a:gd name="connsiteX17-1023" fmla="*/ 781050 w 2829377"/>
              <a:gd name="connsiteY17-1024" fmla="*/ 1231900 h 2254250"/>
              <a:gd name="connsiteX18-1025" fmla="*/ 819150 w 2829377"/>
              <a:gd name="connsiteY18-1026" fmla="*/ 1409700 h 2254250"/>
              <a:gd name="connsiteX19-1027" fmla="*/ 800100 w 2829377"/>
              <a:gd name="connsiteY19-1028" fmla="*/ 1466850 h 2254250"/>
              <a:gd name="connsiteX20-1029" fmla="*/ 749300 w 2829377"/>
              <a:gd name="connsiteY20-1030" fmla="*/ 1524000 h 2254250"/>
              <a:gd name="connsiteX21-1031" fmla="*/ 615950 w 2829377"/>
              <a:gd name="connsiteY21-1032" fmla="*/ 1524000 h 2254250"/>
              <a:gd name="connsiteX22-1033" fmla="*/ 463550 w 2829377"/>
              <a:gd name="connsiteY22-1034" fmla="*/ 1530350 h 2254250"/>
              <a:gd name="connsiteX23-1035" fmla="*/ 279400 w 2829377"/>
              <a:gd name="connsiteY23-1036" fmla="*/ 1631950 h 2254250"/>
              <a:gd name="connsiteX24-1037" fmla="*/ 114300 w 2829377"/>
              <a:gd name="connsiteY24-1038" fmla="*/ 1879600 h 2254250"/>
              <a:gd name="connsiteX25-1039" fmla="*/ 0 w 2829377"/>
              <a:gd name="connsiteY25-1040" fmla="*/ 2254250 h 2254250"/>
              <a:gd name="connsiteX0-1041" fmla="*/ 2110740 w 2873089"/>
              <a:gd name="connsiteY0-1042" fmla="*/ 0 h 2661920"/>
              <a:gd name="connsiteX1-1043" fmla="*/ 2819400 w 2873089"/>
              <a:gd name="connsiteY1-1044" fmla="*/ 560070 h 2661920"/>
              <a:gd name="connsiteX2-1045" fmla="*/ 2819400 w 2873089"/>
              <a:gd name="connsiteY2-1046" fmla="*/ 706120 h 2661920"/>
              <a:gd name="connsiteX3-1047" fmla="*/ 2787650 w 2873089"/>
              <a:gd name="connsiteY3-1048" fmla="*/ 801370 h 2661920"/>
              <a:gd name="connsiteX4-1049" fmla="*/ 2378710 w 2873089"/>
              <a:gd name="connsiteY4-1050" fmla="*/ 706120 h 2661920"/>
              <a:gd name="connsiteX5-1051" fmla="*/ 2332990 w 2873089"/>
              <a:gd name="connsiteY5-1052" fmla="*/ 798830 h 2661920"/>
              <a:gd name="connsiteX6-1053" fmla="*/ 2249170 w 2873089"/>
              <a:gd name="connsiteY6-1054" fmla="*/ 890270 h 2661920"/>
              <a:gd name="connsiteX7-1055" fmla="*/ 2090420 w 2873089"/>
              <a:gd name="connsiteY7-1056" fmla="*/ 904240 h 2661920"/>
              <a:gd name="connsiteX8-1057" fmla="*/ 1784350 w 2873089"/>
              <a:gd name="connsiteY8-1058" fmla="*/ 830580 h 2661920"/>
              <a:gd name="connsiteX9-1059" fmla="*/ 1677670 w 2873089"/>
              <a:gd name="connsiteY9-1060" fmla="*/ 930910 h 2661920"/>
              <a:gd name="connsiteX10-1061" fmla="*/ 1579880 w 2873089"/>
              <a:gd name="connsiteY10-1062" fmla="*/ 1099820 h 2661920"/>
              <a:gd name="connsiteX11-1063" fmla="*/ 1360170 w 2873089"/>
              <a:gd name="connsiteY11-1064" fmla="*/ 1088390 h 2661920"/>
              <a:gd name="connsiteX12-1065" fmla="*/ 1239520 w 2873089"/>
              <a:gd name="connsiteY12-1066" fmla="*/ 1094740 h 2661920"/>
              <a:gd name="connsiteX13-1067" fmla="*/ 831850 w 2873089"/>
              <a:gd name="connsiteY13-1068" fmla="*/ 1049020 h 2661920"/>
              <a:gd name="connsiteX14-1069" fmla="*/ 742950 w 2873089"/>
              <a:gd name="connsiteY14-1070" fmla="*/ 1004570 h 2661920"/>
              <a:gd name="connsiteX15-1071" fmla="*/ 704850 w 2873089"/>
              <a:gd name="connsiteY15-1072" fmla="*/ 1093470 h 2661920"/>
              <a:gd name="connsiteX16-1073" fmla="*/ 735330 w 2873089"/>
              <a:gd name="connsiteY16-1074" fmla="*/ 1356360 h 2661920"/>
              <a:gd name="connsiteX17-1075" fmla="*/ 781050 w 2873089"/>
              <a:gd name="connsiteY17-1076" fmla="*/ 1639570 h 2661920"/>
              <a:gd name="connsiteX18-1077" fmla="*/ 819150 w 2873089"/>
              <a:gd name="connsiteY18-1078" fmla="*/ 1817370 h 2661920"/>
              <a:gd name="connsiteX19-1079" fmla="*/ 800100 w 2873089"/>
              <a:gd name="connsiteY19-1080" fmla="*/ 1874520 h 2661920"/>
              <a:gd name="connsiteX20-1081" fmla="*/ 749300 w 2873089"/>
              <a:gd name="connsiteY20-1082" fmla="*/ 1931670 h 2661920"/>
              <a:gd name="connsiteX21-1083" fmla="*/ 615950 w 2873089"/>
              <a:gd name="connsiteY21-1084" fmla="*/ 1931670 h 2661920"/>
              <a:gd name="connsiteX22-1085" fmla="*/ 463550 w 2873089"/>
              <a:gd name="connsiteY22-1086" fmla="*/ 1938020 h 2661920"/>
              <a:gd name="connsiteX23-1087" fmla="*/ 279400 w 2873089"/>
              <a:gd name="connsiteY23-1088" fmla="*/ 2039620 h 2661920"/>
              <a:gd name="connsiteX24-1089" fmla="*/ 114300 w 2873089"/>
              <a:gd name="connsiteY24-1090" fmla="*/ 2287270 h 2661920"/>
              <a:gd name="connsiteX25-1091" fmla="*/ 0 w 2873089"/>
              <a:gd name="connsiteY25-1092" fmla="*/ 2661920 h 2661920"/>
              <a:gd name="connsiteX0-1093" fmla="*/ 2110740 w 2873843"/>
              <a:gd name="connsiteY0-1094" fmla="*/ 0 h 2661920"/>
              <a:gd name="connsiteX1-1095" fmla="*/ 2171700 w 2873843"/>
              <a:gd name="connsiteY1-1096" fmla="*/ 217170 h 2661920"/>
              <a:gd name="connsiteX2-1097" fmla="*/ 2819400 w 2873843"/>
              <a:gd name="connsiteY2-1098" fmla="*/ 706120 h 2661920"/>
              <a:gd name="connsiteX3-1099" fmla="*/ 2787650 w 2873843"/>
              <a:gd name="connsiteY3-1100" fmla="*/ 801370 h 2661920"/>
              <a:gd name="connsiteX4-1101" fmla="*/ 2378710 w 2873843"/>
              <a:gd name="connsiteY4-1102" fmla="*/ 706120 h 2661920"/>
              <a:gd name="connsiteX5-1103" fmla="*/ 2332990 w 2873843"/>
              <a:gd name="connsiteY5-1104" fmla="*/ 798830 h 2661920"/>
              <a:gd name="connsiteX6-1105" fmla="*/ 2249170 w 2873843"/>
              <a:gd name="connsiteY6-1106" fmla="*/ 890270 h 2661920"/>
              <a:gd name="connsiteX7-1107" fmla="*/ 2090420 w 2873843"/>
              <a:gd name="connsiteY7-1108" fmla="*/ 904240 h 2661920"/>
              <a:gd name="connsiteX8-1109" fmla="*/ 1784350 w 2873843"/>
              <a:gd name="connsiteY8-1110" fmla="*/ 830580 h 2661920"/>
              <a:gd name="connsiteX9-1111" fmla="*/ 1677670 w 2873843"/>
              <a:gd name="connsiteY9-1112" fmla="*/ 930910 h 2661920"/>
              <a:gd name="connsiteX10-1113" fmla="*/ 1579880 w 2873843"/>
              <a:gd name="connsiteY10-1114" fmla="*/ 1099820 h 2661920"/>
              <a:gd name="connsiteX11-1115" fmla="*/ 1360170 w 2873843"/>
              <a:gd name="connsiteY11-1116" fmla="*/ 1088390 h 2661920"/>
              <a:gd name="connsiteX12-1117" fmla="*/ 1239520 w 2873843"/>
              <a:gd name="connsiteY12-1118" fmla="*/ 1094740 h 2661920"/>
              <a:gd name="connsiteX13-1119" fmla="*/ 831850 w 2873843"/>
              <a:gd name="connsiteY13-1120" fmla="*/ 1049020 h 2661920"/>
              <a:gd name="connsiteX14-1121" fmla="*/ 742950 w 2873843"/>
              <a:gd name="connsiteY14-1122" fmla="*/ 1004570 h 2661920"/>
              <a:gd name="connsiteX15-1123" fmla="*/ 704850 w 2873843"/>
              <a:gd name="connsiteY15-1124" fmla="*/ 1093470 h 2661920"/>
              <a:gd name="connsiteX16-1125" fmla="*/ 735330 w 2873843"/>
              <a:gd name="connsiteY16-1126" fmla="*/ 1356360 h 2661920"/>
              <a:gd name="connsiteX17-1127" fmla="*/ 781050 w 2873843"/>
              <a:gd name="connsiteY17-1128" fmla="*/ 1639570 h 2661920"/>
              <a:gd name="connsiteX18-1129" fmla="*/ 819150 w 2873843"/>
              <a:gd name="connsiteY18-1130" fmla="*/ 1817370 h 2661920"/>
              <a:gd name="connsiteX19-1131" fmla="*/ 800100 w 2873843"/>
              <a:gd name="connsiteY19-1132" fmla="*/ 1874520 h 2661920"/>
              <a:gd name="connsiteX20-1133" fmla="*/ 749300 w 2873843"/>
              <a:gd name="connsiteY20-1134" fmla="*/ 1931670 h 2661920"/>
              <a:gd name="connsiteX21-1135" fmla="*/ 615950 w 2873843"/>
              <a:gd name="connsiteY21-1136" fmla="*/ 1931670 h 2661920"/>
              <a:gd name="connsiteX22-1137" fmla="*/ 463550 w 2873843"/>
              <a:gd name="connsiteY22-1138" fmla="*/ 1938020 h 2661920"/>
              <a:gd name="connsiteX23-1139" fmla="*/ 279400 w 2873843"/>
              <a:gd name="connsiteY23-1140" fmla="*/ 2039620 h 2661920"/>
              <a:gd name="connsiteX24-1141" fmla="*/ 114300 w 2873843"/>
              <a:gd name="connsiteY24-1142" fmla="*/ 2287270 h 2661920"/>
              <a:gd name="connsiteX25-1143" fmla="*/ 0 w 2873843"/>
              <a:gd name="connsiteY25-1144" fmla="*/ 2661920 h 2661920"/>
              <a:gd name="connsiteX0-1145" fmla="*/ 2110740 w 2788916"/>
              <a:gd name="connsiteY0-1146" fmla="*/ 0 h 2661920"/>
              <a:gd name="connsiteX1-1147" fmla="*/ 2171700 w 2788916"/>
              <a:gd name="connsiteY1-1148" fmla="*/ 217170 h 2661920"/>
              <a:gd name="connsiteX2-1149" fmla="*/ 2221230 w 2788916"/>
              <a:gd name="connsiteY2-1150" fmla="*/ 370840 h 2661920"/>
              <a:gd name="connsiteX3-1151" fmla="*/ 2787650 w 2788916"/>
              <a:gd name="connsiteY3-1152" fmla="*/ 801370 h 2661920"/>
              <a:gd name="connsiteX4-1153" fmla="*/ 2378710 w 2788916"/>
              <a:gd name="connsiteY4-1154" fmla="*/ 706120 h 2661920"/>
              <a:gd name="connsiteX5-1155" fmla="*/ 2332990 w 2788916"/>
              <a:gd name="connsiteY5-1156" fmla="*/ 798830 h 2661920"/>
              <a:gd name="connsiteX6-1157" fmla="*/ 2249170 w 2788916"/>
              <a:gd name="connsiteY6-1158" fmla="*/ 890270 h 2661920"/>
              <a:gd name="connsiteX7-1159" fmla="*/ 2090420 w 2788916"/>
              <a:gd name="connsiteY7-1160" fmla="*/ 904240 h 2661920"/>
              <a:gd name="connsiteX8-1161" fmla="*/ 1784350 w 2788916"/>
              <a:gd name="connsiteY8-1162" fmla="*/ 830580 h 2661920"/>
              <a:gd name="connsiteX9-1163" fmla="*/ 1677670 w 2788916"/>
              <a:gd name="connsiteY9-1164" fmla="*/ 930910 h 2661920"/>
              <a:gd name="connsiteX10-1165" fmla="*/ 1579880 w 2788916"/>
              <a:gd name="connsiteY10-1166" fmla="*/ 1099820 h 2661920"/>
              <a:gd name="connsiteX11-1167" fmla="*/ 1360170 w 2788916"/>
              <a:gd name="connsiteY11-1168" fmla="*/ 1088390 h 2661920"/>
              <a:gd name="connsiteX12-1169" fmla="*/ 1239520 w 2788916"/>
              <a:gd name="connsiteY12-1170" fmla="*/ 1094740 h 2661920"/>
              <a:gd name="connsiteX13-1171" fmla="*/ 831850 w 2788916"/>
              <a:gd name="connsiteY13-1172" fmla="*/ 1049020 h 2661920"/>
              <a:gd name="connsiteX14-1173" fmla="*/ 742950 w 2788916"/>
              <a:gd name="connsiteY14-1174" fmla="*/ 1004570 h 2661920"/>
              <a:gd name="connsiteX15-1175" fmla="*/ 704850 w 2788916"/>
              <a:gd name="connsiteY15-1176" fmla="*/ 1093470 h 2661920"/>
              <a:gd name="connsiteX16-1177" fmla="*/ 735330 w 2788916"/>
              <a:gd name="connsiteY16-1178" fmla="*/ 1356360 h 2661920"/>
              <a:gd name="connsiteX17-1179" fmla="*/ 781050 w 2788916"/>
              <a:gd name="connsiteY17-1180" fmla="*/ 1639570 h 2661920"/>
              <a:gd name="connsiteX18-1181" fmla="*/ 819150 w 2788916"/>
              <a:gd name="connsiteY18-1182" fmla="*/ 1817370 h 2661920"/>
              <a:gd name="connsiteX19-1183" fmla="*/ 800100 w 2788916"/>
              <a:gd name="connsiteY19-1184" fmla="*/ 1874520 h 2661920"/>
              <a:gd name="connsiteX20-1185" fmla="*/ 749300 w 2788916"/>
              <a:gd name="connsiteY20-1186" fmla="*/ 1931670 h 2661920"/>
              <a:gd name="connsiteX21-1187" fmla="*/ 615950 w 2788916"/>
              <a:gd name="connsiteY21-1188" fmla="*/ 1931670 h 2661920"/>
              <a:gd name="connsiteX22-1189" fmla="*/ 463550 w 2788916"/>
              <a:gd name="connsiteY22-1190" fmla="*/ 1938020 h 2661920"/>
              <a:gd name="connsiteX23-1191" fmla="*/ 279400 w 2788916"/>
              <a:gd name="connsiteY23-1192" fmla="*/ 2039620 h 2661920"/>
              <a:gd name="connsiteX24-1193" fmla="*/ 114300 w 2788916"/>
              <a:gd name="connsiteY24-1194" fmla="*/ 2287270 h 2661920"/>
              <a:gd name="connsiteX25-1195" fmla="*/ 0 w 2788916"/>
              <a:gd name="connsiteY25-1196" fmla="*/ 2661920 h 2661920"/>
              <a:gd name="connsiteX0-1197" fmla="*/ 2110740 w 2380138"/>
              <a:gd name="connsiteY0-1198" fmla="*/ 0 h 2661920"/>
              <a:gd name="connsiteX1-1199" fmla="*/ 2171700 w 2380138"/>
              <a:gd name="connsiteY1-1200" fmla="*/ 217170 h 2661920"/>
              <a:gd name="connsiteX2-1201" fmla="*/ 2221230 w 2380138"/>
              <a:gd name="connsiteY2-1202" fmla="*/ 370840 h 2661920"/>
              <a:gd name="connsiteX3-1203" fmla="*/ 2280920 w 2380138"/>
              <a:gd name="connsiteY3-1204" fmla="*/ 515620 h 2661920"/>
              <a:gd name="connsiteX4-1205" fmla="*/ 2378710 w 2380138"/>
              <a:gd name="connsiteY4-1206" fmla="*/ 706120 h 2661920"/>
              <a:gd name="connsiteX5-1207" fmla="*/ 2332990 w 2380138"/>
              <a:gd name="connsiteY5-1208" fmla="*/ 798830 h 2661920"/>
              <a:gd name="connsiteX6-1209" fmla="*/ 2249170 w 2380138"/>
              <a:gd name="connsiteY6-1210" fmla="*/ 890270 h 2661920"/>
              <a:gd name="connsiteX7-1211" fmla="*/ 2090420 w 2380138"/>
              <a:gd name="connsiteY7-1212" fmla="*/ 904240 h 2661920"/>
              <a:gd name="connsiteX8-1213" fmla="*/ 1784350 w 2380138"/>
              <a:gd name="connsiteY8-1214" fmla="*/ 830580 h 2661920"/>
              <a:gd name="connsiteX9-1215" fmla="*/ 1677670 w 2380138"/>
              <a:gd name="connsiteY9-1216" fmla="*/ 930910 h 2661920"/>
              <a:gd name="connsiteX10-1217" fmla="*/ 1579880 w 2380138"/>
              <a:gd name="connsiteY10-1218" fmla="*/ 1099820 h 2661920"/>
              <a:gd name="connsiteX11-1219" fmla="*/ 1360170 w 2380138"/>
              <a:gd name="connsiteY11-1220" fmla="*/ 1088390 h 2661920"/>
              <a:gd name="connsiteX12-1221" fmla="*/ 1239520 w 2380138"/>
              <a:gd name="connsiteY12-1222" fmla="*/ 1094740 h 2661920"/>
              <a:gd name="connsiteX13-1223" fmla="*/ 831850 w 2380138"/>
              <a:gd name="connsiteY13-1224" fmla="*/ 1049020 h 2661920"/>
              <a:gd name="connsiteX14-1225" fmla="*/ 742950 w 2380138"/>
              <a:gd name="connsiteY14-1226" fmla="*/ 1004570 h 2661920"/>
              <a:gd name="connsiteX15-1227" fmla="*/ 704850 w 2380138"/>
              <a:gd name="connsiteY15-1228" fmla="*/ 1093470 h 2661920"/>
              <a:gd name="connsiteX16-1229" fmla="*/ 735330 w 2380138"/>
              <a:gd name="connsiteY16-1230" fmla="*/ 1356360 h 2661920"/>
              <a:gd name="connsiteX17-1231" fmla="*/ 781050 w 2380138"/>
              <a:gd name="connsiteY17-1232" fmla="*/ 1639570 h 2661920"/>
              <a:gd name="connsiteX18-1233" fmla="*/ 819150 w 2380138"/>
              <a:gd name="connsiteY18-1234" fmla="*/ 1817370 h 2661920"/>
              <a:gd name="connsiteX19-1235" fmla="*/ 800100 w 2380138"/>
              <a:gd name="connsiteY19-1236" fmla="*/ 1874520 h 2661920"/>
              <a:gd name="connsiteX20-1237" fmla="*/ 749300 w 2380138"/>
              <a:gd name="connsiteY20-1238" fmla="*/ 1931670 h 2661920"/>
              <a:gd name="connsiteX21-1239" fmla="*/ 615950 w 2380138"/>
              <a:gd name="connsiteY21-1240" fmla="*/ 1931670 h 2661920"/>
              <a:gd name="connsiteX22-1241" fmla="*/ 463550 w 2380138"/>
              <a:gd name="connsiteY22-1242" fmla="*/ 1938020 h 2661920"/>
              <a:gd name="connsiteX23-1243" fmla="*/ 279400 w 2380138"/>
              <a:gd name="connsiteY23-1244" fmla="*/ 2039620 h 2661920"/>
              <a:gd name="connsiteX24-1245" fmla="*/ 114300 w 2380138"/>
              <a:gd name="connsiteY24-1246" fmla="*/ 2287270 h 2661920"/>
              <a:gd name="connsiteX25-1247" fmla="*/ 0 w 2380138"/>
              <a:gd name="connsiteY25-1248" fmla="*/ 2661920 h 2661920"/>
              <a:gd name="connsiteX0-1249" fmla="*/ 2110740 w 2341595"/>
              <a:gd name="connsiteY0-1250" fmla="*/ 0 h 2661920"/>
              <a:gd name="connsiteX1-1251" fmla="*/ 2171700 w 2341595"/>
              <a:gd name="connsiteY1-1252" fmla="*/ 217170 h 2661920"/>
              <a:gd name="connsiteX2-1253" fmla="*/ 2221230 w 2341595"/>
              <a:gd name="connsiteY2-1254" fmla="*/ 370840 h 2661920"/>
              <a:gd name="connsiteX3-1255" fmla="*/ 2280920 w 2341595"/>
              <a:gd name="connsiteY3-1256" fmla="*/ 515620 h 2661920"/>
              <a:gd name="connsiteX4-1257" fmla="*/ 2332990 w 2341595"/>
              <a:gd name="connsiteY4-1258" fmla="*/ 687070 h 2661920"/>
              <a:gd name="connsiteX5-1259" fmla="*/ 2332990 w 2341595"/>
              <a:gd name="connsiteY5-1260" fmla="*/ 798830 h 2661920"/>
              <a:gd name="connsiteX6-1261" fmla="*/ 2249170 w 2341595"/>
              <a:gd name="connsiteY6-1262" fmla="*/ 890270 h 2661920"/>
              <a:gd name="connsiteX7-1263" fmla="*/ 2090420 w 2341595"/>
              <a:gd name="connsiteY7-1264" fmla="*/ 904240 h 2661920"/>
              <a:gd name="connsiteX8-1265" fmla="*/ 1784350 w 2341595"/>
              <a:gd name="connsiteY8-1266" fmla="*/ 830580 h 2661920"/>
              <a:gd name="connsiteX9-1267" fmla="*/ 1677670 w 2341595"/>
              <a:gd name="connsiteY9-1268" fmla="*/ 930910 h 2661920"/>
              <a:gd name="connsiteX10-1269" fmla="*/ 1579880 w 2341595"/>
              <a:gd name="connsiteY10-1270" fmla="*/ 1099820 h 2661920"/>
              <a:gd name="connsiteX11-1271" fmla="*/ 1360170 w 2341595"/>
              <a:gd name="connsiteY11-1272" fmla="*/ 1088390 h 2661920"/>
              <a:gd name="connsiteX12-1273" fmla="*/ 1239520 w 2341595"/>
              <a:gd name="connsiteY12-1274" fmla="*/ 1094740 h 2661920"/>
              <a:gd name="connsiteX13-1275" fmla="*/ 831850 w 2341595"/>
              <a:gd name="connsiteY13-1276" fmla="*/ 1049020 h 2661920"/>
              <a:gd name="connsiteX14-1277" fmla="*/ 742950 w 2341595"/>
              <a:gd name="connsiteY14-1278" fmla="*/ 1004570 h 2661920"/>
              <a:gd name="connsiteX15-1279" fmla="*/ 704850 w 2341595"/>
              <a:gd name="connsiteY15-1280" fmla="*/ 1093470 h 2661920"/>
              <a:gd name="connsiteX16-1281" fmla="*/ 735330 w 2341595"/>
              <a:gd name="connsiteY16-1282" fmla="*/ 1356360 h 2661920"/>
              <a:gd name="connsiteX17-1283" fmla="*/ 781050 w 2341595"/>
              <a:gd name="connsiteY17-1284" fmla="*/ 1639570 h 2661920"/>
              <a:gd name="connsiteX18-1285" fmla="*/ 819150 w 2341595"/>
              <a:gd name="connsiteY18-1286" fmla="*/ 1817370 h 2661920"/>
              <a:gd name="connsiteX19-1287" fmla="*/ 800100 w 2341595"/>
              <a:gd name="connsiteY19-1288" fmla="*/ 1874520 h 2661920"/>
              <a:gd name="connsiteX20-1289" fmla="*/ 749300 w 2341595"/>
              <a:gd name="connsiteY20-1290" fmla="*/ 1931670 h 2661920"/>
              <a:gd name="connsiteX21-1291" fmla="*/ 615950 w 2341595"/>
              <a:gd name="connsiteY21-1292" fmla="*/ 1931670 h 2661920"/>
              <a:gd name="connsiteX22-1293" fmla="*/ 463550 w 2341595"/>
              <a:gd name="connsiteY22-1294" fmla="*/ 1938020 h 2661920"/>
              <a:gd name="connsiteX23-1295" fmla="*/ 279400 w 2341595"/>
              <a:gd name="connsiteY23-1296" fmla="*/ 2039620 h 2661920"/>
              <a:gd name="connsiteX24-1297" fmla="*/ 114300 w 2341595"/>
              <a:gd name="connsiteY24-1298" fmla="*/ 2287270 h 2661920"/>
              <a:gd name="connsiteX25-1299" fmla="*/ 0 w 2341595"/>
              <a:gd name="connsiteY25-1300" fmla="*/ 2661920 h 2661920"/>
              <a:gd name="connsiteX0-1301" fmla="*/ 2110740 w 2341595"/>
              <a:gd name="connsiteY0-1302" fmla="*/ 0 h 2661920"/>
              <a:gd name="connsiteX1-1303" fmla="*/ 2171700 w 2341595"/>
              <a:gd name="connsiteY1-1304" fmla="*/ 217170 h 2661920"/>
              <a:gd name="connsiteX2-1305" fmla="*/ 2213610 w 2341595"/>
              <a:gd name="connsiteY2-1306" fmla="*/ 317500 h 2661920"/>
              <a:gd name="connsiteX3-1307" fmla="*/ 2280920 w 2341595"/>
              <a:gd name="connsiteY3-1308" fmla="*/ 515620 h 2661920"/>
              <a:gd name="connsiteX4-1309" fmla="*/ 2332990 w 2341595"/>
              <a:gd name="connsiteY4-1310" fmla="*/ 687070 h 2661920"/>
              <a:gd name="connsiteX5-1311" fmla="*/ 2332990 w 2341595"/>
              <a:gd name="connsiteY5-1312" fmla="*/ 798830 h 2661920"/>
              <a:gd name="connsiteX6-1313" fmla="*/ 2249170 w 2341595"/>
              <a:gd name="connsiteY6-1314" fmla="*/ 890270 h 2661920"/>
              <a:gd name="connsiteX7-1315" fmla="*/ 2090420 w 2341595"/>
              <a:gd name="connsiteY7-1316" fmla="*/ 904240 h 2661920"/>
              <a:gd name="connsiteX8-1317" fmla="*/ 1784350 w 2341595"/>
              <a:gd name="connsiteY8-1318" fmla="*/ 830580 h 2661920"/>
              <a:gd name="connsiteX9-1319" fmla="*/ 1677670 w 2341595"/>
              <a:gd name="connsiteY9-1320" fmla="*/ 930910 h 2661920"/>
              <a:gd name="connsiteX10-1321" fmla="*/ 1579880 w 2341595"/>
              <a:gd name="connsiteY10-1322" fmla="*/ 1099820 h 2661920"/>
              <a:gd name="connsiteX11-1323" fmla="*/ 1360170 w 2341595"/>
              <a:gd name="connsiteY11-1324" fmla="*/ 1088390 h 2661920"/>
              <a:gd name="connsiteX12-1325" fmla="*/ 1239520 w 2341595"/>
              <a:gd name="connsiteY12-1326" fmla="*/ 1094740 h 2661920"/>
              <a:gd name="connsiteX13-1327" fmla="*/ 831850 w 2341595"/>
              <a:gd name="connsiteY13-1328" fmla="*/ 1049020 h 2661920"/>
              <a:gd name="connsiteX14-1329" fmla="*/ 742950 w 2341595"/>
              <a:gd name="connsiteY14-1330" fmla="*/ 1004570 h 2661920"/>
              <a:gd name="connsiteX15-1331" fmla="*/ 704850 w 2341595"/>
              <a:gd name="connsiteY15-1332" fmla="*/ 1093470 h 2661920"/>
              <a:gd name="connsiteX16-1333" fmla="*/ 735330 w 2341595"/>
              <a:gd name="connsiteY16-1334" fmla="*/ 1356360 h 2661920"/>
              <a:gd name="connsiteX17-1335" fmla="*/ 781050 w 2341595"/>
              <a:gd name="connsiteY17-1336" fmla="*/ 1639570 h 2661920"/>
              <a:gd name="connsiteX18-1337" fmla="*/ 819150 w 2341595"/>
              <a:gd name="connsiteY18-1338" fmla="*/ 1817370 h 2661920"/>
              <a:gd name="connsiteX19-1339" fmla="*/ 800100 w 2341595"/>
              <a:gd name="connsiteY19-1340" fmla="*/ 1874520 h 2661920"/>
              <a:gd name="connsiteX20-1341" fmla="*/ 749300 w 2341595"/>
              <a:gd name="connsiteY20-1342" fmla="*/ 1931670 h 2661920"/>
              <a:gd name="connsiteX21-1343" fmla="*/ 615950 w 2341595"/>
              <a:gd name="connsiteY21-1344" fmla="*/ 1931670 h 2661920"/>
              <a:gd name="connsiteX22-1345" fmla="*/ 463550 w 2341595"/>
              <a:gd name="connsiteY22-1346" fmla="*/ 1938020 h 2661920"/>
              <a:gd name="connsiteX23-1347" fmla="*/ 279400 w 2341595"/>
              <a:gd name="connsiteY23-1348" fmla="*/ 2039620 h 2661920"/>
              <a:gd name="connsiteX24-1349" fmla="*/ 114300 w 2341595"/>
              <a:gd name="connsiteY24-1350" fmla="*/ 2287270 h 2661920"/>
              <a:gd name="connsiteX25-1351" fmla="*/ 0 w 2341595"/>
              <a:gd name="connsiteY25-1352" fmla="*/ 2661920 h 2661920"/>
              <a:gd name="connsiteX0-1353" fmla="*/ 2110740 w 2341595"/>
              <a:gd name="connsiteY0-1354" fmla="*/ 0 h 2661920"/>
              <a:gd name="connsiteX1-1355" fmla="*/ 2156460 w 2341595"/>
              <a:gd name="connsiteY1-1356" fmla="*/ 133350 h 2661920"/>
              <a:gd name="connsiteX2-1357" fmla="*/ 2213610 w 2341595"/>
              <a:gd name="connsiteY2-1358" fmla="*/ 317500 h 2661920"/>
              <a:gd name="connsiteX3-1359" fmla="*/ 2280920 w 2341595"/>
              <a:gd name="connsiteY3-1360" fmla="*/ 515620 h 2661920"/>
              <a:gd name="connsiteX4-1361" fmla="*/ 2332990 w 2341595"/>
              <a:gd name="connsiteY4-1362" fmla="*/ 687070 h 2661920"/>
              <a:gd name="connsiteX5-1363" fmla="*/ 2332990 w 2341595"/>
              <a:gd name="connsiteY5-1364" fmla="*/ 798830 h 2661920"/>
              <a:gd name="connsiteX6-1365" fmla="*/ 2249170 w 2341595"/>
              <a:gd name="connsiteY6-1366" fmla="*/ 890270 h 2661920"/>
              <a:gd name="connsiteX7-1367" fmla="*/ 2090420 w 2341595"/>
              <a:gd name="connsiteY7-1368" fmla="*/ 904240 h 2661920"/>
              <a:gd name="connsiteX8-1369" fmla="*/ 1784350 w 2341595"/>
              <a:gd name="connsiteY8-1370" fmla="*/ 830580 h 2661920"/>
              <a:gd name="connsiteX9-1371" fmla="*/ 1677670 w 2341595"/>
              <a:gd name="connsiteY9-1372" fmla="*/ 930910 h 2661920"/>
              <a:gd name="connsiteX10-1373" fmla="*/ 1579880 w 2341595"/>
              <a:gd name="connsiteY10-1374" fmla="*/ 1099820 h 2661920"/>
              <a:gd name="connsiteX11-1375" fmla="*/ 1360170 w 2341595"/>
              <a:gd name="connsiteY11-1376" fmla="*/ 1088390 h 2661920"/>
              <a:gd name="connsiteX12-1377" fmla="*/ 1239520 w 2341595"/>
              <a:gd name="connsiteY12-1378" fmla="*/ 1094740 h 2661920"/>
              <a:gd name="connsiteX13-1379" fmla="*/ 831850 w 2341595"/>
              <a:gd name="connsiteY13-1380" fmla="*/ 1049020 h 2661920"/>
              <a:gd name="connsiteX14-1381" fmla="*/ 742950 w 2341595"/>
              <a:gd name="connsiteY14-1382" fmla="*/ 1004570 h 2661920"/>
              <a:gd name="connsiteX15-1383" fmla="*/ 704850 w 2341595"/>
              <a:gd name="connsiteY15-1384" fmla="*/ 1093470 h 2661920"/>
              <a:gd name="connsiteX16-1385" fmla="*/ 735330 w 2341595"/>
              <a:gd name="connsiteY16-1386" fmla="*/ 1356360 h 2661920"/>
              <a:gd name="connsiteX17-1387" fmla="*/ 781050 w 2341595"/>
              <a:gd name="connsiteY17-1388" fmla="*/ 1639570 h 2661920"/>
              <a:gd name="connsiteX18-1389" fmla="*/ 819150 w 2341595"/>
              <a:gd name="connsiteY18-1390" fmla="*/ 1817370 h 2661920"/>
              <a:gd name="connsiteX19-1391" fmla="*/ 800100 w 2341595"/>
              <a:gd name="connsiteY19-1392" fmla="*/ 1874520 h 2661920"/>
              <a:gd name="connsiteX20-1393" fmla="*/ 749300 w 2341595"/>
              <a:gd name="connsiteY20-1394" fmla="*/ 1931670 h 2661920"/>
              <a:gd name="connsiteX21-1395" fmla="*/ 615950 w 2341595"/>
              <a:gd name="connsiteY21-1396" fmla="*/ 1931670 h 2661920"/>
              <a:gd name="connsiteX22-1397" fmla="*/ 463550 w 2341595"/>
              <a:gd name="connsiteY22-1398" fmla="*/ 1938020 h 2661920"/>
              <a:gd name="connsiteX23-1399" fmla="*/ 279400 w 2341595"/>
              <a:gd name="connsiteY23-1400" fmla="*/ 2039620 h 2661920"/>
              <a:gd name="connsiteX24-1401" fmla="*/ 114300 w 2341595"/>
              <a:gd name="connsiteY24-1402" fmla="*/ 2287270 h 2661920"/>
              <a:gd name="connsiteX25-1403" fmla="*/ 0 w 2341595"/>
              <a:gd name="connsiteY25-1404" fmla="*/ 2661920 h 2661920"/>
              <a:gd name="connsiteX0-1405" fmla="*/ 2103120 w 2341595"/>
              <a:gd name="connsiteY0-1406" fmla="*/ 0 h 2764790"/>
              <a:gd name="connsiteX1-1407" fmla="*/ 2156460 w 2341595"/>
              <a:gd name="connsiteY1-1408" fmla="*/ 236220 h 2764790"/>
              <a:gd name="connsiteX2-1409" fmla="*/ 2213610 w 2341595"/>
              <a:gd name="connsiteY2-1410" fmla="*/ 420370 h 2764790"/>
              <a:gd name="connsiteX3-1411" fmla="*/ 2280920 w 2341595"/>
              <a:gd name="connsiteY3-1412" fmla="*/ 618490 h 2764790"/>
              <a:gd name="connsiteX4-1413" fmla="*/ 2332990 w 2341595"/>
              <a:gd name="connsiteY4-1414" fmla="*/ 789940 h 2764790"/>
              <a:gd name="connsiteX5-1415" fmla="*/ 2332990 w 2341595"/>
              <a:gd name="connsiteY5-1416" fmla="*/ 901700 h 2764790"/>
              <a:gd name="connsiteX6-1417" fmla="*/ 2249170 w 2341595"/>
              <a:gd name="connsiteY6-1418" fmla="*/ 993140 h 2764790"/>
              <a:gd name="connsiteX7-1419" fmla="*/ 2090420 w 2341595"/>
              <a:gd name="connsiteY7-1420" fmla="*/ 1007110 h 2764790"/>
              <a:gd name="connsiteX8-1421" fmla="*/ 1784350 w 2341595"/>
              <a:gd name="connsiteY8-1422" fmla="*/ 933450 h 2764790"/>
              <a:gd name="connsiteX9-1423" fmla="*/ 1677670 w 2341595"/>
              <a:gd name="connsiteY9-1424" fmla="*/ 1033780 h 2764790"/>
              <a:gd name="connsiteX10-1425" fmla="*/ 1579880 w 2341595"/>
              <a:gd name="connsiteY10-1426" fmla="*/ 1202690 h 2764790"/>
              <a:gd name="connsiteX11-1427" fmla="*/ 1360170 w 2341595"/>
              <a:gd name="connsiteY11-1428" fmla="*/ 1191260 h 2764790"/>
              <a:gd name="connsiteX12-1429" fmla="*/ 1239520 w 2341595"/>
              <a:gd name="connsiteY12-1430" fmla="*/ 1197610 h 2764790"/>
              <a:gd name="connsiteX13-1431" fmla="*/ 831850 w 2341595"/>
              <a:gd name="connsiteY13-1432" fmla="*/ 1151890 h 2764790"/>
              <a:gd name="connsiteX14-1433" fmla="*/ 742950 w 2341595"/>
              <a:gd name="connsiteY14-1434" fmla="*/ 1107440 h 2764790"/>
              <a:gd name="connsiteX15-1435" fmla="*/ 704850 w 2341595"/>
              <a:gd name="connsiteY15-1436" fmla="*/ 1196340 h 2764790"/>
              <a:gd name="connsiteX16-1437" fmla="*/ 735330 w 2341595"/>
              <a:gd name="connsiteY16-1438" fmla="*/ 1459230 h 2764790"/>
              <a:gd name="connsiteX17-1439" fmla="*/ 781050 w 2341595"/>
              <a:gd name="connsiteY17-1440" fmla="*/ 1742440 h 2764790"/>
              <a:gd name="connsiteX18-1441" fmla="*/ 819150 w 2341595"/>
              <a:gd name="connsiteY18-1442" fmla="*/ 1920240 h 2764790"/>
              <a:gd name="connsiteX19-1443" fmla="*/ 800100 w 2341595"/>
              <a:gd name="connsiteY19-1444" fmla="*/ 1977390 h 2764790"/>
              <a:gd name="connsiteX20-1445" fmla="*/ 749300 w 2341595"/>
              <a:gd name="connsiteY20-1446" fmla="*/ 2034540 h 2764790"/>
              <a:gd name="connsiteX21-1447" fmla="*/ 615950 w 2341595"/>
              <a:gd name="connsiteY21-1448" fmla="*/ 2034540 h 2764790"/>
              <a:gd name="connsiteX22-1449" fmla="*/ 463550 w 2341595"/>
              <a:gd name="connsiteY22-1450" fmla="*/ 2040890 h 2764790"/>
              <a:gd name="connsiteX23-1451" fmla="*/ 279400 w 2341595"/>
              <a:gd name="connsiteY23-1452" fmla="*/ 2142490 h 2764790"/>
              <a:gd name="connsiteX24-1453" fmla="*/ 114300 w 2341595"/>
              <a:gd name="connsiteY24-1454" fmla="*/ 2390140 h 2764790"/>
              <a:gd name="connsiteX25-1455" fmla="*/ 0 w 2341595"/>
              <a:gd name="connsiteY25-1456" fmla="*/ 2764790 h 2764790"/>
              <a:gd name="connsiteX0-1457" fmla="*/ 2103120 w 2341595"/>
              <a:gd name="connsiteY0-1458" fmla="*/ 0 h 2764790"/>
              <a:gd name="connsiteX1-1459" fmla="*/ 2156460 w 2341595"/>
              <a:gd name="connsiteY1-1460" fmla="*/ 236220 h 2764790"/>
              <a:gd name="connsiteX2-1461" fmla="*/ 2213610 w 2341595"/>
              <a:gd name="connsiteY2-1462" fmla="*/ 420370 h 2764790"/>
              <a:gd name="connsiteX3-1463" fmla="*/ 2280920 w 2341595"/>
              <a:gd name="connsiteY3-1464" fmla="*/ 618490 h 2764790"/>
              <a:gd name="connsiteX4-1465" fmla="*/ 2332990 w 2341595"/>
              <a:gd name="connsiteY4-1466" fmla="*/ 789940 h 2764790"/>
              <a:gd name="connsiteX5-1467" fmla="*/ 2332990 w 2341595"/>
              <a:gd name="connsiteY5-1468" fmla="*/ 901700 h 2764790"/>
              <a:gd name="connsiteX6-1469" fmla="*/ 2249170 w 2341595"/>
              <a:gd name="connsiteY6-1470" fmla="*/ 993140 h 2764790"/>
              <a:gd name="connsiteX7-1471" fmla="*/ 2090420 w 2341595"/>
              <a:gd name="connsiteY7-1472" fmla="*/ 1007110 h 2764790"/>
              <a:gd name="connsiteX8-1473" fmla="*/ 1784350 w 2341595"/>
              <a:gd name="connsiteY8-1474" fmla="*/ 933450 h 2764790"/>
              <a:gd name="connsiteX9-1475" fmla="*/ 1677670 w 2341595"/>
              <a:gd name="connsiteY9-1476" fmla="*/ 1033780 h 2764790"/>
              <a:gd name="connsiteX10-1477" fmla="*/ 1579880 w 2341595"/>
              <a:gd name="connsiteY10-1478" fmla="*/ 1202690 h 2764790"/>
              <a:gd name="connsiteX11-1479" fmla="*/ 1360170 w 2341595"/>
              <a:gd name="connsiteY11-1480" fmla="*/ 1191260 h 2764790"/>
              <a:gd name="connsiteX12-1481" fmla="*/ 1239520 w 2341595"/>
              <a:gd name="connsiteY12-1482" fmla="*/ 1197610 h 2764790"/>
              <a:gd name="connsiteX13-1483" fmla="*/ 831850 w 2341595"/>
              <a:gd name="connsiteY13-1484" fmla="*/ 1151890 h 2764790"/>
              <a:gd name="connsiteX14-1485" fmla="*/ 742950 w 2341595"/>
              <a:gd name="connsiteY14-1486" fmla="*/ 1107440 h 2764790"/>
              <a:gd name="connsiteX15-1487" fmla="*/ 704850 w 2341595"/>
              <a:gd name="connsiteY15-1488" fmla="*/ 1196340 h 2764790"/>
              <a:gd name="connsiteX16-1489" fmla="*/ 735330 w 2341595"/>
              <a:gd name="connsiteY16-1490" fmla="*/ 1459230 h 2764790"/>
              <a:gd name="connsiteX17-1491" fmla="*/ 781050 w 2341595"/>
              <a:gd name="connsiteY17-1492" fmla="*/ 1742440 h 2764790"/>
              <a:gd name="connsiteX18-1493" fmla="*/ 819150 w 2341595"/>
              <a:gd name="connsiteY18-1494" fmla="*/ 1920240 h 2764790"/>
              <a:gd name="connsiteX19-1495" fmla="*/ 800100 w 2341595"/>
              <a:gd name="connsiteY19-1496" fmla="*/ 1977390 h 2764790"/>
              <a:gd name="connsiteX20-1497" fmla="*/ 749300 w 2341595"/>
              <a:gd name="connsiteY20-1498" fmla="*/ 2034540 h 2764790"/>
              <a:gd name="connsiteX21-1499" fmla="*/ 615950 w 2341595"/>
              <a:gd name="connsiteY21-1500" fmla="*/ 2034540 h 2764790"/>
              <a:gd name="connsiteX22-1501" fmla="*/ 463550 w 2341595"/>
              <a:gd name="connsiteY22-1502" fmla="*/ 2040890 h 2764790"/>
              <a:gd name="connsiteX23-1503" fmla="*/ 279400 w 2341595"/>
              <a:gd name="connsiteY23-1504" fmla="*/ 2142490 h 2764790"/>
              <a:gd name="connsiteX24-1505" fmla="*/ 114300 w 2341595"/>
              <a:gd name="connsiteY24-1506" fmla="*/ 2390140 h 2764790"/>
              <a:gd name="connsiteX25-1507" fmla="*/ 0 w 2341595"/>
              <a:gd name="connsiteY25-1508" fmla="*/ 2764790 h 2764790"/>
              <a:gd name="connsiteX0-1509" fmla="*/ 2103120 w 2341595"/>
              <a:gd name="connsiteY0-1510" fmla="*/ 0 h 2764790"/>
              <a:gd name="connsiteX1-1511" fmla="*/ 2156460 w 2341595"/>
              <a:gd name="connsiteY1-1512" fmla="*/ 236220 h 2764790"/>
              <a:gd name="connsiteX2-1513" fmla="*/ 2213610 w 2341595"/>
              <a:gd name="connsiteY2-1514" fmla="*/ 420370 h 2764790"/>
              <a:gd name="connsiteX3-1515" fmla="*/ 2280920 w 2341595"/>
              <a:gd name="connsiteY3-1516" fmla="*/ 618490 h 2764790"/>
              <a:gd name="connsiteX4-1517" fmla="*/ 2332990 w 2341595"/>
              <a:gd name="connsiteY4-1518" fmla="*/ 789940 h 2764790"/>
              <a:gd name="connsiteX5-1519" fmla="*/ 2332990 w 2341595"/>
              <a:gd name="connsiteY5-1520" fmla="*/ 901700 h 2764790"/>
              <a:gd name="connsiteX6-1521" fmla="*/ 2249170 w 2341595"/>
              <a:gd name="connsiteY6-1522" fmla="*/ 993140 h 2764790"/>
              <a:gd name="connsiteX7-1523" fmla="*/ 2090420 w 2341595"/>
              <a:gd name="connsiteY7-1524" fmla="*/ 1007110 h 2764790"/>
              <a:gd name="connsiteX8-1525" fmla="*/ 1784350 w 2341595"/>
              <a:gd name="connsiteY8-1526" fmla="*/ 933450 h 2764790"/>
              <a:gd name="connsiteX9-1527" fmla="*/ 1677670 w 2341595"/>
              <a:gd name="connsiteY9-1528" fmla="*/ 1033780 h 2764790"/>
              <a:gd name="connsiteX10-1529" fmla="*/ 1579880 w 2341595"/>
              <a:gd name="connsiteY10-1530" fmla="*/ 1202690 h 2764790"/>
              <a:gd name="connsiteX11-1531" fmla="*/ 1360170 w 2341595"/>
              <a:gd name="connsiteY11-1532" fmla="*/ 1191260 h 2764790"/>
              <a:gd name="connsiteX12-1533" fmla="*/ 1239520 w 2341595"/>
              <a:gd name="connsiteY12-1534" fmla="*/ 1197610 h 2764790"/>
              <a:gd name="connsiteX13-1535" fmla="*/ 831850 w 2341595"/>
              <a:gd name="connsiteY13-1536" fmla="*/ 1151890 h 2764790"/>
              <a:gd name="connsiteX14-1537" fmla="*/ 742950 w 2341595"/>
              <a:gd name="connsiteY14-1538" fmla="*/ 1107440 h 2764790"/>
              <a:gd name="connsiteX15-1539" fmla="*/ 704850 w 2341595"/>
              <a:gd name="connsiteY15-1540" fmla="*/ 1196340 h 2764790"/>
              <a:gd name="connsiteX16-1541" fmla="*/ 735330 w 2341595"/>
              <a:gd name="connsiteY16-1542" fmla="*/ 1459230 h 2764790"/>
              <a:gd name="connsiteX17-1543" fmla="*/ 781050 w 2341595"/>
              <a:gd name="connsiteY17-1544" fmla="*/ 1742440 h 2764790"/>
              <a:gd name="connsiteX18-1545" fmla="*/ 819150 w 2341595"/>
              <a:gd name="connsiteY18-1546" fmla="*/ 1920240 h 2764790"/>
              <a:gd name="connsiteX19-1547" fmla="*/ 800100 w 2341595"/>
              <a:gd name="connsiteY19-1548" fmla="*/ 1977390 h 2764790"/>
              <a:gd name="connsiteX20-1549" fmla="*/ 749300 w 2341595"/>
              <a:gd name="connsiteY20-1550" fmla="*/ 2034540 h 2764790"/>
              <a:gd name="connsiteX21-1551" fmla="*/ 615950 w 2341595"/>
              <a:gd name="connsiteY21-1552" fmla="*/ 2034540 h 2764790"/>
              <a:gd name="connsiteX22-1553" fmla="*/ 463550 w 2341595"/>
              <a:gd name="connsiteY22-1554" fmla="*/ 2040890 h 2764790"/>
              <a:gd name="connsiteX23-1555" fmla="*/ 279400 w 2341595"/>
              <a:gd name="connsiteY23-1556" fmla="*/ 2142490 h 2764790"/>
              <a:gd name="connsiteX24-1557" fmla="*/ 114300 w 2341595"/>
              <a:gd name="connsiteY24-1558" fmla="*/ 2390140 h 2764790"/>
              <a:gd name="connsiteX25-1559" fmla="*/ 0 w 2341595"/>
              <a:gd name="connsiteY25-1560" fmla="*/ 2764790 h 2764790"/>
              <a:gd name="connsiteX0-1561" fmla="*/ 2103120 w 2341595"/>
              <a:gd name="connsiteY0-1562" fmla="*/ 0 h 2764790"/>
              <a:gd name="connsiteX1-1563" fmla="*/ 2156460 w 2341595"/>
              <a:gd name="connsiteY1-1564" fmla="*/ 236220 h 2764790"/>
              <a:gd name="connsiteX2-1565" fmla="*/ 2213610 w 2341595"/>
              <a:gd name="connsiteY2-1566" fmla="*/ 420370 h 2764790"/>
              <a:gd name="connsiteX3-1567" fmla="*/ 2280920 w 2341595"/>
              <a:gd name="connsiteY3-1568" fmla="*/ 618490 h 2764790"/>
              <a:gd name="connsiteX4-1569" fmla="*/ 2332990 w 2341595"/>
              <a:gd name="connsiteY4-1570" fmla="*/ 789940 h 2764790"/>
              <a:gd name="connsiteX5-1571" fmla="*/ 2332990 w 2341595"/>
              <a:gd name="connsiteY5-1572" fmla="*/ 901700 h 2764790"/>
              <a:gd name="connsiteX6-1573" fmla="*/ 2249170 w 2341595"/>
              <a:gd name="connsiteY6-1574" fmla="*/ 993140 h 2764790"/>
              <a:gd name="connsiteX7-1575" fmla="*/ 2090420 w 2341595"/>
              <a:gd name="connsiteY7-1576" fmla="*/ 1007110 h 2764790"/>
              <a:gd name="connsiteX8-1577" fmla="*/ 1784350 w 2341595"/>
              <a:gd name="connsiteY8-1578" fmla="*/ 933450 h 2764790"/>
              <a:gd name="connsiteX9-1579" fmla="*/ 1677670 w 2341595"/>
              <a:gd name="connsiteY9-1580" fmla="*/ 1033780 h 2764790"/>
              <a:gd name="connsiteX10-1581" fmla="*/ 1579880 w 2341595"/>
              <a:gd name="connsiteY10-1582" fmla="*/ 1202690 h 2764790"/>
              <a:gd name="connsiteX11-1583" fmla="*/ 1360170 w 2341595"/>
              <a:gd name="connsiteY11-1584" fmla="*/ 1191260 h 2764790"/>
              <a:gd name="connsiteX12-1585" fmla="*/ 1239520 w 2341595"/>
              <a:gd name="connsiteY12-1586" fmla="*/ 1197610 h 2764790"/>
              <a:gd name="connsiteX13-1587" fmla="*/ 831850 w 2341595"/>
              <a:gd name="connsiteY13-1588" fmla="*/ 1151890 h 2764790"/>
              <a:gd name="connsiteX14-1589" fmla="*/ 742950 w 2341595"/>
              <a:gd name="connsiteY14-1590" fmla="*/ 1107440 h 2764790"/>
              <a:gd name="connsiteX15-1591" fmla="*/ 704850 w 2341595"/>
              <a:gd name="connsiteY15-1592" fmla="*/ 1196340 h 2764790"/>
              <a:gd name="connsiteX16-1593" fmla="*/ 735330 w 2341595"/>
              <a:gd name="connsiteY16-1594" fmla="*/ 1459230 h 2764790"/>
              <a:gd name="connsiteX17-1595" fmla="*/ 781050 w 2341595"/>
              <a:gd name="connsiteY17-1596" fmla="*/ 1742440 h 2764790"/>
              <a:gd name="connsiteX18-1597" fmla="*/ 819150 w 2341595"/>
              <a:gd name="connsiteY18-1598" fmla="*/ 1920240 h 2764790"/>
              <a:gd name="connsiteX19-1599" fmla="*/ 800100 w 2341595"/>
              <a:gd name="connsiteY19-1600" fmla="*/ 1977390 h 2764790"/>
              <a:gd name="connsiteX20-1601" fmla="*/ 749300 w 2341595"/>
              <a:gd name="connsiteY20-1602" fmla="*/ 2034540 h 2764790"/>
              <a:gd name="connsiteX21-1603" fmla="*/ 615950 w 2341595"/>
              <a:gd name="connsiteY21-1604" fmla="*/ 2034540 h 2764790"/>
              <a:gd name="connsiteX22-1605" fmla="*/ 463550 w 2341595"/>
              <a:gd name="connsiteY22-1606" fmla="*/ 2040890 h 2764790"/>
              <a:gd name="connsiteX23-1607" fmla="*/ 279400 w 2341595"/>
              <a:gd name="connsiteY23-1608" fmla="*/ 2142490 h 2764790"/>
              <a:gd name="connsiteX24-1609" fmla="*/ 114300 w 2341595"/>
              <a:gd name="connsiteY24-1610" fmla="*/ 2390140 h 2764790"/>
              <a:gd name="connsiteX25-1611" fmla="*/ 0 w 2341595"/>
              <a:gd name="connsiteY25-1612" fmla="*/ 2764790 h 2764790"/>
              <a:gd name="connsiteX0-1613" fmla="*/ 1988820 w 2227295"/>
              <a:gd name="connsiteY0-1614" fmla="*/ 0 h 2390140"/>
              <a:gd name="connsiteX1-1615" fmla="*/ 2042160 w 2227295"/>
              <a:gd name="connsiteY1-1616" fmla="*/ 236220 h 2390140"/>
              <a:gd name="connsiteX2-1617" fmla="*/ 2099310 w 2227295"/>
              <a:gd name="connsiteY2-1618" fmla="*/ 420370 h 2390140"/>
              <a:gd name="connsiteX3-1619" fmla="*/ 2166620 w 2227295"/>
              <a:gd name="connsiteY3-1620" fmla="*/ 618490 h 2390140"/>
              <a:gd name="connsiteX4-1621" fmla="*/ 2218690 w 2227295"/>
              <a:gd name="connsiteY4-1622" fmla="*/ 789940 h 2390140"/>
              <a:gd name="connsiteX5-1623" fmla="*/ 2218690 w 2227295"/>
              <a:gd name="connsiteY5-1624" fmla="*/ 901700 h 2390140"/>
              <a:gd name="connsiteX6-1625" fmla="*/ 2134870 w 2227295"/>
              <a:gd name="connsiteY6-1626" fmla="*/ 993140 h 2390140"/>
              <a:gd name="connsiteX7-1627" fmla="*/ 1976120 w 2227295"/>
              <a:gd name="connsiteY7-1628" fmla="*/ 1007110 h 2390140"/>
              <a:gd name="connsiteX8-1629" fmla="*/ 1670050 w 2227295"/>
              <a:gd name="connsiteY8-1630" fmla="*/ 933450 h 2390140"/>
              <a:gd name="connsiteX9-1631" fmla="*/ 1563370 w 2227295"/>
              <a:gd name="connsiteY9-1632" fmla="*/ 1033780 h 2390140"/>
              <a:gd name="connsiteX10-1633" fmla="*/ 1465580 w 2227295"/>
              <a:gd name="connsiteY10-1634" fmla="*/ 1202690 h 2390140"/>
              <a:gd name="connsiteX11-1635" fmla="*/ 1245870 w 2227295"/>
              <a:gd name="connsiteY11-1636" fmla="*/ 1191260 h 2390140"/>
              <a:gd name="connsiteX12-1637" fmla="*/ 1125220 w 2227295"/>
              <a:gd name="connsiteY12-1638" fmla="*/ 1197610 h 2390140"/>
              <a:gd name="connsiteX13-1639" fmla="*/ 717550 w 2227295"/>
              <a:gd name="connsiteY13-1640" fmla="*/ 1151890 h 2390140"/>
              <a:gd name="connsiteX14-1641" fmla="*/ 628650 w 2227295"/>
              <a:gd name="connsiteY14-1642" fmla="*/ 1107440 h 2390140"/>
              <a:gd name="connsiteX15-1643" fmla="*/ 590550 w 2227295"/>
              <a:gd name="connsiteY15-1644" fmla="*/ 1196340 h 2390140"/>
              <a:gd name="connsiteX16-1645" fmla="*/ 621030 w 2227295"/>
              <a:gd name="connsiteY16-1646" fmla="*/ 1459230 h 2390140"/>
              <a:gd name="connsiteX17-1647" fmla="*/ 666750 w 2227295"/>
              <a:gd name="connsiteY17-1648" fmla="*/ 1742440 h 2390140"/>
              <a:gd name="connsiteX18-1649" fmla="*/ 704850 w 2227295"/>
              <a:gd name="connsiteY18-1650" fmla="*/ 1920240 h 2390140"/>
              <a:gd name="connsiteX19-1651" fmla="*/ 685800 w 2227295"/>
              <a:gd name="connsiteY19-1652" fmla="*/ 1977390 h 2390140"/>
              <a:gd name="connsiteX20-1653" fmla="*/ 635000 w 2227295"/>
              <a:gd name="connsiteY20-1654" fmla="*/ 2034540 h 2390140"/>
              <a:gd name="connsiteX21-1655" fmla="*/ 501650 w 2227295"/>
              <a:gd name="connsiteY21-1656" fmla="*/ 2034540 h 2390140"/>
              <a:gd name="connsiteX22-1657" fmla="*/ 349250 w 2227295"/>
              <a:gd name="connsiteY22-1658" fmla="*/ 2040890 h 2390140"/>
              <a:gd name="connsiteX23-1659" fmla="*/ 165100 w 2227295"/>
              <a:gd name="connsiteY23-1660" fmla="*/ 2142490 h 2390140"/>
              <a:gd name="connsiteX24-1661" fmla="*/ 0 w 2227295"/>
              <a:gd name="connsiteY24-1662" fmla="*/ 2390140 h 2390140"/>
              <a:gd name="connsiteX0-1663" fmla="*/ 1823720 w 2062195"/>
              <a:gd name="connsiteY0-1664" fmla="*/ 0 h 2142490"/>
              <a:gd name="connsiteX1-1665" fmla="*/ 1877060 w 2062195"/>
              <a:gd name="connsiteY1-1666" fmla="*/ 236220 h 2142490"/>
              <a:gd name="connsiteX2-1667" fmla="*/ 1934210 w 2062195"/>
              <a:gd name="connsiteY2-1668" fmla="*/ 420370 h 2142490"/>
              <a:gd name="connsiteX3-1669" fmla="*/ 2001520 w 2062195"/>
              <a:gd name="connsiteY3-1670" fmla="*/ 618490 h 2142490"/>
              <a:gd name="connsiteX4-1671" fmla="*/ 2053590 w 2062195"/>
              <a:gd name="connsiteY4-1672" fmla="*/ 789940 h 2142490"/>
              <a:gd name="connsiteX5-1673" fmla="*/ 2053590 w 2062195"/>
              <a:gd name="connsiteY5-1674" fmla="*/ 901700 h 2142490"/>
              <a:gd name="connsiteX6-1675" fmla="*/ 1969770 w 2062195"/>
              <a:gd name="connsiteY6-1676" fmla="*/ 993140 h 2142490"/>
              <a:gd name="connsiteX7-1677" fmla="*/ 1811020 w 2062195"/>
              <a:gd name="connsiteY7-1678" fmla="*/ 1007110 h 2142490"/>
              <a:gd name="connsiteX8-1679" fmla="*/ 1504950 w 2062195"/>
              <a:gd name="connsiteY8-1680" fmla="*/ 933450 h 2142490"/>
              <a:gd name="connsiteX9-1681" fmla="*/ 1398270 w 2062195"/>
              <a:gd name="connsiteY9-1682" fmla="*/ 1033780 h 2142490"/>
              <a:gd name="connsiteX10-1683" fmla="*/ 1300480 w 2062195"/>
              <a:gd name="connsiteY10-1684" fmla="*/ 1202690 h 2142490"/>
              <a:gd name="connsiteX11-1685" fmla="*/ 1080770 w 2062195"/>
              <a:gd name="connsiteY11-1686" fmla="*/ 1191260 h 2142490"/>
              <a:gd name="connsiteX12-1687" fmla="*/ 960120 w 2062195"/>
              <a:gd name="connsiteY12-1688" fmla="*/ 1197610 h 2142490"/>
              <a:gd name="connsiteX13-1689" fmla="*/ 552450 w 2062195"/>
              <a:gd name="connsiteY13-1690" fmla="*/ 1151890 h 2142490"/>
              <a:gd name="connsiteX14-1691" fmla="*/ 463550 w 2062195"/>
              <a:gd name="connsiteY14-1692" fmla="*/ 1107440 h 2142490"/>
              <a:gd name="connsiteX15-1693" fmla="*/ 425450 w 2062195"/>
              <a:gd name="connsiteY15-1694" fmla="*/ 1196340 h 2142490"/>
              <a:gd name="connsiteX16-1695" fmla="*/ 455930 w 2062195"/>
              <a:gd name="connsiteY16-1696" fmla="*/ 1459230 h 2142490"/>
              <a:gd name="connsiteX17-1697" fmla="*/ 501650 w 2062195"/>
              <a:gd name="connsiteY17-1698" fmla="*/ 1742440 h 2142490"/>
              <a:gd name="connsiteX18-1699" fmla="*/ 539750 w 2062195"/>
              <a:gd name="connsiteY18-1700" fmla="*/ 1920240 h 2142490"/>
              <a:gd name="connsiteX19-1701" fmla="*/ 520700 w 2062195"/>
              <a:gd name="connsiteY19-1702" fmla="*/ 1977390 h 2142490"/>
              <a:gd name="connsiteX20-1703" fmla="*/ 469900 w 2062195"/>
              <a:gd name="connsiteY20-1704" fmla="*/ 2034540 h 2142490"/>
              <a:gd name="connsiteX21-1705" fmla="*/ 336550 w 2062195"/>
              <a:gd name="connsiteY21-1706" fmla="*/ 2034540 h 2142490"/>
              <a:gd name="connsiteX22-1707" fmla="*/ 184150 w 2062195"/>
              <a:gd name="connsiteY22-1708" fmla="*/ 2040890 h 2142490"/>
              <a:gd name="connsiteX23-1709" fmla="*/ 0 w 2062195"/>
              <a:gd name="connsiteY23-1710" fmla="*/ 2142490 h 2142490"/>
              <a:gd name="connsiteX0-1711" fmla="*/ 1639570 w 1878045"/>
              <a:gd name="connsiteY0-1712" fmla="*/ 0 h 2040890"/>
              <a:gd name="connsiteX1-1713" fmla="*/ 1692910 w 1878045"/>
              <a:gd name="connsiteY1-1714" fmla="*/ 236220 h 2040890"/>
              <a:gd name="connsiteX2-1715" fmla="*/ 1750060 w 1878045"/>
              <a:gd name="connsiteY2-1716" fmla="*/ 420370 h 2040890"/>
              <a:gd name="connsiteX3-1717" fmla="*/ 1817370 w 1878045"/>
              <a:gd name="connsiteY3-1718" fmla="*/ 618490 h 2040890"/>
              <a:gd name="connsiteX4-1719" fmla="*/ 1869440 w 1878045"/>
              <a:gd name="connsiteY4-1720" fmla="*/ 789940 h 2040890"/>
              <a:gd name="connsiteX5-1721" fmla="*/ 1869440 w 1878045"/>
              <a:gd name="connsiteY5-1722" fmla="*/ 901700 h 2040890"/>
              <a:gd name="connsiteX6-1723" fmla="*/ 1785620 w 1878045"/>
              <a:gd name="connsiteY6-1724" fmla="*/ 993140 h 2040890"/>
              <a:gd name="connsiteX7-1725" fmla="*/ 1626870 w 1878045"/>
              <a:gd name="connsiteY7-1726" fmla="*/ 1007110 h 2040890"/>
              <a:gd name="connsiteX8-1727" fmla="*/ 1320800 w 1878045"/>
              <a:gd name="connsiteY8-1728" fmla="*/ 933450 h 2040890"/>
              <a:gd name="connsiteX9-1729" fmla="*/ 1214120 w 1878045"/>
              <a:gd name="connsiteY9-1730" fmla="*/ 1033780 h 2040890"/>
              <a:gd name="connsiteX10-1731" fmla="*/ 1116330 w 1878045"/>
              <a:gd name="connsiteY10-1732" fmla="*/ 1202690 h 2040890"/>
              <a:gd name="connsiteX11-1733" fmla="*/ 896620 w 1878045"/>
              <a:gd name="connsiteY11-1734" fmla="*/ 1191260 h 2040890"/>
              <a:gd name="connsiteX12-1735" fmla="*/ 775970 w 1878045"/>
              <a:gd name="connsiteY12-1736" fmla="*/ 1197610 h 2040890"/>
              <a:gd name="connsiteX13-1737" fmla="*/ 368300 w 1878045"/>
              <a:gd name="connsiteY13-1738" fmla="*/ 1151890 h 2040890"/>
              <a:gd name="connsiteX14-1739" fmla="*/ 279400 w 1878045"/>
              <a:gd name="connsiteY14-1740" fmla="*/ 1107440 h 2040890"/>
              <a:gd name="connsiteX15-1741" fmla="*/ 241300 w 1878045"/>
              <a:gd name="connsiteY15-1742" fmla="*/ 1196340 h 2040890"/>
              <a:gd name="connsiteX16-1743" fmla="*/ 271780 w 1878045"/>
              <a:gd name="connsiteY16-1744" fmla="*/ 1459230 h 2040890"/>
              <a:gd name="connsiteX17-1745" fmla="*/ 317500 w 1878045"/>
              <a:gd name="connsiteY17-1746" fmla="*/ 1742440 h 2040890"/>
              <a:gd name="connsiteX18-1747" fmla="*/ 355600 w 1878045"/>
              <a:gd name="connsiteY18-1748" fmla="*/ 1920240 h 2040890"/>
              <a:gd name="connsiteX19-1749" fmla="*/ 336550 w 1878045"/>
              <a:gd name="connsiteY19-1750" fmla="*/ 1977390 h 2040890"/>
              <a:gd name="connsiteX20-1751" fmla="*/ 285750 w 1878045"/>
              <a:gd name="connsiteY20-1752" fmla="*/ 2034540 h 2040890"/>
              <a:gd name="connsiteX21-1753" fmla="*/ 152400 w 1878045"/>
              <a:gd name="connsiteY21-1754" fmla="*/ 2034540 h 2040890"/>
              <a:gd name="connsiteX22-1755" fmla="*/ 0 w 1878045"/>
              <a:gd name="connsiteY22-1756" fmla="*/ 2040890 h 2040890"/>
              <a:gd name="connsiteX0-1757" fmla="*/ 1487170 w 1725645"/>
              <a:gd name="connsiteY0-1758" fmla="*/ 0 h 2038547"/>
              <a:gd name="connsiteX1-1759" fmla="*/ 1540510 w 1725645"/>
              <a:gd name="connsiteY1-1760" fmla="*/ 236220 h 2038547"/>
              <a:gd name="connsiteX2-1761" fmla="*/ 1597660 w 1725645"/>
              <a:gd name="connsiteY2-1762" fmla="*/ 420370 h 2038547"/>
              <a:gd name="connsiteX3-1763" fmla="*/ 1664970 w 1725645"/>
              <a:gd name="connsiteY3-1764" fmla="*/ 618490 h 2038547"/>
              <a:gd name="connsiteX4-1765" fmla="*/ 1717040 w 1725645"/>
              <a:gd name="connsiteY4-1766" fmla="*/ 789940 h 2038547"/>
              <a:gd name="connsiteX5-1767" fmla="*/ 1717040 w 1725645"/>
              <a:gd name="connsiteY5-1768" fmla="*/ 901700 h 2038547"/>
              <a:gd name="connsiteX6-1769" fmla="*/ 1633220 w 1725645"/>
              <a:gd name="connsiteY6-1770" fmla="*/ 993140 h 2038547"/>
              <a:gd name="connsiteX7-1771" fmla="*/ 1474470 w 1725645"/>
              <a:gd name="connsiteY7-1772" fmla="*/ 1007110 h 2038547"/>
              <a:gd name="connsiteX8-1773" fmla="*/ 1168400 w 1725645"/>
              <a:gd name="connsiteY8-1774" fmla="*/ 933450 h 2038547"/>
              <a:gd name="connsiteX9-1775" fmla="*/ 1061720 w 1725645"/>
              <a:gd name="connsiteY9-1776" fmla="*/ 1033780 h 2038547"/>
              <a:gd name="connsiteX10-1777" fmla="*/ 963930 w 1725645"/>
              <a:gd name="connsiteY10-1778" fmla="*/ 1202690 h 2038547"/>
              <a:gd name="connsiteX11-1779" fmla="*/ 744220 w 1725645"/>
              <a:gd name="connsiteY11-1780" fmla="*/ 1191260 h 2038547"/>
              <a:gd name="connsiteX12-1781" fmla="*/ 623570 w 1725645"/>
              <a:gd name="connsiteY12-1782" fmla="*/ 1197610 h 2038547"/>
              <a:gd name="connsiteX13-1783" fmla="*/ 215900 w 1725645"/>
              <a:gd name="connsiteY13-1784" fmla="*/ 1151890 h 2038547"/>
              <a:gd name="connsiteX14-1785" fmla="*/ 127000 w 1725645"/>
              <a:gd name="connsiteY14-1786" fmla="*/ 1107440 h 2038547"/>
              <a:gd name="connsiteX15-1787" fmla="*/ 88900 w 1725645"/>
              <a:gd name="connsiteY15-1788" fmla="*/ 1196340 h 2038547"/>
              <a:gd name="connsiteX16-1789" fmla="*/ 119380 w 1725645"/>
              <a:gd name="connsiteY16-1790" fmla="*/ 1459230 h 2038547"/>
              <a:gd name="connsiteX17-1791" fmla="*/ 165100 w 1725645"/>
              <a:gd name="connsiteY17-1792" fmla="*/ 1742440 h 2038547"/>
              <a:gd name="connsiteX18-1793" fmla="*/ 203200 w 1725645"/>
              <a:gd name="connsiteY18-1794" fmla="*/ 1920240 h 2038547"/>
              <a:gd name="connsiteX19-1795" fmla="*/ 184150 w 1725645"/>
              <a:gd name="connsiteY19-1796" fmla="*/ 1977390 h 2038547"/>
              <a:gd name="connsiteX20-1797" fmla="*/ 133350 w 1725645"/>
              <a:gd name="connsiteY20-1798" fmla="*/ 2034540 h 2038547"/>
              <a:gd name="connsiteX21-1799" fmla="*/ 0 w 1725645"/>
              <a:gd name="connsiteY21-1800" fmla="*/ 2034540 h 2038547"/>
              <a:gd name="connsiteX0-1801" fmla="*/ 1398331 w 1636806"/>
              <a:gd name="connsiteY0-1802" fmla="*/ 0 h 2034540"/>
              <a:gd name="connsiteX1-1803" fmla="*/ 1451671 w 1636806"/>
              <a:gd name="connsiteY1-1804" fmla="*/ 236220 h 2034540"/>
              <a:gd name="connsiteX2-1805" fmla="*/ 1508821 w 1636806"/>
              <a:gd name="connsiteY2-1806" fmla="*/ 420370 h 2034540"/>
              <a:gd name="connsiteX3-1807" fmla="*/ 1576131 w 1636806"/>
              <a:gd name="connsiteY3-1808" fmla="*/ 618490 h 2034540"/>
              <a:gd name="connsiteX4-1809" fmla="*/ 1628201 w 1636806"/>
              <a:gd name="connsiteY4-1810" fmla="*/ 789940 h 2034540"/>
              <a:gd name="connsiteX5-1811" fmla="*/ 1628201 w 1636806"/>
              <a:gd name="connsiteY5-1812" fmla="*/ 901700 h 2034540"/>
              <a:gd name="connsiteX6-1813" fmla="*/ 1544381 w 1636806"/>
              <a:gd name="connsiteY6-1814" fmla="*/ 993140 h 2034540"/>
              <a:gd name="connsiteX7-1815" fmla="*/ 1385631 w 1636806"/>
              <a:gd name="connsiteY7-1816" fmla="*/ 1007110 h 2034540"/>
              <a:gd name="connsiteX8-1817" fmla="*/ 1079561 w 1636806"/>
              <a:gd name="connsiteY8-1818" fmla="*/ 933450 h 2034540"/>
              <a:gd name="connsiteX9-1819" fmla="*/ 972881 w 1636806"/>
              <a:gd name="connsiteY9-1820" fmla="*/ 1033780 h 2034540"/>
              <a:gd name="connsiteX10-1821" fmla="*/ 875091 w 1636806"/>
              <a:gd name="connsiteY10-1822" fmla="*/ 1202690 h 2034540"/>
              <a:gd name="connsiteX11-1823" fmla="*/ 655381 w 1636806"/>
              <a:gd name="connsiteY11-1824" fmla="*/ 1191260 h 2034540"/>
              <a:gd name="connsiteX12-1825" fmla="*/ 534731 w 1636806"/>
              <a:gd name="connsiteY12-1826" fmla="*/ 1197610 h 2034540"/>
              <a:gd name="connsiteX13-1827" fmla="*/ 127061 w 1636806"/>
              <a:gd name="connsiteY13-1828" fmla="*/ 1151890 h 2034540"/>
              <a:gd name="connsiteX14-1829" fmla="*/ 38161 w 1636806"/>
              <a:gd name="connsiteY14-1830" fmla="*/ 1107440 h 2034540"/>
              <a:gd name="connsiteX15-1831" fmla="*/ 61 w 1636806"/>
              <a:gd name="connsiteY15-1832" fmla="*/ 1196340 h 2034540"/>
              <a:gd name="connsiteX16-1833" fmla="*/ 30541 w 1636806"/>
              <a:gd name="connsiteY16-1834" fmla="*/ 1459230 h 2034540"/>
              <a:gd name="connsiteX17-1835" fmla="*/ 76261 w 1636806"/>
              <a:gd name="connsiteY17-1836" fmla="*/ 1742440 h 2034540"/>
              <a:gd name="connsiteX18-1837" fmla="*/ 114361 w 1636806"/>
              <a:gd name="connsiteY18-1838" fmla="*/ 1920240 h 2034540"/>
              <a:gd name="connsiteX19-1839" fmla="*/ 95311 w 1636806"/>
              <a:gd name="connsiteY19-1840" fmla="*/ 1977390 h 2034540"/>
              <a:gd name="connsiteX20-1841" fmla="*/ 44511 w 1636806"/>
              <a:gd name="connsiteY20-1842" fmla="*/ 2034540 h 2034540"/>
              <a:gd name="connsiteX0-1843" fmla="*/ 1398331 w 1636806"/>
              <a:gd name="connsiteY0-1844" fmla="*/ 0 h 2034540"/>
              <a:gd name="connsiteX1-1845" fmla="*/ 1451671 w 1636806"/>
              <a:gd name="connsiteY1-1846" fmla="*/ 236220 h 2034540"/>
              <a:gd name="connsiteX2-1847" fmla="*/ 1508821 w 1636806"/>
              <a:gd name="connsiteY2-1848" fmla="*/ 420370 h 2034540"/>
              <a:gd name="connsiteX3-1849" fmla="*/ 1576131 w 1636806"/>
              <a:gd name="connsiteY3-1850" fmla="*/ 618490 h 2034540"/>
              <a:gd name="connsiteX4-1851" fmla="*/ 1628201 w 1636806"/>
              <a:gd name="connsiteY4-1852" fmla="*/ 789940 h 2034540"/>
              <a:gd name="connsiteX5-1853" fmla="*/ 1628201 w 1636806"/>
              <a:gd name="connsiteY5-1854" fmla="*/ 901700 h 2034540"/>
              <a:gd name="connsiteX6-1855" fmla="*/ 1544381 w 1636806"/>
              <a:gd name="connsiteY6-1856" fmla="*/ 993140 h 2034540"/>
              <a:gd name="connsiteX7-1857" fmla="*/ 1385631 w 1636806"/>
              <a:gd name="connsiteY7-1858" fmla="*/ 1007110 h 2034540"/>
              <a:gd name="connsiteX8-1859" fmla="*/ 1079561 w 1636806"/>
              <a:gd name="connsiteY8-1860" fmla="*/ 933450 h 2034540"/>
              <a:gd name="connsiteX9-1861" fmla="*/ 972881 w 1636806"/>
              <a:gd name="connsiteY9-1862" fmla="*/ 1033780 h 2034540"/>
              <a:gd name="connsiteX10-1863" fmla="*/ 875091 w 1636806"/>
              <a:gd name="connsiteY10-1864" fmla="*/ 1202690 h 2034540"/>
              <a:gd name="connsiteX11-1865" fmla="*/ 655381 w 1636806"/>
              <a:gd name="connsiteY11-1866" fmla="*/ 1191260 h 2034540"/>
              <a:gd name="connsiteX12-1867" fmla="*/ 534731 w 1636806"/>
              <a:gd name="connsiteY12-1868" fmla="*/ 1197610 h 2034540"/>
              <a:gd name="connsiteX13-1869" fmla="*/ 127061 w 1636806"/>
              <a:gd name="connsiteY13-1870" fmla="*/ 1151890 h 2034540"/>
              <a:gd name="connsiteX14-1871" fmla="*/ 38161 w 1636806"/>
              <a:gd name="connsiteY14-1872" fmla="*/ 1107440 h 2034540"/>
              <a:gd name="connsiteX15-1873" fmla="*/ 61 w 1636806"/>
              <a:gd name="connsiteY15-1874" fmla="*/ 1196340 h 2034540"/>
              <a:gd name="connsiteX16-1875" fmla="*/ 30541 w 1636806"/>
              <a:gd name="connsiteY16-1876" fmla="*/ 1459230 h 2034540"/>
              <a:gd name="connsiteX17-1877" fmla="*/ 76261 w 1636806"/>
              <a:gd name="connsiteY17-1878" fmla="*/ 1742440 h 2034540"/>
              <a:gd name="connsiteX18-1879" fmla="*/ 114361 w 1636806"/>
              <a:gd name="connsiteY18-1880" fmla="*/ 1920240 h 2034540"/>
              <a:gd name="connsiteX19-1881" fmla="*/ 44511 w 1636806"/>
              <a:gd name="connsiteY19-1882" fmla="*/ 2034540 h 2034540"/>
              <a:gd name="connsiteX0-1883" fmla="*/ 1398331 w 1636806"/>
              <a:gd name="connsiteY0-1884" fmla="*/ 0 h 2034540"/>
              <a:gd name="connsiteX1-1885" fmla="*/ 1451671 w 1636806"/>
              <a:gd name="connsiteY1-1886" fmla="*/ 236220 h 2034540"/>
              <a:gd name="connsiteX2-1887" fmla="*/ 1508821 w 1636806"/>
              <a:gd name="connsiteY2-1888" fmla="*/ 420370 h 2034540"/>
              <a:gd name="connsiteX3-1889" fmla="*/ 1576131 w 1636806"/>
              <a:gd name="connsiteY3-1890" fmla="*/ 618490 h 2034540"/>
              <a:gd name="connsiteX4-1891" fmla="*/ 1628201 w 1636806"/>
              <a:gd name="connsiteY4-1892" fmla="*/ 789940 h 2034540"/>
              <a:gd name="connsiteX5-1893" fmla="*/ 1628201 w 1636806"/>
              <a:gd name="connsiteY5-1894" fmla="*/ 901700 h 2034540"/>
              <a:gd name="connsiteX6-1895" fmla="*/ 1544381 w 1636806"/>
              <a:gd name="connsiteY6-1896" fmla="*/ 993140 h 2034540"/>
              <a:gd name="connsiteX7-1897" fmla="*/ 1385631 w 1636806"/>
              <a:gd name="connsiteY7-1898" fmla="*/ 1007110 h 2034540"/>
              <a:gd name="connsiteX8-1899" fmla="*/ 1079561 w 1636806"/>
              <a:gd name="connsiteY8-1900" fmla="*/ 933450 h 2034540"/>
              <a:gd name="connsiteX9-1901" fmla="*/ 972881 w 1636806"/>
              <a:gd name="connsiteY9-1902" fmla="*/ 1033780 h 2034540"/>
              <a:gd name="connsiteX10-1903" fmla="*/ 875091 w 1636806"/>
              <a:gd name="connsiteY10-1904" fmla="*/ 1202690 h 2034540"/>
              <a:gd name="connsiteX11-1905" fmla="*/ 655381 w 1636806"/>
              <a:gd name="connsiteY11-1906" fmla="*/ 1191260 h 2034540"/>
              <a:gd name="connsiteX12-1907" fmla="*/ 534731 w 1636806"/>
              <a:gd name="connsiteY12-1908" fmla="*/ 1197610 h 2034540"/>
              <a:gd name="connsiteX13-1909" fmla="*/ 127061 w 1636806"/>
              <a:gd name="connsiteY13-1910" fmla="*/ 1151890 h 2034540"/>
              <a:gd name="connsiteX14-1911" fmla="*/ 38161 w 1636806"/>
              <a:gd name="connsiteY14-1912" fmla="*/ 1107440 h 2034540"/>
              <a:gd name="connsiteX15-1913" fmla="*/ 61 w 1636806"/>
              <a:gd name="connsiteY15-1914" fmla="*/ 1196340 h 2034540"/>
              <a:gd name="connsiteX16-1915" fmla="*/ 30541 w 1636806"/>
              <a:gd name="connsiteY16-1916" fmla="*/ 1459230 h 2034540"/>
              <a:gd name="connsiteX17-1917" fmla="*/ 76261 w 1636806"/>
              <a:gd name="connsiteY17-1918" fmla="*/ 1742440 h 2034540"/>
              <a:gd name="connsiteX18-1919" fmla="*/ 44511 w 1636806"/>
              <a:gd name="connsiteY18-1920" fmla="*/ 2034540 h 2034540"/>
              <a:gd name="connsiteX0-1921" fmla="*/ 1398318 w 1636793"/>
              <a:gd name="connsiteY0-1922" fmla="*/ 0 h 2034540"/>
              <a:gd name="connsiteX1-1923" fmla="*/ 1451658 w 1636793"/>
              <a:gd name="connsiteY1-1924" fmla="*/ 236220 h 2034540"/>
              <a:gd name="connsiteX2-1925" fmla="*/ 1508808 w 1636793"/>
              <a:gd name="connsiteY2-1926" fmla="*/ 420370 h 2034540"/>
              <a:gd name="connsiteX3-1927" fmla="*/ 1576118 w 1636793"/>
              <a:gd name="connsiteY3-1928" fmla="*/ 618490 h 2034540"/>
              <a:gd name="connsiteX4-1929" fmla="*/ 1628188 w 1636793"/>
              <a:gd name="connsiteY4-1930" fmla="*/ 789940 h 2034540"/>
              <a:gd name="connsiteX5-1931" fmla="*/ 1628188 w 1636793"/>
              <a:gd name="connsiteY5-1932" fmla="*/ 901700 h 2034540"/>
              <a:gd name="connsiteX6-1933" fmla="*/ 1544368 w 1636793"/>
              <a:gd name="connsiteY6-1934" fmla="*/ 993140 h 2034540"/>
              <a:gd name="connsiteX7-1935" fmla="*/ 1385618 w 1636793"/>
              <a:gd name="connsiteY7-1936" fmla="*/ 1007110 h 2034540"/>
              <a:gd name="connsiteX8-1937" fmla="*/ 1079548 w 1636793"/>
              <a:gd name="connsiteY8-1938" fmla="*/ 933450 h 2034540"/>
              <a:gd name="connsiteX9-1939" fmla="*/ 972868 w 1636793"/>
              <a:gd name="connsiteY9-1940" fmla="*/ 1033780 h 2034540"/>
              <a:gd name="connsiteX10-1941" fmla="*/ 875078 w 1636793"/>
              <a:gd name="connsiteY10-1942" fmla="*/ 1202690 h 2034540"/>
              <a:gd name="connsiteX11-1943" fmla="*/ 655368 w 1636793"/>
              <a:gd name="connsiteY11-1944" fmla="*/ 1191260 h 2034540"/>
              <a:gd name="connsiteX12-1945" fmla="*/ 534718 w 1636793"/>
              <a:gd name="connsiteY12-1946" fmla="*/ 1197610 h 2034540"/>
              <a:gd name="connsiteX13-1947" fmla="*/ 127048 w 1636793"/>
              <a:gd name="connsiteY13-1948" fmla="*/ 1151890 h 2034540"/>
              <a:gd name="connsiteX14-1949" fmla="*/ 38148 w 1636793"/>
              <a:gd name="connsiteY14-1950" fmla="*/ 1107440 h 2034540"/>
              <a:gd name="connsiteX15-1951" fmla="*/ 48 w 1636793"/>
              <a:gd name="connsiteY15-1952" fmla="*/ 1196340 h 2034540"/>
              <a:gd name="connsiteX16-1953" fmla="*/ 30528 w 1636793"/>
              <a:gd name="connsiteY16-1954" fmla="*/ 1459230 h 2034540"/>
              <a:gd name="connsiteX17-1955" fmla="*/ 44498 w 1636793"/>
              <a:gd name="connsiteY17-1956" fmla="*/ 2034540 h 2034540"/>
              <a:gd name="connsiteX0-1957" fmla="*/ 1398318 w 1636793"/>
              <a:gd name="connsiteY0-1958" fmla="*/ 0 h 2034540"/>
              <a:gd name="connsiteX1-1959" fmla="*/ 1451658 w 1636793"/>
              <a:gd name="connsiteY1-1960" fmla="*/ 236220 h 2034540"/>
              <a:gd name="connsiteX2-1961" fmla="*/ 1508808 w 1636793"/>
              <a:gd name="connsiteY2-1962" fmla="*/ 420370 h 2034540"/>
              <a:gd name="connsiteX3-1963" fmla="*/ 1576118 w 1636793"/>
              <a:gd name="connsiteY3-1964" fmla="*/ 618490 h 2034540"/>
              <a:gd name="connsiteX4-1965" fmla="*/ 1628188 w 1636793"/>
              <a:gd name="connsiteY4-1966" fmla="*/ 789940 h 2034540"/>
              <a:gd name="connsiteX5-1967" fmla="*/ 1628188 w 1636793"/>
              <a:gd name="connsiteY5-1968" fmla="*/ 901700 h 2034540"/>
              <a:gd name="connsiteX6-1969" fmla="*/ 1544368 w 1636793"/>
              <a:gd name="connsiteY6-1970" fmla="*/ 993140 h 2034540"/>
              <a:gd name="connsiteX7-1971" fmla="*/ 1385618 w 1636793"/>
              <a:gd name="connsiteY7-1972" fmla="*/ 1007110 h 2034540"/>
              <a:gd name="connsiteX8-1973" fmla="*/ 1079548 w 1636793"/>
              <a:gd name="connsiteY8-1974" fmla="*/ 933450 h 2034540"/>
              <a:gd name="connsiteX9-1975" fmla="*/ 972868 w 1636793"/>
              <a:gd name="connsiteY9-1976" fmla="*/ 1033780 h 2034540"/>
              <a:gd name="connsiteX10-1977" fmla="*/ 875078 w 1636793"/>
              <a:gd name="connsiteY10-1978" fmla="*/ 1202690 h 2034540"/>
              <a:gd name="connsiteX11-1979" fmla="*/ 655368 w 1636793"/>
              <a:gd name="connsiteY11-1980" fmla="*/ 1191260 h 2034540"/>
              <a:gd name="connsiteX12-1981" fmla="*/ 534718 w 1636793"/>
              <a:gd name="connsiteY12-1982" fmla="*/ 1197610 h 2034540"/>
              <a:gd name="connsiteX13-1983" fmla="*/ 127048 w 1636793"/>
              <a:gd name="connsiteY13-1984" fmla="*/ 1151890 h 2034540"/>
              <a:gd name="connsiteX14-1985" fmla="*/ 38148 w 1636793"/>
              <a:gd name="connsiteY14-1986" fmla="*/ 1107440 h 2034540"/>
              <a:gd name="connsiteX15-1987" fmla="*/ 48 w 1636793"/>
              <a:gd name="connsiteY15-1988" fmla="*/ 1196340 h 2034540"/>
              <a:gd name="connsiteX16-1989" fmla="*/ 30528 w 1636793"/>
              <a:gd name="connsiteY16-1990" fmla="*/ 1459230 h 2034540"/>
              <a:gd name="connsiteX17-1991" fmla="*/ 44498 w 1636793"/>
              <a:gd name="connsiteY17-1992" fmla="*/ 2034540 h 2034540"/>
              <a:gd name="connsiteX0-1993" fmla="*/ 1398318 w 1636793"/>
              <a:gd name="connsiteY0-1994" fmla="*/ 0 h 1459230"/>
              <a:gd name="connsiteX1-1995" fmla="*/ 1451658 w 1636793"/>
              <a:gd name="connsiteY1-1996" fmla="*/ 236220 h 1459230"/>
              <a:gd name="connsiteX2-1997" fmla="*/ 1508808 w 1636793"/>
              <a:gd name="connsiteY2-1998" fmla="*/ 420370 h 1459230"/>
              <a:gd name="connsiteX3-1999" fmla="*/ 1576118 w 1636793"/>
              <a:gd name="connsiteY3-2000" fmla="*/ 618490 h 1459230"/>
              <a:gd name="connsiteX4-2001" fmla="*/ 1628188 w 1636793"/>
              <a:gd name="connsiteY4-2002" fmla="*/ 789940 h 1459230"/>
              <a:gd name="connsiteX5-2003" fmla="*/ 1628188 w 1636793"/>
              <a:gd name="connsiteY5-2004" fmla="*/ 901700 h 1459230"/>
              <a:gd name="connsiteX6-2005" fmla="*/ 1544368 w 1636793"/>
              <a:gd name="connsiteY6-2006" fmla="*/ 993140 h 1459230"/>
              <a:gd name="connsiteX7-2007" fmla="*/ 1385618 w 1636793"/>
              <a:gd name="connsiteY7-2008" fmla="*/ 1007110 h 1459230"/>
              <a:gd name="connsiteX8-2009" fmla="*/ 1079548 w 1636793"/>
              <a:gd name="connsiteY8-2010" fmla="*/ 933450 h 1459230"/>
              <a:gd name="connsiteX9-2011" fmla="*/ 972868 w 1636793"/>
              <a:gd name="connsiteY9-2012" fmla="*/ 1033780 h 1459230"/>
              <a:gd name="connsiteX10-2013" fmla="*/ 875078 w 1636793"/>
              <a:gd name="connsiteY10-2014" fmla="*/ 1202690 h 1459230"/>
              <a:gd name="connsiteX11-2015" fmla="*/ 655368 w 1636793"/>
              <a:gd name="connsiteY11-2016" fmla="*/ 1191260 h 1459230"/>
              <a:gd name="connsiteX12-2017" fmla="*/ 534718 w 1636793"/>
              <a:gd name="connsiteY12-2018" fmla="*/ 1197610 h 1459230"/>
              <a:gd name="connsiteX13-2019" fmla="*/ 127048 w 1636793"/>
              <a:gd name="connsiteY13-2020" fmla="*/ 1151890 h 1459230"/>
              <a:gd name="connsiteX14-2021" fmla="*/ 38148 w 1636793"/>
              <a:gd name="connsiteY14-2022" fmla="*/ 1107440 h 1459230"/>
              <a:gd name="connsiteX15-2023" fmla="*/ 48 w 1636793"/>
              <a:gd name="connsiteY15-2024" fmla="*/ 1196340 h 1459230"/>
              <a:gd name="connsiteX16-2025" fmla="*/ 30528 w 1636793"/>
              <a:gd name="connsiteY16-2026" fmla="*/ 1459230 h 1459230"/>
              <a:gd name="connsiteX0-2027" fmla="*/ 1404635 w 1643110"/>
              <a:gd name="connsiteY0-2028" fmla="*/ 0 h 1455420"/>
              <a:gd name="connsiteX1-2029" fmla="*/ 1457975 w 1643110"/>
              <a:gd name="connsiteY1-2030" fmla="*/ 236220 h 1455420"/>
              <a:gd name="connsiteX2-2031" fmla="*/ 1515125 w 1643110"/>
              <a:gd name="connsiteY2-2032" fmla="*/ 420370 h 1455420"/>
              <a:gd name="connsiteX3-2033" fmla="*/ 1582435 w 1643110"/>
              <a:gd name="connsiteY3-2034" fmla="*/ 618490 h 1455420"/>
              <a:gd name="connsiteX4-2035" fmla="*/ 1634505 w 1643110"/>
              <a:gd name="connsiteY4-2036" fmla="*/ 789940 h 1455420"/>
              <a:gd name="connsiteX5-2037" fmla="*/ 1634505 w 1643110"/>
              <a:gd name="connsiteY5-2038" fmla="*/ 901700 h 1455420"/>
              <a:gd name="connsiteX6-2039" fmla="*/ 1550685 w 1643110"/>
              <a:gd name="connsiteY6-2040" fmla="*/ 993140 h 1455420"/>
              <a:gd name="connsiteX7-2041" fmla="*/ 1391935 w 1643110"/>
              <a:gd name="connsiteY7-2042" fmla="*/ 1007110 h 1455420"/>
              <a:gd name="connsiteX8-2043" fmla="*/ 1085865 w 1643110"/>
              <a:gd name="connsiteY8-2044" fmla="*/ 933450 h 1455420"/>
              <a:gd name="connsiteX9-2045" fmla="*/ 979185 w 1643110"/>
              <a:gd name="connsiteY9-2046" fmla="*/ 1033780 h 1455420"/>
              <a:gd name="connsiteX10-2047" fmla="*/ 881395 w 1643110"/>
              <a:gd name="connsiteY10-2048" fmla="*/ 1202690 h 1455420"/>
              <a:gd name="connsiteX11-2049" fmla="*/ 661685 w 1643110"/>
              <a:gd name="connsiteY11-2050" fmla="*/ 1191260 h 1455420"/>
              <a:gd name="connsiteX12-2051" fmla="*/ 541035 w 1643110"/>
              <a:gd name="connsiteY12-2052" fmla="*/ 1197610 h 1455420"/>
              <a:gd name="connsiteX13-2053" fmla="*/ 133365 w 1643110"/>
              <a:gd name="connsiteY13-2054" fmla="*/ 1151890 h 1455420"/>
              <a:gd name="connsiteX14-2055" fmla="*/ 44465 w 1643110"/>
              <a:gd name="connsiteY14-2056" fmla="*/ 1107440 h 1455420"/>
              <a:gd name="connsiteX15-2057" fmla="*/ 6365 w 1643110"/>
              <a:gd name="connsiteY15-2058" fmla="*/ 1196340 h 1455420"/>
              <a:gd name="connsiteX16-2059" fmla="*/ 4460 w 1643110"/>
              <a:gd name="connsiteY16-2060" fmla="*/ 1455420 h 1455420"/>
              <a:gd name="connsiteX0-2061" fmla="*/ 1404635 w 1643110"/>
              <a:gd name="connsiteY0-2062" fmla="*/ 0 h 1455420"/>
              <a:gd name="connsiteX1-2063" fmla="*/ 1457975 w 1643110"/>
              <a:gd name="connsiteY1-2064" fmla="*/ 236220 h 1455420"/>
              <a:gd name="connsiteX2-2065" fmla="*/ 1515125 w 1643110"/>
              <a:gd name="connsiteY2-2066" fmla="*/ 420370 h 1455420"/>
              <a:gd name="connsiteX3-2067" fmla="*/ 1582435 w 1643110"/>
              <a:gd name="connsiteY3-2068" fmla="*/ 618490 h 1455420"/>
              <a:gd name="connsiteX4-2069" fmla="*/ 1634505 w 1643110"/>
              <a:gd name="connsiteY4-2070" fmla="*/ 789940 h 1455420"/>
              <a:gd name="connsiteX5-2071" fmla="*/ 1634505 w 1643110"/>
              <a:gd name="connsiteY5-2072" fmla="*/ 901700 h 1455420"/>
              <a:gd name="connsiteX6-2073" fmla="*/ 1550685 w 1643110"/>
              <a:gd name="connsiteY6-2074" fmla="*/ 993140 h 1455420"/>
              <a:gd name="connsiteX7-2075" fmla="*/ 1391935 w 1643110"/>
              <a:gd name="connsiteY7-2076" fmla="*/ 1007110 h 1455420"/>
              <a:gd name="connsiteX8-2077" fmla="*/ 1085865 w 1643110"/>
              <a:gd name="connsiteY8-2078" fmla="*/ 933450 h 1455420"/>
              <a:gd name="connsiteX9-2079" fmla="*/ 979185 w 1643110"/>
              <a:gd name="connsiteY9-2080" fmla="*/ 1033780 h 1455420"/>
              <a:gd name="connsiteX10-2081" fmla="*/ 881395 w 1643110"/>
              <a:gd name="connsiteY10-2082" fmla="*/ 1202690 h 1455420"/>
              <a:gd name="connsiteX11-2083" fmla="*/ 661685 w 1643110"/>
              <a:gd name="connsiteY11-2084" fmla="*/ 1191260 h 1455420"/>
              <a:gd name="connsiteX12-2085" fmla="*/ 541035 w 1643110"/>
              <a:gd name="connsiteY12-2086" fmla="*/ 1197610 h 1455420"/>
              <a:gd name="connsiteX13-2087" fmla="*/ 135270 w 1643110"/>
              <a:gd name="connsiteY13-2088" fmla="*/ 1144270 h 1455420"/>
              <a:gd name="connsiteX14-2089" fmla="*/ 44465 w 1643110"/>
              <a:gd name="connsiteY14-2090" fmla="*/ 1107440 h 1455420"/>
              <a:gd name="connsiteX15-2091" fmla="*/ 6365 w 1643110"/>
              <a:gd name="connsiteY15-2092" fmla="*/ 1196340 h 1455420"/>
              <a:gd name="connsiteX16-2093" fmla="*/ 4460 w 1643110"/>
              <a:gd name="connsiteY16-2094" fmla="*/ 1455420 h 1455420"/>
              <a:gd name="connsiteX0-2095" fmla="*/ 1404635 w 1643110"/>
              <a:gd name="connsiteY0-2096" fmla="*/ 0 h 1455420"/>
              <a:gd name="connsiteX1-2097" fmla="*/ 1457975 w 1643110"/>
              <a:gd name="connsiteY1-2098" fmla="*/ 236220 h 1455420"/>
              <a:gd name="connsiteX2-2099" fmla="*/ 1515125 w 1643110"/>
              <a:gd name="connsiteY2-2100" fmla="*/ 420370 h 1455420"/>
              <a:gd name="connsiteX3-2101" fmla="*/ 1582435 w 1643110"/>
              <a:gd name="connsiteY3-2102" fmla="*/ 618490 h 1455420"/>
              <a:gd name="connsiteX4-2103" fmla="*/ 1634505 w 1643110"/>
              <a:gd name="connsiteY4-2104" fmla="*/ 789940 h 1455420"/>
              <a:gd name="connsiteX5-2105" fmla="*/ 1634505 w 1643110"/>
              <a:gd name="connsiteY5-2106" fmla="*/ 901700 h 1455420"/>
              <a:gd name="connsiteX6-2107" fmla="*/ 1550685 w 1643110"/>
              <a:gd name="connsiteY6-2108" fmla="*/ 993140 h 1455420"/>
              <a:gd name="connsiteX7-2109" fmla="*/ 1391935 w 1643110"/>
              <a:gd name="connsiteY7-2110" fmla="*/ 1007110 h 1455420"/>
              <a:gd name="connsiteX8-2111" fmla="*/ 1085865 w 1643110"/>
              <a:gd name="connsiteY8-2112" fmla="*/ 933450 h 1455420"/>
              <a:gd name="connsiteX9-2113" fmla="*/ 979185 w 1643110"/>
              <a:gd name="connsiteY9-2114" fmla="*/ 1033780 h 1455420"/>
              <a:gd name="connsiteX10-2115" fmla="*/ 881395 w 1643110"/>
              <a:gd name="connsiteY10-2116" fmla="*/ 1202690 h 1455420"/>
              <a:gd name="connsiteX11-2117" fmla="*/ 661685 w 1643110"/>
              <a:gd name="connsiteY11-2118" fmla="*/ 1191260 h 1455420"/>
              <a:gd name="connsiteX12-2119" fmla="*/ 541035 w 1643110"/>
              <a:gd name="connsiteY12-2120" fmla="*/ 1197610 h 1455420"/>
              <a:gd name="connsiteX13-2121" fmla="*/ 135270 w 1643110"/>
              <a:gd name="connsiteY13-2122" fmla="*/ 1144270 h 1455420"/>
              <a:gd name="connsiteX14-2123" fmla="*/ 44465 w 1643110"/>
              <a:gd name="connsiteY14-2124" fmla="*/ 1107440 h 1455420"/>
              <a:gd name="connsiteX15-2125" fmla="*/ 6365 w 1643110"/>
              <a:gd name="connsiteY15-2126" fmla="*/ 1196340 h 1455420"/>
              <a:gd name="connsiteX16-2127" fmla="*/ 4460 w 1643110"/>
              <a:gd name="connsiteY16-2128" fmla="*/ 1455420 h 1455420"/>
              <a:gd name="connsiteX0-2129" fmla="*/ 1404635 w 1643110"/>
              <a:gd name="connsiteY0-2130" fmla="*/ 0 h 1455420"/>
              <a:gd name="connsiteX1-2131" fmla="*/ 1457975 w 1643110"/>
              <a:gd name="connsiteY1-2132" fmla="*/ 236220 h 1455420"/>
              <a:gd name="connsiteX2-2133" fmla="*/ 1515125 w 1643110"/>
              <a:gd name="connsiteY2-2134" fmla="*/ 420370 h 1455420"/>
              <a:gd name="connsiteX3-2135" fmla="*/ 1582435 w 1643110"/>
              <a:gd name="connsiteY3-2136" fmla="*/ 618490 h 1455420"/>
              <a:gd name="connsiteX4-2137" fmla="*/ 1634505 w 1643110"/>
              <a:gd name="connsiteY4-2138" fmla="*/ 789940 h 1455420"/>
              <a:gd name="connsiteX5-2139" fmla="*/ 1634505 w 1643110"/>
              <a:gd name="connsiteY5-2140" fmla="*/ 901700 h 1455420"/>
              <a:gd name="connsiteX6-2141" fmla="*/ 1550685 w 1643110"/>
              <a:gd name="connsiteY6-2142" fmla="*/ 993140 h 1455420"/>
              <a:gd name="connsiteX7-2143" fmla="*/ 1391935 w 1643110"/>
              <a:gd name="connsiteY7-2144" fmla="*/ 1007110 h 1455420"/>
              <a:gd name="connsiteX8-2145" fmla="*/ 1085865 w 1643110"/>
              <a:gd name="connsiteY8-2146" fmla="*/ 933450 h 1455420"/>
              <a:gd name="connsiteX9-2147" fmla="*/ 979185 w 1643110"/>
              <a:gd name="connsiteY9-2148" fmla="*/ 1033780 h 1455420"/>
              <a:gd name="connsiteX10-2149" fmla="*/ 881395 w 1643110"/>
              <a:gd name="connsiteY10-2150" fmla="*/ 1202690 h 1455420"/>
              <a:gd name="connsiteX11-2151" fmla="*/ 661685 w 1643110"/>
              <a:gd name="connsiteY11-2152" fmla="*/ 1191260 h 1455420"/>
              <a:gd name="connsiteX12-2153" fmla="*/ 541035 w 1643110"/>
              <a:gd name="connsiteY12-2154" fmla="*/ 1197610 h 1455420"/>
              <a:gd name="connsiteX13-2155" fmla="*/ 135270 w 1643110"/>
              <a:gd name="connsiteY13-2156" fmla="*/ 1144270 h 1455420"/>
              <a:gd name="connsiteX14-2157" fmla="*/ 44465 w 1643110"/>
              <a:gd name="connsiteY14-2158" fmla="*/ 1107440 h 1455420"/>
              <a:gd name="connsiteX15-2159" fmla="*/ 6365 w 1643110"/>
              <a:gd name="connsiteY15-2160" fmla="*/ 1196340 h 1455420"/>
              <a:gd name="connsiteX16-2161" fmla="*/ 4460 w 1643110"/>
              <a:gd name="connsiteY16-2162" fmla="*/ 1455420 h 14554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1643110" h="1455420">
                <a:moveTo>
                  <a:pt x="1404635" y="0"/>
                </a:moveTo>
                <a:cubicBezTo>
                  <a:pt x="1413207" y="85619"/>
                  <a:pt x="1439560" y="166158"/>
                  <a:pt x="1457975" y="236220"/>
                </a:cubicBezTo>
                <a:cubicBezTo>
                  <a:pt x="1476390" y="306282"/>
                  <a:pt x="1494382" y="356658"/>
                  <a:pt x="1515125" y="420370"/>
                </a:cubicBezTo>
                <a:cubicBezTo>
                  <a:pt x="1535868" y="484082"/>
                  <a:pt x="1562538" y="556895"/>
                  <a:pt x="1582435" y="618490"/>
                </a:cubicBezTo>
                <a:cubicBezTo>
                  <a:pt x="1602332" y="680085"/>
                  <a:pt x="1625827" y="742738"/>
                  <a:pt x="1634505" y="789940"/>
                </a:cubicBezTo>
                <a:cubicBezTo>
                  <a:pt x="1643183" y="837142"/>
                  <a:pt x="1648475" y="867833"/>
                  <a:pt x="1634505" y="901700"/>
                </a:cubicBezTo>
                <a:cubicBezTo>
                  <a:pt x="1620535" y="935567"/>
                  <a:pt x="1591113" y="975572"/>
                  <a:pt x="1550685" y="993140"/>
                </a:cubicBezTo>
                <a:cubicBezTo>
                  <a:pt x="1510257" y="1010708"/>
                  <a:pt x="1442735" y="1032298"/>
                  <a:pt x="1391935" y="1007110"/>
                </a:cubicBezTo>
                <a:cubicBezTo>
                  <a:pt x="1341135" y="981922"/>
                  <a:pt x="1147037" y="898525"/>
                  <a:pt x="1085865" y="933450"/>
                </a:cubicBezTo>
                <a:cubicBezTo>
                  <a:pt x="1024693" y="968375"/>
                  <a:pt x="1013263" y="988907"/>
                  <a:pt x="979185" y="1033780"/>
                </a:cubicBezTo>
                <a:cubicBezTo>
                  <a:pt x="945107" y="1078653"/>
                  <a:pt x="934312" y="1176443"/>
                  <a:pt x="881395" y="1202690"/>
                </a:cubicBezTo>
                <a:cubicBezTo>
                  <a:pt x="828478" y="1228937"/>
                  <a:pt x="718412" y="1192107"/>
                  <a:pt x="661685" y="1191260"/>
                </a:cubicBezTo>
                <a:cubicBezTo>
                  <a:pt x="604958" y="1190413"/>
                  <a:pt x="628771" y="1205442"/>
                  <a:pt x="541035" y="1197610"/>
                </a:cubicBezTo>
                <a:cubicBezTo>
                  <a:pt x="453299" y="1189778"/>
                  <a:pt x="204697" y="1168823"/>
                  <a:pt x="135270" y="1144270"/>
                </a:cubicBezTo>
                <a:cubicBezTo>
                  <a:pt x="65843" y="1119717"/>
                  <a:pt x="65949" y="1098762"/>
                  <a:pt x="44465" y="1107440"/>
                </a:cubicBezTo>
                <a:cubicBezTo>
                  <a:pt x="22981" y="1116118"/>
                  <a:pt x="13032" y="1138343"/>
                  <a:pt x="6365" y="1196340"/>
                </a:cubicBezTo>
                <a:cubicBezTo>
                  <a:pt x="-302" y="1254337"/>
                  <a:pt x="-2948" y="1315720"/>
                  <a:pt x="4460" y="145542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31" name="矩形 30"/>
          <p:cNvSpPr>
            <a:spLocks noChangeArrowheads="1"/>
          </p:cNvSpPr>
          <p:nvPr/>
        </p:nvSpPr>
        <p:spPr bwMode="auto">
          <a:xfrm>
            <a:off x="3640" y="7667"/>
            <a:ext cx="312056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组团城市交通线路</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06425" y="6356352"/>
            <a:ext cx="2743200" cy="365125"/>
          </a:xfrm>
        </p:spPr>
        <p:txBody>
          <a:bodyPr/>
          <a:lstStyle/>
          <a:p>
            <a:fld id="{7054C4FD-7E9E-A448-98D3-6D4D6A94B966}" type="slidenum">
              <a:rPr kumimoji="1" lang="zh-CN" altLang="en-US" smtClean="0"/>
            </a:fld>
            <a:endParaRPr kumimoji="1" lang="zh-CN" altLang="en-US"/>
          </a:p>
        </p:txBody>
      </p:sp>
      <p:sp>
        <p:nvSpPr>
          <p:cNvPr id="3" name="任意多边形 2"/>
          <p:cNvSpPr/>
          <p:nvPr/>
        </p:nvSpPr>
        <p:spPr>
          <a:xfrm>
            <a:off x="3611740" y="3819680"/>
            <a:ext cx="2631581" cy="2062960"/>
          </a:xfrm>
          <a:custGeom>
            <a:avLst/>
            <a:gdLst>
              <a:gd name="connsiteX0" fmla="*/ 2631581 w 2631581"/>
              <a:gd name="connsiteY0" fmla="*/ 2062960 h 2062960"/>
              <a:gd name="connsiteX1" fmla="*/ 2286141 w 2631581"/>
              <a:gd name="connsiteY1" fmla="*/ 1803880 h 2062960"/>
              <a:gd name="connsiteX2" fmla="*/ 1920381 w 2631581"/>
              <a:gd name="connsiteY2" fmla="*/ 1290800 h 2062960"/>
              <a:gd name="connsiteX3" fmla="*/ 1493661 w 2631581"/>
              <a:gd name="connsiteY3" fmla="*/ 706600 h 2062960"/>
              <a:gd name="connsiteX4" fmla="*/ 1214261 w 2631581"/>
              <a:gd name="connsiteY4" fmla="*/ 315440 h 2062960"/>
              <a:gd name="connsiteX5" fmla="*/ 1005981 w 2631581"/>
              <a:gd name="connsiteY5" fmla="*/ 122400 h 2062960"/>
              <a:gd name="connsiteX6" fmla="*/ 782461 w 2631581"/>
              <a:gd name="connsiteY6" fmla="*/ 41120 h 2062960"/>
              <a:gd name="connsiteX7" fmla="*/ 482741 w 2631581"/>
              <a:gd name="connsiteY7" fmla="*/ 480 h 2062960"/>
              <a:gd name="connsiteX8" fmla="*/ 167781 w 2631581"/>
              <a:gd name="connsiteY8" fmla="*/ 66520 h 2062960"/>
              <a:gd name="connsiteX9" fmla="*/ 141 w 2631581"/>
              <a:gd name="connsiteY9" fmla="*/ 71600 h 2062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1581" h="2062960">
                <a:moveTo>
                  <a:pt x="2631581" y="2062960"/>
                </a:moveTo>
                <a:cubicBezTo>
                  <a:pt x="2518127" y="1997766"/>
                  <a:pt x="2404674" y="1932573"/>
                  <a:pt x="2286141" y="1803880"/>
                </a:cubicBezTo>
                <a:cubicBezTo>
                  <a:pt x="2167608" y="1675187"/>
                  <a:pt x="2052461" y="1473680"/>
                  <a:pt x="1920381" y="1290800"/>
                </a:cubicBezTo>
                <a:cubicBezTo>
                  <a:pt x="1788301" y="1107920"/>
                  <a:pt x="1611348" y="869160"/>
                  <a:pt x="1493661" y="706600"/>
                </a:cubicBezTo>
                <a:cubicBezTo>
                  <a:pt x="1375974" y="544040"/>
                  <a:pt x="1295541" y="412807"/>
                  <a:pt x="1214261" y="315440"/>
                </a:cubicBezTo>
                <a:cubicBezTo>
                  <a:pt x="1132981" y="218073"/>
                  <a:pt x="1077948" y="168120"/>
                  <a:pt x="1005981" y="122400"/>
                </a:cubicBezTo>
                <a:cubicBezTo>
                  <a:pt x="934014" y="76680"/>
                  <a:pt x="869668" y="61440"/>
                  <a:pt x="782461" y="41120"/>
                </a:cubicBezTo>
                <a:cubicBezTo>
                  <a:pt x="695254" y="20800"/>
                  <a:pt x="585188" y="-3753"/>
                  <a:pt x="482741" y="480"/>
                </a:cubicBezTo>
                <a:cubicBezTo>
                  <a:pt x="380294" y="4713"/>
                  <a:pt x="248214" y="54667"/>
                  <a:pt x="167781" y="66520"/>
                </a:cubicBezTo>
                <a:cubicBezTo>
                  <a:pt x="87348" y="78373"/>
                  <a:pt x="-4092" y="77527"/>
                  <a:pt x="141" y="7160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7" name="任意多边形 6"/>
          <p:cNvSpPr/>
          <p:nvPr/>
        </p:nvSpPr>
        <p:spPr>
          <a:xfrm>
            <a:off x="2179320" y="3622040"/>
            <a:ext cx="1702269" cy="1452880"/>
          </a:xfrm>
          <a:custGeom>
            <a:avLst/>
            <a:gdLst>
              <a:gd name="connsiteX0" fmla="*/ 0 w 1702269"/>
              <a:gd name="connsiteY0" fmla="*/ 1452880 h 1452880"/>
              <a:gd name="connsiteX1" fmla="*/ 635000 w 1702269"/>
              <a:gd name="connsiteY1" fmla="*/ 1270000 h 1452880"/>
              <a:gd name="connsiteX2" fmla="*/ 848360 w 1702269"/>
              <a:gd name="connsiteY2" fmla="*/ 1219200 h 1452880"/>
              <a:gd name="connsiteX3" fmla="*/ 909320 w 1702269"/>
              <a:gd name="connsiteY3" fmla="*/ 1061720 h 1452880"/>
              <a:gd name="connsiteX4" fmla="*/ 1021080 w 1702269"/>
              <a:gd name="connsiteY4" fmla="*/ 802640 h 1452880"/>
              <a:gd name="connsiteX5" fmla="*/ 1122680 w 1702269"/>
              <a:gd name="connsiteY5" fmla="*/ 619760 h 1452880"/>
              <a:gd name="connsiteX6" fmla="*/ 1275080 w 1702269"/>
              <a:gd name="connsiteY6" fmla="*/ 497840 h 1452880"/>
              <a:gd name="connsiteX7" fmla="*/ 1452880 w 1702269"/>
              <a:gd name="connsiteY7" fmla="*/ 462280 h 1452880"/>
              <a:gd name="connsiteX8" fmla="*/ 1640840 w 1702269"/>
              <a:gd name="connsiteY8" fmla="*/ 452120 h 1452880"/>
              <a:gd name="connsiteX9" fmla="*/ 1701800 w 1702269"/>
              <a:gd name="connsiteY9" fmla="*/ 340360 h 1452880"/>
              <a:gd name="connsiteX10" fmla="*/ 1666240 w 1702269"/>
              <a:gd name="connsiteY10" fmla="*/ 182880 h 1452880"/>
              <a:gd name="connsiteX11" fmla="*/ 1615440 w 1702269"/>
              <a:gd name="connsiteY11" fmla="*/ 0 h 145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2269" h="1452880">
                <a:moveTo>
                  <a:pt x="0" y="1452880"/>
                </a:moveTo>
                <a:lnTo>
                  <a:pt x="635000" y="1270000"/>
                </a:lnTo>
                <a:cubicBezTo>
                  <a:pt x="776393" y="1231053"/>
                  <a:pt x="802640" y="1253913"/>
                  <a:pt x="848360" y="1219200"/>
                </a:cubicBezTo>
                <a:cubicBezTo>
                  <a:pt x="894080" y="1184487"/>
                  <a:pt x="880533" y="1131147"/>
                  <a:pt x="909320" y="1061720"/>
                </a:cubicBezTo>
                <a:cubicBezTo>
                  <a:pt x="938107" y="992293"/>
                  <a:pt x="985520" y="876300"/>
                  <a:pt x="1021080" y="802640"/>
                </a:cubicBezTo>
                <a:cubicBezTo>
                  <a:pt x="1056640" y="728980"/>
                  <a:pt x="1080347" y="670560"/>
                  <a:pt x="1122680" y="619760"/>
                </a:cubicBezTo>
                <a:cubicBezTo>
                  <a:pt x="1165013" y="568960"/>
                  <a:pt x="1220047" y="524087"/>
                  <a:pt x="1275080" y="497840"/>
                </a:cubicBezTo>
                <a:cubicBezTo>
                  <a:pt x="1330113" y="471593"/>
                  <a:pt x="1391920" y="469900"/>
                  <a:pt x="1452880" y="462280"/>
                </a:cubicBezTo>
                <a:cubicBezTo>
                  <a:pt x="1513840" y="454660"/>
                  <a:pt x="1599353" y="472440"/>
                  <a:pt x="1640840" y="452120"/>
                </a:cubicBezTo>
                <a:cubicBezTo>
                  <a:pt x="1682327" y="431800"/>
                  <a:pt x="1697567" y="385233"/>
                  <a:pt x="1701800" y="340360"/>
                </a:cubicBezTo>
                <a:cubicBezTo>
                  <a:pt x="1706033" y="295487"/>
                  <a:pt x="1680633" y="239607"/>
                  <a:pt x="1666240" y="182880"/>
                </a:cubicBezTo>
                <a:cubicBezTo>
                  <a:pt x="1651847" y="126153"/>
                  <a:pt x="1633643" y="63076"/>
                  <a:pt x="1615440" y="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8" name="任意多边形 7"/>
          <p:cNvSpPr/>
          <p:nvPr/>
        </p:nvSpPr>
        <p:spPr>
          <a:xfrm>
            <a:off x="2066544" y="3876360"/>
            <a:ext cx="2542032" cy="409128"/>
          </a:xfrm>
          <a:custGeom>
            <a:avLst/>
            <a:gdLst>
              <a:gd name="connsiteX0" fmla="*/ 0 w 2686385"/>
              <a:gd name="connsiteY0" fmla="*/ 409128 h 409128"/>
              <a:gd name="connsiteX1" fmla="*/ 292608 w 2686385"/>
              <a:gd name="connsiteY1" fmla="*/ 372552 h 409128"/>
              <a:gd name="connsiteX2" fmla="*/ 786384 w 2686385"/>
              <a:gd name="connsiteY2" fmla="*/ 275016 h 409128"/>
              <a:gd name="connsiteX3" fmla="*/ 1377696 w 2686385"/>
              <a:gd name="connsiteY3" fmla="*/ 147000 h 409128"/>
              <a:gd name="connsiteX4" fmla="*/ 1749552 w 2686385"/>
              <a:gd name="connsiteY4" fmla="*/ 37272 h 409128"/>
              <a:gd name="connsiteX5" fmla="*/ 1938528 w 2686385"/>
              <a:gd name="connsiteY5" fmla="*/ 696 h 409128"/>
              <a:gd name="connsiteX6" fmla="*/ 2292096 w 2686385"/>
              <a:gd name="connsiteY6" fmla="*/ 18984 h 409128"/>
              <a:gd name="connsiteX7" fmla="*/ 2542032 w 2686385"/>
              <a:gd name="connsiteY7" fmla="*/ 86040 h 409128"/>
              <a:gd name="connsiteX8" fmla="*/ 2590800 w 2686385"/>
              <a:gd name="connsiteY8" fmla="*/ 116520 h 409128"/>
              <a:gd name="connsiteX0-1" fmla="*/ 0 w 2542032"/>
              <a:gd name="connsiteY0-2" fmla="*/ 409128 h 409128"/>
              <a:gd name="connsiteX1-3" fmla="*/ 292608 w 2542032"/>
              <a:gd name="connsiteY1-4" fmla="*/ 372552 h 409128"/>
              <a:gd name="connsiteX2-5" fmla="*/ 786384 w 2542032"/>
              <a:gd name="connsiteY2-6" fmla="*/ 275016 h 409128"/>
              <a:gd name="connsiteX3-7" fmla="*/ 1377696 w 2542032"/>
              <a:gd name="connsiteY3-8" fmla="*/ 147000 h 409128"/>
              <a:gd name="connsiteX4-9" fmla="*/ 1749552 w 2542032"/>
              <a:gd name="connsiteY4-10" fmla="*/ 37272 h 409128"/>
              <a:gd name="connsiteX5-11" fmla="*/ 1938528 w 2542032"/>
              <a:gd name="connsiteY5-12" fmla="*/ 696 h 409128"/>
              <a:gd name="connsiteX6-13" fmla="*/ 2292096 w 2542032"/>
              <a:gd name="connsiteY6-14" fmla="*/ 18984 h 409128"/>
              <a:gd name="connsiteX7-15" fmla="*/ 2542032 w 2542032"/>
              <a:gd name="connsiteY7-16" fmla="*/ 86040 h 4091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542032" h="409128">
                <a:moveTo>
                  <a:pt x="0" y="409128"/>
                </a:moveTo>
                <a:cubicBezTo>
                  <a:pt x="80772" y="402016"/>
                  <a:pt x="161544" y="394904"/>
                  <a:pt x="292608" y="372552"/>
                </a:cubicBezTo>
                <a:cubicBezTo>
                  <a:pt x="423672" y="350200"/>
                  <a:pt x="786384" y="275016"/>
                  <a:pt x="786384" y="275016"/>
                </a:cubicBezTo>
                <a:cubicBezTo>
                  <a:pt x="967232" y="237424"/>
                  <a:pt x="1217168" y="186624"/>
                  <a:pt x="1377696" y="147000"/>
                </a:cubicBezTo>
                <a:cubicBezTo>
                  <a:pt x="1538224" y="107376"/>
                  <a:pt x="1656080" y="61656"/>
                  <a:pt x="1749552" y="37272"/>
                </a:cubicBezTo>
                <a:cubicBezTo>
                  <a:pt x="1843024" y="12888"/>
                  <a:pt x="1848104" y="3744"/>
                  <a:pt x="1938528" y="696"/>
                </a:cubicBezTo>
                <a:cubicBezTo>
                  <a:pt x="2028952" y="-2352"/>
                  <a:pt x="2191512" y="4760"/>
                  <a:pt x="2292096" y="18984"/>
                </a:cubicBezTo>
                <a:cubicBezTo>
                  <a:pt x="2392680" y="33208"/>
                  <a:pt x="2492248" y="69784"/>
                  <a:pt x="2542032" y="8604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9" name="任意多边形 8"/>
          <p:cNvSpPr/>
          <p:nvPr/>
        </p:nvSpPr>
        <p:spPr>
          <a:xfrm>
            <a:off x="3169434" y="1672846"/>
            <a:ext cx="483089" cy="1903476"/>
          </a:xfrm>
          <a:custGeom>
            <a:avLst/>
            <a:gdLst>
              <a:gd name="connsiteX0" fmla="*/ 287509 w 483089"/>
              <a:gd name="connsiteY0" fmla="*/ 0 h 952500"/>
              <a:gd name="connsiteX1" fmla="*/ 312909 w 483089"/>
              <a:gd name="connsiteY1" fmla="*/ 172720 h 952500"/>
              <a:gd name="connsiteX2" fmla="*/ 307829 w 483089"/>
              <a:gd name="connsiteY2" fmla="*/ 215900 h 952500"/>
              <a:gd name="connsiteX3" fmla="*/ 239249 w 483089"/>
              <a:gd name="connsiteY3" fmla="*/ 195580 h 952500"/>
              <a:gd name="connsiteX4" fmla="*/ 140189 w 483089"/>
              <a:gd name="connsiteY4" fmla="*/ 182880 h 952500"/>
              <a:gd name="connsiteX5" fmla="*/ 61449 w 483089"/>
              <a:gd name="connsiteY5" fmla="*/ 205740 h 952500"/>
              <a:gd name="connsiteX6" fmla="*/ 33509 w 483089"/>
              <a:gd name="connsiteY6" fmla="*/ 317500 h 952500"/>
              <a:gd name="connsiteX7" fmla="*/ 18269 w 483089"/>
              <a:gd name="connsiteY7" fmla="*/ 650240 h 952500"/>
              <a:gd name="connsiteX8" fmla="*/ 10649 w 483089"/>
              <a:gd name="connsiteY8" fmla="*/ 835660 h 952500"/>
              <a:gd name="connsiteX9" fmla="*/ 175749 w 483089"/>
              <a:gd name="connsiteY9" fmla="*/ 886460 h 952500"/>
              <a:gd name="connsiteX10" fmla="*/ 483089 w 483089"/>
              <a:gd name="connsiteY10" fmla="*/ 952500 h 952500"/>
              <a:gd name="connsiteX0-1" fmla="*/ 287509 w 483089"/>
              <a:gd name="connsiteY0-2" fmla="*/ 0 h 952500"/>
              <a:gd name="connsiteX1-3" fmla="*/ 299193 w 483089"/>
              <a:gd name="connsiteY1-4" fmla="*/ 27940 h 952500"/>
              <a:gd name="connsiteX2-5" fmla="*/ 312909 w 483089"/>
              <a:gd name="connsiteY2-6" fmla="*/ 172720 h 952500"/>
              <a:gd name="connsiteX3-7" fmla="*/ 307829 w 483089"/>
              <a:gd name="connsiteY3-8" fmla="*/ 215900 h 952500"/>
              <a:gd name="connsiteX4-9" fmla="*/ 239249 w 483089"/>
              <a:gd name="connsiteY4-10" fmla="*/ 195580 h 952500"/>
              <a:gd name="connsiteX5-11" fmla="*/ 140189 w 483089"/>
              <a:gd name="connsiteY5-12" fmla="*/ 182880 h 952500"/>
              <a:gd name="connsiteX6-13" fmla="*/ 61449 w 483089"/>
              <a:gd name="connsiteY6-14" fmla="*/ 205740 h 952500"/>
              <a:gd name="connsiteX7-15" fmla="*/ 33509 w 483089"/>
              <a:gd name="connsiteY7-16" fmla="*/ 317500 h 952500"/>
              <a:gd name="connsiteX8-17" fmla="*/ 18269 w 483089"/>
              <a:gd name="connsiteY8-18" fmla="*/ 650240 h 952500"/>
              <a:gd name="connsiteX9-19" fmla="*/ 10649 w 483089"/>
              <a:gd name="connsiteY9-20" fmla="*/ 835660 h 952500"/>
              <a:gd name="connsiteX10-21" fmla="*/ 175749 w 483089"/>
              <a:gd name="connsiteY10-22" fmla="*/ 886460 h 952500"/>
              <a:gd name="connsiteX11" fmla="*/ 483089 w 483089"/>
              <a:gd name="connsiteY11" fmla="*/ 952500 h 952500"/>
              <a:gd name="connsiteX0-23" fmla="*/ 299701 w 483089"/>
              <a:gd name="connsiteY0-24" fmla="*/ 0 h 1549908"/>
              <a:gd name="connsiteX1-25" fmla="*/ 299193 w 483089"/>
              <a:gd name="connsiteY1-26" fmla="*/ 625348 h 1549908"/>
              <a:gd name="connsiteX2-27" fmla="*/ 312909 w 483089"/>
              <a:gd name="connsiteY2-28" fmla="*/ 770128 h 1549908"/>
              <a:gd name="connsiteX3-29" fmla="*/ 307829 w 483089"/>
              <a:gd name="connsiteY3-30" fmla="*/ 813308 h 1549908"/>
              <a:gd name="connsiteX4-31" fmla="*/ 239249 w 483089"/>
              <a:gd name="connsiteY4-32" fmla="*/ 792988 h 1549908"/>
              <a:gd name="connsiteX5-33" fmla="*/ 140189 w 483089"/>
              <a:gd name="connsiteY5-34" fmla="*/ 780288 h 1549908"/>
              <a:gd name="connsiteX6-35" fmla="*/ 61449 w 483089"/>
              <a:gd name="connsiteY6-36" fmla="*/ 803148 h 1549908"/>
              <a:gd name="connsiteX7-37" fmla="*/ 33509 w 483089"/>
              <a:gd name="connsiteY7-38" fmla="*/ 914908 h 1549908"/>
              <a:gd name="connsiteX8-39" fmla="*/ 18269 w 483089"/>
              <a:gd name="connsiteY8-40" fmla="*/ 1247648 h 1549908"/>
              <a:gd name="connsiteX9-41" fmla="*/ 10649 w 483089"/>
              <a:gd name="connsiteY9-42" fmla="*/ 1433068 h 1549908"/>
              <a:gd name="connsiteX10-43" fmla="*/ 175749 w 483089"/>
              <a:gd name="connsiteY10-44" fmla="*/ 1483868 h 1549908"/>
              <a:gd name="connsiteX11-45" fmla="*/ 483089 w 483089"/>
              <a:gd name="connsiteY11-46" fmla="*/ 1549908 h 1549908"/>
              <a:gd name="connsiteX0-47" fmla="*/ 287509 w 483089"/>
              <a:gd name="connsiteY0-48" fmla="*/ 0 h 1903476"/>
              <a:gd name="connsiteX1-49" fmla="*/ 299193 w 483089"/>
              <a:gd name="connsiteY1-50" fmla="*/ 978916 h 1903476"/>
              <a:gd name="connsiteX2-51" fmla="*/ 312909 w 483089"/>
              <a:gd name="connsiteY2-52" fmla="*/ 1123696 h 1903476"/>
              <a:gd name="connsiteX3-53" fmla="*/ 307829 w 483089"/>
              <a:gd name="connsiteY3-54" fmla="*/ 1166876 h 1903476"/>
              <a:gd name="connsiteX4-55" fmla="*/ 239249 w 483089"/>
              <a:gd name="connsiteY4-56" fmla="*/ 1146556 h 1903476"/>
              <a:gd name="connsiteX5-57" fmla="*/ 140189 w 483089"/>
              <a:gd name="connsiteY5-58" fmla="*/ 1133856 h 1903476"/>
              <a:gd name="connsiteX6-59" fmla="*/ 61449 w 483089"/>
              <a:gd name="connsiteY6-60" fmla="*/ 1156716 h 1903476"/>
              <a:gd name="connsiteX7-61" fmla="*/ 33509 w 483089"/>
              <a:gd name="connsiteY7-62" fmla="*/ 1268476 h 1903476"/>
              <a:gd name="connsiteX8-63" fmla="*/ 18269 w 483089"/>
              <a:gd name="connsiteY8-64" fmla="*/ 1601216 h 1903476"/>
              <a:gd name="connsiteX9-65" fmla="*/ 10649 w 483089"/>
              <a:gd name="connsiteY9-66" fmla="*/ 1786636 h 1903476"/>
              <a:gd name="connsiteX10-67" fmla="*/ 175749 w 483089"/>
              <a:gd name="connsiteY10-68" fmla="*/ 1837436 h 1903476"/>
              <a:gd name="connsiteX11-69" fmla="*/ 483089 w 483089"/>
              <a:gd name="connsiteY11-70" fmla="*/ 1903476 h 19034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45" y="connsiteY11-46"/>
              </a:cxn>
            </a:cxnLst>
            <a:rect l="l" t="t" r="r" b="b"/>
            <a:pathLst>
              <a:path w="483089" h="1903476">
                <a:moveTo>
                  <a:pt x="287509" y="0"/>
                </a:moveTo>
                <a:cubicBezTo>
                  <a:pt x="289456" y="4656"/>
                  <a:pt x="294960" y="950129"/>
                  <a:pt x="299193" y="978916"/>
                </a:cubicBezTo>
                <a:cubicBezTo>
                  <a:pt x="303426" y="1007703"/>
                  <a:pt x="311470" y="1092369"/>
                  <a:pt x="312909" y="1123696"/>
                </a:cubicBezTo>
                <a:cubicBezTo>
                  <a:pt x="314348" y="1155023"/>
                  <a:pt x="320106" y="1163066"/>
                  <a:pt x="307829" y="1166876"/>
                </a:cubicBezTo>
                <a:cubicBezTo>
                  <a:pt x="295552" y="1170686"/>
                  <a:pt x="267189" y="1152059"/>
                  <a:pt x="239249" y="1146556"/>
                </a:cubicBezTo>
                <a:cubicBezTo>
                  <a:pt x="211309" y="1141053"/>
                  <a:pt x="169822" y="1132163"/>
                  <a:pt x="140189" y="1133856"/>
                </a:cubicBezTo>
                <a:cubicBezTo>
                  <a:pt x="110556" y="1135549"/>
                  <a:pt x="79229" y="1134279"/>
                  <a:pt x="61449" y="1156716"/>
                </a:cubicBezTo>
                <a:cubicBezTo>
                  <a:pt x="43669" y="1179153"/>
                  <a:pt x="40706" y="1194393"/>
                  <a:pt x="33509" y="1268476"/>
                </a:cubicBezTo>
                <a:cubicBezTo>
                  <a:pt x="26312" y="1342559"/>
                  <a:pt x="22079" y="1514856"/>
                  <a:pt x="18269" y="1601216"/>
                </a:cubicBezTo>
                <a:cubicBezTo>
                  <a:pt x="14459" y="1687576"/>
                  <a:pt x="-15598" y="1747266"/>
                  <a:pt x="10649" y="1786636"/>
                </a:cubicBezTo>
                <a:cubicBezTo>
                  <a:pt x="36896" y="1826006"/>
                  <a:pt x="97009" y="1817963"/>
                  <a:pt x="175749" y="1837436"/>
                </a:cubicBezTo>
                <a:cubicBezTo>
                  <a:pt x="254489" y="1856909"/>
                  <a:pt x="368789" y="1880192"/>
                  <a:pt x="483089" y="1903476"/>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2" name="任意多边形 11"/>
          <p:cNvSpPr/>
          <p:nvPr/>
        </p:nvSpPr>
        <p:spPr>
          <a:xfrm>
            <a:off x="2555471" y="2931160"/>
            <a:ext cx="956751" cy="3616960"/>
          </a:xfrm>
          <a:custGeom>
            <a:avLst/>
            <a:gdLst>
              <a:gd name="connsiteX0" fmla="*/ 294411 w 956751"/>
              <a:gd name="connsiteY0" fmla="*/ 3616960 h 3616960"/>
              <a:gd name="connsiteX1" fmla="*/ 152171 w 956751"/>
              <a:gd name="connsiteY1" fmla="*/ 2931160 h 3616960"/>
              <a:gd name="connsiteX2" fmla="*/ 30251 w 956751"/>
              <a:gd name="connsiteY2" fmla="*/ 2306320 h 3616960"/>
              <a:gd name="connsiteX3" fmla="*/ 4851 w 956751"/>
              <a:gd name="connsiteY3" fmla="*/ 1894840 h 3616960"/>
              <a:gd name="connsiteX4" fmla="*/ 106451 w 956751"/>
              <a:gd name="connsiteY4" fmla="*/ 1630680 h 3616960"/>
              <a:gd name="connsiteX5" fmla="*/ 705891 w 956751"/>
              <a:gd name="connsiteY5" fmla="*/ 853440 h 3616960"/>
              <a:gd name="connsiteX6" fmla="*/ 934491 w 956751"/>
              <a:gd name="connsiteY6" fmla="*/ 386080 h 3616960"/>
              <a:gd name="connsiteX7" fmla="*/ 949731 w 956751"/>
              <a:gd name="connsiteY7" fmla="*/ 0 h 361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751" h="3616960">
                <a:moveTo>
                  <a:pt x="294411" y="3616960"/>
                </a:moveTo>
                <a:cubicBezTo>
                  <a:pt x="245304" y="3383280"/>
                  <a:pt x="196198" y="3149600"/>
                  <a:pt x="152171" y="2931160"/>
                </a:cubicBezTo>
                <a:cubicBezTo>
                  <a:pt x="108144" y="2712720"/>
                  <a:pt x="54804" y="2479040"/>
                  <a:pt x="30251" y="2306320"/>
                </a:cubicBezTo>
                <a:cubicBezTo>
                  <a:pt x="5698" y="2133600"/>
                  <a:pt x="-7849" y="2007447"/>
                  <a:pt x="4851" y="1894840"/>
                </a:cubicBezTo>
                <a:cubicBezTo>
                  <a:pt x="17551" y="1782233"/>
                  <a:pt x="-10389" y="1804247"/>
                  <a:pt x="106451" y="1630680"/>
                </a:cubicBezTo>
                <a:cubicBezTo>
                  <a:pt x="223291" y="1457113"/>
                  <a:pt x="567884" y="1060873"/>
                  <a:pt x="705891" y="853440"/>
                </a:cubicBezTo>
                <a:cubicBezTo>
                  <a:pt x="843898" y="646007"/>
                  <a:pt x="893851" y="528320"/>
                  <a:pt x="934491" y="386080"/>
                </a:cubicBezTo>
                <a:cubicBezTo>
                  <a:pt x="975131" y="243840"/>
                  <a:pt x="947191" y="69427"/>
                  <a:pt x="949731" y="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3" name="任意多边形 12"/>
          <p:cNvSpPr/>
          <p:nvPr/>
        </p:nvSpPr>
        <p:spPr>
          <a:xfrm>
            <a:off x="3500620" y="2808883"/>
            <a:ext cx="336453" cy="325479"/>
          </a:xfrm>
          <a:custGeom>
            <a:avLst/>
            <a:gdLst>
              <a:gd name="connsiteX0" fmla="*/ 4582 w 336453"/>
              <a:gd name="connsiteY0" fmla="*/ 127358 h 325478"/>
              <a:gd name="connsiteX1" fmla="*/ 19822 w 336453"/>
              <a:gd name="connsiteY1" fmla="*/ 5438 h 325478"/>
              <a:gd name="connsiteX2" fmla="*/ 162062 w 336453"/>
              <a:gd name="connsiteY2" fmla="*/ 25758 h 325478"/>
              <a:gd name="connsiteX3" fmla="*/ 319542 w 336453"/>
              <a:gd name="connsiteY3" fmla="*/ 66398 h 325478"/>
              <a:gd name="connsiteX4" fmla="*/ 324622 w 336453"/>
              <a:gd name="connsiteY4" fmla="*/ 325478 h 325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53" h="325478">
                <a:moveTo>
                  <a:pt x="4582" y="127358"/>
                </a:moveTo>
                <a:cubicBezTo>
                  <a:pt x="-922" y="74864"/>
                  <a:pt x="-6425" y="22371"/>
                  <a:pt x="19822" y="5438"/>
                </a:cubicBezTo>
                <a:cubicBezTo>
                  <a:pt x="46069" y="-11495"/>
                  <a:pt x="112109" y="15598"/>
                  <a:pt x="162062" y="25758"/>
                </a:cubicBezTo>
                <a:cubicBezTo>
                  <a:pt x="212015" y="35918"/>
                  <a:pt x="292449" y="16445"/>
                  <a:pt x="319542" y="66398"/>
                </a:cubicBezTo>
                <a:cubicBezTo>
                  <a:pt x="346635" y="116351"/>
                  <a:pt x="335628" y="220914"/>
                  <a:pt x="324622" y="325478"/>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4" name="任意多边形 13"/>
          <p:cNvSpPr/>
          <p:nvPr/>
        </p:nvSpPr>
        <p:spPr>
          <a:xfrm>
            <a:off x="2308863" y="4846322"/>
            <a:ext cx="1626511" cy="1379220"/>
          </a:xfrm>
          <a:custGeom>
            <a:avLst/>
            <a:gdLst>
              <a:gd name="connsiteX0" fmla="*/ 0 w 1626511"/>
              <a:gd name="connsiteY0" fmla="*/ 1379220 h 1379220"/>
              <a:gd name="connsiteX1" fmla="*/ 167640 w 1626511"/>
              <a:gd name="connsiteY1" fmla="*/ 1082040 h 1379220"/>
              <a:gd name="connsiteX2" fmla="*/ 365760 w 1626511"/>
              <a:gd name="connsiteY2" fmla="*/ 914400 h 1379220"/>
              <a:gd name="connsiteX3" fmla="*/ 510540 w 1626511"/>
              <a:gd name="connsiteY3" fmla="*/ 891540 h 1379220"/>
              <a:gd name="connsiteX4" fmla="*/ 693420 w 1626511"/>
              <a:gd name="connsiteY4" fmla="*/ 975360 h 1379220"/>
              <a:gd name="connsiteX5" fmla="*/ 868680 w 1626511"/>
              <a:gd name="connsiteY5" fmla="*/ 1249680 h 1379220"/>
              <a:gd name="connsiteX6" fmla="*/ 998220 w 1626511"/>
              <a:gd name="connsiteY6" fmla="*/ 1287780 h 1379220"/>
              <a:gd name="connsiteX7" fmla="*/ 1341120 w 1626511"/>
              <a:gd name="connsiteY7" fmla="*/ 1104900 h 1379220"/>
              <a:gd name="connsiteX8" fmla="*/ 1584960 w 1626511"/>
              <a:gd name="connsiteY8" fmla="*/ 1135380 h 1379220"/>
              <a:gd name="connsiteX9" fmla="*/ 1623060 w 1626511"/>
              <a:gd name="connsiteY9" fmla="*/ 906780 h 1379220"/>
              <a:gd name="connsiteX10" fmla="*/ 1546860 w 1626511"/>
              <a:gd name="connsiteY10" fmla="*/ 701040 h 1379220"/>
              <a:gd name="connsiteX11" fmla="*/ 1394460 w 1626511"/>
              <a:gd name="connsiteY11" fmla="*/ 678180 h 1379220"/>
              <a:gd name="connsiteX12" fmla="*/ 1257300 w 1626511"/>
              <a:gd name="connsiteY12" fmla="*/ 701040 h 1379220"/>
              <a:gd name="connsiteX13" fmla="*/ 1066800 w 1626511"/>
              <a:gd name="connsiteY13" fmla="*/ 632460 h 1379220"/>
              <a:gd name="connsiteX14" fmla="*/ 922020 w 1626511"/>
              <a:gd name="connsiteY14" fmla="*/ 274320 h 1379220"/>
              <a:gd name="connsiteX15" fmla="*/ 762000 w 1626511"/>
              <a:gd name="connsiteY15" fmla="*/ 0 h 1379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26511" h="1379220">
                <a:moveTo>
                  <a:pt x="0" y="1379220"/>
                </a:moveTo>
                <a:cubicBezTo>
                  <a:pt x="53340" y="1269365"/>
                  <a:pt x="106680" y="1159510"/>
                  <a:pt x="167640" y="1082040"/>
                </a:cubicBezTo>
                <a:cubicBezTo>
                  <a:pt x="228600" y="1004570"/>
                  <a:pt x="308610" y="946150"/>
                  <a:pt x="365760" y="914400"/>
                </a:cubicBezTo>
                <a:cubicBezTo>
                  <a:pt x="422910" y="882650"/>
                  <a:pt x="455930" y="881380"/>
                  <a:pt x="510540" y="891540"/>
                </a:cubicBezTo>
                <a:cubicBezTo>
                  <a:pt x="565150" y="901700"/>
                  <a:pt x="633730" y="915670"/>
                  <a:pt x="693420" y="975360"/>
                </a:cubicBezTo>
                <a:cubicBezTo>
                  <a:pt x="753110" y="1035050"/>
                  <a:pt x="817880" y="1197610"/>
                  <a:pt x="868680" y="1249680"/>
                </a:cubicBezTo>
                <a:cubicBezTo>
                  <a:pt x="919480" y="1301750"/>
                  <a:pt x="919480" y="1311910"/>
                  <a:pt x="998220" y="1287780"/>
                </a:cubicBezTo>
                <a:cubicBezTo>
                  <a:pt x="1076960" y="1263650"/>
                  <a:pt x="1243330" y="1130300"/>
                  <a:pt x="1341120" y="1104900"/>
                </a:cubicBezTo>
                <a:cubicBezTo>
                  <a:pt x="1438910" y="1079500"/>
                  <a:pt x="1537970" y="1168400"/>
                  <a:pt x="1584960" y="1135380"/>
                </a:cubicBezTo>
                <a:cubicBezTo>
                  <a:pt x="1631950" y="1102360"/>
                  <a:pt x="1629410" y="979170"/>
                  <a:pt x="1623060" y="906780"/>
                </a:cubicBezTo>
                <a:cubicBezTo>
                  <a:pt x="1616710" y="834390"/>
                  <a:pt x="1584960" y="739140"/>
                  <a:pt x="1546860" y="701040"/>
                </a:cubicBezTo>
                <a:cubicBezTo>
                  <a:pt x="1508760" y="662940"/>
                  <a:pt x="1442720" y="678180"/>
                  <a:pt x="1394460" y="678180"/>
                </a:cubicBezTo>
                <a:cubicBezTo>
                  <a:pt x="1346200" y="678180"/>
                  <a:pt x="1311910" y="708660"/>
                  <a:pt x="1257300" y="701040"/>
                </a:cubicBezTo>
                <a:cubicBezTo>
                  <a:pt x="1202690" y="693420"/>
                  <a:pt x="1122680" y="703580"/>
                  <a:pt x="1066800" y="632460"/>
                </a:cubicBezTo>
                <a:cubicBezTo>
                  <a:pt x="1010920" y="561340"/>
                  <a:pt x="972820" y="379730"/>
                  <a:pt x="922020" y="274320"/>
                </a:cubicBezTo>
                <a:cubicBezTo>
                  <a:pt x="871220" y="168910"/>
                  <a:pt x="787400" y="48260"/>
                  <a:pt x="762000" y="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5" name="任意多边形 14"/>
          <p:cNvSpPr/>
          <p:nvPr/>
        </p:nvSpPr>
        <p:spPr>
          <a:xfrm>
            <a:off x="3371851" y="3566162"/>
            <a:ext cx="457200" cy="342900"/>
          </a:xfrm>
          <a:custGeom>
            <a:avLst/>
            <a:gdLst>
              <a:gd name="connsiteX0" fmla="*/ 91440 w 457200"/>
              <a:gd name="connsiteY0" fmla="*/ 3810 h 342900"/>
              <a:gd name="connsiteX1" fmla="*/ 0 w 457200"/>
              <a:gd name="connsiteY1" fmla="*/ 140970 h 342900"/>
              <a:gd name="connsiteX2" fmla="*/ 41910 w 457200"/>
              <a:gd name="connsiteY2" fmla="*/ 262890 h 342900"/>
              <a:gd name="connsiteX3" fmla="*/ 80010 w 457200"/>
              <a:gd name="connsiteY3" fmla="*/ 342900 h 342900"/>
              <a:gd name="connsiteX4" fmla="*/ 224790 w 457200"/>
              <a:gd name="connsiteY4" fmla="*/ 297180 h 342900"/>
              <a:gd name="connsiteX5" fmla="*/ 403860 w 457200"/>
              <a:gd name="connsiteY5" fmla="*/ 281940 h 342900"/>
              <a:gd name="connsiteX6" fmla="*/ 457200 w 457200"/>
              <a:gd name="connsiteY6" fmla="*/ 240030 h 342900"/>
              <a:gd name="connsiteX7" fmla="*/ 392430 w 457200"/>
              <a:gd name="connsiteY7" fmla="*/ 34290 h 342900"/>
              <a:gd name="connsiteX8" fmla="*/ 270510 w 457200"/>
              <a:gd name="connsiteY8" fmla="*/ 26670 h 342900"/>
              <a:gd name="connsiteX9" fmla="*/ 160020 w 457200"/>
              <a:gd name="connsiteY9" fmla="*/ 0 h 342900"/>
              <a:gd name="connsiteX10" fmla="*/ 91440 w 457200"/>
              <a:gd name="connsiteY10" fmla="*/ 381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0" h="342900">
                <a:moveTo>
                  <a:pt x="91440" y="3810"/>
                </a:moveTo>
                <a:lnTo>
                  <a:pt x="0" y="140970"/>
                </a:lnTo>
                <a:lnTo>
                  <a:pt x="41910" y="262890"/>
                </a:lnTo>
                <a:lnTo>
                  <a:pt x="80010" y="342900"/>
                </a:lnTo>
                <a:lnTo>
                  <a:pt x="224790" y="297180"/>
                </a:lnTo>
                <a:lnTo>
                  <a:pt x="403860" y="281940"/>
                </a:lnTo>
                <a:lnTo>
                  <a:pt x="457200" y="240030"/>
                </a:lnTo>
                <a:lnTo>
                  <a:pt x="392430" y="34290"/>
                </a:lnTo>
                <a:lnTo>
                  <a:pt x="270510" y="26670"/>
                </a:lnTo>
                <a:lnTo>
                  <a:pt x="160020" y="0"/>
                </a:lnTo>
                <a:lnTo>
                  <a:pt x="91440" y="3810"/>
                </a:lnTo>
                <a:close/>
              </a:path>
            </a:pathLst>
          </a:cu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b="1">
              <a:solidFill>
                <a:srgbClr val="C00000"/>
              </a:solidFill>
            </a:endParaRPr>
          </a:p>
        </p:txBody>
      </p:sp>
      <p:sp>
        <p:nvSpPr>
          <p:cNvPr id="35" name="圆角矩形标注 34"/>
          <p:cNvSpPr/>
          <p:nvPr/>
        </p:nvSpPr>
        <p:spPr>
          <a:xfrm>
            <a:off x="1816100" y="2572295"/>
            <a:ext cx="985520" cy="473176"/>
          </a:xfrm>
          <a:prstGeom prst="wedgeRoundRectCallout">
            <a:avLst>
              <a:gd name="adj1" fmla="val 112157"/>
              <a:gd name="adj2" fmla="val 193479"/>
              <a:gd name="adj3" fmla="val 16667"/>
            </a:avLst>
          </a:pr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b="1">
              <a:solidFill>
                <a:srgbClr val="C00000"/>
              </a:solidFill>
            </a:endParaRPr>
          </a:p>
        </p:txBody>
      </p:sp>
      <p:sp>
        <p:nvSpPr>
          <p:cNvPr id="33" name="TextBox 32"/>
          <p:cNvSpPr txBox="1"/>
          <p:nvPr/>
        </p:nvSpPr>
        <p:spPr>
          <a:xfrm>
            <a:off x="1810864" y="2624218"/>
            <a:ext cx="1720445" cy="400111"/>
          </a:xfrm>
          <a:prstGeom prst="rect">
            <a:avLst/>
          </a:prstGeom>
          <a:noFill/>
        </p:spPr>
        <p:txBody>
          <a:bodyPr wrap="square" lIns="91436" tIns="45718" rIns="91436" bIns="45718" rtlCol="0">
            <a:spAutoFit/>
          </a:bodyPr>
          <a:lstStyle/>
          <a:p>
            <a:r>
              <a:rPr lang="en-US" altLang="zh-CN" sz="2000" b="1" dirty="0">
                <a:latin typeface="微软雅黑" panose="020B0503020204020204" pitchFamily="34" charset="-122"/>
                <a:ea typeface="微软雅黑" panose="020B0503020204020204" pitchFamily="34" charset="-122"/>
              </a:rPr>
              <a:t>F3</a:t>
            </a:r>
            <a:r>
              <a:rPr lang="zh-CN" altLang="en-US" sz="2000" b="1" dirty="0">
                <a:latin typeface="微软雅黑" panose="020B0503020204020204" pitchFamily="34" charset="-122"/>
                <a:ea typeface="微软雅黑" panose="020B0503020204020204" pitchFamily="34" charset="-122"/>
              </a:rPr>
              <a:t>组团</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3639" y="-4746"/>
            <a:ext cx="4026496"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组团产品基础信息</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5" name="矩形 5"/>
          <p:cNvSpPr>
            <a:spLocks noChangeArrowheads="1"/>
          </p:cNvSpPr>
          <p:nvPr/>
        </p:nvSpPr>
        <p:spPr bwMode="auto">
          <a:xfrm>
            <a:off x="179390" y="888330"/>
            <a:ext cx="11301412" cy="8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0" tIns="45694" rIns="91380" bIns="4569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buFont typeface="Arial" panose="020B0604020202020204" pitchFamily="34" charset="0"/>
              <a:buNone/>
            </a:pPr>
            <a:r>
              <a:rPr lang="en-US" altLang="zh-CN" sz="1800" b="1" dirty="0">
                <a:solidFill>
                  <a:srgbClr val="C00000"/>
                </a:solidFill>
                <a:latin typeface="微软雅黑" panose="020B0503020204020204" pitchFamily="34" charset="-122"/>
                <a:sym typeface="微软雅黑" panose="020B0503020204020204" pitchFamily="34" charset="-122"/>
              </a:rPr>
              <a:t>    F3</a:t>
            </a:r>
            <a:r>
              <a:rPr lang="zh-CN" altLang="en-US" sz="1800" b="1" dirty="0">
                <a:solidFill>
                  <a:srgbClr val="C00000"/>
                </a:solidFill>
                <a:latin typeface="微软雅黑" panose="020B0503020204020204" pitchFamily="34" charset="-122"/>
                <a:sym typeface="微软雅黑" panose="020B0503020204020204" pitchFamily="34" charset="-122"/>
              </a:rPr>
              <a:t>组团规划总用地面积约</a:t>
            </a:r>
            <a:r>
              <a:rPr lang="en-US" altLang="zh-CN" sz="1800" b="1" dirty="0">
                <a:solidFill>
                  <a:srgbClr val="C00000"/>
                </a:solidFill>
                <a:latin typeface="微软雅黑" panose="020B0503020204020204" pitchFamily="34" charset="-122"/>
                <a:sym typeface="微软雅黑" panose="020B0503020204020204" pitchFamily="34" charset="-122"/>
              </a:rPr>
              <a:t>3</a:t>
            </a:r>
            <a:r>
              <a:rPr lang="zh-CN" altLang="en-US" sz="1800" b="1" dirty="0">
                <a:solidFill>
                  <a:srgbClr val="C00000"/>
                </a:solidFill>
                <a:latin typeface="微软雅黑" panose="020B0503020204020204" pitchFamily="34" charset="-122"/>
                <a:sym typeface="微软雅黑" panose="020B0503020204020204" pitchFamily="34" charset="-122"/>
              </a:rPr>
              <a:t>万㎡，总建筑面积约</a:t>
            </a:r>
            <a:r>
              <a:rPr lang="en-US" altLang="zh-CN" sz="1800" b="1" dirty="0">
                <a:solidFill>
                  <a:srgbClr val="C00000"/>
                </a:solidFill>
                <a:latin typeface="微软雅黑" panose="020B0503020204020204" pitchFamily="34" charset="-122"/>
                <a:sym typeface="微软雅黑" panose="020B0503020204020204" pitchFamily="34" charset="-122"/>
              </a:rPr>
              <a:t>28</a:t>
            </a:r>
            <a:r>
              <a:rPr lang="zh-CN" altLang="en-US" sz="1800" b="1" dirty="0">
                <a:solidFill>
                  <a:srgbClr val="C00000"/>
                </a:solidFill>
                <a:latin typeface="微软雅黑" panose="020B0503020204020204" pitchFamily="34" charset="-122"/>
                <a:sym typeface="微软雅黑" panose="020B0503020204020204" pitchFamily="34" charset="-122"/>
              </a:rPr>
              <a:t>万</a:t>
            </a:r>
            <a:r>
              <a:rPr lang="en-US" altLang="zh-CN" sz="1800" b="1" dirty="0">
                <a:solidFill>
                  <a:srgbClr val="C00000"/>
                </a:solidFill>
                <a:latin typeface="微软雅黑" panose="020B0503020204020204" pitchFamily="34" charset="-122"/>
                <a:sym typeface="微软雅黑" panose="020B0503020204020204" pitchFamily="34" charset="-122"/>
              </a:rPr>
              <a:t>㎡</a:t>
            </a:r>
            <a:r>
              <a:rPr lang="zh-CN" altLang="en-US" sz="1800" b="1" dirty="0">
                <a:solidFill>
                  <a:srgbClr val="C00000"/>
                </a:solidFill>
                <a:latin typeface="微软雅黑" panose="020B0503020204020204" pitchFamily="34" charset="-122"/>
                <a:sym typeface="微软雅黑" panose="020B0503020204020204" pitchFamily="34" charset="-122"/>
              </a:rPr>
              <a:t>。其中公寓</a:t>
            </a:r>
            <a:r>
              <a:rPr lang="en-US" altLang="zh-CN" sz="1800" b="1" dirty="0">
                <a:solidFill>
                  <a:srgbClr val="C00000"/>
                </a:solidFill>
                <a:latin typeface="微软雅黑" panose="020B0503020204020204" pitchFamily="34" charset="-122"/>
                <a:sym typeface="微软雅黑" panose="020B0503020204020204" pitchFamily="34" charset="-122"/>
              </a:rPr>
              <a:t>1099</a:t>
            </a:r>
            <a:r>
              <a:rPr lang="zh-CN" altLang="en-US" sz="1800" b="1" dirty="0">
                <a:solidFill>
                  <a:srgbClr val="C00000"/>
                </a:solidFill>
                <a:latin typeface="微软雅黑" panose="020B0503020204020204" pitchFamily="34" charset="-122"/>
                <a:sym typeface="微软雅黑" panose="020B0503020204020204" pitchFamily="34" charset="-122"/>
              </a:rPr>
              <a:t>套，约</a:t>
            </a:r>
            <a:r>
              <a:rPr lang="en-US" altLang="zh-CN" sz="1800" b="1" dirty="0">
                <a:solidFill>
                  <a:srgbClr val="C00000"/>
                </a:solidFill>
                <a:latin typeface="微软雅黑" panose="020B0503020204020204" pitchFamily="34" charset="-122"/>
                <a:sym typeface="微软雅黑" panose="020B0503020204020204" pitchFamily="34" charset="-122"/>
              </a:rPr>
              <a:t>6.7</a:t>
            </a:r>
            <a:r>
              <a:rPr lang="zh-CN" altLang="en-US" sz="1800" b="1" dirty="0">
                <a:solidFill>
                  <a:srgbClr val="C00000"/>
                </a:solidFill>
                <a:latin typeface="微软雅黑" panose="020B0503020204020204" pitchFamily="34" charset="-122"/>
                <a:sym typeface="微软雅黑" panose="020B0503020204020204" pitchFamily="34" charset="-122"/>
              </a:rPr>
              <a:t>万㎡；办公楼</a:t>
            </a:r>
            <a:r>
              <a:rPr lang="en-US" altLang="zh-CN" sz="1800" b="1" dirty="0">
                <a:solidFill>
                  <a:srgbClr val="C00000"/>
                </a:solidFill>
                <a:latin typeface="微软雅黑" panose="020B0503020204020204" pitchFamily="34" charset="-122"/>
                <a:sym typeface="微软雅黑" panose="020B0503020204020204" pitchFamily="34" charset="-122"/>
              </a:rPr>
              <a:t>384</a:t>
            </a:r>
            <a:r>
              <a:rPr lang="zh-CN" altLang="en-US" sz="1800" b="1" dirty="0">
                <a:solidFill>
                  <a:srgbClr val="C00000"/>
                </a:solidFill>
                <a:latin typeface="微软雅黑" panose="020B0503020204020204" pitchFamily="34" charset="-122"/>
                <a:sym typeface="微软雅黑" panose="020B0503020204020204" pitchFamily="34" charset="-122"/>
              </a:rPr>
              <a:t>套，面积约</a:t>
            </a:r>
            <a:r>
              <a:rPr lang="en-US" altLang="zh-CN" sz="1800" b="1" dirty="0">
                <a:solidFill>
                  <a:srgbClr val="C00000"/>
                </a:solidFill>
                <a:latin typeface="微软雅黑" panose="020B0503020204020204" pitchFamily="34" charset="-122"/>
                <a:sym typeface="微软雅黑" panose="020B0503020204020204" pitchFamily="34" charset="-122"/>
              </a:rPr>
              <a:t>10.5</a:t>
            </a:r>
            <a:r>
              <a:rPr lang="zh-CN" altLang="en-US" sz="1800" b="1" dirty="0">
                <a:solidFill>
                  <a:srgbClr val="C00000"/>
                </a:solidFill>
                <a:latin typeface="微软雅黑" panose="020B0503020204020204" pitchFamily="34" charset="-122"/>
                <a:sym typeface="微软雅黑" panose="020B0503020204020204" pitchFamily="34" charset="-122"/>
              </a:rPr>
              <a:t>万㎡；底商</a:t>
            </a:r>
            <a:r>
              <a:rPr lang="en-US" altLang="zh-CN" sz="1800" b="1" dirty="0">
                <a:solidFill>
                  <a:srgbClr val="C00000"/>
                </a:solidFill>
                <a:latin typeface="微软雅黑" panose="020B0503020204020204" pitchFamily="34" charset="-122"/>
                <a:sym typeface="微软雅黑" panose="020B0503020204020204" pitchFamily="34" charset="-122"/>
              </a:rPr>
              <a:t>121</a:t>
            </a:r>
            <a:r>
              <a:rPr lang="zh-CN" altLang="en-US" sz="1800" b="1" dirty="0">
                <a:solidFill>
                  <a:srgbClr val="C00000"/>
                </a:solidFill>
                <a:latin typeface="微软雅黑" panose="020B0503020204020204" pitchFamily="34" charset="-122"/>
                <a:sym typeface="微软雅黑" panose="020B0503020204020204" pitchFamily="34" charset="-122"/>
              </a:rPr>
              <a:t>套，商铺面积为</a:t>
            </a:r>
            <a:r>
              <a:rPr lang="en-US" altLang="zh-CN" sz="1800" b="1" dirty="0">
                <a:solidFill>
                  <a:srgbClr val="C00000"/>
                </a:solidFill>
                <a:latin typeface="微软雅黑" panose="020B0503020204020204" pitchFamily="34" charset="-122"/>
                <a:sym typeface="微软雅黑" panose="020B0503020204020204" pitchFamily="34" charset="-122"/>
              </a:rPr>
              <a:t>11729.3</a:t>
            </a:r>
            <a:r>
              <a:rPr lang="zh-CN" altLang="en-US" sz="1800" b="1" dirty="0">
                <a:solidFill>
                  <a:srgbClr val="C00000"/>
                </a:solidFill>
                <a:latin typeface="微软雅黑" panose="020B0503020204020204" pitchFamily="34" charset="-122"/>
                <a:sym typeface="微软雅黑" panose="020B0503020204020204" pitchFamily="34" charset="-122"/>
              </a:rPr>
              <a:t>万</a:t>
            </a:r>
            <a:r>
              <a:rPr lang="en-US" altLang="zh-CN" sz="1800" b="1" dirty="0">
                <a:solidFill>
                  <a:srgbClr val="C00000"/>
                </a:solidFill>
                <a:latin typeface="微软雅黑" panose="020B0503020204020204" pitchFamily="34" charset="-122"/>
                <a:sym typeface="微软雅黑" panose="020B0503020204020204" pitchFamily="34" charset="-122"/>
              </a:rPr>
              <a:t>㎡</a:t>
            </a:r>
            <a:r>
              <a:rPr lang="zh-CN" altLang="en-US" sz="1800" b="1" dirty="0">
                <a:solidFill>
                  <a:srgbClr val="C00000"/>
                </a:solidFill>
                <a:latin typeface="微软雅黑" panose="020B0503020204020204" pitchFamily="34" charset="-122"/>
                <a:sym typeface="微软雅黑" panose="020B0503020204020204" pitchFamily="34" charset="-122"/>
              </a:rPr>
              <a:t>；停车位共计约</a:t>
            </a:r>
            <a:r>
              <a:rPr lang="en-US" altLang="zh-CN" sz="1800" b="1" dirty="0">
                <a:solidFill>
                  <a:srgbClr val="C00000"/>
                </a:solidFill>
                <a:latin typeface="微软雅黑" panose="020B0503020204020204" pitchFamily="34" charset="-122"/>
                <a:sym typeface="微软雅黑" panose="020B0503020204020204" pitchFamily="34" charset="-122"/>
              </a:rPr>
              <a:t>1497</a:t>
            </a:r>
            <a:r>
              <a:rPr lang="zh-CN" altLang="en-US" sz="1800" b="1" dirty="0">
                <a:solidFill>
                  <a:srgbClr val="C00000"/>
                </a:solidFill>
                <a:latin typeface="微软雅黑" panose="020B0503020204020204" pitchFamily="34" charset="-122"/>
                <a:sym typeface="微软雅黑" panose="020B0503020204020204" pitchFamily="34" charset="-122"/>
              </a:rPr>
              <a:t>个。</a:t>
            </a:r>
            <a:endParaRPr lang="zh-CN" altLang="en-US" sz="1800" b="1" dirty="0">
              <a:solidFill>
                <a:srgbClr val="C00000"/>
              </a:solidFill>
              <a:latin typeface="微软雅黑" panose="020B0503020204020204" pitchFamily="34" charset="-122"/>
              <a:sym typeface="微软雅黑" panose="020B0503020204020204" pitchFamily="34" charset="-122"/>
            </a:endParaRPr>
          </a:p>
        </p:txBody>
      </p:sp>
      <p:sp>
        <p:nvSpPr>
          <p:cNvPr id="6" name="圆角矩形标注 6"/>
          <p:cNvSpPr>
            <a:spLocks noChangeArrowheads="1"/>
          </p:cNvSpPr>
          <p:nvPr/>
        </p:nvSpPr>
        <p:spPr bwMode="auto">
          <a:xfrm>
            <a:off x="496888" y="2127047"/>
            <a:ext cx="4252912" cy="4430903"/>
          </a:xfrm>
          <a:prstGeom prst="wedgeRoundRectCallout">
            <a:avLst>
              <a:gd name="adj1" fmla="val 50677"/>
              <a:gd name="adj2" fmla="val 16453"/>
              <a:gd name="adj3" fmla="val 16667"/>
            </a:avLst>
          </a:prstGeom>
          <a:solidFill>
            <a:schemeClr val="accent2">
              <a:lumMod val="60000"/>
              <a:lumOff val="40000"/>
            </a:schemeClr>
          </a:solidFill>
          <a:ln w="25400">
            <a:solidFill>
              <a:srgbClr val="385D8A"/>
            </a:solidFill>
            <a:miter lim="800000"/>
          </a:ln>
        </p:spPr>
        <p:txBody>
          <a:bodyPr lIns="91380" tIns="45694" rIns="91380" bIns="45694" anchor="ctr"/>
          <a:lstStyle>
            <a:lvl1pPr marL="285750" indent="-28575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区位：位于未来方舟西北门户，中环路、北京东路、尚礼交汇的枢纽地块，交通极其便利；</a:t>
            </a:r>
            <a:r>
              <a:rPr lang="en-US" altLang="zh-CN" sz="1500" b="1" dirty="0">
                <a:latin typeface="微软雅黑" panose="020B0503020204020204" pitchFamily="34" charset="-122"/>
              </a:rPr>
              <a:t>10</a:t>
            </a:r>
            <a:r>
              <a:rPr lang="zh-CN" altLang="en-US" sz="1500" b="1" dirty="0">
                <a:latin typeface="微软雅黑" panose="020B0503020204020204" pitchFamily="34" charset="-122"/>
              </a:rPr>
              <a:t>分钟直达贵阳老城区</a:t>
            </a: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建筑地标：做为方舟四大门户之一，从各方向来车均可看到组团的建筑地标</a:t>
            </a: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配套丰富：组团为未来方舟最为成熟的</a:t>
            </a:r>
            <a:r>
              <a:rPr lang="en-US" altLang="zh-CN" sz="1500" b="1" dirty="0">
                <a:latin typeface="微软雅黑" panose="020B0503020204020204" pitchFamily="34" charset="-122"/>
              </a:rPr>
              <a:t>F\G\H</a:t>
            </a:r>
            <a:r>
              <a:rPr lang="zh-CN" altLang="en-US" sz="1500" b="1" dirty="0">
                <a:latin typeface="微软雅黑" panose="020B0503020204020204" pitchFamily="34" charset="-122"/>
              </a:rPr>
              <a:t>三大区域的交汇处，周边有社区底购物中心、影城、歌剧院、大量的社区底商等</a:t>
            </a:r>
            <a:endParaRPr lang="en-US" altLang="zh-CN" sz="1500" b="1" dirty="0">
              <a:latin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1469" y="2161272"/>
            <a:ext cx="6140083" cy="4282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任意多边形 9"/>
          <p:cNvSpPr>
            <a:spLocks noChangeAspect="1"/>
          </p:cNvSpPr>
          <p:nvPr/>
        </p:nvSpPr>
        <p:spPr>
          <a:xfrm>
            <a:off x="7403404" y="4437632"/>
            <a:ext cx="1736217" cy="1302165"/>
          </a:xfrm>
          <a:custGeom>
            <a:avLst/>
            <a:gdLst>
              <a:gd name="connsiteX0" fmla="*/ 91440 w 457200"/>
              <a:gd name="connsiteY0" fmla="*/ 3810 h 342900"/>
              <a:gd name="connsiteX1" fmla="*/ 0 w 457200"/>
              <a:gd name="connsiteY1" fmla="*/ 140970 h 342900"/>
              <a:gd name="connsiteX2" fmla="*/ 41910 w 457200"/>
              <a:gd name="connsiteY2" fmla="*/ 262890 h 342900"/>
              <a:gd name="connsiteX3" fmla="*/ 80010 w 457200"/>
              <a:gd name="connsiteY3" fmla="*/ 342900 h 342900"/>
              <a:gd name="connsiteX4" fmla="*/ 224790 w 457200"/>
              <a:gd name="connsiteY4" fmla="*/ 297180 h 342900"/>
              <a:gd name="connsiteX5" fmla="*/ 403860 w 457200"/>
              <a:gd name="connsiteY5" fmla="*/ 281940 h 342900"/>
              <a:gd name="connsiteX6" fmla="*/ 457200 w 457200"/>
              <a:gd name="connsiteY6" fmla="*/ 240030 h 342900"/>
              <a:gd name="connsiteX7" fmla="*/ 392430 w 457200"/>
              <a:gd name="connsiteY7" fmla="*/ 34290 h 342900"/>
              <a:gd name="connsiteX8" fmla="*/ 270510 w 457200"/>
              <a:gd name="connsiteY8" fmla="*/ 26670 h 342900"/>
              <a:gd name="connsiteX9" fmla="*/ 160020 w 457200"/>
              <a:gd name="connsiteY9" fmla="*/ 0 h 342900"/>
              <a:gd name="connsiteX10" fmla="*/ 91440 w 457200"/>
              <a:gd name="connsiteY10" fmla="*/ 381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0" h="342900">
                <a:moveTo>
                  <a:pt x="91440" y="3810"/>
                </a:moveTo>
                <a:lnTo>
                  <a:pt x="0" y="140970"/>
                </a:lnTo>
                <a:lnTo>
                  <a:pt x="41910" y="262890"/>
                </a:lnTo>
                <a:lnTo>
                  <a:pt x="80010" y="342900"/>
                </a:lnTo>
                <a:lnTo>
                  <a:pt x="224790" y="297180"/>
                </a:lnTo>
                <a:lnTo>
                  <a:pt x="403860" y="281940"/>
                </a:lnTo>
                <a:lnTo>
                  <a:pt x="457200" y="240030"/>
                </a:lnTo>
                <a:lnTo>
                  <a:pt x="392430" y="34290"/>
                </a:lnTo>
                <a:lnTo>
                  <a:pt x="270510" y="26670"/>
                </a:lnTo>
                <a:lnTo>
                  <a:pt x="160020" y="0"/>
                </a:lnTo>
                <a:lnTo>
                  <a:pt x="91440" y="3810"/>
                </a:lnTo>
                <a:close/>
              </a:path>
            </a:pathLst>
          </a:cu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tx1"/>
                </a:solidFill>
                <a:latin typeface="微软雅黑" panose="020B0503020204020204" pitchFamily="34" charset="-122"/>
                <a:ea typeface="微软雅黑" panose="020B0503020204020204" pitchFamily="34" charset="-122"/>
              </a:rPr>
              <a:t>F3</a:t>
            </a:r>
            <a:r>
              <a:rPr lang="zh-CN" altLang="en-US" sz="2400" b="1" dirty="0">
                <a:solidFill>
                  <a:schemeClr val="tx1"/>
                </a:solidFill>
                <a:latin typeface="微软雅黑" panose="020B0503020204020204" pitchFamily="34" charset="-122"/>
                <a:ea typeface="微软雅黑" panose="020B0503020204020204" pitchFamily="34" charset="-122"/>
              </a:rPr>
              <a:t>组团</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0" y="2738452"/>
            <a:ext cx="12192000" cy="4090416"/>
          </a:xfrm>
          <a:prstGeom prst="rect">
            <a:avLst/>
          </a:prstGeom>
        </p:spPr>
      </p:pic>
      <p:sp>
        <p:nvSpPr>
          <p:cNvPr id="10" name="矩形 9"/>
          <p:cNvSpPr/>
          <p:nvPr/>
        </p:nvSpPr>
        <p:spPr>
          <a:xfrm>
            <a:off x="5915828" y="1202332"/>
            <a:ext cx="5472608" cy="2471443"/>
          </a:xfrm>
          <a:prstGeom prst="rect">
            <a:avLst/>
          </a:prstGeom>
          <a:solidFill>
            <a:schemeClr val="bg1"/>
          </a:solidFill>
        </p:spPr>
        <p:txBody>
          <a:bodyPr wrap="square" lIns="121912" tIns="60956" rIns="121912" bIns="60956">
            <a:spAutoFit/>
          </a:bodyPr>
          <a:lstStyle/>
          <a:p>
            <a:pPr defTabSz="1216660">
              <a:lnSpc>
                <a:spcPct val="140000"/>
              </a:lnSpc>
            </a:pPr>
            <a:r>
              <a:rPr lang="zh-CN" altLang="en-US" b="1" dirty="0">
                <a:solidFill>
                  <a:prstClr val="black"/>
                </a:solidFill>
                <a:latin typeface="微软雅黑" panose="020B0503020204020204" pitchFamily="34" charset="-122"/>
                <a:ea typeface="微软雅黑" panose="020B0503020204020204" pitchFamily="34" charset="-122"/>
              </a:rPr>
              <a:t>商务门户价值</a:t>
            </a:r>
            <a:endParaRPr lang="en-US" altLang="zh-CN" b="1" dirty="0">
              <a:solidFill>
                <a:prstClr val="black"/>
              </a:solidFill>
              <a:latin typeface="微软雅黑" panose="020B0503020204020204" pitchFamily="34" charset="-122"/>
              <a:ea typeface="微软雅黑" panose="020B0503020204020204" pitchFamily="34" charset="-122"/>
            </a:endParaRPr>
          </a:p>
          <a:p>
            <a:pPr defTabSz="1216660">
              <a:lnSpc>
                <a:spcPct val="140000"/>
              </a:lnSpc>
            </a:pPr>
            <a:r>
              <a:rPr lang="zh-CN" altLang="en-US" sz="1500" dirty="0">
                <a:solidFill>
                  <a:prstClr val="black"/>
                </a:solidFill>
                <a:latin typeface="微软雅黑" panose="020B0503020204020204" pitchFamily="34" charset="-122"/>
                <a:ea typeface="微软雅黑" panose="020B0503020204020204" pitchFamily="34" charset="-122"/>
              </a:rPr>
              <a:t>贵阳世界贸易中心、东懋中心、城市之窗、环球谷商业领衔未来方舟商务、商业，聚集多元业态，链接世界资源，从多维角度丰富城市商业体系，助推城市发展。</a:t>
            </a:r>
            <a:endParaRPr lang="en-US" altLang="zh-CN" sz="1500" dirty="0">
              <a:solidFill>
                <a:prstClr val="black"/>
              </a:solidFill>
              <a:latin typeface="微软雅黑" panose="020B0503020204020204" pitchFamily="34" charset="-122"/>
              <a:ea typeface="微软雅黑" panose="020B0503020204020204" pitchFamily="34" charset="-122"/>
            </a:endParaRPr>
          </a:p>
          <a:p>
            <a:pPr defTabSz="1216660">
              <a:lnSpc>
                <a:spcPct val="140000"/>
              </a:lnSpc>
            </a:pPr>
            <a:r>
              <a:rPr lang="en-US" altLang="zh-CN" sz="1500" dirty="0">
                <a:solidFill>
                  <a:prstClr val="black"/>
                </a:solidFill>
                <a:latin typeface="微软雅黑" panose="020B0503020204020204" pitchFamily="34" charset="-122"/>
                <a:ea typeface="微软雅黑" panose="020B0503020204020204" pitchFamily="34" charset="-122"/>
              </a:rPr>
              <a:t>F3</a:t>
            </a:r>
            <a:r>
              <a:rPr lang="zh-CN" altLang="en-US" sz="1500" dirty="0">
                <a:solidFill>
                  <a:prstClr val="black"/>
                </a:solidFill>
                <a:latin typeface="微软雅黑" panose="020B0503020204020204" pitchFamily="34" charset="-122"/>
                <a:ea typeface="微软雅黑" panose="020B0503020204020204" pitchFamily="34" charset="-122"/>
              </a:rPr>
              <a:t>组团占据先天门户优势：文化、旅游、餐饮、购物、休闲娱乐、商业办公等功能为一体的综合性门户商务区所带来的商务价值不可估量。</a:t>
            </a:r>
            <a:endParaRPr lang="en-US" altLang="zh-CN" sz="1500" dirty="0">
              <a:solidFill>
                <a:prstClr val="black"/>
              </a:solidFill>
              <a:latin typeface="微软雅黑" panose="020B0503020204020204" pitchFamily="34" charset="-122"/>
              <a:ea typeface="微软雅黑" panose="020B0503020204020204" pitchFamily="34" charset="-122"/>
            </a:endParaRPr>
          </a:p>
        </p:txBody>
      </p:sp>
      <p:pic>
        <p:nvPicPr>
          <p:cNvPr id="6" name="图片 8" descr="1459_Zhongtian Future Ark_CONCEPT DESIGN 100%.pdf - Adobe Acrobat Pro DC"/>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541758" y="1502375"/>
            <a:ext cx="4978847" cy="2886735"/>
          </a:xfrm>
          <a:prstGeom prst="rect">
            <a:avLst/>
          </a:prstGeom>
          <a:ln w="28575">
            <a:noFill/>
          </a:ln>
        </p:spPr>
      </p:pic>
      <p:sp>
        <p:nvSpPr>
          <p:cNvPr id="2" name="文本框 1"/>
          <p:cNvSpPr txBox="1"/>
          <p:nvPr/>
        </p:nvSpPr>
        <p:spPr>
          <a:xfrm>
            <a:off x="1975063" y="1351210"/>
            <a:ext cx="2112235" cy="369332"/>
          </a:xfrm>
          <a:prstGeom prst="rect">
            <a:avLst/>
          </a:prstGeom>
          <a:solidFill>
            <a:srgbClr val="FF0000"/>
          </a:solidFill>
        </p:spPr>
        <p:txBody>
          <a:bodyPr wrap="square" lIns="121912" tIns="60956" rIns="121912" bIns="60956" rtlCol="0">
            <a:spAutoFit/>
          </a:bodyPr>
          <a:lstStyle/>
          <a:p>
            <a:r>
              <a:rPr lang="zh-CN" altLang="en-US" sz="1600" b="1" dirty="0">
                <a:latin typeface="微软雅黑" panose="020B0503020204020204" pitchFamily="34" charset="-122"/>
                <a:ea typeface="微软雅黑" panose="020B0503020204020204" pitchFamily="34" charset="-122"/>
              </a:rPr>
              <a:t>西北门户</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城市之窗</a:t>
            </a:r>
            <a:endParaRPr lang="zh-CN" altLang="en-US" sz="1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826834" y="1586901"/>
            <a:ext cx="1458348" cy="284685"/>
          </a:xfrm>
          <a:prstGeom prst="rect">
            <a:avLst/>
          </a:prstGeom>
          <a:solidFill>
            <a:schemeClr val="bg2">
              <a:lumMod val="90000"/>
            </a:schemeClr>
          </a:solidFill>
        </p:spPr>
        <p:txBody>
          <a:bodyPr wrap="square" lIns="121912" tIns="60956" rIns="121912" bIns="60956" rtlCol="0">
            <a:spAutoFit/>
          </a:bodyPr>
          <a:lstStyle>
            <a:defPPr>
              <a:defRPr lang="zh-CN"/>
            </a:defPPr>
            <a:lvl1pPr algn="ctr">
              <a:defRPr sz="1050" b="1">
                <a:latin typeface="微软雅黑" panose="020B0503020204020204" pitchFamily="34" charset="-122"/>
                <a:ea typeface="微软雅黑" panose="020B0503020204020204" pitchFamily="34" charset="-122"/>
              </a:defRPr>
            </a:lvl1pPr>
          </a:lstStyle>
          <a:p>
            <a:r>
              <a:rPr lang="zh-CN" altLang="en-US" dirty="0"/>
              <a:t>东北门户</a:t>
            </a:r>
            <a:r>
              <a:rPr lang="en-US" altLang="zh-CN" dirty="0"/>
              <a:t>-</a:t>
            </a:r>
            <a:r>
              <a:rPr lang="zh-CN" altLang="en-US" dirty="0"/>
              <a:t>世贸中心</a:t>
            </a:r>
            <a:endParaRPr lang="zh-CN" altLang="en-US" dirty="0"/>
          </a:p>
        </p:txBody>
      </p:sp>
      <p:sp>
        <p:nvSpPr>
          <p:cNvPr id="12" name="文本框 11"/>
          <p:cNvSpPr txBox="1"/>
          <p:nvPr/>
        </p:nvSpPr>
        <p:spPr>
          <a:xfrm>
            <a:off x="2917772" y="3117460"/>
            <a:ext cx="1376889" cy="241636"/>
          </a:xfrm>
          <a:prstGeom prst="rect">
            <a:avLst/>
          </a:prstGeom>
          <a:solidFill>
            <a:schemeClr val="bg2">
              <a:lumMod val="90000"/>
            </a:schemeClr>
          </a:solidFill>
        </p:spPr>
        <p:txBody>
          <a:bodyPr wrap="square" lIns="121912" tIns="60956" rIns="121912" bIns="60956" rtlCol="0">
            <a:spAutoFit/>
          </a:bodyPr>
          <a:lstStyle/>
          <a:p>
            <a:pPr algn="ctr"/>
            <a:r>
              <a:rPr lang="zh-CN" altLang="en-US" sz="1050" b="1" dirty="0">
                <a:latin typeface="微软雅黑" panose="020B0503020204020204" pitchFamily="34" charset="-122"/>
                <a:ea typeface="微软雅黑" panose="020B0503020204020204" pitchFamily="34" charset="-122"/>
              </a:rPr>
              <a:t>东南门户</a:t>
            </a:r>
            <a:r>
              <a:rPr lang="en-US" altLang="zh-CN" sz="1050" b="1" dirty="0">
                <a:latin typeface="微软雅黑" panose="020B0503020204020204" pitchFamily="34" charset="-122"/>
                <a:ea typeface="微软雅黑" panose="020B0503020204020204" pitchFamily="34" charset="-122"/>
              </a:rPr>
              <a:t>-</a:t>
            </a:r>
            <a:r>
              <a:rPr lang="zh-CN" altLang="en-US" sz="1050" b="1" dirty="0">
                <a:latin typeface="微软雅黑" panose="020B0503020204020204" pitchFamily="34" charset="-122"/>
                <a:ea typeface="微软雅黑" panose="020B0503020204020204" pitchFamily="34" charset="-122"/>
              </a:rPr>
              <a:t>东懋中心</a:t>
            </a:r>
            <a:endParaRPr lang="zh-CN" altLang="en-US" sz="1050"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604926" y="1998376"/>
            <a:ext cx="1263372" cy="284685"/>
          </a:xfrm>
          <a:prstGeom prst="rect">
            <a:avLst/>
          </a:prstGeom>
          <a:solidFill>
            <a:schemeClr val="bg2">
              <a:lumMod val="90000"/>
            </a:schemeClr>
          </a:solidFill>
        </p:spPr>
        <p:txBody>
          <a:bodyPr wrap="square" lIns="121912" tIns="60956" rIns="121912" bIns="60956" rtlCol="0">
            <a:spAutoFit/>
          </a:bodyPr>
          <a:lstStyle>
            <a:defPPr>
              <a:defRPr lang="zh-CN"/>
            </a:defPPr>
            <a:lvl1pPr algn="ctr">
              <a:defRPr sz="1050" b="1">
                <a:latin typeface="微软雅黑" panose="020B0503020204020204" pitchFamily="34" charset="-122"/>
                <a:ea typeface="微软雅黑" panose="020B0503020204020204" pitchFamily="34" charset="-122"/>
              </a:defRPr>
            </a:lvl1pPr>
          </a:lstStyle>
          <a:p>
            <a:r>
              <a:rPr lang="zh-CN" altLang="en-US" dirty="0"/>
              <a:t>西南门户</a:t>
            </a:r>
            <a:r>
              <a:rPr lang="en-US" altLang="zh-CN" dirty="0"/>
              <a:t>-</a:t>
            </a:r>
            <a:r>
              <a:rPr lang="zh-CN" altLang="en-US" dirty="0"/>
              <a:t>环球谷</a:t>
            </a:r>
            <a:endParaRPr lang="zh-CN" altLang="en-US" dirty="0"/>
          </a:p>
        </p:txBody>
      </p:sp>
      <p:sp>
        <p:nvSpPr>
          <p:cNvPr id="14" name="矩形 13"/>
          <p:cNvSpPr>
            <a:spLocks noChangeArrowheads="1"/>
          </p:cNvSpPr>
          <p:nvPr/>
        </p:nvSpPr>
        <p:spPr bwMode="auto">
          <a:xfrm>
            <a:off x="3637" y="17827"/>
            <a:ext cx="318660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组团区位配套优势</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3" name="任意多边形 2"/>
          <p:cNvSpPr/>
          <p:nvPr/>
        </p:nvSpPr>
        <p:spPr>
          <a:xfrm>
            <a:off x="1002030" y="2247900"/>
            <a:ext cx="640080" cy="781050"/>
          </a:xfrm>
          <a:custGeom>
            <a:avLst/>
            <a:gdLst>
              <a:gd name="connsiteX0" fmla="*/ 99060 w 640080"/>
              <a:gd name="connsiteY0" fmla="*/ 464820 h 781050"/>
              <a:gd name="connsiteX1" fmla="*/ 30480 w 640080"/>
              <a:gd name="connsiteY1" fmla="*/ 514350 h 781050"/>
              <a:gd name="connsiteX2" fmla="*/ 0 w 640080"/>
              <a:gd name="connsiteY2" fmla="*/ 537210 h 781050"/>
              <a:gd name="connsiteX3" fmla="*/ 22860 w 640080"/>
              <a:gd name="connsiteY3" fmla="*/ 617220 h 781050"/>
              <a:gd name="connsiteX4" fmla="*/ 83820 w 640080"/>
              <a:gd name="connsiteY4" fmla="*/ 624840 h 781050"/>
              <a:gd name="connsiteX5" fmla="*/ 152400 w 640080"/>
              <a:gd name="connsiteY5" fmla="*/ 727710 h 781050"/>
              <a:gd name="connsiteX6" fmla="*/ 201930 w 640080"/>
              <a:gd name="connsiteY6" fmla="*/ 781050 h 781050"/>
              <a:gd name="connsiteX7" fmla="*/ 289560 w 640080"/>
              <a:gd name="connsiteY7" fmla="*/ 758190 h 781050"/>
              <a:gd name="connsiteX8" fmla="*/ 449580 w 640080"/>
              <a:gd name="connsiteY8" fmla="*/ 674370 h 781050"/>
              <a:gd name="connsiteX9" fmla="*/ 560070 w 640080"/>
              <a:gd name="connsiteY9" fmla="*/ 617220 h 781050"/>
              <a:gd name="connsiteX10" fmla="*/ 640080 w 640080"/>
              <a:gd name="connsiteY10" fmla="*/ 571500 h 781050"/>
              <a:gd name="connsiteX11" fmla="*/ 636270 w 640080"/>
              <a:gd name="connsiteY11" fmla="*/ 533400 h 781050"/>
              <a:gd name="connsiteX12" fmla="*/ 575310 w 640080"/>
              <a:gd name="connsiteY12" fmla="*/ 506730 h 781050"/>
              <a:gd name="connsiteX13" fmla="*/ 480060 w 640080"/>
              <a:gd name="connsiteY13" fmla="*/ 502920 h 781050"/>
              <a:gd name="connsiteX14" fmla="*/ 384810 w 640080"/>
              <a:gd name="connsiteY14" fmla="*/ 502920 h 781050"/>
              <a:gd name="connsiteX15" fmla="*/ 323850 w 640080"/>
              <a:gd name="connsiteY15" fmla="*/ 461010 h 781050"/>
              <a:gd name="connsiteX16" fmla="*/ 285750 w 640080"/>
              <a:gd name="connsiteY16" fmla="*/ 438150 h 781050"/>
              <a:gd name="connsiteX17" fmla="*/ 262890 w 640080"/>
              <a:gd name="connsiteY17" fmla="*/ 396240 h 781050"/>
              <a:gd name="connsiteX18" fmla="*/ 270510 w 640080"/>
              <a:gd name="connsiteY18" fmla="*/ 369570 h 781050"/>
              <a:gd name="connsiteX19" fmla="*/ 232410 w 640080"/>
              <a:gd name="connsiteY19" fmla="*/ 354330 h 781050"/>
              <a:gd name="connsiteX20" fmla="*/ 228600 w 640080"/>
              <a:gd name="connsiteY20" fmla="*/ 26670 h 781050"/>
              <a:gd name="connsiteX21" fmla="*/ 175260 w 640080"/>
              <a:gd name="connsiteY21" fmla="*/ 0 h 781050"/>
              <a:gd name="connsiteX22" fmla="*/ 95250 w 640080"/>
              <a:gd name="connsiteY22" fmla="*/ 45720 h 781050"/>
              <a:gd name="connsiteX23" fmla="*/ 99060 w 640080"/>
              <a:gd name="connsiteY23" fmla="*/ 46482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0080" h="781050">
                <a:moveTo>
                  <a:pt x="99060" y="464820"/>
                </a:moveTo>
                <a:lnTo>
                  <a:pt x="30480" y="514350"/>
                </a:lnTo>
                <a:lnTo>
                  <a:pt x="0" y="537210"/>
                </a:lnTo>
                <a:lnTo>
                  <a:pt x="22860" y="617220"/>
                </a:lnTo>
                <a:lnTo>
                  <a:pt x="83820" y="624840"/>
                </a:lnTo>
                <a:lnTo>
                  <a:pt x="152400" y="727710"/>
                </a:lnTo>
                <a:lnTo>
                  <a:pt x="201930" y="781050"/>
                </a:lnTo>
                <a:lnTo>
                  <a:pt x="289560" y="758190"/>
                </a:lnTo>
                <a:lnTo>
                  <a:pt x="449580" y="674370"/>
                </a:lnTo>
                <a:lnTo>
                  <a:pt x="560070" y="617220"/>
                </a:lnTo>
                <a:lnTo>
                  <a:pt x="640080" y="571500"/>
                </a:lnTo>
                <a:lnTo>
                  <a:pt x="636270" y="533400"/>
                </a:lnTo>
                <a:lnTo>
                  <a:pt x="575310" y="506730"/>
                </a:lnTo>
                <a:lnTo>
                  <a:pt x="480060" y="502920"/>
                </a:lnTo>
                <a:lnTo>
                  <a:pt x="384810" y="502920"/>
                </a:lnTo>
                <a:lnTo>
                  <a:pt x="323850" y="461010"/>
                </a:lnTo>
                <a:lnTo>
                  <a:pt x="285750" y="438150"/>
                </a:lnTo>
                <a:lnTo>
                  <a:pt x="262890" y="396240"/>
                </a:lnTo>
                <a:lnTo>
                  <a:pt x="270510" y="369570"/>
                </a:lnTo>
                <a:lnTo>
                  <a:pt x="232410" y="354330"/>
                </a:lnTo>
                <a:lnTo>
                  <a:pt x="228600" y="26670"/>
                </a:lnTo>
                <a:lnTo>
                  <a:pt x="175260" y="0"/>
                </a:lnTo>
                <a:lnTo>
                  <a:pt x="95250" y="45720"/>
                </a:lnTo>
                <a:lnTo>
                  <a:pt x="99060" y="464820"/>
                </a:lnTo>
                <a:close/>
              </a:path>
            </a:pathLst>
          </a:custGeom>
          <a:solidFill>
            <a:schemeClr val="bg2">
              <a:lumMod val="9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3470910" y="3356610"/>
            <a:ext cx="110490" cy="575310"/>
          </a:xfrm>
          <a:custGeom>
            <a:avLst/>
            <a:gdLst>
              <a:gd name="connsiteX0" fmla="*/ 3810 w 110490"/>
              <a:gd name="connsiteY0" fmla="*/ 575310 h 575310"/>
              <a:gd name="connsiteX1" fmla="*/ 0 w 110490"/>
              <a:gd name="connsiteY1" fmla="*/ 0 h 575310"/>
              <a:gd name="connsiteX2" fmla="*/ 110490 w 110490"/>
              <a:gd name="connsiteY2" fmla="*/ 0 h 575310"/>
              <a:gd name="connsiteX3" fmla="*/ 110490 w 110490"/>
              <a:gd name="connsiteY3" fmla="*/ 571500 h 575310"/>
              <a:gd name="connsiteX4" fmla="*/ 3810 w 110490"/>
              <a:gd name="connsiteY4" fmla="*/ 575310 h 57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0" h="575310">
                <a:moveTo>
                  <a:pt x="3810" y="575310"/>
                </a:moveTo>
                <a:lnTo>
                  <a:pt x="0" y="0"/>
                </a:lnTo>
                <a:lnTo>
                  <a:pt x="110490" y="0"/>
                </a:lnTo>
                <a:lnTo>
                  <a:pt x="110490" y="571500"/>
                </a:lnTo>
                <a:lnTo>
                  <a:pt x="3810" y="575310"/>
                </a:lnTo>
                <a:close/>
              </a:path>
            </a:pathLst>
          </a:custGeom>
          <a:solidFill>
            <a:schemeClr val="bg2">
              <a:lumMod val="9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4292600" y="1854200"/>
            <a:ext cx="177800" cy="772160"/>
          </a:xfrm>
          <a:custGeom>
            <a:avLst/>
            <a:gdLst>
              <a:gd name="connsiteX0" fmla="*/ 0 w 177800"/>
              <a:gd name="connsiteY0" fmla="*/ 731520 h 772160"/>
              <a:gd name="connsiteX1" fmla="*/ 50800 w 177800"/>
              <a:gd name="connsiteY1" fmla="*/ 15240 h 772160"/>
              <a:gd name="connsiteX2" fmla="*/ 177800 w 177800"/>
              <a:gd name="connsiteY2" fmla="*/ 0 h 772160"/>
              <a:gd name="connsiteX3" fmla="*/ 116840 w 177800"/>
              <a:gd name="connsiteY3" fmla="*/ 772160 h 772160"/>
              <a:gd name="connsiteX4" fmla="*/ 0 w 177800"/>
              <a:gd name="connsiteY4" fmla="*/ 73152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 h="772160">
                <a:moveTo>
                  <a:pt x="0" y="731520"/>
                </a:moveTo>
                <a:lnTo>
                  <a:pt x="50800" y="15240"/>
                </a:lnTo>
                <a:lnTo>
                  <a:pt x="177800" y="0"/>
                </a:lnTo>
                <a:lnTo>
                  <a:pt x="116840" y="772160"/>
                </a:lnTo>
                <a:lnTo>
                  <a:pt x="0" y="731520"/>
                </a:lnTo>
                <a:close/>
              </a:path>
            </a:pathLst>
          </a:custGeom>
          <a:solidFill>
            <a:schemeClr val="bg2">
              <a:lumMod val="9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a:off x="2926080" y="1778000"/>
            <a:ext cx="91440" cy="360680"/>
          </a:xfrm>
          <a:custGeom>
            <a:avLst/>
            <a:gdLst>
              <a:gd name="connsiteX0" fmla="*/ 0 w 91440"/>
              <a:gd name="connsiteY0" fmla="*/ 360680 h 360680"/>
              <a:gd name="connsiteX1" fmla="*/ 0 w 91440"/>
              <a:gd name="connsiteY1" fmla="*/ 0 h 360680"/>
              <a:gd name="connsiteX2" fmla="*/ 91440 w 91440"/>
              <a:gd name="connsiteY2" fmla="*/ 0 h 360680"/>
              <a:gd name="connsiteX3" fmla="*/ 91440 w 91440"/>
              <a:gd name="connsiteY3" fmla="*/ 360680 h 360680"/>
              <a:gd name="connsiteX4" fmla="*/ 0 w 91440"/>
              <a:gd name="connsiteY4" fmla="*/ 360680 h 360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 h="360680">
                <a:moveTo>
                  <a:pt x="0" y="360680"/>
                </a:moveTo>
                <a:lnTo>
                  <a:pt x="0" y="0"/>
                </a:lnTo>
                <a:lnTo>
                  <a:pt x="91440" y="0"/>
                </a:lnTo>
                <a:lnTo>
                  <a:pt x="91440" y="360680"/>
                </a:lnTo>
                <a:lnTo>
                  <a:pt x="0" y="360680"/>
                </a:lnTo>
                <a:close/>
              </a:path>
            </a:pathLst>
          </a:custGeom>
          <a:solidFill>
            <a:srgbClr val="FF000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54671" y="1509026"/>
            <a:ext cx="3031315" cy="2080201"/>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361" y="3559564"/>
            <a:ext cx="3048387" cy="2091917"/>
          </a:xfrm>
          <a:prstGeom prst="rect">
            <a:avLst/>
          </a:prstGeom>
        </p:spPr>
      </p:pic>
      <p:sp>
        <p:nvSpPr>
          <p:cNvPr id="92" name="矩形 91"/>
          <p:cNvSpPr/>
          <p:nvPr/>
        </p:nvSpPr>
        <p:spPr>
          <a:xfrm>
            <a:off x="9385121" y="1435659"/>
            <a:ext cx="2471523" cy="4104192"/>
          </a:xfrm>
          <a:prstGeom prst="rect">
            <a:avLst/>
          </a:prstGeom>
          <a:noFill/>
        </p:spPr>
        <p:txBody>
          <a:bodyPr wrap="square" lIns="121912" tIns="60956" rIns="121912" bIns="60956">
            <a:spAutoFit/>
          </a:bodyPr>
          <a:lstStyle/>
          <a:p>
            <a:pPr defTabSz="1216660">
              <a:lnSpc>
                <a:spcPct val="130000"/>
              </a:lnSpc>
            </a:pPr>
            <a:r>
              <a:rPr lang="zh-CN" altLang="en-US" b="1" dirty="0">
                <a:solidFill>
                  <a:prstClr val="black"/>
                </a:solidFill>
                <a:latin typeface="微软雅黑" panose="020B0503020204020204" pitchFamily="34" charset="-122"/>
                <a:ea typeface="微软雅黑" panose="020B0503020204020204" pitchFamily="34" charset="-122"/>
              </a:rPr>
              <a:t>城市配套</a:t>
            </a:r>
            <a:endParaRPr lang="en-US" altLang="zh-CN" b="1" dirty="0">
              <a:solidFill>
                <a:prstClr val="black"/>
              </a:solidFill>
              <a:latin typeface="微软雅黑" panose="020B0503020204020204" pitchFamily="34" charset="-122"/>
              <a:ea typeface="微软雅黑" panose="020B0503020204020204" pitchFamily="34" charset="-122"/>
            </a:endParaRPr>
          </a:p>
          <a:p>
            <a:pPr defTabSz="1216660">
              <a:lnSpc>
                <a:spcPct val="130000"/>
              </a:lnSpc>
            </a:pPr>
            <a:r>
              <a:rPr lang="zh-CN" altLang="en-US" sz="1500" dirty="0">
                <a:solidFill>
                  <a:prstClr val="black"/>
                </a:solidFill>
                <a:latin typeface="微软雅黑" panose="020B0503020204020204" pitchFamily="34" charset="-122"/>
                <a:ea typeface="微软雅黑" panose="020B0503020204020204" pitchFamily="34" charset="-122"/>
              </a:rPr>
              <a:t>地处未来方舟梦想银河中轴线起始端</a:t>
            </a:r>
            <a:endParaRPr lang="en-US" altLang="zh-CN" sz="1500" dirty="0">
              <a:solidFill>
                <a:prstClr val="black"/>
              </a:solidFill>
              <a:latin typeface="微软雅黑" panose="020B0503020204020204" pitchFamily="34" charset="-122"/>
              <a:ea typeface="微软雅黑" panose="020B0503020204020204" pitchFamily="34" charset="-122"/>
            </a:endParaRPr>
          </a:p>
          <a:p>
            <a:pPr defTabSz="1216660">
              <a:lnSpc>
                <a:spcPct val="130000"/>
              </a:lnSpc>
            </a:pPr>
            <a:r>
              <a:rPr lang="zh-CN" altLang="en-US" sz="1500" dirty="0">
                <a:solidFill>
                  <a:prstClr val="black"/>
                </a:solidFill>
                <a:latin typeface="微软雅黑" panose="020B0503020204020204" pitchFamily="34" charset="-122"/>
                <a:ea typeface="微软雅黑" panose="020B0503020204020204" pitchFamily="34" charset="-122"/>
              </a:rPr>
              <a:t>紧邻</a:t>
            </a:r>
            <a:r>
              <a:rPr lang="en-US" altLang="zh-CN" sz="1500" dirty="0">
                <a:solidFill>
                  <a:prstClr val="black"/>
                </a:solidFill>
                <a:latin typeface="微软雅黑" panose="020B0503020204020204" pitchFamily="34" charset="-122"/>
                <a:ea typeface="微软雅黑" panose="020B0503020204020204" pitchFamily="34" charset="-122"/>
              </a:rPr>
              <a:t>F1</a:t>
            </a:r>
            <a:r>
              <a:rPr lang="zh-CN" altLang="en-US" sz="1500" dirty="0">
                <a:solidFill>
                  <a:prstClr val="black"/>
                </a:solidFill>
                <a:latin typeface="微软雅黑" panose="020B0503020204020204" pitchFamily="34" charset="-122"/>
                <a:ea typeface="微软雅黑" panose="020B0503020204020204" pitchFamily="34" charset="-122"/>
              </a:rPr>
              <a:t>、</a:t>
            </a:r>
            <a:r>
              <a:rPr lang="en-US" altLang="zh-CN" sz="1500" dirty="0">
                <a:solidFill>
                  <a:prstClr val="black"/>
                </a:solidFill>
                <a:latin typeface="微软雅黑" panose="020B0503020204020204" pitchFamily="34" charset="-122"/>
                <a:ea typeface="微软雅黑" panose="020B0503020204020204" pitchFamily="34" charset="-122"/>
              </a:rPr>
              <a:t>F2</a:t>
            </a:r>
            <a:r>
              <a:rPr lang="zh-CN" altLang="en-US" sz="1500" dirty="0">
                <a:solidFill>
                  <a:prstClr val="black"/>
                </a:solidFill>
                <a:latin typeface="微软雅黑" panose="020B0503020204020204" pitchFamily="34" charset="-122"/>
                <a:ea typeface="微软雅黑" panose="020B0503020204020204" pitchFamily="34" charset="-122"/>
              </a:rPr>
              <a:t>商业公寓区、越界影城、贵州歌剧院，方舟之心</a:t>
            </a:r>
            <a:r>
              <a:rPr lang="en-US" altLang="zh-CN" sz="1500" dirty="0">
                <a:solidFill>
                  <a:prstClr val="black"/>
                </a:solidFill>
                <a:latin typeface="微软雅黑" panose="020B0503020204020204" pitchFamily="34" charset="-122"/>
                <a:ea typeface="微软雅黑" panose="020B0503020204020204" pitchFamily="34" charset="-122"/>
              </a:rPr>
              <a:t>10</a:t>
            </a:r>
            <a:r>
              <a:rPr lang="zh-CN" altLang="en-US" sz="1500" dirty="0">
                <a:solidFill>
                  <a:prstClr val="black"/>
                </a:solidFill>
                <a:latin typeface="微软雅黑" panose="020B0503020204020204" pitchFamily="34" charset="-122"/>
                <a:ea typeface="微软雅黑" panose="020B0503020204020204" pitchFamily="34" charset="-122"/>
              </a:rPr>
              <a:t>万方 </a:t>
            </a:r>
            <a:r>
              <a:rPr lang="en-US" altLang="zh-CN" sz="1500" dirty="0">
                <a:solidFill>
                  <a:prstClr val="black"/>
                </a:solidFill>
                <a:latin typeface="微软雅黑" panose="020B0503020204020204" pitchFamily="34" charset="-122"/>
                <a:ea typeface="微软雅黑" panose="020B0503020204020204" pitchFamily="34" charset="-122"/>
              </a:rPr>
              <a:t>shopping mall</a:t>
            </a:r>
            <a:r>
              <a:rPr lang="zh-CN" altLang="en-US" sz="1500" dirty="0">
                <a:solidFill>
                  <a:prstClr val="black"/>
                </a:solidFill>
                <a:latin typeface="微软雅黑" panose="020B0503020204020204" pitchFamily="34" charset="-122"/>
                <a:ea typeface="微软雅黑" panose="020B0503020204020204" pitchFamily="34" charset="-122"/>
              </a:rPr>
              <a:t>、社区商业、</a:t>
            </a:r>
            <a:r>
              <a:rPr lang="en-US" altLang="zh-CN" sz="1500" dirty="0">
                <a:solidFill>
                  <a:prstClr val="black"/>
                </a:solidFill>
                <a:latin typeface="微软雅黑" panose="020B0503020204020204" pitchFamily="34" charset="-122"/>
                <a:ea typeface="微软雅黑" panose="020B0503020204020204" pitchFamily="34" charset="-122"/>
              </a:rPr>
              <a:t>BRT</a:t>
            </a:r>
            <a:r>
              <a:rPr lang="zh-CN" altLang="en-US" sz="1500" dirty="0">
                <a:solidFill>
                  <a:prstClr val="black"/>
                </a:solidFill>
                <a:latin typeface="微软雅黑" panose="020B0503020204020204" pitchFamily="34" charset="-122"/>
                <a:ea typeface="微软雅黑" panose="020B0503020204020204" pitchFamily="34" charset="-122"/>
              </a:rPr>
              <a:t>站点，是方舟人流量聚集区，同时，该组团规划有世界之窗高端写字楼，商业区，未来高端门户商业群带来的商务价值不可估量。</a:t>
            </a:r>
            <a:endParaRPr lang="zh-CN" altLang="en-US" sz="1500" dirty="0">
              <a:solidFill>
                <a:prstClr val="black"/>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7155" y="3593751"/>
            <a:ext cx="2958831" cy="2030460"/>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9392" y="1509026"/>
            <a:ext cx="2955729" cy="4101075"/>
          </a:xfrm>
          <a:prstGeom prst="rect">
            <a:avLst/>
          </a:prstGeom>
        </p:spPr>
      </p:pic>
      <p:sp>
        <p:nvSpPr>
          <p:cNvPr id="10" name="矩形 9"/>
          <p:cNvSpPr>
            <a:spLocks noChangeArrowheads="1"/>
          </p:cNvSpPr>
          <p:nvPr/>
        </p:nvSpPr>
        <p:spPr bwMode="auto">
          <a:xfrm>
            <a:off x="3637" y="17827"/>
            <a:ext cx="318660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组团区位配套优势</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2050" name="Picture 2" descr="C:\Users\ADMINI~1\AppData\Local\Temp\WeChat Files\1dc9f258212a7821956f765d85505c7.jpg"/>
          <p:cNvPicPr>
            <a:picLocks noChangeAspect="1" noChangeArrowheads="1"/>
          </p:cNvPicPr>
          <p:nvPr/>
        </p:nvPicPr>
        <p:blipFill>
          <a:blip r:embed="rId5"/>
          <a:srcRect/>
          <a:stretch>
            <a:fillRect/>
          </a:stretch>
        </p:blipFill>
        <p:spPr bwMode="auto">
          <a:xfrm>
            <a:off x="328079" y="1516626"/>
            <a:ext cx="2982512" cy="2046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Oval 51"/>
          <p:cNvSpPr/>
          <p:nvPr/>
        </p:nvSpPr>
        <p:spPr bwMode="auto">
          <a:xfrm>
            <a:off x="3824679" y="1892829"/>
            <a:ext cx="4804220" cy="487435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lIns="91432" tIns="45715" rIns="91432" bIns="45715" anchor="ctr"/>
          <a:lstStyle/>
          <a:p>
            <a:pPr algn="ctr">
              <a:defRPr/>
            </a:pPr>
            <a:endParaRPr lang="en-US" dirty="0">
              <a:latin typeface="微软雅黑" panose="020B0503020204020204" pitchFamily="34" charset="-122"/>
            </a:endParaRPr>
          </a:p>
        </p:txBody>
      </p:sp>
      <p:grpSp>
        <p:nvGrpSpPr>
          <p:cNvPr id="2" name="Group 49"/>
          <p:cNvGrpSpPr/>
          <p:nvPr/>
        </p:nvGrpSpPr>
        <p:grpSpPr>
          <a:xfrm>
            <a:off x="4386229" y="2200690"/>
            <a:ext cx="3615216" cy="3667991"/>
            <a:chOff x="2285781" y="4847654"/>
            <a:chExt cx="952480" cy="966132"/>
          </a:xfrm>
          <a:solidFill>
            <a:schemeClr val="bg2">
              <a:lumMod val="75000"/>
            </a:schemeClr>
          </a:solidFill>
        </p:grpSpPr>
        <p:sp>
          <p:nvSpPr>
            <p:cNvPr id="3" name="Oval 50"/>
            <p:cNvSpPr/>
            <p:nvPr/>
          </p:nvSpPr>
          <p:spPr bwMode="auto">
            <a:xfrm>
              <a:off x="2346028" y="4908765"/>
              <a:ext cx="840592" cy="852640"/>
            </a:xfrm>
            <a:prstGeom prst="ellipse">
              <a:avLst/>
            </a:prstGeom>
            <a:grpFill/>
            <a:ln w="3175" cmpd="sng">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微软雅黑" panose="020B0503020204020204" pitchFamily="34" charset="-122"/>
              </a:endParaRPr>
            </a:p>
          </p:txBody>
        </p:sp>
        <p:sp>
          <p:nvSpPr>
            <p:cNvPr id="4" name="Oval 51"/>
            <p:cNvSpPr/>
            <p:nvPr/>
          </p:nvSpPr>
          <p:spPr bwMode="auto">
            <a:xfrm>
              <a:off x="2285781" y="4847654"/>
              <a:ext cx="952480" cy="966132"/>
            </a:xfrm>
            <a:prstGeom prst="ellipse">
              <a:avLst/>
            </a:prstGeom>
            <a:grp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微软雅黑" panose="020B0503020204020204" pitchFamily="34" charset="-122"/>
              </a:endParaRPr>
            </a:p>
          </p:txBody>
        </p:sp>
      </p:grpSp>
      <p:sp>
        <p:nvSpPr>
          <p:cNvPr id="31" name="平行四边形 30"/>
          <p:cNvSpPr/>
          <p:nvPr/>
        </p:nvSpPr>
        <p:spPr>
          <a:xfrm>
            <a:off x="8061052" y="5012290"/>
            <a:ext cx="3523753" cy="335280"/>
          </a:xfrm>
          <a:prstGeom prst="parallelogram">
            <a:avLst>
              <a:gd name="adj" fmla="val 30937"/>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r>
              <a:rPr lang="zh-CN" altLang="zh-CN" sz="1600" b="1" dirty="0">
                <a:latin typeface="+mj-ea"/>
                <a:ea typeface="+mj-ea"/>
              </a:rPr>
              <a:t>产品</a:t>
            </a:r>
            <a:r>
              <a:rPr lang="zh-CN" altLang="zh-CN" sz="1600" b="1" dirty="0" smtClean="0">
                <a:latin typeface="+mj-ea"/>
                <a:ea typeface="+mj-ea"/>
              </a:rPr>
              <a:t>︱</a:t>
            </a:r>
            <a:r>
              <a:rPr lang="en-US" altLang="zh-CN" sz="1600" b="1" dirty="0" smtClean="0">
                <a:latin typeface="+mj-ea"/>
                <a:ea typeface="+mj-ea"/>
              </a:rPr>
              <a:t>6</a:t>
            </a:r>
            <a:r>
              <a:rPr lang="zh-CN" altLang="en-US" sz="1600" b="1" dirty="0">
                <a:latin typeface="+mj-ea"/>
                <a:ea typeface="+mj-ea"/>
              </a:rPr>
              <a:t>米层高、灵活空间</a:t>
            </a:r>
            <a:endParaRPr lang="zh-CN" altLang="zh-CN" sz="1600" b="1" dirty="0">
              <a:latin typeface="+mj-ea"/>
              <a:ea typeface="+mj-ea"/>
            </a:endParaRPr>
          </a:p>
        </p:txBody>
      </p:sp>
      <p:sp>
        <p:nvSpPr>
          <p:cNvPr id="32" name="平行四边形 31"/>
          <p:cNvSpPr/>
          <p:nvPr/>
        </p:nvSpPr>
        <p:spPr>
          <a:xfrm>
            <a:off x="7249898" y="4226737"/>
            <a:ext cx="4878235" cy="335280"/>
          </a:xfrm>
          <a:prstGeom prst="parallelogram">
            <a:avLst>
              <a:gd name="adj" fmla="val 30937"/>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r>
              <a:rPr lang="zh-CN" altLang="en-US" sz="1600" b="1" dirty="0">
                <a:latin typeface="+mj-ea"/>
                <a:ea typeface="+mj-ea"/>
              </a:rPr>
              <a:t>配套</a:t>
            </a:r>
            <a:r>
              <a:rPr lang="zh-CN" altLang="zh-CN" sz="1600" b="1" dirty="0">
                <a:latin typeface="+mj-ea"/>
                <a:ea typeface="+mj-ea"/>
              </a:rPr>
              <a:t>︱</a:t>
            </a:r>
            <a:r>
              <a:rPr lang="zh-CN" altLang="en-US" sz="1600" b="1" dirty="0">
                <a:latin typeface="+mj-ea"/>
                <a:ea typeface="+mj-ea"/>
              </a:rPr>
              <a:t>越界影城</a:t>
            </a:r>
            <a:r>
              <a:rPr lang="en-US" altLang="zh-CN" sz="1600" b="1" dirty="0">
                <a:latin typeface="+mj-ea"/>
                <a:ea typeface="+mj-ea"/>
              </a:rPr>
              <a:t>/G7</a:t>
            </a:r>
            <a:r>
              <a:rPr lang="zh-CN" altLang="en-US" sz="1600" b="1" dirty="0">
                <a:latin typeface="+mj-ea"/>
                <a:ea typeface="+mj-ea"/>
              </a:rPr>
              <a:t>购物中心</a:t>
            </a:r>
            <a:r>
              <a:rPr lang="en-US" altLang="zh-CN" sz="1600" b="1" dirty="0">
                <a:latin typeface="+mj-ea"/>
                <a:ea typeface="+mj-ea"/>
              </a:rPr>
              <a:t>/</a:t>
            </a:r>
            <a:r>
              <a:rPr lang="zh-CN" altLang="en-US" sz="1600" b="1" dirty="0">
                <a:latin typeface="+mj-ea"/>
                <a:ea typeface="+mj-ea"/>
              </a:rPr>
              <a:t>贵阳歌剧院</a:t>
            </a:r>
            <a:endParaRPr lang="zh-CN" altLang="zh-CN" sz="1600" b="1" dirty="0">
              <a:latin typeface="+mj-ea"/>
              <a:ea typeface="+mj-ea"/>
            </a:endParaRPr>
          </a:p>
        </p:txBody>
      </p:sp>
      <p:sp>
        <p:nvSpPr>
          <p:cNvPr id="33" name="平行四边形 32"/>
          <p:cNvSpPr/>
          <p:nvPr/>
        </p:nvSpPr>
        <p:spPr>
          <a:xfrm>
            <a:off x="8593030" y="3381941"/>
            <a:ext cx="2992967" cy="335280"/>
          </a:xfrm>
          <a:prstGeom prst="parallelogram">
            <a:avLst>
              <a:gd name="adj" fmla="val 30937"/>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r>
              <a:rPr lang="zh-CN" altLang="en-US" sz="1600" b="1" dirty="0">
                <a:latin typeface="+mj-ea"/>
                <a:ea typeface="+mj-ea"/>
              </a:rPr>
              <a:t>门户</a:t>
            </a:r>
            <a:r>
              <a:rPr lang="zh-CN" altLang="zh-CN" sz="1600" b="1" dirty="0">
                <a:latin typeface="+mj-ea"/>
                <a:ea typeface="+mj-ea"/>
              </a:rPr>
              <a:t>︱</a:t>
            </a:r>
            <a:r>
              <a:rPr lang="zh-CN" altLang="en-US" sz="1600" b="1" dirty="0">
                <a:latin typeface="+mj-ea"/>
                <a:ea typeface="+mj-ea"/>
              </a:rPr>
              <a:t>写字楼</a:t>
            </a:r>
            <a:r>
              <a:rPr lang="en-US" altLang="zh-CN" sz="1600" b="1" dirty="0">
                <a:latin typeface="+mj-ea"/>
                <a:ea typeface="+mj-ea"/>
              </a:rPr>
              <a:t>/</a:t>
            </a:r>
            <a:r>
              <a:rPr lang="zh-CN" altLang="en-US" sz="1600" b="1" dirty="0">
                <a:latin typeface="+mj-ea"/>
                <a:ea typeface="+mj-ea"/>
              </a:rPr>
              <a:t>城市之窗</a:t>
            </a:r>
            <a:endParaRPr lang="zh-CN" altLang="zh-CN" sz="1600" b="1" dirty="0">
              <a:latin typeface="+mj-ea"/>
              <a:ea typeface="+mj-ea"/>
            </a:endParaRPr>
          </a:p>
        </p:txBody>
      </p:sp>
      <p:sp>
        <p:nvSpPr>
          <p:cNvPr id="35" name="平行四边形 34"/>
          <p:cNvSpPr/>
          <p:nvPr/>
        </p:nvSpPr>
        <p:spPr>
          <a:xfrm>
            <a:off x="8001446" y="2516385"/>
            <a:ext cx="3375141" cy="328427"/>
          </a:xfrm>
          <a:prstGeom prst="parallelogram">
            <a:avLst>
              <a:gd name="adj" fmla="val 30937"/>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r>
              <a:rPr lang="zh-CN" altLang="en-US" sz="1600" b="1" dirty="0">
                <a:latin typeface="+mj-ea"/>
                <a:ea typeface="+mj-ea"/>
              </a:rPr>
              <a:t>区位</a:t>
            </a:r>
            <a:r>
              <a:rPr lang="zh-CN" altLang="zh-CN" sz="1600" b="1" dirty="0">
                <a:latin typeface="+mj-ea"/>
                <a:ea typeface="+mj-ea"/>
              </a:rPr>
              <a:t>︱</a:t>
            </a:r>
            <a:r>
              <a:rPr lang="zh-CN" altLang="en-US" sz="1600" b="1" dirty="0">
                <a:latin typeface="+mj-ea"/>
                <a:ea typeface="+mj-ea"/>
              </a:rPr>
              <a:t>交通方面 方舟桥头堡</a:t>
            </a:r>
            <a:endParaRPr lang="zh-CN" altLang="zh-CN" sz="1600" b="1" dirty="0">
              <a:latin typeface="+mj-ea"/>
              <a:ea typeface="+mj-ea"/>
            </a:endParaRPr>
          </a:p>
        </p:txBody>
      </p:sp>
      <p:sp>
        <p:nvSpPr>
          <p:cNvPr id="68" name="椭圆 67"/>
          <p:cNvSpPr/>
          <p:nvPr/>
        </p:nvSpPr>
        <p:spPr bwMode="auto">
          <a:xfrm>
            <a:off x="257795" y="3749961"/>
            <a:ext cx="1621303" cy="1621304"/>
          </a:xfrm>
          <a:prstGeom prst="ellipse">
            <a:avLst/>
          </a:prstGeom>
          <a:solidFill>
            <a:schemeClr val="bg2">
              <a:lumMod val="90000"/>
              <a:alpha val="69804"/>
            </a:schemeClr>
          </a:solidFill>
          <a:ln w="12700" cap="flat" cmpd="sng" algn="ctr">
            <a:noFill/>
            <a:prstDash val="solid"/>
            <a:miter lim="800000"/>
          </a:ln>
          <a:effectLst/>
        </p:spPr>
        <p:txBody>
          <a:bodyPr lIns="0" tIns="0" rIns="0" bIns="0" anchor="ctr"/>
          <a:lstStyle/>
          <a:p>
            <a:pPr algn="ctr" defTabSz="914400">
              <a:defRPr/>
            </a:pPr>
            <a:endParaRPr lang="zh-CN" altLang="en-US" sz="3200" kern="0" dirty="0">
              <a:solidFill>
                <a:prstClr val="white"/>
              </a:solidFill>
              <a:latin typeface="宋体" panose="02010600030101010101" pitchFamily="2" charset="-122"/>
              <a:ea typeface="宋体" panose="02010600030101010101" pitchFamily="2" charset="-122"/>
              <a:sym typeface="+mn-ea"/>
            </a:endParaRPr>
          </a:p>
        </p:txBody>
      </p:sp>
      <p:sp>
        <p:nvSpPr>
          <p:cNvPr id="15" name="文本框 14"/>
          <p:cNvSpPr txBox="1"/>
          <p:nvPr/>
        </p:nvSpPr>
        <p:spPr>
          <a:xfrm>
            <a:off x="370656" y="4225469"/>
            <a:ext cx="1508441" cy="615543"/>
          </a:xfrm>
          <a:prstGeom prst="rect">
            <a:avLst/>
          </a:prstGeom>
          <a:noFill/>
        </p:spPr>
        <p:txBody>
          <a:bodyPr wrap="square" lIns="91432" tIns="45715" rIns="91432" bIns="45715" rtlCol="0">
            <a:spAutoFit/>
          </a:bodyPr>
          <a:lstStyle/>
          <a:p>
            <a:pPr algn="ctr"/>
            <a:r>
              <a:rPr lang="en-US" altLang="zh-CN" sz="2000" dirty="0" smtClean="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6</a:t>
            </a:r>
            <a:r>
              <a:rPr lang="zh-CN" altLang="en-US" sz="20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米层高</a:t>
            </a:r>
            <a:endParaRPr lang="en-US" altLang="zh-CN" sz="20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endParaRPr>
          </a:p>
          <a:p>
            <a:pPr algn="ctr"/>
            <a:r>
              <a:rPr lang="zh-CN" altLang="en-US" sz="14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买</a:t>
            </a:r>
            <a:r>
              <a:rPr lang="en-US" altLang="zh-CN" sz="14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1</a:t>
            </a:r>
            <a:r>
              <a:rPr lang="zh-CN" altLang="en-US" sz="14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层得两层</a:t>
            </a:r>
            <a:endParaRPr lang="zh-CN" altLang="en-US" sz="11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endParaRPr>
          </a:p>
        </p:txBody>
      </p:sp>
      <p:sp>
        <p:nvSpPr>
          <p:cNvPr id="72" name="文本框 71"/>
          <p:cNvSpPr txBox="1"/>
          <p:nvPr/>
        </p:nvSpPr>
        <p:spPr>
          <a:xfrm>
            <a:off x="4416262" y="2077889"/>
            <a:ext cx="3585183" cy="1754316"/>
          </a:xfrm>
          <a:prstGeom prst="rect">
            <a:avLst/>
          </a:prstGeom>
          <a:noFill/>
        </p:spPr>
        <p:txBody>
          <a:bodyPr wrap="square" lIns="91432" tIns="45715" rIns="91432" bIns="45715" rtlCol="0">
            <a:spAutoFit/>
          </a:bodyPr>
          <a:lstStyle/>
          <a:p>
            <a:pPr algn="ctr">
              <a:lnSpc>
                <a:spcPct val="150000"/>
              </a:lnSpc>
            </a:pPr>
            <a:r>
              <a:rPr lang="en-US" altLang="zh-CN" sz="7200" b="1" dirty="0">
                <a:solidFill>
                  <a:schemeClr val="bg1"/>
                </a:solidFill>
                <a:latin typeface="方正兰亭超细黑简体" panose="02000000000000000000" pitchFamily="2" charset="-122"/>
                <a:ea typeface="方正兰亭超细黑简体" panose="02000000000000000000" pitchFamily="2" charset="-122"/>
              </a:rPr>
              <a:t>F3</a:t>
            </a:r>
            <a:endParaRPr lang="en-US" altLang="zh-CN" sz="7200" b="1" dirty="0">
              <a:solidFill>
                <a:schemeClr val="bg1"/>
              </a:solidFill>
              <a:latin typeface="方正兰亭超细黑简体" panose="02000000000000000000" pitchFamily="2" charset="-122"/>
              <a:ea typeface="方正兰亭超细黑简体" panose="02000000000000000000" pitchFamily="2" charset="-122"/>
            </a:endParaRPr>
          </a:p>
        </p:txBody>
      </p:sp>
      <p:cxnSp>
        <p:nvCxnSpPr>
          <p:cNvPr id="22" name="直接连接符 21"/>
          <p:cNvCxnSpPr/>
          <p:nvPr/>
        </p:nvCxnSpPr>
        <p:spPr>
          <a:xfrm>
            <a:off x="5147447" y="3832205"/>
            <a:ext cx="2028145"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2007368" y="935413"/>
            <a:ext cx="8547653" cy="584768"/>
          </a:xfrm>
          <a:prstGeom prst="rect">
            <a:avLst/>
          </a:prstGeom>
          <a:noFill/>
        </p:spPr>
        <p:txBody>
          <a:bodyPr wrap="square" lIns="91432" tIns="45715" rIns="91432" bIns="45715" rtlCol="0">
            <a:spAutoFit/>
          </a:bodyPr>
          <a:lstStyle/>
          <a:p>
            <a:pPr algn="ctr"/>
            <a:r>
              <a:rPr lang="zh-CN" altLang="en-US" sz="3200" b="1" dirty="0">
                <a:solidFill>
                  <a:srgbClr val="C00000"/>
                </a:solidFill>
                <a:latin typeface="微软雅黑" panose="020B0503020204020204" pitchFamily="34" charset="-122"/>
                <a:ea typeface="微软雅黑" panose="020B0503020204020204" pitchFamily="34" charset="-122"/>
              </a:rPr>
              <a:t>门户之上，醇熟配套。</a:t>
            </a:r>
            <a:endParaRPr lang="zh-CN" altLang="en-US" sz="3200" b="1" dirty="0">
              <a:solidFill>
                <a:srgbClr val="C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416262" y="4111613"/>
            <a:ext cx="3550952" cy="1015655"/>
          </a:xfrm>
          <a:prstGeom prst="rect">
            <a:avLst/>
          </a:prstGeom>
          <a:noFill/>
        </p:spPr>
        <p:txBody>
          <a:bodyPr wrap="square" lIns="91432" tIns="45715" rIns="91432" bIns="45715" rtlCol="0">
            <a:spAutoFit/>
          </a:bodyPr>
          <a:lstStyle/>
          <a:p>
            <a:pPr algn="ctr"/>
            <a:r>
              <a:rPr lang="zh-CN" altLang="en-US" sz="6000" b="1" dirty="0">
                <a:solidFill>
                  <a:schemeClr val="bg1"/>
                </a:solidFill>
                <a:latin typeface="方正兰亭超细黑简体" panose="02000000000000000000" pitchFamily="2" charset="-122"/>
                <a:ea typeface="方正兰亭超细黑简体" panose="02000000000000000000" pitchFamily="2" charset="-122"/>
              </a:rPr>
              <a:t>底商产品</a:t>
            </a:r>
            <a:endParaRPr lang="zh-CN" altLang="en-US" sz="6000" b="1" dirty="0">
              <a:solidFill>
                <a:schemeClr val="bg1"/>
              </a:solidFill>
              <a:latin typeface="方正兰亭超细黑简体" panose="02000000000000000000" pitchFamily="2" charset="-122"/>
              <a:ea typeface="方正兰亭超细黑简体" panose="02000000000000000000" pitchFamily="2" charset="-122"/>
            </a:endParaRPr>
          </a:p>
        </p:txBody>
      </p:sp>
      <p:sp>
        <p:nvSpPr>
          <p:cNvPr id="24" name="矩形 23"/>
          <p:cNvSpPr>
            <a:spLocks noChangeArrowheads="1"/>
          </p:cNvSpPr>
          <p:nvPr/>
        </p:nvSpPr>
        <p:spPr bwMode="auto">
          <a:xfrm>
            <a:off x="3637" y="2079"/>
            <a:ext cx="469637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组团价值卖点梳理</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25" name="椭圆 24"/>
          <p:cNvSpPr/>
          <p:nvPr/>
        </p:nvSpPr>
        <p:spPr bwMode="auto">
          <a:xfrm>
            <a:off x="257795" y="1975903"/>
            <a:ext cx="1621303" cy="1621304"/>
          </a:xfrm>
          <a:prstGeom prst="ellipse">
            <a:avLst/>
          </a:prstGeom>
          <a:solidFill>
            <a:schemeClr val="bg2">
              <a:lumMod val="90000"/>
              <a:alpha val="69804"/>
            </a:schemeClr>
          </a:solidFill>
          <a:ln w="12700" cap="flat" cmpd="sng" algn="ctr">
            <a:noFill/>
            <a:prstDash val="solid"/>
            <a:miter lim="800000"/>
          </a:ln>
          <a:effectLst/>
        </p:spPr>
        <p:txBody>
          <a:bodyPr lIns="0" tIns="0" rIns="0" bIns="0" anchor="ctr"/>
          <a:lstStyle/>
          <a:p>
            <a:pPr algn="ctr" defTabSz="914400">
              <a:defRPr/>
            </a:pPr>
            <a:endParaRPr lang="zh-CN" altLang="en-US" sz="3200" kern="0" dirty="0">
              <a:solidFill>
                <a:prstClr val="white"/>
              </a:solidFill>
              <a:latin typeface="宋体" panose="02010600030101010101" pitchFamily="2" charset="-122"/>
              <a:ea typeface="宋体" panose="02010600030101010101" pitchFamily="2" charset="-122"/>
              <a:sym typeface="+mn-ea"/>
            </a:endParaRPr>
          </a:p>
        </p:txBody>
      </p:sp>
      <p:sp>
        <p:nvSpPr>
          <p:cNvPr id="26" name="文本框 25"/>
          <p:cNvSpPr txBox="1"/>
          <p:nvPr/>
        </p:nvSpPr>
        <p:spPr>
          <a:xfrm>
            <a:off x="205188" y="2451411"/>
            <a:ext cx="1722402" cy="615543"/>
          </a:xfrm>
          <a:prstGeom prst="rect">
            <a:avLst/>
          </a:prstGeom>
          <a:noFill/>
        </p:spPr>
        <p:txBody>
          <a:bodyPr wrap="square" lIns="91432" tIns="45715" rIns="91432" bIns="45715" rtlCol="0">
            <a:spAutoFit/>
          </a:bodyPr>
          <a:lstStyle/>
          <a:p>
            <a:pPr algn="ctr"/>
            <a:r>
              <a:rPr lang="zh-CN" altLang="en-US" sz="20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尚礼西路直达</a:t>
            </a:r>
            <a:r>
              <a:rPr lang="zh-CN" altLang="en-US" sz="14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rPr>
              <a:t>交通便利</a:t>
            </a:r>
            <a:endParaRPr lang="zh-CN" altLang="en-US" sz="1100" dirty="0">
              <a:latin typeface="方正兰亭超细黑简体" panose="02000000000000000000" pitchFamily="2" charset="-122"/>
              <a:ea typeface="方正兰亭超细黑简体" panose="02000000000000000000" pitchFamily="2" charset="-122"/>
              <a:cs typeface="方正兰亭超细黑简体" panose="02000000000000000000" pitchFamily="2" charset="-122"/>
            </a:endParaRPr>
          </a:p>
        </p:txBody>
      </p:sp>
      <p:sp>
        <p:nvSpPr>
          <p:cNvPr id="27" name="椭圆 26"/>
          <p:cNvSpPr/>
          <p:nvPr/>
        </p:nvSpPr>
        <p:spPr bwMode="auto">
          <a:xfrm>
            <a:off x="2007368" y="1959533"/>
            <a:ext cx="1621303" cy="1621304"/>
          </a:xfrm>
          <a:prstGeom prst="ellipse">
            <a:avLst/>
          </a:prstGeom>
          <a:solidFill>
            <a:schemeClr val="bg2">
              <a:lumMod val="90000"/>
              <a:alpha val="69804"/>
            </a:schemeClr>
          </a:solidFill>
          <a:ln w="12700" cap="flat" cmpd="sng" algn="ctr">
            <a:noFill/>
            <a:prstDash val="solid"/>
            <a:miter lim="800000"/>
          </a:ln>
          <a:effectLst/>
        </p:spPr>
        <p:txBody>
          <a:bodyPr lIns="0" tIns="0" rIns="0" bIns="0" anchor="ctr"/>
          <a:lstStyle/>
          <a:p>
            <a:pPr algn="ctr" defTabSz="914400">
              <a:defRPr/>
            </a:pPr>
            <a:endParaRPr lang="zh-CN" altLang="en-US" sz="3200" kern="0" dirty="0">
              <a:solidFill>
                <a:prstClr val="white"/>
              </a:solidFill>
              <a:latin typeface="宋体" panose="02010600030101010101" pitchFamily="2" charset="-122"/>
              <a:ea typeface="宋体" panose="02010600030101010101" pitchFamily="2" charset="-122"/>
              <a:sym typeface="+mn-ea"/>
            </a:endParaRPr>
          </a:p>
        </p:txBody>
      </p:sp>
      <p:sp>
        <p:nvSpPr>
          <p:cNvPr id="28" name="文本框 27"/>
          <p:cNvSpPr txBox="1"/>
          <p:nvPr/>
        </p:nvSpPr>
        <p:spPr>
          <a:xfrm>
            <a:off x="2120230" y="2435041"/>
            <a:ext cx="1374824" cy="615543"/>
          </a:xfrm>
          <a:prstGeom prst="rect">
            <a:avLst/>
          </a:prstGeom>
          <a:noFill/>
        </p:spPr>
        <p:txBody>
          <a:bodyPr wrap="square" lIns="91432" tIns="45715" rIns="91432" bIns="45715" rtlCol="0">
            <a:spAutoFit/>
          </a:bodyPr>
          <a:lstStyle/>
          <a:p>
            <a:pPr algn="ctr"/>
            <a:r>
              <a:rPr lang="zh-CN" altLang="en-US" sz="2000" dirty="0">
                <a:latin typeface="方正兰亭超细黑简体" panose="02000000000000000000" pitchFamily="2" charset="-122"/>
                <a:ea typeface="方正兰亭超细黑简体"/>
                <a:cs typeface="方正兰亭超细黑简体" panose="02000000000000000000" pitchFamily="2" charset="-122"/>
              </a:rPr>
              <a:t>临街商铺</a:t>
            </a:r>
            <a:endParaRPr lang="en-US" altLang="zh-CN" sz="2000" dirty="0">
              <a:latin typeface="方正兰亭超细黑简体" panose="02000000000000000000" pitchFamily="2" charset="-122"/>
              <a:ea typeface="方正兰亭超细黑简体"/>
              <a:cs typeface="方正兰亭超细黑简体" panose="02000000000000000000" pitchFamily="2" charset="-122"/>
            </a:endParaRPr>
          </a:p>
          <a:p>
            <a:pPr algn="ctr"/>
            <a:r>
              <a:rPr lang="zh-CN" altLang="en-US" sz="1400" dirty="0">
                <a:latin typeface="方正兰亭超细黑简体" panose="02000000000000000000" pitchFamily="2" charset="-122"/>
                <a:ea typeface="方正兰亭超细黑简体"/>
                <a:cs typeface="方正兰亭超细黑简体" panose="02000000000000000000" pitchFamily="2" charset="-122"/>
              </a:rPr>
              <a:t>昭示性优</a:t>
            </a:r>
            <a:endParaRPr lang="zh-CN" altLang="en-US" sz="1400" dirty="0">
              <a:latin typeface="方正兰亭超细黑简体" panose="02000000000000000000" pitchFamily="2" charset="-122"/>
              <a:ea typeface="方正兰亭超细黑简体"/>
              <a:cs typeface="方正兰亭超细黑简体" panose="02000000000000000000" pitchFamily="2" charset="-122"/>
            </a:endParaRPr>
          </a:p>
        </p:txBody>
      </p:sp>
      <p:sp>
        <p:nvSpPr>
          <p:cNvPr id="29" name="椭圆 28"/>
          <p:cNvSpPr/>
          <p:nvPr/>
        </p:nvSpPr>
        <p:spPr bwMode="auto">
          <a:xfrm>
            <a:off x="2040240" y="3717221"/>
            <a:ext cx="1621303" cy="1621304"/>
          </a:xfrm>
          <a:prstGeom prst="ellipse">
            <a:avLst/>
          </a:prstGeom>
          <a:solidFill>
            <a:schemeClr val="bg2">
              <a:lumMod val="90000"/>
              <a:alpha val="69804"/>
            </a:schemeClr>
          </a:solidFill>
          <a:ln w="12700" cap="flat" cmpd="sng" algn="ctr">
            <a:noFill/>
            <a:prstDash val="solid"/>
            <a:miter lim="800000"/>
          </a:ln>
          <a:effectLst/>
        </p:spPr>
        <p:txBody>
          <a:bodyPr lIns="0" tIns="0" rIns="0" bIns="0" anchor="ctr"/>
          <a:lstStyle/>
          <a:p>
            <a:pPr algn="ctr" defTabSz="914400">
              <a:defRPr/>
            </a:pPr>
            <a:endParaRPr lang="zh-CN" altLang="en-US" sz="3200" kern="0" dirty="0">
              <a:solidFill>
                <a:prstClr val="white"/>
              </a:solidFill>
              <a:latin typeface="宋体" panose="02010600030101010101" pitchFamily="2" charset="-122"/>
              <a:ea typeface="宋体" panose="02010600030101010101" pitchFamily="2" charset="-122"/>
              <a:sym typeface="+mn-ea"/>
            </a:endParaRPr>
          </a:p>
        </p:txBody>
      </p:sp>
      <p:sp>
        <p:nvSpPr>
          <p:cNvPr id="36" name="文本框 27"/>
          <p:cNvSpPr txBox="1"/>
          <p:nvPr/>
        </p:nvSpPr>
        <p:spPr>
          <a:xfrm>
            <a:off x="2130607" y="4232291"/>
            <a:ext cx="1374824" cy="615543"/>
          </a:xfrm>
          <a:prstGeom prst="rect">
            <a:avLst/>
          </a:prstGeom>
          <a:noFill/>
        </p:spPr>
        <p:txBody>
          <a:bodyPr wrap="square" lIns="91432" tIns="45715" rIns="91432" bIns="45715" rtlCol="0">
            <a:spAutoFit/>
          </a:bodyPr>
          <a:lstStyle/>
          <a:p>
            <a:pPr algn="ctr"/>
            <a:r>
              <a:rPr lang="zh-CN" altLang="en-US" sz="2000" dirty="0" smtClean="0">
                <a:latin typeface="方正兰亭超细黑简体" panose="02000000000000000000" pitchFamily="2" charset="-122"/>
                <a:ea typeface="方正兰亭超细黑简体"/>
                <a:cs typeface="方正兰亭超细黑简体" panose="02000000000000000000" pitchFamily="2" charset="-122"/>
              </a:rPr>
              <a:t>高使用率</a:t>
            </a:r>
            <a:endParaRPr lang="en-US" altLang="zh-CN" sz="2000" dirty="0" smtClean="0">
              <a:latin typeface="方正兰亭超细黑简体" panose="02000000000000000000" pitchFamily="2" charset="-122"/>
              <a:ea typeface="方正兰亭超细黑简体"/>
              <a:cs typeface="方正兰亭超细黑简体" panose="02000000000000000000" pitchFamily="2" charset="-122"/>
            </a:endParaRPr>
          </a:p>
          <a:p>
            <a:pPr algn="ctr"/>
            <a:r>
              <a:rPr lang="zh-CN" altLang="en-US" sz="1400" dirty="0" smtClean="0">
                <a:latin typeface="方正兰亭超细黑简体" panose="02000000000000000000" pitchFamily="2" charset="-122"/>
                <a:ea typeface="方正兰亭超细黑简体"/>
                <a:cs typeface="方正兰亭超细黑简体" panose="02000000000000000000" pitchFamily="2" charset="-122"/>
              </a:rPr>
              <a:t>投资潜力大</a:t>
            </a:r>
            <a:endParaRPr lang="zh-CN" altLang="en-US" sz="1400" dirty="0">
              <a:latin typeface="方正兰亭超细黑简体" panose="02000000000000000000" pitchFamily="2" charset="-122"/>
              <a:ea typeface="方正兰亭超细黑简体"/>
              <a:cs typeface="方正兰亭超细黑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rrowheads="1"/>
          </p:cNvSpPr>
          <p:nvPr/>
        </p:nvSpPr>
        <p:spPr bwMode="auto">
          <a:xfrm>
            <a:off x="3640" y="12239"/>
            <a:ext cx="3020021"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组团鸟瞰</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8" name="TextBox 4"/>
          <p:cNvSpPr txBox="1"/>
          <p:nvPr/>
        </p:nvSpPr>
        <p:spPr>
          <a:xfrm>
            <a:off x="7731750" y="2051294"/>
            <a:ext cx="3241050" cy="2120898"/>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F3</a:t>
            </a:r>
            <a:r>
              <a:rPr lang="zh-CN" altLang="en-US" sz="1800" dirty="0">
                <a:latin typeface="微软雅黑" panose="020B0503020204020204" pitchFamily="34" charset="-122"/>
                <a:ea typeface="微软雅黑" panose="020B0503020204020204" pitchFamily="34" charset="-122"/>
              </a:rPr>
              <a:t>组团物业构成：超高办公楼</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超高层公寓</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沿街商业；</a:t>
            </a:r>
            <a:endParaRPr lang="en-US"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800" b="1" dirty="0">
                <a:solidFill>
                  <a:srgbClr val="FF0000"/>
                </a:solidFill>
                <a:latin typeface="微软雅黑" panose="020B0503020204020204" pitchFamily="34" charset="-122"/>
                <a:ea typeface="微软雅黑" panose="020B0503020204020204" pitchFamily="34" charset="-122"/>
              </a:rPr>
              <a:t>本次主要介绍底商，共计</a:t>
            </a:r>
            <a:r>
              <a:rPr lang="en-US" altLang="zh-CN" sz="1800" b="1" dirty="0">
                <a:solidFill>
                  <a:srgbClr val="FF0000"/>
                </a:solidFill>
                <a:latin typeface="微软雅黑" panose="020B0503020204020204" pitchFamily="34" charset="-122"/>
                <a:ea typeface="微软雅黑" panose="020B0503020204020204" pitchFamily="34" charset="-122"/>
              </a:rPr>
              <a:t>5</a:t>
            </a:r>
            <a:r>
              <a:rPr lang="zh-CN" altLang="en-US" sz="1800" b="1" dirty="0">
                <a:solidFill>
                  <a:srgbClr val="FF0000"/>
                </a:solidFill>
                <a:latin typeface="微软雅黑" panose="020B0503020204020204" pitchFamily="34" charset="-122"/>
                <a:ea typeface="微软雅黑" panose="020B0503020204020204" pitchFamily="34" charset="-122"/>
              </a:rPr>
              <a:t>层，面积约</a:t>
            </a:r>
            <a:r>
              <a:rPr lang="en-US" altLang="zh-CN" sz="1800" b="1" dirty="0">
                <a:solidFill>
                  <a:srgbClr val="FF0000"/>
                </a:solidFill>
                <a:latin typeface="微软雅黑" panose="020B0503020204020204" pitchFamily="34" charset="-122"/>
                <a:ea typeface="微软雅黑" panose="020B0503020204020204" pitchFamily="34" charset="-122"/>
              </a:rPr>
              <a:t>11729.3</a:t>
            </a:r>
            <a:r>
              <a:rPr lang="zh-CN" altLang="en-US" sz="1800" b="1" dirty="0">
                <a:solidFill>
                  <a:srgbClr val="FF0000"/>
                </a:solidFill>
                <a:latin typeface="微软雅黑" panose="020B0503020204020204" pitchFamily="34" charset="-122"/>
                <a:ea typeface="微软雅黑" panose="020B0503020204020204" pitchFamily="34" charset="-122"/>
              </a:rPr>
              <a:t>㎡。</a:t>
            </a:r>
            <a:endParaRPr lang="en-US" altLang="zh-CN" sz="1800" b="1" dirty="0">
              <a:solidFill>
                <a:srgbClr val="FF0000"/>
              </a:solidFill>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grpSp>
        <p:nvGrpSpPr>
          <p:cNvPr id="2" name="组合 1"/>
          <p:cNvGrpSpPr/>
          <p:nvPr/>
        </p:nvGrpSpPr>
        <p:grpSpPr>
          <a:xfrm>
            <a:off x="951230" y="785495"/>
            <a:ext cx="6337300" cy="5610860"/>
            <a:chOff x="1498" y="1237"/>
            <a:chExt cx="9980" cy="8836"/>
          </a:xfrm>
        </p:grpSpPr>
        <p:pic>
          <p:nvPicPr>
            <p:cNvPr id="12" name="Picture 17"/>
            <p:cNvPicPr>
              <a:picLocks noChangeAspect="1"/>
            </p:cNvPicPr>
            <p:nvPr/>
          </p:nvPicPr>
          <p:blipFill rotWithShape="1">
            <a:blip r:embed="rId1"/>
            <a:srcRect/>
            <a:stretch>
              <a:fillRect/>
            </a:stretch>
          </p:blipFill>
          <p:spPr>
            <a:xfrm>
              <a:off x="1498" y="1237"/>
              <a:ext cx="9980" cy="8836"/>
            </a:xfrm>
            <a:prstGeom prst="rect">
              <a:avLst/>
            </a:prstGeom>
          </p:spPr>
        </p:pic>
        <p:sp>
          <p:nvSpPr>
            <p:cNvPr id="14" name="Rectangle 18"/>
            <p:cNvSpPr/>
            <p:nvPr/>
          </p:nvSpPr>
          <p:spPr>
            <a:xfrm>
              <a:off x="7678" y="1237"/>
              <a:ext cx="3680" cy="2140"/>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HK" altLang="en-US"/>
            </a:p>
          </p:txBody>
        </p:sp>
        <p:sp>
          <p:nvSpPr>
            <p:cNvPr id="15" name="Rectangle 6"/>
            <p:cNvSpPr/>
            <p:nvPr/>
          </p:nvSpPr>
          <p:spPr>
            <a:xfrm>
              <a:off x="8674" y="1288"/>
              <a:ext cx="2728" cy="2084"/>
            </a:xfrm>
            <a:prstGeom prst="rect">
              <a:avLst/>
            </a:prstGeom>
          </p:spPr>
          <p:txBody>
            <a:bodyPr wrap="square" lIns="91424" tIns="45714" rIns="91424" bIns="45714">
              <a:spAutoFit/>
            </a:bodyPr>
            <a:lstStyle/>
            <a:p>
              <a:pPr>
                <a:defRPr/>
              </a:pPr>
              <a:r>
                <a:rPr lang="zh-CN" altLang="en-US" sz="1600" b="1" kern="0" dirty="0">
                  <a:solidFill>
                    <a:prstClr val="black"/>
                  </a:solidFill>
                  <a:latin typeface="微软雅黑" panose="020B0503020204020204" pitchFamily="34" charset="-122"/>
                  <a:ea typeface="微软雅黑" panose="020B0503020204020204" pitchFamily="34" charset="-122"/>
                </a:rPr>
                <a:t>沿街商业</a:t>
              </a:r>
              <a:r>
                <a:rPr lang="en-US" altLang="zh-CN" sz="1600" b="1" kern="0" dirty="0">
                  <a:solidFill>
                    <a:prstClr val="black"/>
                  </a:solidFill>
                  <a:latin typeface="微软雅黑" panose="020B0503020204020204" pitchFamily="34" charset="-122"/>
                  <a:ea typeface="微软雅黑" panose="020B0503020204020204" pitchFamily="34" charset="-122"/>
                </a:rPr>
                <a:t>	</a:t>
              </a:r>
              <a:endParaRPr lang="en-US" altLang="zh-CN" sz="1600" b="1" kern="0" dirty="0">
                <a:solidFill>
                  <a:prstClr val="black"/>
                </a:solidFill>
                <a:latin typeface="微软雅黑" panose="020B0503020204020204" pitchFamily="34" charset="-122"/>
                <a:ea typeface="微软雅黑" panose="020B0503020204020204" pitchFamily="34" charset="-122"/>
              </a:endParaRPr>
            </a:p>
            <a:p>
              <a:pPr>
                <a:defRPr/>
              </a:pPr>
              <a:endParaRPr lang="en-US" sz="16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1600" b="1" kern="0" dirty="0">
                  <a:solidFill>
                    <a:prstClr val="black"/>
                  </a:solidFill>
                  <a:latin typeface="微软雅黑" panose="020B0503020204020204" pitchFamily="34" charset="-122"/>
                  <a:ea typeface="微软雅黑" panose="020B0503020204020204" pitchFamily="34" charset="-122"/>
                </a:rPr>
                <a:t>办公</a:t>
              </a:r>
              <a:endParaRPr lang="en-US" altLang="zh-CN" sz="1600" b="1" kern="0" dirty="0">
                <a:solidFill>
                  <a:prstClr val="black"/>
                </a:solidFill>
                <a:latin typeface="微软雅黑" panose="020B0503020204020204" pitchFamily="34" charset="-122"/>
                <a:ea typeface="微软雅黑" panose="020B0503020204020204" pitchFamily="34" charset="-122"/>
              </a:endParaRPr>
            </a:p>
            <a:p>
              <a:pPr>
                <a:defRPr/>
              </a:pPr>
              <a:endParaRPr lang="en-US" sz="16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1600" b="1" kern="0" dirty="0">
                  <a:solidFill>
                    <a:prstClr val="black"/>
                  </a:solidFill>
                  <a:latin typeface="微软雅黑" panose="020B0503020204020204" pitchFamily="34" charset="-122"/>
                  <a:ea typeface="微软雅黑" panose="020B0503020204020204" pitchFamily="34" charset="-122"/>
                </a:rPr>
                <a:t>公寓</a:t>
              </a:r>
              <a:r>
                <a:rPr lang="en-US" altLang="zh-HK" sz="1600" b="1" kern="0" dirty="0">
                  <a:solidFill>
                    <a:prstClr val="black"/>
                  </a:solidFill>
                  <a:latin typeface="微软雅黑" panose="020B0503020204020204" pitchFamily="34" charset="-122"/>
                  <a:ea typeface="微软雅黑" panose="020B0503020204020204" pitchFamily="34" charset="-122"/>
                </a:rPr>
                <a:t>	</a:t>
              </a:r>
              <a:endParaRPr lang="en-US" sz="1600" b="1" kern="0" dirty="0">
                <a:solidFill>
                  <a:prstClr val="black"/>
                </a:solidFill>
                <a:latin typeface="微软雅黑" panose="020B0503020204020204" pitchFamily="34" charset="-122"/>
                <a:ea typeface="微软雅黑" panose="020B0503020204020204" pitchFamily="34" charset="-122"/>
              </a:endParaRPr>
            </a:p>
          </p:txBody>
        </p:sp>
        <p:sp>
          <p:nvSpPr>
            <p:cNvPr id="16" name="Rectangle 21"/>
            <p:cNvSpPr/>
            <p:nvPr/>
          </p:nvSpPr>
          <p:spPr>
            <a:xfrm>
              <a:off x="7882" y="1388"/>
              <a:ext cx="748" cy="283"/>
            </a:xfrm>
            <a:prstGeom prst="rect">
              <a:avLst/>
            </a:prstGeom>
            <a:solidFill>
              <a:srgbClr val="E92BE0">
                <a:alpha val="30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a:solidFill>
                  <a:prstClr val="white"/>
                </a:solidFill>
                <a:latin typeface="Calibri" panose="020F0502020204030204"/>
              </a:endParaRPr>
            </a:p>
          </p:txBody>
        </p:sp>
        <p:sp>
          <p:nvSpPr>
            <p:cNvPr id="17" name="Rectangle 22"/>
            <p:cNvSpPr/>
            <p:nvPr/>
          </p:nvSpPr>
          <p:spPr>
            <a:xfrm>
              <a:off x="7882" y="2212"/>
              <a:ext cx="748" cy="283"/>
            </a:xfrm>
            <a:prstGeom prst="rect">
              <a:avLst/>
            </a:prstGeom>
            <a:solidFill>
              <a:srgbClr val="969EC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a:solidFill>
                  <a:prstClr val="white"/>
                </a:solidFill>
                <a:latin typeface="Calibri" panose="020F0502020204030204"/>
              </a:endParaRPr>
            </a:p>
          </p:txBody>
        </p:sp>
        <p:sp>
          <p:nvSpPr>
            <p:cNvPr id="18" name="Rectangle 23"/>
            <p:cNvSpPr/>
            <p:nvPr/>
          </p:nvSpPr>
          <p:spPr>
            <a:xfrm>
              <a:off x="7882" y="2946"/>
              <a:ext cx="748" cy="283"/>
            </a:xfrm>
            <a:prstGeom prst="rect">
              <a:avLst/>
            </a:prstGeom>
            <a:solidFill>
              <a:srgbClr val="FFFF00">
                <a:alpha val="30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dirty="0">
                <a:solidFill>
                  <a:prstClr val="white"/>
                </a:solidFill>
                <a:latin typeface="Calibri" panose="020F0502020204030204"/>
              </a:endParaRPr>
            </a:p>
          </p:txBody>
        </p:sp>
        <p:grpSp>
          <p:nvGrpSpPr>
            <p:cNvPr id="19" name="Group 28"/>
            <p:cNvGrpSpPr/>
            <p:nvPr/>
          </p:nvGrpSpPr>
          <p:grpSpPr>
            <a:xfrm>
              <a:off x="7185" y="3781"/>
              <a:ext cx="1394" cy="543"/>
              <a:chOff x="9029481" y="2090721"/>
              <a:chExt cx="1077989" cy="599823"/>
            </a:xfrm>
          </p:grpSpPr>
          <p:sp>
            <p:nvSpPr>
              <p:cNvPr id="20" name="Isosceles Triangle 32"/>
              <p:cNvSpPr/>
              <p:nvPr/>
            </p:nvSpPr>
            <p:spPr>
              <a:xfrm rot="10800000">
                <a:off x="9215507" y="2512745"/>
                <a:ext cx="206249" cy="177799"/>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1" name="Rectangle 6"/>
              <p:cNvSpPr/>
              <p:nvPr/>
            </p:nvSpPr>
            <p:spPr>
              <a:xfrm>
                <a:off x="9029481" y="2090721"/>
                <a:ext cx="1077989" cy="481557"/>
              </a:xfrm>
              <a:prstGeom prst="rect">
                <a:avLst/>
              </a:prstGeom>
            </p:spPr>
            <p:txBody>
              <a:bodyPr wrap="square" lIns="91429" tIns="45715" rIns="91429" bIns="45715">
                <a:spAutoFit/>
              </a:bodyPr>
              <a:lstStyle/>
              <a:p>
                <a:pPr>
                  <a:defRPr/>
                </a:pPr>
                <a:r>
                  <a:rPr lang="en-US" altLang="zh-HK" sz="1200" kern="0" dirty="0">
                    <a:solidFill>
                      <a:prstClr val="black"/>
                    </a:solidFill>
                    <a:latin typeface="Calibri" panose="020F0502020204030204"/>
                  </a:rPr>
                  <a:t>188m</a:t>
                </a:r>
                <a:endParaRPr lang="en-US" sz="1200" kern="0" dirty="0">
                  <a:solidFill>
                    <a:prstClr val="black"/>
                  </a:solidFill>
                  <a:latin typeface="Calibri" panose="020F0502020204030204"/>
                </a:endParaRPr>
              </a:p>
            </p:txBody>
          </p:sp>
        </p:grpSp>
        <p:grpSp>
          <p:nvGrpSpPr>
            <p:cNvPr id="22" name="Group 27"/>
            <p:cNvGrpSpPr/>
            <p:nvPr/>
          </p:nvGrpSpPr>
          <p:grpSpPr>
            <a:xfrm>
              <a:off x="5157" y="1259"/>
              <a:ext cx="992" cy="543"/>
              <a:chOff x="9041476" y="2201542"/>
              <a:chExt cx="1095103" cy="599325"/>
            </a:xfrm>
          </p:grpSpPr>
          <p:sp>
            <p:nvSpPr>
              <p:cNvPr id="23" name="Isosceles Triangle 34"/>
              <p:cNvSpPr/>
              <p:nvPr/>
            </p:nvSpPr>
            <p:spPr>
              <a:xfrm rot="10800000">
                <a:off x="9215508" y="2623067"/>
                <a:ext cx="206248" cy="1778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4" name="Rectangle 6"/>
              <p:cNvSpPr/>
              <p:nvPr/>
            </p:nvSpPr>
            <p:spPr>
              <a:xfrm>
                <a:off x="9041476" y="2201542"/>
                <a:ext cx="1095103" cy="481559"/>
              </a:xfrm>
              <a:prstGeom prst="rect">
                <a:avLst/>
              </a:prstGeom>
            </p:spPr>
            <p:txBody>
              <a:bodyPr wrap="square" lIns="91429" tIns="45715" rIns="91429" bIns="45715">
                <a:spAutoFit/>
              </a:bodyPr>
              <a:lstStyle/>
              <a:p>
                <a:pPr>
                  <a:defRPr/>
                </a:pPr>
                <a:r>
                  <a:rPr lang="en-US" altLang="zh-CN" sz="1200" kern="0" dirty="0">
                    <a:solidFill>
                      <a:prstClr val="black"/>
                    </a:solidFill>
                    <a:latin typeface="Calibri" panose="020F0502020204030204"/>
                  </a:rPr>
                  <a:t>330</a:t>
                </a:r>
                <a:r>
                  <a:rPr lang="en-US" altLang="zh-HK" sz="1200" kern="0" dirty="0">
                    <a:solidFill>
                      <a:prstClr val="black"/>
                    </a:solidFill>
                    <a:latin typeface="Calibri" panose="020F0502020204030204"/>
                  </a:rPr>
                  <a:t>m</a:t>
                </a:r>
                <a:endParaRPr lang="en-US" sz="1200" kern="0" dirty="0">
                  <a:solidFill>
                    <a:prstClr val="black"/>
                  </a:solidFill>
                  <a:latin typeface="Calibri" panose="020F0502020204030204"/>
                </a:endParaRPr>
              </a:p>
            </p:txBody>
          </p:sp>
        </p:grpSp>
        <p:grpSp>
          <p:nvGrpSpPr>
            <p:cNvPr id="25" name="Group 27"/>
            <p:cNvGrpSpPr/>
            <p:nvPr/>
          </p:nvGrpSpPr>
          <p:grpSpPr>
            <a:xfrm>
              <a:off x="5541" y="2686"/>
              <a:ext cx="1291" cy="543"/>
              <a:chOff x="8917828" y="2201542"/>
              <a:chExt cx="1425055" cy="599325"/>
            </a:xfrm>
          </p:grpSpPr>
          <p:sp>
            <p:nvSpPr>
              <p:cNvPr id="26" name="Isosceles Triangle 34"/>
              <p:cNvSpPr/>
              <p:nvPr/>
            </p:nvSpPr>
            <p:spPr>
              <a:xfrm rot="10800000">
                <a:off x="9215508" y="2623067"/>
                <a:ext cx="206248" cy="1778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7" name="Rectangle 6"/>
              <p:cNvSpPr/>
              <p:nvPr/>
            </p:nvSpPr>
            <p:spPr>
              <a:xfrm>
                <a:off x="8917828" y="2201542"/>
                <a:ext cx="1425055" cy="481559"/>
              </a:xfrm>
              <a:prstGeom prst="rect">
                <a:avLst/>
              </a:prstGeom>
            </p:spPr>
            <p:txBody>
              <a:bodyPr wrap="square" lIns="91429" tIns="45715" rIns="91429" bIns="45715">
                <a:spAutoFit/>
              </a:bodyPr>
              <a:lstStyle/>
              <a:p>
                <a:pPr>
                  <a:defRPr/>
                </a:pPr>
                <a:r>
                  <a:rPr lang="en-US" altLang="zh-CN" sz="1200" kern="0" dirty="0">
                    <a:solidFill>
                      <a:prstClr val="black"/>
                    </a:solidFill>
                    <a:latin typeface="Calibri" panose="020F0502020204030204"/>
                  </a:rPr>
                  <a:t>267.5</a:t>
                </a:r>
                <a:r>
                  <a:rPr lang="en-US" altLang="zh-HK" sz="1200" kern="0" dirty="0">
                    <a:solidFill>
                      <a:prstClr val="black"/>
                    </a:solidFill>
                    <a:latin typeface="Calibri" panose="020F0502020204030204"/>
                  </a:rPr>
                  <a:t>m</a:t>
                </a:r>
                <a:endParaRPr lang="en-US" sz="1200" kern="0" dirty="0">
                  <a:solidFill>
                    <a:prstClr val="black"/>
                  </a:solidFill>
                  <a:latin typeface="Calibri" panose="020F0502020204030204"/>
                </a:endParaRPr>
              </a:p>
            </p:txBody>
          </p:sp>
        </p:grpSp>
        <p:sp>
          <p:nvSpPr>
            <p:cNvPr id="11" name="TextBox 10"/>
            <p:cNvSpPr txBox="1"/>
            <p:nvPr/>
          </p:nvSpPr>
          <p:spPr>
            <a:xfrm rot="19758214">
              <a:off x="8138" y="5251"/>
              <a:ext cx="848" cy="2448"/>
            </a:xfrm>
            <a:prstGeom prst="rect">
              <a:avLst/>
            </a:prstGeom>
            <a:noFill/>
          </p:spPr>
          <p:txBody>
            <a:bodyPr wrap="square" lIns="91436" tIns="45718" rIns="91436" bIns="45718" rtlCol="0">
              <a:spAutoFit/>
            </a:bodyPr>
            <a:lstStyle/>
            <a:p>
              <a:r>
                <a:rPr lang="zh-CN" altLang="en-US" b="1" dirty="0">
                  <a:latin typeface="微软雅黑" panose="020B0503020204020204" pitchFamily="34" charset="-122"/>
                  <a:ea typeface="微软雅黑" panose="020B0503020204020204" pitchFamily="34" charset="-122"/>
                </a:rPr>
                <a:t>中环路东段</a:t>
              </a:r>
              <a:endParaRPr lang="zh-CN" altLang="en-US" b="1"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G:\F3总平面图20190508k-Model.jpg"/>
          <p:cNvPicPr>
            <a:picLocks noChangeAspect="1" noChangeArrowheads="1"/>
          </p:cNvPicPr>
          <p:nvPr/>
        </p:nvPicPr>
        <p:blipFill rotWithShape="1">
          <a:blip r:embed="rId1"/>
          <a:srcRect/>
          <a:stretch>
            <a:fillRect/>
          </a:stretch>
        </p:blipFill>
        <p:spPr bwMode="auto">
          <a:xfrm>
            <a:off x="386080" y="589383"/>
            <a:ext cx="7085576" cy="576696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p:cNvSpPr/>
          <p:nvPr/>
        </p:nvSpPr>
        <p:spPr>
          <a:xfrm rot="786185">
            <a:off x="3338229" y="1230232"/>
            <a:ext cx="877583" cy="276989"/>
          </a:xfrm>
          <a:prstGeom prst="rect">
            <a:avLst/>
          </a:prstGeom>
        </p:spPr>
        <p:txBody>
          <a:bodyPr wrap="square" lIns="91424" tIns="45714" rIns="91424" bIns="45714">
            <a:spAutoFit/>
          </a:bodyPr>
          <a:lstStyle/>
          <a:p>
            <a:pPr algn="ctr">
              <a:defRPr/>
            </a:pPr>
            <a:r>
              <a:rPr lang="zh-CN" altLang="en-US" sz="1200" b="1" kern="0" dirty="0"/>
              <a:t>大寨路</a:t>
            </a:r>
            <a:endParaRPr lang="en-US" sz="1200" b="1" kern="0" dirty="0"/>
          </a:p>
        </p:txBody>
      </p:sp>
      <p:sp>
        <p:nvSpPr>
          <p:cNvPr id="13" name="Rectangle 6"/>
          <p:cNvSpPr/>
          <p:nvPr/>
        </p:nvSpPr>
        <p:spPr>
          <a:xfrm rot="17870857">
            <a:off x="-324890" y="1437364"/>
            <a:ext cx="2118771" cy="276989"/>
          </a:xfrm>
          <a:prstGeom prst="rect">
            <a:avLst/>
          </a:prstGeom>
        </p:spPr>
        <p:txBody>
          <a:bodyPr wrap="square" lIns="91424" tIns="45714" rIns="91424" bIns="45714">
            <a:spAutoFit/>
          </a:bodyPr>
          <a:lstStyle/>
          <a:p>
            <a:pPr algn="ctr">
              <a:defRPr/>
            </a:pPr>
            <a:r>
              <a:rPr lang="zh-CN" altLang="en-US" sz="1200" b="1" kern="0" dirty="0"/>
              <a:t>中环路东段</a:t>
            </a:r>
            <a:endParaRPr lang="en-US" altLang="zh-TW" sz="1200" b="1" kern="0" dirty="0"/>
          </a:p>
        </p:txBody>
      </p:sp>
      <p:sp>
        <p:nvSpPr>
          <p:cNvPr id="14" name="Rectangle 6"/>
          <p:cNvSpPr/>
          <p:nvPr/>
        </p:nvSpPr>
        <p:spPr>
          <a:xfrm rot="4491326">
            <a:off x="5017390" y="1503980"/>
            <a:ext cx="2106993" cy="276989"/>
          </a:xfrm>
          <a:prstGeom prst="rect">
            <a:avLst/>
          </a:prstGeom>
        </p:spPr>
        <p:txBody>
          <a:bodyPr wrap="square" lIns="91424" tIns="45714" rIns="91424" bIns="45714">
            <a:spAutoFit/>
          </a:bodyPr>
          <a:lstStyle/>
          <a:p>
            <a:pPr algn="ctr">
              <a:defRPr/>
            </a:pPr>
            <a:r>
              <a:rPr lang="zh-CN" altLang="en-US" sz="1200" b="1" kern="0" dirty="0"/>
              <a:t>尚礼西路</a:t>
            </a:r>
            <a:endParaRPr lang="en-US" altLang="zh-TW" sz="1200" b="1" kern="0" dirty="0"/>
          </a:p>
        </p:txBody>
      </p:sp>
      <p:sp>
        <p:nvSpPr>
          <p:cNvPr id="22" name="TextBox 21"/>
          <p:cNvSpPr txBox="1"/>
          <p:nvPr/>
        </p:nvSpPr>
        <p:spPr>
          <a:xfrm>
            <a:off x="3502106" y="3626350"/>
            <a:ext cx="850123" cy="292388"/>
          </a:xfrm>
          <a:prstGeom prst="rect">
            <a:avLst/>
          </a:prstGeom>
          <a:noFill/>
        </p:spPr>
        <p:txBody>
          <a:bodyPr wrap="square" lIns="0" tIns="0" rIns="0" bIns="0" rtlCol="0">
            <a:spAutoFit/>
          </a:bodyPr>
          <a:lstStyle/>
          <a:p>
            <a:r>
              <a:rPr lang="zh-CN" altLang="en-US" b="1" dirty="0">
                <a:latin typeface="微软雅黑" panose="020B0503020204020204" pitchFamily="34" charset="-122"/>
                <a:ea typeface="微软雅黑" panose="020B0503020204020204" pitchFamily="34" charset="-122"/>
              </a:rPr>
              <a:t>办公楼</a:t>
            </a:r>
            <a:endParaRPr lang="en-US" altLang="zh-CN" b="1" dirty="0">
              <a:latin typeface="微软雅黑" panose="020B0503020204020204" pitchFamily="34" charset="-122"/>
              <a:ea typeface="微软雅黑" panose="020B0503020204020204" pitchFamily="34" charset="-122"/>
            </a:endParaRPr>
          </a:p>
        </p:txBody>
      </p:sp>
      <p:sp>
        <p:nvSpPr>
          <p:cNvPr id="23" name="TextBox 22"/>
          <p:cNvSpPr txBox="1"/>
          <p:nvPr/>
        </p:nvSpPr>
        <p:spPr>
          <a:xfrm>
            <a:off x="2128575" y="3743085"/>
            <a:ext cx="626063" cy="184667"/>
          </a:xfrm>
          <a:prstGeom prst="rect">
            <a:avLst/>
          </a:prstGeom>
          <a:noFill/>
        </p:spPr>
        <p:txBody>
          <a:bodyPr wrap="square" lIns="0" tIns="0" rIns="0" bIns="0" rtlCol="0">
            <a:spAutoFit/>
          </a:bodyPr>
          <a:lstStyle/>
          <a:p>
            <a:r>
              <a:rPr lang="zh-CN" altLang="en-US" sz="1200" b="1" dirty="0">
                <a:cs typeface="BentonSans Book"/>
              </a:rPr>
              <a:t>消防站</a:t>
            </a:r>
            <a:endParaRPr lang="en-US" altLang="zh-CN" sz="1200" b="1" dirty="0">
              <a:cs typeface="BentonSans Book"/>
            </a:endParaRPr>
          </a:p>
        </p:txBody>
      </p:sp>
      <p:sp>
        <p:nvSpPr>
          <p:cNvPr id="42" name="Rectangle 6"/>
          <p:cNvSpPr/>
          <p:nvPr/>
        </p:nvSpPr>
        <p:spPr>
          <a:xfrm>
            <a:off x="5281475" y="1503452"/>
            <a:ext cx="679892" cy="276989"/>
          </a:xfrm>
          <a:prstGeom prst="rect">
            <a:avLst/>
          </a:prstGeom>
        </p:spPr>
        <p:txBody>
          <a:bodyPr wrap="square" lIns="91424" tIns="45714" rIns="91424" bIns="45714">
            <a:spAutoFit/>
          </a:bodyPr>
          <a:lstStyle/>
          <a:p>
            <a:pPr algn="r">
              <a:defRPr/>
            </a:pPr>
            <a:r>
              <a:rPr lang="en-US" altLang="zh-CN" sz="1200" b="1" kern="0" dirty="0"/>
              <a:t>+1</a:t>
            </a:r>
            <a:r>
              <a:rPr lang="en-US" altLang="zh-TW" sz="1200" b="1" kern="0" dirty="0"/>
              <a:t>087</a:t>
            </a:r>
            <a:endParaRPr lang="en-US" sz="1200" b="1" kern="0" dirty="0"/>
          </a:p>
        </p:txBody>
      </p:sp>
      <p:sp>
        <p:nvSpPr>
          <p:cNvPr id="43" name="Rectangle 6"/>
          <p:cNvSpPr/>
          <p:nvPr/>
        </p:nvSpPr>
        <p:spPr>
          <a:xfrm>
            <a:off x="4213979" y="1556988"/>
            <a:ext cx="679892" cy="276989"/>
          </a:xfrm>
          <a:prstGeom prst="rect">
            <a:avLst/>
          </a:prstGeom>
        </p:spPr>
        <p:txBody>
          <a:bodyPr wrap="square" lIns="91424" tIns="45714" rIns="91424" bIns="45714">
            <a:spAutoFit/>
          </a:bodyPr>
          <a:lstStyle/>
          <a:p>
            <a:pPr algn="r">
              <a:defRPr/>
            </a:pPr>
            <a:r>
              <a:rPr lang="en-US" altLang="zh-CN" sz="1200" b="1" kern="0" dirty="0"/>
              <a:t>+1091</a:t>
            </a:r>
            <a:endParaRPr lang="en-US" sz="1200" b="1" kern="0" dirty="0"/>
          </a:p>
        </p:txBody>
      </p:sp>
      <p:sp>
        <p:nvSpPr>
          <p:cNvPr id="44" name="Rectangle 6"/>
          <p:cNvSpPr/>
          <p:nvPr/>
        </p:nvSpPr>
        <p:spPr>
          <a:xfrm>
            <a:off x="1241023" y="3610392"/>
            <a:ext cx="679892" cy="276989"/>
          </a:xfrm>
          <a:prstGeom prst="rect">
            <a:avLst/>
          </a:prstGeom>
        </p:spPr>
        <p:txBody>
          <a:bodyPr wrap="square" lIns="91424" tIns="45714" rIns="91424" bIns="45714">
            <a:spAutoFit/>
          </a:bodyPr>
          <a:lstStyle/>
          <a:p>
            <a:pPr algn="r">
              <a:defRPr/>
            </a:pPr>
            <a:r>
              <a:rPr lang="en-US" altLang="zh-CN" sz="1200" b="1" kern="0" dirty="0"/>
              <a:t>+1107</a:t>
            </a:r>
            <a:endParaRPr lang="en-US" sz="1200" b="1" kern="0" dirty="0"/>
          </a:p>
        </p:txBody>
      </p:sp>
      <p:sp>
        <p:nvSpPr>
          <p:cNvPr id="45" name="Rectangle 6"/>
          <p:cNvSpPr/>
          <p:nvPr/>
        </p:nvSpPr>
        <p:spPr>
          <a:xfrm>
            <a:off x="2267971" y="5368600"/>
            <a:ext cx="679892" cy="276989"/>
          </a:xfrm>
          <a:prstGeom prst="rect">
            <a:avLst/>
          </a:prstGeom>
        </p:spPr>
        <p:txBody>
          <a:bodyPr wrap="square" lIns="91424" tIns="45714" rIns="91424" bIns="45714">
            <a:spAutoFit/>
          </a:bodyPr>
          <a:lstStyle/>
          <a:p>
            <a:pPr algn="r">
              <a:defRPr/>
            </a:pPr>
            <a:r>
              <a:rPr lang="en-US" altLang="zh-CN" sz="1200" b="1" kern="0" dirty="0"/>
              <a:t>+1108</a:t>
            </a:r>
            <a:endParaRPr lang="en-US" sz="1200" b="1" kern="0" dirty="0"/>
          </a:p>
        </p:txBody>
      </p:sp>
      <p:sp>
        <p:nvSpPr>
          <p:cNvPr id="46" name="Rectangle 6"/>
          <p:cNvSpPr/>
          <p:nvPr/>
        </p:nvSpPr>
        <p:spPr>
          <a:xfrm>
            <a:off x="3770001" y="4570552"/>
            <a:ext cx="870531" cy="276989"/>
          </a:xfrm>
          <a:prstGeom prst="rect">
            <a:avLst/>
          </a:prstGeom>
        </p:spPr>
        <p:txBody>
          <a:bodyPr wrap="square" lIns="91424" tIns="45714" rIns="91424" bIns="45714">
            <a:spAutoFit/>
          </a:bodyPr>
          <a:lstStyle/>
          <a:p>
            <a:pPr algn="r">
              <a:defRPr/>
            </a:pPr>
            <a:r>
              <a:rPr lang="en-US" altLang="zh-CN" sz="1200" b="1" kern="0" dirty="0"/>
              <a:t>+1108.5</a:t>
            </a:r>
            <a:endParaRPr lang="en-US" sz="1200" b="1" kern="0" dirty="0"/>
          </a:p>
        </p:txBody>
      </p:sp>
      <p:sp>
        <p:nvSpPr>
          <p:cNvPr id="47" name="Rectangle 6"/>
          <p:cNvSpPr/>
          <p:nvPr/>
        </p:nvSpPr>
        <p:spPr>
          <a:xfrm>
            <a:off x="5928037" y="4615007"/>
            <a:ext cx="870531" cy="276989"/>
          </a:xfrm>
          <a:prstGeom prst="rect">
            <a:avLst/>
          </a:prstGeom>
        </p:spPr>
        <p:txBody>
          <a:bodyPr wrap="square" lIns="91424" tIns="45714" rIns="91424" bIns="45714">
            <a:spAutoFit/>
          </a:bodyPr>
          <a:lstStyle/>
          <a:p>
            <a:pPr algn="r">
              <a:defRPr/>
            </a:pPr>
            <a:r>
              <a:rPr lang="en-US" altLang="zh-CN" sz="1200" b="1" kern="0" dirty="0"/>
              <a:t>+1107</a:t>
            </a:r>
            <a:endParaRPr lang="en-US" sz="1200" b="1" kern="0" dirty="0"/>
          </a:p>
        </p:txBody>
      </p:sp>
      <p:sp>
        <p:nvSpPr>
          <p:cNvPr id="49" name="Rectangle 6"/>
          <p:cNvSpPr/>
          <p:nvPr/>
        </p:nvSpPr>
        <p:spPr>
          <a:xfrm>
            <a:off x="4893869" y="782299"/>
            <a:ext cx="870531" cy="276989"/>
          </a:xfrm>
          <a:prstGeom prst="rect">
            <a:avLst/>
          </a:prstGeom>
        </p:spPr>
        <p:txBody>
          <a:bodyPr wrap="square" lIns="91424" tIns="45714" rIns="91424" bIns="45714">
            <a:spAutoFit/>
          </a:bodyPr>
          <a:lstStyle/>
          <a:p>
            <a:pPr algn="r">
              <a:defRPr/>
            </a:pPr>
            <a:r>
              <a:rPr lang="en-US" altLang="zh-CN" sz="1200" b="1" kern="0" dirty="0"/>
              <a:t>+1086</a:t>
            </a:r>
            <a:endParaRPr lang="en-US" sz="1200" b="1" kern="0" dirty="0"/>
          </a:p>
        </p:txBody>
      </p:sp>
      <p:sp>
        <p:nvSpPr>
          <p:cNvPr id="50" name="Rectangle 6"/>
          <p:cNvSpPr/>
          <p:nvPr/>
        </p:nvSpPr>
        <p:spPr>
          <a:xfrm>
            <a:off x="1509437" y="1684404"/>
            <a:ext cx="870531" cy="276989"/>
          </a:xfrm>
          <a:prstGeom prst="rect">
            <a:avLst/>
          </a:prstGeom>
        </p:spPr>
        <p:txBody>
          <a:bodyPr wrap="square" lIns="91424" tIns="45714" rIns="91424" bIns="45714">
            <a:spAutoFit/>
          </a:bodyPr>
          <a:lstStyle/>
          <a:p>
            <a:pPr algn="r">
              <a:defRPr/>
            </a:pPr>
            <a:r>
              <a:rPr lang="en-US" altLang="zh-CN" sz="1200" b="1" kern="0" dirty="0"/>
              <a:t>+1097.2</a:t>
            </a:r>
            <a:endParaRPr lang="en-US" sz="1200" b="1" kern="0" dirty="0"/>
          </a:p>
        </p:txBody>
      </p:sp>
      <p:sp>
        <p:nvSpPr>
          <p:cNvPr id="51" name="Rectangle 6"/>
          <p:cNvSpPr/>
          <p:nvPr/>
        </p:nvSpPr>
        <p:spPr>
          <a:xfrm>
            <a:off x="1397441" y="798923"/>
            <a:ext cx="870531" cy="276989"/>
          </a:xfrm>
          <a:prstGeom prst="rect">
            <a:avLst/>
          </a:prstGeom>
        </p:spPr>
        <p:txBody>
          <a:bodyPr wrap="square" lIns="91424" tIns="45714" rIns="91424" bIns="45714">
            <a:spAutoFit/>
          </a:bodyPr>
          <a:lstStyle/>
          <a:p>
            <a:pPr algn="r">
              <a:defRPr/>
            </a:pPr>
            <a:r>
              <a:rPr lang="en-US" altLang="zh-CN" sz="1200" b="1" kern="0" dirty="0"/>
              <a:t>+1096</a:t>
            </a:r>
            <a:endParaRPr lang="en-US" sz="1200" b="1" kern="0" dirty="0"/>
          </a:p>
        </p:txBody>
      </p:sp>
      <p:sp>
        <p:nvSpPr>
          <p:cNvPr id="52" name="Rectangle 6"/>
          <p:cNvSpPr/>
          <p:nvPr/>
        </p:nvSpPr>
        <p:spPr>
          <a:xfrm>
            <a:off x="817049" y="2729620"/>
            <a:ext cx="870531" cy="276989"/>
          </a:xfrm>
          <a:prstGeom prst="rect">
            <a:avLst/>
          </a:prstGeom>
        </p:spPr>
        <p:txBody>
          <a:bodyPr wrap="square" lIns="91424" tIns="45714" rIns="91424" bIns="45714">
            <a:spAutoFit/>
          </a:bodyPr>
          <a:lstStyle/>
          <a:p>
            <a:pPr algn="r">
              <a:defRPr/>
            </a:pPr>
            <a:r>
              <a:rPr lang="en-US" altLang="zh-CN" sz="1200" b="1" kern="0" dirty="0"/>
              <a:t>+1102</a:t>
            </a:r>
            <a:endParaRPr lang="en-US" sz="1200" b="1" kern="0" dirty="0"/>
          </a:p>
        </p:txBody>
      </p:sp>
      <p:sp>
        <p:nvSpPr>
          <p:cNvPr id="53" name="Rectangle 6"/>
          <p:cNvSpPr/>
          <p:nvPr/>
        </p:nvSpPr>
        <p:spPr>
          <a:xfrm>
            <a:off x="2249096" y="1359040"/>
            <a:ext cx="870531" cy="276989"/>
          </a:xfrm>
          <a:prstGeom prst="rect">
            <a:avLst/>
          </a:prstGeom>
        </p:spPr>
        <p:txBody>
          <a:bodyPr wrap="square" lIns="91424" tIns="45714" rIns="91424" bIns="45714">
            <a:spAutoFit/>
          </a:bodyPr>
          <a:lstStyle/>
          <a:p>
            <a:pPr algn="r">
              <a:defRPr/>
            </a:pPr>
            <a:r>
              <a:rPr lang="en-US" altLang="zh-CN" sz="1200" b="1" kern="0" dirty="0"/>
              <a:t>+1096</a:t>
            </a:r>
            <a:endParaRPr lang="en-US" sz="1200" b="1" kern="0" dirty="0"/>
          </a:p>
        </p:txBody>
      </p:sp>
      <p:sp>
        <p:nvSpPr>
          <p:cNvPr id="48" name="Rectangle 6"/>
          <p:cNvSpPr/>
          <p:nvPr/>
        </p:nvSpPr>
        <p:spPr>
          <a:xfrm>
            <a:off x="5928037" y="3248832"/>
            <a:ext cx="870531" cy="276989"/>
          </a:xfrm>
          <a:prstGeom prst="rect">
            <a:avLst/>
          </a:prstGeom>
        </p:spPr>
        <p:txBody>
          <a:bodyPr wrap="square" lIns="91424" tIns="45714" rIns="91424" bIns="45714">
            <a:spAutoFit/>
          </a:bodyPr>
          <a:lstStyle/>
          <a:p>
            <a:pPr algn="r">
              <a:defRPr/>
            </a:pPr>
            <a:r>
              <a:rPr lang="en-US" altLang="zh-CN" sz="1200" b="1" kern="0" dirty="0"/>
              <a:t>+1092</a:t>
            </a:r>
            <a:endParaRPr lang="en-US" sz="1200" b="1" kern="0" dirty="0"/>
          </a:p>
        </p:txBody>
      </p:sp>
      <p:sp>
        <p:nvSpPr>
          <p:cNvPr id="59" name="Rectangle 6"/>
          <p:cNvSpPr/>
          <p:nvPr/>
        </p:nvSpPr>
        <p:spPr>
          <a:xfrm rot="20737996">
            <a:off x="4064544" y="5127411"/>
            <a:ext cx="1756973" cy="276989"/>
          </a:xfrm>
          <a:prstGeom prst="rect">
            <a:avLst/>
          </a:prstGeom>
        </p:spPr>
        <p:txBody>
          <a:bodyPr wrap="square" lIns="91424" tIns="45714" rIns="91424" bIns="45714">
            <a:spAutoFit/>
          </a:bodyPr>
          <a:lstStyle/>
          <a:p>
            <a:pPr>
              <a:defRPr/>
            </a:pPr>
            <a:r>
              <a:rPr lang="zh-CN" altLang="en-US" sz="1200" b="1" kern="0" dirty="0"/>
              <a:t>北京东路</a:t>
            </a:r>
            <a:endParaRPr lang="en-US" sz="1200" b="1" kern="0" dirty="0"/>
          </a:p>
        </p:txBody>
      </p:sp>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5" name="矩形 4"/>
          <p:cNvSpPr>
            <a:spLocks noChangeArrowheads="1"/>
          </p:cNvSpPr>
          <p:nvPr/>
        </p:nvSpPr>
        <p:spPr bwMode="auto">
          <a:xfrm>
            <a:off x="3640" y="12239"/>
            <a:ext cx="421033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组团底商动线及出入口分析</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56" name="矩形标注 53"/>
          <p:cNvSpPr/>
          <p:nvPr/>
        </p:nvSpPr>
        <p:spPr bwMode="auto">
          <a:xfrm>
            <a:off x="3228547" y="634591"/>
            <a:ext cx="1197804" cy="328663"/>
          </a:xfrm>
          <a:prstGeom prst="wedgeRectCallout">
            <a:avLst>
              <a:gd name="adj1" fmla="val 24487"/>
              <a:gd name="adj2" fmla="val 235586"/>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组团出入口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右箭头 77"/>
          <p:cNvSpPr/>
          <p:nvPr/>
        </p:nvSpPr>
        <p:spPr bwMode="auto">
          <a:xfrm rot="6510769">
            <a:off x="4070750" y="1536573"/>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58" name="右箭头 77"/>
          <p:cNvSpPr/>
          <p:nvPr/>
        </p:nvSpPr>
        <p:spPr bwMode="auto">
          <a:xfrm rot="13265886">
            <a:off x="5351913" y="4622673"/>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0" name="矩形标注 53"/>
          <p:cNvSpPr/>
          <p:nvPr/>
        </p:nvSpPr>
        <p:spPr bwMode="auto">
          <a:xfrm>
            <a:off x="5681386" y="5178434"/>
            <a:ext cx="1197804" cy="328663"/>
          </a:xfrm>
          <a:prstGeom prst="wedgeRectCallout">
            <a:avLst>
              <a:gd name="adj1" fmla="val -57790"/>
              <a:gd name="adj2" fmla="val -138463"/>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61" name="右箭头 77"/>
          <p:cNvSpPr/>
          <p:nvPr/>
        </p:nvSpPr>
        <p:spPr bwMode="auto">
          <a:xfrm rot="10800000">
            <a:off x="6106313" y="3343061"/>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2" name="矩形标注 53"/>
          <p:cNvSpPr/>
          <p:nvPr/>
        </p:nvSpPr>
        <p:spPr bwMode="auto">
          <a:xfrm>
            <a:off x="6455282" y="3772544"/>
            <a:ext cx="1197804" cy="328663"/>
          </a:xfrm>
          <a:prstGeom prst="wedgeRectCallout">
            <a:avLst>
              <a:gd name="adj1" fmla="val -57790"/>
              <a:gd name="adj2" fmla="val -138463"/>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63" name="矩形标注 53"/>
          <p:cNvSpPr/>
          <p:nvPr/>
        </p:nvSpPr>
        <p:spPr bwMode="auto">
          <a:xfrm>
            <a:off x="156109" y="1942973"/>
            <a:ext cx="1148315" cy="513163"/>
          </a:xfrm>
          <a:prstGeom prst="wedgeRectCallout">
            <a:avLst>
              <a:gd name="adj1" fmla="val 54548"/>
              <a:gd name="adj2" fmla="val 23381"/>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室外至吊三层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64" name="右箭头 77"/>
          <p:cNvSpPr/>
          <p:nvPr/>
        </p:nvSpPr>
        <p:spPr bwMode="auto">
          <a:xfrm rot="1649503">
            <a:off x="1345971" y="2295298"/>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5" name="矩形标注 53"/>
          <p:cNvSpPr/>
          <p:nvPr/>
        </p:nvSpPr>
        <p:spPr bwMode="auto">
          <a:xfrm>
            <a:off x="1099741" y="4847541"/>
            <a:ext cx="1148315" cy="513163"/>
          </a:xfrm>
          <a:prstGeom prst="wedgeRectCallout">
            <a:avLst>
              <a:gd name="adj1" fmla="val 100335"/>
              <a:gd name="adj2" fmla="val -46410"/>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室外至吊一层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66" name="右箭头 77"/>
          <p:cNvSpPr/>
          <p:nvPr/>
        </p:nvSpPr>
        <p:spPr bwMode="auto">
          <a:xfrm rot="16376807">
            <a:off x="2902216" y="4683079"/>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7" name="右箭头 77"/>
          <p:cNvSpPr/>
          <p:nvPr/>
        </p:nvSpPr>
        <p:spPr bwMode="auto">
          <a:xfrm rot="9957046">
            <a:off x="5673035" y="3453771"/>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8" name="矩形标注 53"/>
          <p:cNvSpPr/>
          <p:nvPr/>
        </p:nvSpPr>
        <p:spPr bwMode="auto">
          <a:xfrm>
            <a:off x="5881124" y="2695565"/>
            <a:ext cx="1148315" cy="513163"/>
          </a:xfrm>
          <a:prstGeom prst="wedgeRectCallout">
            <a:avLst>
              <a:gd name="adj1" fmla="val -50962"/>
              <a:gd name="adj2" fmla="val 100596"/>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室外至吊四层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55" name="矩形 54"/>
          <p:cNvSpPr/>
          <p:nvPr/>
        </p:nvSpPr>
        <p:spPr>
          <a:xfrm rot="19611931">
            <a:off x="1875613" y="2273895"/>
            <a:ext cx="671975" cy="384719"/>
          </a:xfrm>
          <a:prstGeom prst="rect">
            <a:avLst/>
          </a:prstGeom>
        </p:spPr>
        <p:txBody>
          <a:bodyPr wrap="none" lIns="91436" tIns="45718" rIns="91436" bIns="45718">
            <a:spAutoFit/>
          </a:bodyPr>
          <a:lstStyle/>
          <a:p>
            <a:r>
              <a:rPr lang="zh-CN" altLang="en-US" b="1" dirty="0">
                <a:latin typeface="微软雅黑" panose="020B0503020204020204" pitchFamily="34" charset="-122"/>
                <a:ea typeface="微软雅黑" panose="020B0503020204020204" pitchFamily="34" charset="-122"/>
              </a:rPr>
              <a:t>公寓</a:t>
            </a:r>
            <a:endParaRPr lang="zh-CN" altLang="en-US" b="1" dirty="0">
              <a:latin typeface="微软雅黑" panose="020B0503020204020204" pitchFamily="34" charset="-122"/>
              <a:ea typeface="微软雅黑" panose="020B0503020204020204" pitchFamily="34" charset="-122"/>
            </a:endParaRPr>
          </a:p>
        </p:txBody>
      </p:sp>
      <p:sp>
        <p:nvSpPr>
          <p:cNvPr id="71" name="燕尾形 62"/>
          <p:cNvSpPr/>
          <p:nvPr/>
        </p:nvSpPr>
        <p:spPr bwMode="auto">
          <a:xfrm rot="13339631">
            <a:off x="2475509" y="2721757"/>
            <a:ext cx="292969" cy="214123"/>
          </a:xfrm>
          <a:prstGeom prst="chevron">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pic>
        <p:nvPicPr>
          <p:cNvPr id="4100" name="Picture 4"/>
          <p:cNvPicPr>
            <a:picLocks noChangeAspect="1" noChangeArrowheads="1"/>
          </p:cNvPicPr>
          <p:nvPr/>
        </p:nvPicPr>
        <p:blipFill>
          <a:blip r:embed="rId2"/>
          <a:srcRect/>
          <a:stretch>
            <a:fillRect/>
          </a:stretch>
        </p:blipFill>
        <p:spPr bwMode="auto">
          <a:xfrm>
            <a:off x="6879189" y="901805"/>
            <a:ext cx="550907" cy="674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 name="TextBox 4"/>
          <p:cNvSpPr txBox="1"/>
          <p:nvPr/>
        </p:nvSpPr>
        <p:spPr>
          <a:xfrm>
            <a:off x="7430093" y="987406"/>
            <a:ext cx="4720344" cy="3003510"/>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F3</a:t>
            </a:r>
            <a:r>
              <a:rPr lang="zh-CN" altLang="en-US" sz="1600" b="1" dirty="0">
                <a:latin typeface="微软雅黑" panose="020B0503020204020204" pitchFamily="34" charset="-122"/>
                <a:ea typeface="微软雅黑" panose="020B0503020204020204" pitchFamily="34" charset="-122"/>
              </a:rPr>
              <a:t>组团平台与北京东路平接，平台与北侧大寨路小区主出入口处高差约</a:t>
            </a:r>
            <a:r>
              <a:rPr lang="en-US" altLang="zh-CN" sz="1600" b="1" dirty="0">
                <a:latin typeface="微软雅黑" panose="020B0503020204020204" pitchFamily="34" charset="-122"/>
                <a:ea typeface="微软雅黑" panose="020B0503020204020204" pitchFamily="34" charset="-122"/>
              </a:rPr>
              <a:t>18</a:t>
            </a:r>
            <a:r>
              <a:rPr lang="zh-CN" altLang="en-US" sz="1600" b="1" dirty="0">
                <a:latin typeface="微软雅黑" panose="020B0503020204020204" pitchFamily="34" charset="-122"/>
                <a:ea typeface="微软雅黑" panose="020B0503020204020204" pitchFamily="34" charset="-122"/>
              </a:rPr>
              <a:t>米</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F3</a:t>
            </a:r>
            <a:r>
              <a:rPr lang="zh-CN" altLang="en-US" sz="1600" b="1" dirty="0">
                <a:latin typeface="微软雅黑" panose="020B0503020204020204" pitchFamily="34" charset="-122"/>
                <a:ea typeface="微软雅黑" panose="020B0503020204020204" pitchFamily="34" charset="-122"/>
              </a:rPr>
              <a:t>组团设有北侧一个主出入口，尚礼西路侧一个如及北京东路侧一个入口，共</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个出、入口；</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F3</a:t>
            </a:r>
            <a:r>
              <a:rPr lang="zh-CN" altLang="en-US" sz="1600" b="1" dirty="0">
                <a:latin typeface="微软雅黑" panose="020B0503020204020204" pitchFamily="34" charset="-122"/>
                <a:ea typeface="微软雅黑" panose="020B0503020204020204" pitchFamily="34" charset="-122"/>
              </a:rPr>
              <a:t>组团共有</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个车库出入口</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底商一层与路面平接，经尚礼西路至大寨路直达</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600" b="1" dirty="0" smtClean="0">
                <a:latin typeface="微软雅黑" panose="020B0503020204020204" pitchFamily="34" charset="-122"/>
                <a:ea typeface="微软雅黑" panose="020B0503020204020204" pitchFamily="34" charset="-122"/>
              </a:rPr>
              <a:t>可从尚礼西路通过人行阶梯到达北京东路</a:t>
            </a:r>
            <a:endParaRPr lang="en-US" altLang="zh-CN" sz="1600" b="1" dirty="0">
              <a:latin typeface="微软雅黑" panose="020B0503020204020204" pitchFamily="34" charset="-122"/>
              <a:ea typeface="微软雅黑" panose="020B0503020204020204" pitchFamily="34" charset="-122"/>
            </a:endParaRPr>
          </a:p>
        </p:txBody>
      </p:sp>
      <p:sp>
        <p:nvSpPr>
          <p:cNvPr id="4096" name="矩形 4095"/>
          <p:cNvSpPr/>
          <p:nvPr/>
        </p:nvSpPr>
        <p:spPr>
          <a:xfrm rot="18943551">
            <a:off x="2427661" y="2825343"/>
            <a:ext cx="800219" cy="276999"/>
          </a:xfrm>
          <a:prstGeom prst="rect">
            <a:avLst/>
          </a:prstGeom>
        </p:spPr>
        <p:txBody>
          <a:bodyPr wrap="none" lIns="91436" tIns="45718" rIns="91436" bIns="45718">
            <a:spAutoFit/>
          </a:bodyPr>
          <a:lstStyle/>
          <a:p>
            <a:pPr algn="ctr"/>
            <a:r>
              <a:rPr lang="zh-CN" altLang="en-US" sz="1200" b="1" dirty="0">
                <a:latin typeface="微软雅黑" panose="020B0503020204020204" pitchFamily="34" charset="-122"/>
                <a:ea typeface="微软雅黑" panose="020B0503020204020204" pitchFamily="34" charset="-122"/>
              </a:rPr>
              <a:t>公寓入口</a:t>
            </a:r>
            <a:endParaRPr lang="zh-CN" altLang="en-US" sz="1200" b="1" dirty="0">
              <a:latin typeface="微软雅黑" panose="020B0503020204020204" pitchFamily="34" charset="-122"/>
              <a:ea typeface="微软雅黑" panose="020B0503020204020204" pitchFamily="34" charset="-122"/>
            </a:endParaRPr>
          </a:p>
        </p:txBody>
      </p:sp>
      <p:sp>
        <p:nvSpPr>
          <p:cNvPr id="75" name="燕尾形 62"/>
          <p:cNvSpPr/>
          <p:nvPr/>
        </p:nvSpPr>
        <p:spPr bwMode="auto">
          <a:xfrm rot="11988813">
            <a:off x="2246756" y="830356"/>
            <a:ext cx="292969" cy="214123"/>
          </a:xfrm>
          <a:prstGeom prst="chevron">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76" name="Rectangle 6"/>
          <p:cNvSpPr/>
          <p:nvPr/>
        </p:nvSpPr>
        <p:spPr>
          <a:xfrm rot="786185">
            <a:off x="2251899" y="891596"/>
            <a:ext cx="877583" cy="276989"/>
          </a:xfrm>
          <a:prstGeom prst="rect">
            <a:avLst/>
          </a:prstGeom>
        </p:spPr>
        <p:txBody>
          <a:bodyPr wrap="square" lIns="91424" tIns="45714" rIns="91424" bIns="45714">
            <a:spAutoFit/>
          </a:bodyPr>
          <a:lstStyle/>
          <a:p>
            <a:pPr algn="ctr">
              <a:defRPr/>
            </a:pPr>
            <a:r>
              <a:rPr lang="zh-CN" altLang="en-US" sz="1200" b="1" kern="0" dirty="0"/>
              <a:t>往</a:t>
            </a:r>
            <a:r>
              <a:rPr lang="en-US" altLang="zh-CN" sz="1200" b="1" kern="0" dirty="0"/>
              <a:t>F10</a:t>
            </a:r>
            <a:endParaRPr lang="en-US" sz="1200" b="1" kern="0" dirty="0"/>
          </a:p>
        </p:txBody>
      </p:sp>
      <p:sp>
        <p:nvSpPr>
          <p:cNvPr id="3" name="任意多边形: 形状 2"/>
          <p:cNvSpPr/>
          <p:nvPr/>
        </p:nvSpPr>
        <p:spPr>
          <a:xfrm>
            <a:off x="3092450" y="2000250"/>
            <a:ext cx="2781300" cy="2387600"/>
          </a:xfrm>
          <a:custGeom>
            <a:avLst/>
            <a:gdLst>
              <a:gd name="connsiteX0" fmla="*/ 57150 w 2781300"/>
              <a:gd name="connsiteY0" fmla="*/ 0 h 2387600"/>
              <a:gd name="connsiteX1" fmla="*/ 0 w 2781300"/>
              <a:gd name="connsiteY1" fmla="*/ 444500 h 2387600"/>
              <a:gd name="connsiteX2" fmla="*/ 508000 w 2781300"/>
              <a:gd name="connsiteY2" fmla="*/ 571500 h 2387600"/>
              <a:gd name="connsiteX3" fmla="*/ 609600 w 2781300"/>
              <a:gd name="connsiteY3" fmla="*/ 590550 h 2387600"/>
              <a:gd name="connsiteX4" fmla="*/ 831850 w 2781300"/>
              <a:gd name="connsiteY4" fmla="*/ 679450 h 2387600"/>
              <a:gd name="connsiteX5" fmla="*/ 1689100 w 2781300"/>
              <a:gd name="connsiteY5" fmla="*/ 1085850 h 2387600"/>
              <a:gd name="connsiteX6" fmla="*/ 1943100 w 2781300"/>
              <a:gd name="connsiteY6" fmla="*/ 1231900 h 2387600"/>
              <a:gd name="connsiteX7" fmla="*/ 1987550 w 2781300"/>
              <a:gd name="connsiteY7" fmla="*/ 1270000 h 2387600"/>
              <a:gd name="connsiteX8" fmla="*/ 2063750 w 2781300"/>
              <a:gd name="connsiteY8" fmla="*/ 1485900 h 2387600"/>
              <a:gd name="connsiteX9" fmla="*/ 2159000 w 2781300"/>
              <a:gd name="connsiteY9" fmla="*/ 1936750 h 2387600"/>
              <a:gd name="connsiteX10" fmla="*/ 2228850 w 2781300"/>
              <a:gd name="connsiteY10" fmla="*/ 2387600 h 2387600"/>
              <a:gd name="connsiteX11" fmla="*/ 2781300 w 2781300"/>
              <a:gd name="connsiteY11" fmla="*/ 2273300 h 2387600"/>
              <a:gd name="connsiteX12" fmla="*/ 2520950 w 2781300"/>
              <a:gd name="connsiteY12" fmla="*/ 1143000 h 2387600"/>
              <a:gd name="connsiteX13" fmla="*/ 2463800 w 2781300"/>
              <a:gd name="connsiteY13" fmla="*/ 984250 h 2387600"/>
              <a:gd name="connsiteX14" fmla="*/ 2343150 w 2781300"/>
              <a:gd name="connsiteY14" fmla="*/ 990600 h 2387600"/>
              <a:gd name="connsiteX15" fmla="*/ 1911350 w 2781300"/>
              <a:gd name="connsiteY15" fmla="*/ 635000 h 2387600"/>
              <a:gd name="connsiteX16" fmla="*/ 1479550 w 2781300"/>
              <a:gd name="connsiteY16" fmla="*/ 393700 h 2387600"/>
              <a:gd name="connsiteX17" fmla="*/ 825500 w 2781300"/>
              <a:gd name="connsiteY17" fmla="*/ 133350 h 2387600"/>
              <a:gd name="connsiteX18" fmla="*/ 57150 w 2781300"/>
              <a:gd name="connsiteY18" fmla="*/ 0 h 238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81300" h="2387600">
                <a:moveTo>
                  <a:pt x="57150" y="0"/>
                </a:moveTo>
                <a:lnTo>
                  <a:pt x="0" y="444500"/>
                </a:lnTo>
                <a:lnTo>
                  <a:pt x="508000" y="571500"/>
                </a:lnTo>
                <a:lnTo>
                  <a:pt x="609600" y="590550"/>
                </a:lnTo>
                <a:lnTo>
                  <a:pt x="831850" y="679450"/>
                </a:lnTo>
                <a:lnTo>
                  <a:pt x="1689100" y="1085850"/>
                </a:lnTo>
                <a:lnTo>
                  <a:pt x="1943100" y="1231900"/>
                </a:lnTo>
                <a:lnTo>
                  <a:pt x="1987550" y="1270000"/>
                </a:lnTo>
                <a:lnTo>
                  <a:pt x="2063750" y="1485900"/>
                </a:lnTo>
                <a:lnTo>
                  <a:pt x="2159000" y="1936750"/>
                </a:lnTo>
                <a:lnTo>
                  <a:pt x="2228850" y="2387600"/>
                </a:lnTo>
                <a:lnTo>
                  <a:pt x="2781300" y="2273300"/>
                </a:lnTo>
                <a:lnTo>
                  <a:pt x="2520950" y="1143000"/>
                </a:lnTo>
                <a:lnTo>
                  <a:pt x="2463800" y="984250"/>
                </a:lnTo>
                <a:lnTo>
                  <a:pt x="2343150" y="990600"/>
                </a:lnTo>
                <a:lnTo>
                  <a:pt x="1911350" y="635000"/>
                </a:lnTo>
                <a:lnTo>
                  <a:pt x="1479550" y="393700"/>
                </a:lnTo>
                <a:lnTo>
                  <a:pt x="825500" y="133350"/>
                </a:lnTo>
                <a:lnTo>
                  <a:pt x="57150" y="0"/>
                </a:lnTo>
                <a:close/>
              </a:path>
            </a:pathLst>
          </a:custGeom>
          <a:solidFill>
            <a:schemeClr val="accent6">
              <a:lumMod val="60000"/>
              <a:lumOff val="40000"/>
              <a:alpha val="5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rot="1847641">
            <a:off x="4333432" y="2553641"/>
            <a:ext cx="671975" cy="384719"/>
          </a:xfrm>
          <a:prstGeom prst="rect">
            <a:avLst/>
          </a:prstGeom>
        </p:spPr>
        <p:txBody>
          <a:bodyPr wrap="none" lIns="91436" tIns="45718" rIns="91436" bIns="45718">
            <a:spAutoFit/>
          </a:bodyPr>
          <a:lstStyle/>
          <a:p>
            <a:r>
              <a:rPr lang="zh-CN" altLang="en-US" b="1" dirty="0">
                <a:latin typeface="微软雅黑" panose="020B0503020204020204" pitchFamily="34" charset="-122"/>
                <a:ea typeface="微软雅黑" panose="020B0503020204020204" pitchFamily="34" charset="-122"/>
              </a:rPr>
              <a:t>底商</a:t>
            </a:r>
            <a:endParaRPr lang="zh-CN" altLang="en-US" b="1" dirty="0">
              <a:latin typeface="微软雅黑" panose="020B0503020204020204" pitchFamily="34" charset="-122"/>
              <a:ea typeface="微软雅黑" panose="020B0503020204020204" pitchFamily="34" charset="-122"/>
            </a:endParaRPr>
          </a:p>
        </p:txBody>
      </p:sp>
      <p:cxnSp>
        <p:nvCxnSpPr>
          <p:cNvPr id="6" name="直接箭头连接符 5"/>
          <p:cNvCxnSpPr/>
          <p:nvPr/>
        </p:nvCxnSpPr>
        <p:spPr>
          <a:xfrm>
            <a:off x="5961367" y="3573478"/>
            <a:ext cx="278534" cy="113556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rot="20761136">
            <a:off x="6045277" y="3643572"/>
            <a:ext cx="197136" cy="830997"/>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人行</a:t>
            </a:r>
            <a:r>
              <a:rPr lang="zh-CN" altLang="en-US" sz="1200" b="1" dirty="0" smtClean="0">
                <a:latin typeface="微软雅黑" panose="020B0503020204020204" pitchFamily="34" charset="-122"/>
                <a:ea typeface="微软雅黑" panose="020B0503020204020204" pitchFamily="34" charset="-122"/>
              </a:rPr>
              <a:t>阶梯</a:t>
            </a:r>
            <a:endParaRPr lang="zh-CN" altLang="en-US" sz="1200" b="1" dirty="0" smtClean="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5" name="矩形 4"/>
          <p:cNvSpPr/>
          <p:nvPr/>
        </p:nvSpPr>
        <p:spPr>
          <a:xfrm>
            <a:off x="1224727" y="880701"/>
            <a:ext cx="816159" cy="4483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2" name="矩形 11"/>
          <p:cNvSpPr>
            <a:spLocks noChangeArrowheads="1"/>
          </p:cNvSpPr>
          <p:nvPr/>
        </p:nvSpPr>
        <p:spPr bwMode="auto">
          <a:xfrm>
            <a:off x="16340" y="12559"/>
            <a:ext cx="3020021"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组团剖面图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a:srcRect/>
          <a:stretch>
            <a:fillRect/>
          </a:stretch>
        </p:blipFill>
        <p:spPr>
          <a:xfrm rot="16200000">
            <a:off x="2760920" y="-1640899"/>
            <a:ext cx="2797075" cy="7841798"/>
          </a:xfrm>
          <a:prstGeom prst="rect">
            <a:avLst/>
          </a:prstGeom>
        </p:spPr>
      </p:pic>
      <p:sp>
        <p:nvSpPr>
          <p:cNvPr id="27" name="矩形 26"/>
          <p:cNvSpPr/>
          <p:nvPr/>
        </p:nvSpPr>
        <p:spPr>
          <a:xfrm>
            <a:off x="6737163" y="2221855"/>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5</a:t>
            </a:r>
            <a:endParaRPr lang="zh-CN" altLang="en-US" sz="1100" b="1" dirty="0">
              <a:latin typeface="微软雅黑" panose="020B0503020204020204" pitchFamily="34" charset="-122"/>
              <a:ea typeface="微软雅黑" panose="020B0503020204020204" pitchFamily="34" charset="-122"/>
            </a:endParaRPr>
          </a:p>
        </p:txBody>
      </p:sp>
      <p:sp>
        <p:nvSpPr>
          <p:cNvPr id="29" name="矩形 28"/>
          <p:cNvSpPr/>
          <p:nvPr/>
        </p:nvSpPr>
        <p:spPr>
          <a:xfrm>
            <a:off x="6749070" y="2751323"/>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负</a:t>
            </a:r>
            <a:r>
              <a:rPr lang="en-US" altLang="zh-CN" sz="1100" b="1" dirty="0">
                <a:latin typeface="微软雅黑" panose="020B0503020204020204" pitchFamily="34" charset="-122"/>
                <a:ea typeface="微软雅黑" panose="020B0503020204020204" pitchFamily="34" charset="-122"/>
              </a:rPr>
              <a:t>2</a:t>
            </a:r>
            <a:endParaRPr lang="zh-CN" altLang="en-US" sz="1100" b="1" dirty="0">
              <a:latin typeface="微软雅黑" panose="020B0503020204020204" pitchFamily="34" charset="-122"/>
              <a:ea typeface="微软雅黑" panose="020B0503020204020204" pitchFamily="34" charset="-122"/>
            </a:endParaRPr>
          </a:p>
        </p:txBody>
      </p:sp>
      <p:sp>
        <p:nvSpPr>
          <p:cNvPr id="30" name="矩形 29"/>
          <p:cNvSpPr/>
          <p:nvPr/>
        </p:nvSpPr>
        <p:spPr>
          <a:xfrm>
            <a:off x="6749070" y="2453291"/>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负</a:t>
            </a:r>
            <a:r>
              <a:rPr lang="en-US" altLang="zh-CN" sz="1100" b="1" dirty="0">
                <a:latin typeface="微软雅黑" panose="020B0503020204020204" pitchFamily="34" charset="-122"/>
                <a:ea typeface="微软雅黑" panose="020B0503020204020204" pitchFamily="34" charset="-122"/>
              </a:rPr>
              <a:t>1</a:t>
            </a:r>
            <a:endParaRPr lang="zh-CN" altLang="en-US" sz="1100" b="1" dirty="0">
              <a:latin typeface="微软雅黑" panose="020B0503020204020204" pitchFamily="34" charset="-122"/>
              <a:ea typeface="微软雅黑" panose="020B0503020204020204" pitchFamily="34" charset="-122"/>
            </a:endParaRPr>
          </a:p>
        </p:txBody>
      </p:sp>
      <p:sp>
        <p:nvSpPr>
          <p:cNvPr id="31" name="矩形 30"/>
          <p:cNvSpPr/>
          <p:nvPr/>
        </p:nvSpPr>
        <p:spPr>
          <a:xfrm>
            <a:off x="6737163" y="2013759"/>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4</a:t>
            </a:r>
            <a:endParaRPr lang="zh-CN" altLang="en-US" sz="1100" b="1" dirty="0">
              <a:latin typeface="微软雅黑" panose="020B0503020204020204" pitchFamily="34" charset="-122"/>
              <a:ea typeface="微软雅黑" panose="020B0503020204020204" pitchFamily="34" charset="-122"/>
            </a:endParaRPr>
          </a:p>
        </p:txBody>
      </p:sp>
      <p:sp>
        <p:nvSpPr>
          <p:cNvPr id="32" name="矩形 31"/>
          <p:cNvSpPr/>
          <p:nvPr/>
        </p:nvSpPr>
        <p:spPr>
          <a:xfrm>
            <a:off x="6737163" y="1783096"/>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3</a:t>
            </a:r>
            <a:endParaRPr lang="zh-CN" altLang="en-US" sz="1100" b="1" dirty="0">
              <a:latin typeface="微软雅黑" panose="020B0503020204020204" pitchFamily="34" charset="-122"/>
              <a:ea typeface="微软雅黑" panose="020B0503020204020204" pitchFamily="34" charset="-122"/>
            </a:endParaRPr>
          </a:p>
        </p:txBody>
      </p:sp>
      <p:sp>
        <p:nvSpPr>
          <p:cNvPr id="33" name="矩形 32"/>
          <p:cNvSpPr/>
          <p:nvPr/>
        </p:nvSpPr>
        <p:spPr>
          <a:xfrm>
            <a:off x="6737163" y="1551660"/>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2</a:t>
            </a:r>
            <a:endParaRPr lang="zh-CN" altLang="en-US" sz="1100" b="1" dirty="0">
              <a:latin typeface="微软雅黑" panose="020B0503020204020204" pitchFamily="34" charset="-122"/>
              <a:ea typeface="微软雅黑" panose="020B0503020204020204" pitchFamily="34" charset="-122"/>
            </a:endParaRPr>
          </a:p>
        </p:txBody>
      </p:sp>
      <p:sp>
        <p:nvSpPr>
          <p:cNvPr id="34" name="矩形 33"/>
          <p:cNvSpPr/>
          <p:nvPr/>
        </p:nvSpPr>
        <p:spPr>
          <a:xfrm>
            <a:off x="6737163" y="1288404"/>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1</a:t>
            </a:r>
            <a:endParaRPr lang="zh-CN" altLang="en-US" sz="1100" b="1" dirty="0">
              <a:latin typeface="微软雅黑" panose="020B0503020204020204" pitchFamily="34" charset="-122"/>
              <a:ea typeface="微软雅黑" panose="020B0503020204020204" pitchFamily="34" charset="-122"/>
            </a:endParaRPr>
          </a:p>
        </p:txBody>
      </p:sp>
      <p:sp>
        <p:nvSpPr>
          <p:cNvPr id="35" name="矩形 34"/>
          <p:cNvSpPr/>
          <p:nvPr/>
        </p:nvSpPr>
        <p:spPr>
          <a:xfrm>
            <a:off x="1899822" y="2110854"/>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5</a:t>
            </a:r>
            <a:endParaRPr lang="zh-CN" altLang="en-US" sz="1100" b="1" dirty="0">
              <a:latin typeface="微软雅黑" panose="020B0503020204020204" pitchFamily="34" charset="-122"/>
              <a:ea typeface="微软雅黑" panose="020B0503020204020204" pitchFamily="34" charset="-122"/>
            </a:endParaRPr>
          </a:p>
        </p:txBody>
      </p:sp>
      <p:sp>
        <p:nvSpPr>
          <p:cNvPr id="36" name="矩形 35"/>
          <p:cNvSpPr/>
          <p:nvPr/>
        </p:nvSpPr>
        <p:spPr>
          <a:xfrm>
            <a:off x="914191" y="2740649"/>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负</a:t>
            </a:r>
            <a:r>
              <a:rPr lang="en-US" altLang="zh-CN" sz="1100" b="1" dirty="0">
                <a:latin typeface="微软雅黑" panose="020B0503020204020204" pitchFamily="34" charset="-122"/>
                <a:ea typeface="微软雅黑" panose="020B0503020204020204" pitchFamily="34" charset="-122"/>
              </a:rPr>
              <a:t>2</a:t>
            </a:r>
            <a:endParaRPr lang="zh-CN" altLang="en-US" sz="1100" b="1" dirty="0">
              <a:latin typeface="微软雅黑" panose="020B0503020204020204" pitchFamily="34" charset="-122"/>
              <a:ea typeface="微软雅黑" panose="020B0503020204020204" pitchFamily="34" charset="-122"/>
            </a:endParaRPr>
          </a:p>
        </p:txBody>
      </p:sp>
      <p:sp>
        <p:nvSpPr>
          <p:cNvPr id="37" name="矩形 36"/>
          <p:cNvSpPr/>
          <p:nvPr/>
        </p:nvSpPr>
        <p:spPr>
          <a:xfrm>
            <a:off x="914191" y="2442617"/>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负</a:t>
            </a:r>
            <a:r>
              <a:rPr lang="en-US" altLang="zh-CN" sz="1100" b="1" dirty="0">
                <a:latin typeface="微软雅黑" panose="020B0503020204020204" pitchFamily="34" charset="-122"/>
                <a:ea typeface="微软雅黑" panose="020B0503020204020204" pitchFamily="34" charset="-122"/>
              </a:rPr>
              <a:t>1</a:t>
            </a:r>
            <a:endParaRPr lang="zh-CN" altLang="en-US" sz="1100" b="1" dirty="0">
              <a:latin typeface="微软雅黑" panose="020B0503020204020204" pitchFamily="34" charset="-122"/>
              <a:ea typeface="微软雅黑" panose="020B0503020204020204" pitchFamily="34" charset="-122"/>
            </a:endParaRPr>
          </a:p>
        </p:txBody>
      </p:sp>
      <p:sp>
        <p:nvSpPr>
          <p:cNvPr id="39" name="矩形 38"/>
          <p:cNvSpPr/>
          <p:nvPr/>
        </p:nvSpPr>
        <p:spPr>
          <a:xfrm>
            <a:off x="1899822" y="1680862"/>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3</a:t>
            </a:r>
            <a:endParaRPr lang="zh-CN" altLang="en-US" sz="1100" b="1" dirty="0">
              <a:latin typeface="微软雅黑" panose="020B0503020204020204" pitchFamily="34" charset="-122"/>
              <a:ea typeface="微软雅黑" panose="020B0503020204020204" pitchFamily="34" charset="-122"/>
            </a:endParaRPr>
          </a:p>
        </p:txBody>
      </p:sp>
      <p:sp>
        <p:nvSpPr>
          <p:cNvPr id="41" name="矩形 40"/>
          <p:cNvSpPr/>
          <p:nvPr/>
        </p:nvSpPr>
        <p:spPr>
          <a:xfrm>
            <a:off x="1895513" y="1223460"/>
            <a:ext cx="412284"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吊</a:t>
            </a:r>
            <a:r>
              <a:rPr lang="en-US" altLang="zh-CN" sz="1100" b="1" dirty="0">
                <a:latin typeface="微软雅黑" panose="020B0503020204020204" pitchFamily="34" charset="-122"/>
                <a:ea typeface="微软雅黑" panose="020B0503020204020204" pitchFamily="34" charset="-122"/>
              </a:rPr>
              <a:t>1</a:t>
            </a:r>
            <a:endParaRPr lang="zh-CN" altLang="en-US" sz="1100" b="1" dirty="0">
              <a:latin typeface="微软雅黑" panose="020B0503020204020204" pitchFamily="34" charset="-122"/>
              <a:ea typeface="微软雅黑" panose="020B0503020204020204" pitchFamily="34" charset="-122"/>
            </a:endParaRPr>
          </a:p>
        </p:txBody>
      </p:sp>
      <p:sp>
        <p:nvSpPr>
          <p:cNvPr id="2" name="任意多边形 1"/>
          <p:cNvSpPr/>
          <p:nvPr/>
        </p:nvSpPr>
        <p:spPr>
          <a:xfrm>
            <a:off x="1273779" y="891132"/>
            <a:ext cx="2706624" cy="1847088"/>
          </a:xfrm>
          <a:custGeom>
            <a:avLst/>
            <a:gdLst>
              <a:gd name="connsiteX0" fmla="*/ 2706624 w 2706624"/>
              <a:gd name="connsiteY0" fmla="*/ 1847088 h 1847088"/>
              <a:gd name="connsiteX1" fmla="*/ 2706624 w 2706624"/>
              <a:gd name="connsiteY1" fmla="*/ 0 h 1847088"/>
              <a:gd name="connsiteX2" fmla="*/ 1764792 w 2706624"/>
              <a:gd name="connsiteY2" fmla="*/ 0 h 1847088"/>
              <a:gd name="connsiteX3" fmla="*/ 1764792 w 2706624"/>
              <a:gd name="connsiteY3" fmla="*/ 667512 h 1847088"/>
              <a:gd name="connsiteX4" fmla="*/ 1764792 w 2706624"/>
              <a:gd name="connsiteY4" fmla="*/ 1088136 h 1847088"/>
              <a:gd name="connsiteX5" fmla="*/ 1490472 w 2706624"/>
              <a:gd name="connsiteY5" fmla="*/ 1088136 h 1847088"/>
              <a:gd name="connsiteX6" fmla="*/ 1490472 w 2706624"/>
              <a:gd name="connsiteY6" fmla="*/ 1499616 h 1847088"/>
              <a:gd name="connsiteX7" fmla="*/ 0 w 2706624"/>
              <a:gd name="connsiteY7" fmla="*/ 1499616 h 1847088"/>
              <a:gd name="connsiteX8" fmla="*/ 0 w 2706624"/>
              <a:gd name="connsiteY8" fmla="*/ 1837944 h 1847088"/>
              <a:gd name="connsiteX9" fmla="*/ 2706624 w 2706624"/>
              <a:gd name="connsiteY9" fmla="*/ 1847088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6624" h="1847088">
                <a:moveTo>
                  <a:pt x="2706624" y="1847088"/>
                </a:moveTo>
                <a:lnTo>
                  <a:pt x="2706624" y="0"/>
                </a:lnTo>
                <a:lnTo>
                  <a:pt x="1764792" y="0"/>
                </a:lnTo>
                <a:lnTo>
                  <a:pt x="1764792" y="667512"/>
                </a:lnTo>
                <a:lnTo>
                  <a:pt x="1764792" y="1088136"/>
                </a:lnTo>
                <a:lnTo>
                  <a:pt x="1490472" y="1088136"/>
                </a:lnTo>
                <a:lnTo>
                  <a:pt x="1490472" y="1499616"/>
                </a:lnTo>
                <a:lnTo>
                  <a:pt x="0" y="1499616"/>
                </a:lnTo>
                <a:lnTo>
                  <a:pt x="0" y="1837944"/>
                </a:lnTo>
                <a:lnTo>
                  <a:pt x="2706624" y="1847088"/>
                </a:lnTo>
                <a:close/>
              </a:path>
            </a:pathLst>
          </a:custGeom>
          <a:solidFill>
            <a:schemeClr val="accent6">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176985" y="885169"/>
            <a:ext cx="694413" cy="261606"/>
          </a:xfrm>
          <a:prstGeom prst="rect">
            <a:avLst/>
          </a:prstGeom>
        </p:spPr>
        <p:txBody>
          <a:bodyPr wrap="none" lIns="91436" tIns="45718" rIns="91436" bIns="45718">
            <a:spAutoFit/>
          </a:bodyPr>
          <a:lstStyle/>
          <a:p>
            <a:r>
              <a:rPr lang="zh-CN" altLang="en-US" sz="1100" b="1" dirty="0">
                <a:latin typeface="微软雅黑" panose="020B0503020204020204" pitchFamily="34" charset="-122"/>
                <a:ea typeface="微软雅黑" panose="020B0503020204020204" pitchFamily="34" charset="-122"/>
              </a:rPr>
              <a:t>平台</a:t>
            </a:r>
            <a:r>
              <a:rPr lang="en-US" altLang="zh-CN" sz="1100" b="1" dirty="0">
                <a:latin typeface="微软雅黑" panose="020B0503020204020204" pitchFamily="34" charset="-122"/>
                <a:ea typeface="微软雅黑" panose="020B0503020204020204" pitchFamily="34" charset="-122"/>
              </a:rPr>
              <a:t>1</a:t>
            </a:r>
            <a:r>
              <a:rPr lang="zh-CN" altLang="en-US" sz="1100" b="1" dirty="0">
                <a:latin typeface="微软雅黑" panose="020B0503020204020204" pitchFamily="34" charset="-122"/>
                <a:ea typeface="微软雅黑" panose="020B0503020204020204" pitchFamily="34" charset="-122"/>
              </a:rPr>
              <a:t>层</a:t>
            </a:r>
            <a:endParaRPr lang="zh-CN" altLang="en-US" sz="1100" b="1" dirty="0">
              <a:latin typeface="微软雅黑" panose="020B0503020204020204" pitchFamily="34" charset="-122"/>
              <a:ea typeface="微软雅黑" panose="020B0503020204020204" pitchFamily="34" charset="-122"/>
            </a:endParaRPr>
          </a:p>
        </p:txBody>
      </p:sp>
      <p:pic>
        <p:nvPicPr>
          <p:cNvPr id="4098" name="Picture 2"/>
          <p:cNvPicPr>
            <a:picLocks noChangeAspect="1" noChangeArrowheads="1"/>
          </p:cNvPicPr>
          <p:nvPr/>
        </p:nvPicPr>
        <p:blipFill>
          <a:blip r:embed="rId2"/>
          <a:srcRect/>
          <a:stretch>
            <a:fillRect/>
          </a:stretch>
        </p:blipFill>
        <p:spPr bwMode="auto">
          <a:xfrm>
            <a:off x="238559" y="3656407"/>
            <a:ext cx="7841798" cy="3065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TextBox 4"/>
          <p:cNvSpPr txBox="1"/>
          <p:nvPr/>
        </p:nvSpPr>
        <p:spPr>
          <a:xfrm>
            <a:off x="8256856" y="2013759"/>
            <a:ext cx="3465752" cy="2308320"/>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F3</a:t>
            </a:r>
            <a:r>
              <a:rPr lang="zh-CN" altLang="en-US" sz="1600" b="1" dirty="0">
                <a:latin typeface="微软雅黑" panose="020B0503020204020204" pitchFamily="34" charset="-122"/>
                <a:ea typeface="微软雅黑" panose="020B0503020204020204" pitchFamily="34" charset="-122"/>
              </a:rPr>
              <a:t>组团底商共计</a:t>
            </a:r>
            <a:r>
              <a:rPr lang="en-US" altLang="zh-CN" sz="1600" b="1" dirty="0">
                <a:latin typeface="微软雅黑" panose="020B0503020204020204" pitchFamily="34" charset="-122"/>
                <a:ea typeface="微软雅黑" panose="020B0503020204020204" pitchFamily="34" charset="-122"/>
              </a:rPr>
              <a:t>5</a:t>
            </a:r>
            <a:r>
              <a:rPr lang="zh-CN" altLang="en-US" sz="1600" b="1" dirty="0">
                <a:latin typeface="微软雅黑" panose="020B0503020204020204" pitchFamily="34" charset="-122"/>
                <a:ea typeface="微软雅黑" panose="020B0503020204020204" pitchFamily="34" charset="-122"/>
              </a:rPr>
              <a:t>层</a:t>
            </a:r>
            <a:r>
              <a:rPr lang="zh-CN" altLang="en-US" sz="1600" b="1" dirty="0" smtClean="0">
                <a:latin typeface="微软雅黑" panose="020B0503020204020204" pitchFamily="34" charset="-122"/>
                <a:ea typeface="微软雅黑" panose="020B0503020204020204" pitchFamily="34" charset="-122"/>
              </a:rPr>
              <a:t>，从下向上分为负</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层、吊</a:t>
            </a:r>
            <a:r>
              <a:rPr lang="en-US" altLang="zh-CN" sz="1600" b="1" dirty="0">
                <a:latin typeface="微软雅黑" panose="020B0503020204020204" pitchFamily="34" charset="-122"/>
                <a:ea typeface="微软雅黑" panose="020B0503020204020204" pitchFamily="34" charset="-122"/>
              </a:rPr>
              <a:t>5</a:t>
            </a:r>
            <a:r>
              <a:rPr lang="zh-CN" altLang="en-US" sz="1600" b="1" dirty="0">
                <a:latin typeface="微软雅黑" panose="020B0503020204020204" pitchFamily="34" charset="-122"/>
                <a:ea typeface="微软雅黑" panose="020B0503020204020204" pitchFamily="34" charset="-122"/>
              </a:rPr>
              <a:t>（路面</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层）、吊</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层（路面</a:t>
            </a:r>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层）、吊</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层（路面</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层）、平台</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600" b="1" dirty="0" smtClean="0">
                <a:latin typeface="微软雅黑" panose="020B0503020204020204" pitchFamily="34" charset="-122"/>
                <a:ea typeface="微软雅黑" panose="020B0503020204020204" pitchFamily="34" charset="-122"/>
              </a:rPr>
              <a:t>各楼层均设有电梯直达</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endParaRPr lang="en-US" altLang="zh-CN" sz="16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3"/>
          <p:cNvSpPr txBox="1">
            <a:spLocks noChangeArrowheads="1"/>
          </p:cNvSpPr>
          <p:nvPr/>
        </p:nvSpPr>
        <p:spPr bwMode="auto">
          <a:xfrm>
            <a:off x="535625" y="889889"/>
            <a:ext cx="8721838" cy="830977"/>
          </a:xfrm>
          <a:prstGeom prst="rect">
            <a:avLst/>
          </a:prstGeom>
          <a:noFill/>
          <a:ln w="9525">
            <a:noFill/>
            <a:miter lim="800000"/>
          </a:ln>
        </p:spPr>
        <p:txBody>
          <a:bodyPr wrap="square" lIns="91418" tIns="45710" rIns="91418" bIns="45710">
            <a:spAutoFit/>
          </a:bodyPr>
          <a:lstStyle/>
          <a:p>
            <a:pPr eaLnBrk="0" hangingPunct="0">
              <a:lnSpc>
                <a:spcPct val="150000"/>
              </a:lnSpc>
            </a:pPr>
            <a:r>
              <a:rPr lang="en-US" altLang="zh-CN" sz="1600" b="1" dirty="0">
                <a:latin typeface="微软雅黑" panose="020B0503020204020204" pitchFamily="34" charset="-122"/>
                <a:ea typeface="微软雅黑" panose="020B0503020204020204" pitchFamily="34" charset="-122"/>
              </a:rPr>
              <a:t>F3</a:t>
            </a:r>
            <a:r>
              <a:rPr lang="zh-CN" altLang="en-US" sz="1600" b="1" dirty="0">
                <a:latin typeface="微软雅黑" panose="020B0503020204020204" pitchFamily="34" charset="-122"/>
                <a:ea typeface="微软雅黑" panose="020B0503020204020204" pitchFamily="34" charset="-122"/>
              </a:rPr>
              <a:t>组团底商商铺共计</a:t>
            </a:r>
            <a:r>
              <a:rPr lang="en-US" altLang="zh-CN" sz="1600" b="1" dirty="0">
                <a:latin typeface="微软雅黑" panose="020B0503020204020204" pitchFamily="34" charset="-122"/>
                <a:ea typeface="微软雅黑" panose="020B0503020204020204" pitchFamily="34" charset="-122"/>
              </a:rPr>
              <a:t>121</a:t>
            </a:r>
            <a:r>
              <a:rPr lang="zh-CN" altLang="en-US" sz="1600" b="1" dirty="0">
                <a:latin typeface="微软雅黑" panose="020B0503020204020204" pitchFamily="34" charset="-122"/>
                <a:ea typeface="微软雅黑" panose="020B0503020204020204" pitchFamily="34" charset="-122"/>
              </a:rPr>
              <a:t>套，共</a:t>
            </a:r>
            <a:r>
              <a:rPr lang="en-US" altLang="zh-CN" sz="1600" b="1" dirty="0">
                <a:latin typeface="微软雅黑" panose="020B0503020204020204" pitchFamily="34" charset="-122"/>
                <a:ea typeface="微软雅黑" panose="020B0503020204020204" pitchFamily="34" charset="-122"/>
              </a:rPr>
              <a:t>5</a:t>
            </a:r>
            <a:r>
              <a:rPr lang="zh-CN" altLang="en-US" sz="1600" b="1" dirty="0">
                <a:latin typeface="微软雅黑" panose="020B0503020204020204" pitchFamily="34" charset="-122"/>
                <a:ea typeface="微软雅黑" panose="020B0503020204020204" pitchFamily="34" charset="-122"/>
              </a:rPr>
              <a:t>层。其中负</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间、吊</a:t>
            </a:r>
            <a:r>
              <a:rPr lang="en-US" altLang="zh-CN" sz="1600" b="1" dirty="0">
                <a:latin typeface="微软雅黑" panose="020B0503020204020204" pitchFamily="34" charset="-122"/>
                <a:ea typeface="微软雅黑" panose="020B0503020204020204" pitchFamily="34" charset="-122"/>
              </a:rPr>
              <a:t>5</a:t>
            </a:r>
            <a:r>
              <a:rPr lang="zh-CN" altLang="en-US" sz="1600" b="1" dirty="0">
                <a:latin typeface="微软雅黑" panose="020B0503020204020204" pitchFamily="34" charset="-122"/>
                <a:ea typeface="微软雅黑" panose="020B0503020204020204" pitchFamily="34" charset="-122"/>
              </a:rPr>
              <a:t>（路面</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a:t>
            </a:r>
            <a:r>
              <a:rPr lang="en-US" altLang="zh-CN" sz="1600" b="1" dirty="0">
                <a:latin typeface="微软雅黑" panose="020B0503020204020204" pitchFamily="34" charset="-122"/>
                <a:ea typeface="微软雅黑" panose="020B0503020204020204" pitchFamily="34" charset="-122"/>
              </a:rPr>
              <a:t>34</a:t>
            </a:r>
            <a:r>
              <a:rPr lang="zh-CN" altLang="en-US" sz="1600" b="1" dirty="0">
                <a:latin typeface="微软雅黑" panose="020B0503020204020204" pitchFamily="34" charset="-122"/>
                <a:ea typeface="微软雅黑" panose="020B0503020204020204" pitchFamily="34" charset="-122"/>
              </a:rPr>
              <a:t>套，、吊</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层（路面</a:t>
            </a:r>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层）</a:t>
            </a:r>
            <a:r>
              <a:rPr lang="en-US" altLang="zh-CN" sz="1600" b="1" dirty="0">
                <a:latin typeface="微软雅黑" panose="020B0503020204020204" pitchFamily="34" charset="-122"/>
                <a:ea typeface="微软雅黑" panose="020B0503020204020204" pitchFamily="34" charset="-122"/>
              </a:rPr>
              <a:t>38</a:t>
            </a:r>
            <a:r>
              <a:rPr lang="zh-CN" altLang="en-US" sz="1600" b="1" dirty="0">
                <a:latin typeface="微软雅黑" panose="020B0503020204020204" pitchFamily="34" charset="-122"/>
                <a:ea typeface="微软雅黑" panose="020B0503020204020204" pitchFamily="34" charset="-122"/>
              </a:rPr>
              <a:t>套、吊</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层（路面</a:t>
            </a: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层）</a:t>
            </a:r>
            <a:r>
              <a:rPr lang="en-US" altLang="zh-CN" sz="1600" b="1" dirty="0">
                <a:latin typeface="微软雅黑" panose="020B0503020204020204" pitchFamily="34" charset="-122"/>
                <a:ea typeface="微软雅黑" panose="020B0503020204020204" pitchFamily="34" charset="-122"/>
              </a:rPr>
              <a:t>39</a:t>
            </a:r>
            <a:r>
              <a:rPr lang="zh-CN" altLang="en-US" sz="1600" b="1" dirty="0">
                <a:latin typeface="微软雅黑" panose="020B0503020204020204" pitchFamily="34" charset="-122"/>
                <a:ea typeface="微软雅黑" panose="020B0503020204020204" pitchFamily="34" charset="-122"/>
              </a:rPr>
              <a:t>套、平台</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层</a:t>
            </a:r>
            <a:r>
              <a:rPr lang="en-US" altLang="zh-CN" sz="1600" b="1" dirty="0">
                <a:latin typeface="微软雅黑" panose="020B0503020204020204" pitchFamily="34" charset="-122"/>
                <a:ea typeface="微软雅黑" panose="020B0503020204020204" pitchFamily="34" charset="-122"/>
              </a:rPr>
              <a:t>9</a:t>
            </a:r>
            <a:r>
              <a:rPr lang="zh-CN" altLang="en-US" sz="1600" b="1" dirty="0">
                <a:latin typeface="微软雅黑" panose="020B0503020204020204" pitchFamily="34" charset="-122"/>
                <a:ea typeface="微软雅黑" panose="020B0503020204020204" pitchFamily="34" charset="-122"/>
              </a:rPr>
              <a:t>套，共计</a:t>
            </a:r>
            <a:r>
              <a:rPr lang="en-US" altLang="zh-CN" sz="1600" b="1" dirty="0">
                <a:latin typeface="微软雅黑" panose="020B0503020204020204" pitchFamily="34" charset="-122"/>
                <a:ea typeface="微软雅黑" panose="020B0503020204020204" pitchFamily="34" charset="-122"/>
              </a:rPr>
              <a:t>121</a:t>
            </a:r>
            <a:r>
              <a:rPr lang="zh-CN" altLang="en-US" sz="1600" b="1" dirty="0">
                <a:latin typeface="微软雅黑" panose="020B0503020204020204" pitchFamily="34" charset="-122"/>
                <a:ea typeface="微软雅黑" panose="020B0503020204020204" pitchFamily="34" charset="-122"/>
              </a:rPr>
              <a:t>套。面积区间</a:t>
            </a:r>
            <a:r>
              <a:rPr lang="en-US" altLang="zh-CN" sz="1600" b="1" dirty="0">
                <a:latin typeface="微软雅黑" panose="020B0503020204020204" pitchFamily="34" charset="-122"/>
                <a:ea typeface="微软雅黑" panose="020B0503020204020204" pitchFamily="34" charset="-122"/>
              </a:rPr>
              <a:t>32-2245</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8" name="TextBox 3"/>
          <p:cNvSpPr txBox="1">
            <a:spLocks noChangeArrowheads="1"/>
          </p:cNvSpPr>
          <p:nvPr/>
        </p:nvSpPr>
        <p:spPr bwMode="auto">
          <a:xfrm>
            <a:off x="6149090" y="2708921"/>
            <a:ext cx="4320480" cy="2700719"/>
          </a:xfrm>
          <a:prstGeom prst="rect">
            <a:avLst/>
          </a:prstGeom>
          <a:noFill/>
          <a:ln w="9525">
            <a:noFill/>
            <a:miter lim="800000"/>
          </a:ln>
        </p:spPr>
        <p:txBody>
          <a:bodyPr wrap="square" lIns="91418" tIns="45710" rIns="91418" bIns="45710">
            <a:spAutoFit/>
          </a:bodyPr>
          <a:lstStyle/>
          <a:p>
            <a:pPr marL="285750" indent="-285750" eaLnBrk="0" hangingPunct="0">
              <a:lnSpc>
                <a:spcPct val="150000"/>
              </a:lnSpc>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交房时间：</a:t>
            </a:r>
            <a:r>
              <a:rPr lang="en-US" altLang="zh-CN" sz="1800" b="1" dirty="0">
                <a:latin typeface="微软雅黑" panose="020B0503020204020204" pitchFamily="34" charset="-122"/>
                <a:ea typeface="微软雅黑" panose="020B0503020204020204" pitchFamily="34" charset="-122"/>
              </a:rPr>
              <a:t>2021</a:t>
            </a:r>
            <a:r>
              <a:rPr lang="zh-CN" altLang="en-US" sz="1800" b="1" dirty="0">
                <a:latin typeface="微软雅黑" panose="020B0503020204020204" pitchFamily="34" charset="-122"/>
                <a:ea typeface="微软雅黑" panose="020B0503020204020204" pitchFamily="34" charset="-122"/>
              </a:rPr>
              <a:t>年</a:t>
            </a:r>
            <a:r>
              <a:rPr lang="en-US" altLang="zh-CN" sz="1800" b="1" dirty="0">
                <a:latin typeface="微软雅黑" panose="020B0503020204020204" pitchFamily="34" charset="-122"/>
                <a:ea typeface="微软雅黑" panose="020B0503020204020204" pitchFamily="34" charset="-122"/>
              </a:rPr>
              <a:t>12</a:t>
            </a:r>
            <a:r>
              <a:rPr lang="zh-CN" altLang="en-US" sz="1800" b="1" dirty="0">
                <a:latin typeface="微软雅黑" panose="020B0503020204020204" pitchFamily="34" charset="-122"/>
                <a:ea typeface="微软雅黑" panose="020B0503020204020204" pitchFamily="34" charset="-122"/>
              </a:rPr>
              <a:t>月</a:t>
            </a:r>
            <a:r>
              <a:rPr lang="en-US" altLang="zh-CN" sz="1800" b="1" dirty="0">
                <a:latin typeface="微软雅黑" panose="020B0503020204020204" pitchFamily="34" charset="-122"/>
                <a:ea typeface="微软雅黑" panose="020B0503020204020204" pitchFamily="34" charset="-122"/>
              </a:rPr>
              <a:t>31</a:t>
            </a:r>
            <a:r>
              <a:rPr lang="zh-CN" altLang="en-US" sz="1800" b="1" dirty="0">
                <a:latin typeface="微软雅黑" panose="020B0503020204020204" pitchFamily="34" charset="-122"/>
                <a:ea typeface="微软雅黑" panose="020B0503020204020204" pitchFamily="34" charset="-122"/>
              </a:rPr>
              <a:t>日</a:t>
            </a:r>
            <a:endParaRPr lang="en-US" altLang="zh-CN" sz="1800" b="1" dirty="0">
              <a:latin typeface="微软雅黑" panose="020B0503020204020204" pitchFamily="34" charset="-122"/>
              <a:ea typeface="微软雅黑" panose="020B0503020204020204" pitchFamily="34" charset="-122"/>
            </a:endParaRPr>
          </a:p>
          <a:p>
            <a:pPr marL="285750" indent="-285750" eaLnBrk="0" hangingPunct="0">
              <a:lnSpc>
                <a:spcPct val="150000"/>
              </a:lnSpc>
              <a:buFont typeface="Wingdings" panose="05000000000000000000" pitchFamily="2" charset="2"/>
              <a:buChar char="Ø"/>
            </a:pPr>
            <a:endParaRPr lang="en-US" altLang="zh-CN" b="1" dirty="0" smtClean="0">
              <a:latin typeface="微软雅黑" panose="020B0503020204020204" pitchFamily="34" charset="-122"/>
              <a:ea typeface="微软雅黑" panose="020B0503020204020204" pitchFamily="34" charset="-122"/>
            </a:endParaRPr>
          </a:p>
          <a:p>
            <a:pPr marL="285750" indent="-285750" eaLnBrk="0" hangingPunct="0">
              <a:lnSpc>
                <a:spcPct val="150000"/>
              </a:lnSpc>
              <a:buFont typeface="Wingdings" panose="05000000000000000000" pitchFamily="2" charset="2"/>
              <a:buChar char="Ø"/>
            </a:pPr>
            <a:r>
              <a:rPr lang="zh-CN" altLang="en-US" b="1" dirty="0" smtClean="0">
                <a:latin typeface="微软雅黑" panose="020B0503020204020204" pitchFamily="34" charset="-122"/>
                <a:ea typeface="微软雅黑" panose="020B0503020204020204" pitchFamily="34" charset="-122"/>
              </a:rPr>
              <a:t>公摊：</a:t>
            </a:r>
            <a:r>
              <a:rPr lang="en-US" altLang="zh-CN"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负</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层：</a:t>
            </a:r>
            <a:r>
              <a:rPr lang="en-US" altLang="zh-CN" sz="1400" b="1" dirty="0">
                <a:solidFill>
                  <a:srgbClr val="FF0000"/>
                </a:solidFill>
                <a:latin typeface="微软雅黑" panose="020B0503020204020204" pitchFamily="34" charset="-122"/>
                <a:ea typeface="微软雅黑" panose="020B0503020204020204" pitchFamily="34" charset="-122"/>
              </a:rPr>
              <a:t>10.3%               	                  	</a:t>
            </a:r>
            <a:r>
              <a:rPr lang="en-US" altLang="zh-CN" sz="1400" b="1" dirty="0" smtClean="0">
                <a:solidFill>
                  <a:srgbClr val="FF0000"/>
                </a:solidFill>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吊</a:t>
            </a:r>
            <a:r>
              <a:rPr lang="en-US" altLang="zh-CN" sz="1400" b="1" dirty="0">
                <a:latin typeface="微软雅黑" panose="020B0503020204020204" pitchFamily="34" charset="-122"/>
                <a:ea typeface="微软雅黑" panose="020B0503020204020204" pitchFamily="34" charset="-122"/>
              </a:rPr>
              <a:t>5</a:t>
            </a:r>
            <a:r>
              <a:rPr lang="zh-CN" altLang="en-US" sz="1400" b="1" dirty="0">
                <a:latin typeface="微软雅黑" panose="020B0503020204020204" pitchFamily="34" charset="-122"/>
                <a:ea typeface="微软雅黑" panose="020B0503020204020204" pitchFamily="34" charset="-122"/>
              </a:rPr>
              <a:t>（路面</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层）：</a:t>
            </a:r>
            <a:r>
              <a:rPr lang="en-US" altLang="zh-CN" sz="1400" b="1" dirty="0">
                <a:solidFill>
                  <a:srgbClr val="FF0000"/>
                </a:solidFill>
                <a:latin typeface="微软雅黑" panose="020B0503020204020204" pitchFamily="34" charset="-122"/>
                <a:ea typeface="微软雅黑" panose="020B0503020204020204" pitchFamily="34" charset="-122"/>
              </a:rPr>
              <a:t>12%</a:t>
            </a:r>
            <a:endParaRPr lang="en-US" altLang="zh-CN" sz="1400" b="1" dirty="0">
              <a:solidFill>
                <a:srgbClr val="FF0000"/>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1400" b="1" dirty="0">
                <a:solidFill>
                  <a:srgbClr val="FF0000"/>
                </a:solidFill>
                <a:latin typeface="微软雅黑" panose="020B0503020204020204" pitchFamily="34" charset="-122"/>
                <a:ea typeface="微软雅黑" panose="020B0503020204020204" pitchFamily="34" charset="-122"/>
              </a:rPr>
              <a:t>	</a:t>
            </a:r>
            <a:r>
              <a:rPr lang="en-US" altLang="zh-CN" sz="1400" b="1" dirty="0" smtClean="0">
                <a:solidFill>
                  <a:srgbClr val="FF0000"/>
                </a:solidFill>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吊</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（路面</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层） ：</a:t>
            </a:r>
            <a:r>
              <a:rPr lang="en-US" altLang="zh-CN" sz="1400" b="1" dirty="0">
                <a:solidFill>
                  <a:srgbClr val="FF0000"/>
                </a:solidFill>
                <a:latin typeface="微软雅黑" panose="020B0503020204020204" pitchFamily="34" charset="-122"/>
                <a:ea typeface="微软雅黑" panose="020B0503020204020204" pitchFamily="34" charset="-122"/>
              </a:rPr>
              <a:t>13.19% </a:t>
            </a:r>
            <a:endParaRPr lang="en-US" altLang="zh-CN" sz="1400" b="1" dirty="0">
              <a:solidFill>
                <a:srgbClr val="FF0000"/>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吊</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（路面</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层） ：</a:t>
            </a:r>
            <a:r>
              <a:rPr lang="en-US" altLang="zh-CN" sz="1400" b="1" dirty="0">
                <a:solidFill>
                  <a:srgbClr val="FF0000"/>
                </a:solidFill>
                <a:latin typeface="微软雅黑" panose="020B0503020204020204" pitchFamily="34" charset="-122"/>
                <a:ea typeface="微软雅黑" panose="020B0503020204020204" pitchFamily="34" charset="-122"/>
              </a:rPr>
              <a:t>13.19%</a:t>
            </a:r>
            <a:endParaRPr lang="en-US" altLang="zh-CN" sz="1400" b="1" dirty="0">
              <a:solidFill>
                <a:srgbClr val="FF0000"/>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1400" b="1" dirty="0">
                <a:solidFill>
                  <a:srgbClr val="FF0000"/>
                </a:solidFill>
                <a:latin typeface="微软雅黑" panose="020B0503020204020204" pitchFamily="34" charset="-122"/>
                <a:ea typeface="微软雅黑" panose="020B0503020204020204" pitchFamily="34" charset="-122"/>
              </a:rPr>
              <a:t>	</a:t>
            </a:r>
            <a:r>
              <a:rPr lang="en-US" altLang="zh-CN" sz="1400" b="1" dirty="0" smtClean="0">
                <a:solidFill>
                  <a:srgbClr val="FF0000"/>
                </a:solidFill>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平台</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层：</a:t>
            </a:r>
            <a:r>
              <a:rPr lang="en-US" altLang="zh-CN" sz="1400" b="1" dirty="0">
                <a:solidFill>
                  <a:srgbClr val="FF0000"/>
                </a:solidFill>
                <a:latin typeface="微软雅黑" panose="020B0503020204020204" pitchFamily="34" charset="-122"/>
                <a:ea typeface="微软雅黑" panose="020B0503020204020204" pitchFamily="34" charset="-122"/>
              </a:rPr>
              <a:t> 12%</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9" name="Rectangle 2"/>
          <p:cNvSpPr txBox="1">
            <a:spLocks noChangeArrowheads="1"/>
          </p:cNvSpPr>
          <p:nvPr/>
        </p:nvSpPr>
        <p:spPr bwMode="auto">
          <a:xfrm>
            <a:off x="0" y="0"/>
            <a:ext cx="4896544"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组团底商产品信息</a:t>
            </a:r>
            <a:endParaRPr lang="zh-CN" altLang="en-US" dirty="0"/>
          </a:p>
        </p:txBody>
      </p:sp>
      <p:graphicFrame>
        <p:nvGraphicFramePr>
          <p:cNvPr id="2" name="表格 1"/>
          <p:cNvGraphicFramePr>
            <a:graphicFrameLocks noGrp="1"/>
          </p:cNvGraphicFramePr>
          <p:nvPr/>
        </p:nvGraphicFramePr>
        <p:xfrm>
          <a:off x="675607" y="2038471"/>
          <a:ext cx="5061233" cy="3797379"/>
        </p:xfrm>
        <a:graphic>
          <a:graphicData uri="http://schemas.openxmlformats.org/drawingml/2006/table">
            <a:tbl>
              <a:tblPr>
                <a:tableStyleId>{16D9F66E-5EB9-4882-86FB-DCBF35E3C3E4}</a:tableStyleId>
              </a:tblPr>
              <a:tblGrid>
                <a:gridCol w="1959187"/>
                <a:gridCol w="1959187"/>
                <a:gridCol w="1142859"/>
              </a:tblGrid>
              <a:tr h="809293">
                <a:tc gridSpan="3">
                  <a:txBody>
                    <a:bodyPr/>
                    <a:lstStyle/>
                    <a:p>
                      <a:pPr algn="ctr" rtl="0" fontAlgn="ctr"/>
                      <a:r>
                        <a:rPr lang="en-US" altLang="zh-CN" sz="1800" u="none" strike="noStrike" dirty="0">
                          <a:effectLst/>
                          <a:latin typeface="微软雅黑" panose="020B0503020204020204" pitchFamily="34" charset="-122"/>
                          <a:ea typeface="微软雅黑" panose="020B0503020204020204" pitchFamily="34" charset="-122"/>
                        </a:rPr>
                        <a:t>F3</a:t>
                      </a:r>
                      <a:r>
                        <a:rPr lang="zh-CN" altLang="en-US" sz="1800" u="none" strike="noStrike" dirty="0">
                          <a:effectLst/>
                          <a:latin typeface="微软雅黑" panose="020B0503020204020204" pitchFamily="34" charset="-122"/>
                          <a:ea typeface="微软雅黑" panose="020B0503020204020204" pitchFamily="34" charset="-122"/>
                        </a:rPr>
                        <a:t>组团底商商铺产品信息</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hMerge="1">
                  <a:tcPr/>
                </a:tc>
                <a:tc hMerge="1">
                  <a:tcPr/>
                </a:tc>
              </a:tr>
              <a:tr h="364181">
                <a:tc rowSpan="5">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商铺</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面积区间（㎡）</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套数</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r>
              <a:tr h="364181">
                <a:tc vMerge="1">
                  <a:tcPr/>
                </a:tc>
                <a:tc>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小于</a:t>
                      </a:r>
                      <a:r>
                        <a:rPr lang="en-US" altLang="zh-CN" sz="1600" u="none" strike="noStrike">
                          <a:effectLst/>
                          <a:latin typeface="微软雅黑" panose="020B0503020204020204" pitchFamily="34" charset="-122"/>
                          <a:ea typeface="微软雅黑" panose="020B0503020204020204" pitchFamily="34" charset="-122"/>
                        </a:rPr>
                        <a:t>50</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7</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r>
              <a:tr h="364181">
                <a:tc vMerge="1">
                  <a:tcP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50-100</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98</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r>
              <a:tr h="364181">
                <a:tc vMerge="1">
                  <a:tcP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100-200</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13</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r>
              <a:tr h="418134">
                <a:tc vMerge="1">
                  <a:tcP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200</a:t>
                      </a:r>
                      <a:r>
                        <a:rPr lang="zh-CN" altLang="en-US" sz="1800" u="none" strike="noStrike">
                          <a:effectLst/>
                          <a:latin typeface="微软雅黑" panose="020B0503020204020204" pitchFamily="34" charset="-122"/>
                          <a:ea typeface="微软雅黑" panose="020B0503020204020204" pitchFamily="34" charset="-122"/>
                        </a:rPr>
                        <a:t>以上</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3</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r>
              <a:tr h="741852">
                <a:tc>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总面积</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gridSpan="2">
                  <a:txBody>
                    <a:bodyPr/>
                    <a:lstStyle/>
                    <a:p>
                      <a:pPr algn="ctr" rtl="0" fontAlgn="ctr"/>
                      <a:r>
                        <a:rPr lang="en-US" altLang="zh-CN" sz="1600" u="none" strike="noStrike">
                          <a:effectLst/>
                          <a:latin typeface="微软雅黑" panose="020B0503020204020204" pitchFamily="34" charset="-122"/>
                          <a:ea typeface="微软雅黑" panose="020B0503020204020204" pitchFamily="34" charset="-122"/>
                        </a:rPr>
                        <a:t>11729.3</a:t>
                      </a:r>
                      <a:r>
                        <a:rPr lang="zh-CN" altLang="en-US" sz="1600" u="none" strike="noStrike">
                          <a:effectLst/>
                          <a:latin typeface="微软雅黑" panose="020B0503020204020204" pitchFamily="34" charset="-122"/>
                          <a:ea typeface="微软雅黑" panose="020B0503020204020204" pitchFamily="34" charset="-122"/>
                        </a:rPr>
                        <a:t>㎡</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hMerge="1">
                  <a:tcPr/>
                </a:tc>
              </a:tr>
              <a:tr h="371376">
                <a:tc>
                  <a:txBody>
                    <a:bodyPr/>
                    <a:lstStyle/>
                    <a:p>
                      <a:pPr algn="ctr" rtl="0" fontAlgn="ctr"/>
                      <a:r>
                        <a:rPr lang="zh-CN" altLang="en-US" sz="1600" u="none" strike="noStrike">
                          <a:effectLst/>
                          <a:latin typeface="微软雅黑" panose="020B0503020204020204" pitchFamily="34" charset="-122"/>
                          <a:ea typeface="微软雅黑" panose="020B0503020204020204" pitchFamily="34" charset="-122"/>
                        </a:rPr>
                        <a:t>备注</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gridSpan="2">
                  <a:txBody>
                    <a:bodyPr/>
                    <a:lstStyle/>
                    <a:p>
                      <a:pPr algn="ctr" rtl="0" fontAlgn="ctr"/>
                      <a:r>
                        <a:rPr lang="en-US" altLang="zh-CN" sz="1600" u="none" strike="noStrike" dirty="0">
                          <a:effectLst/>
                          <a:latin typeface="微软雅黑" panose="020B0503020204020204" pitchFamily="34" charset="-122"/>
                          <a:ea typeface="微软雅黑" panose="020B0503020204020204" pitchFamily="34" charset="-122"/>
                        </a:rPr>
                        <a:t>121</a:t>
                      </a:r>
                      <a:r>
                        <a:rPr lang="zh-CN" altLang="en-US" sz="1600" u="none" strike="noStrike" dirty="0">
                          <a:effectLst/>
                          <a:latin typeface="微软雅黑" panose="020B0503020204020204" pitchFamily="34" charset="-122"/>
                          <a:ea typeface="微软雅黑" panose="020B0503020204020204" pitchFamily="34" charset="-122"/>
                        </a:rPr>
                        <a:t>套商铺</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tc>
                <a:tc hMerge="1">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0" y="-2213"/>
            <a:ext cx="4896544"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组团底商负</a:t>
            </a:r>
            <a:r>
              <a:rPr lang="en-US" altLang="zh-CN" dirty="0"/>
              <a:t>1</a:t>
            </a:r>
            <a:r>
              <a:rPr lang="zh-CN" altLang="en-US" dirty="0"/>
              <a:t>层产品信息</a:t>
            </a:r>
            <a:endParaRPr lang="zh-CN" altLang="en-US" dirty="0"/>
          </a:p>
        </p:txBody>
      </p:sp>
      <p:pic>
        <p:nvPicPr>
          <p:cNvPr id="3" name="图片 2"/>
          <p:cNvPicPr>
            <a:picLocks noChangeAspect="1"/>
          </p:cNvPicPr>
          <p:nvPr/>
        </p:nvPicPr>
        <p:blipFill>
          <a:blip r:embed="rId1"/>
          <a:stretch>
            <a:fillRect/>
          </a:stretch>
        </p:blipFill>
        <p:spPr>
          <a:xfrm>
            <a:off x="0" y="960139"/>
            <a:ext cx="8341657" cy="5897861"/>
          </a:xfrm>
          <a:prstGeom prst="rect">
            <a:avLst/>
          </a:prstGeom>
        </p:spPr>
      </p:pic>
      <p:sp>
        <p:nvSpPr>
          <p:cNvPr id="4" name="矩形 3"/>
          <p:cNvSpPr/>
          <p:nvPr/>
        </p:nvSpPr>
        <p:spPr>
          <a:xfrm>
            <a:off x="1199456" y="612975"/>
            <a:ext cx="6192688" cy="646331"/>
          </a:xfrm>
          <a:prstGeom prst="rect">
            <a:avLst/>
          </a:prstGeom>
        </p:spPr>
        <p:txBody>
          <a:bodyPr wrap="square">
            <a:spAutoFit/>
          </a:bodyPr>
          <a:lstStyle/>
          <a:p>
            <a:pPr eaLnBrk="0" hangingPunct="0">
              <a:lnSpc>
                <a:spcPct val="150000"/>
              </a:lnSpc>
            </a:pP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栋一层商铺共计</a:t>
            </a: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套。建筑面积</a:t>
            </a:r>
            <a:r>
              <a:rPr lang="en-US" altLang="zh-CN" sz="1200" b="1" dirty="0">
                <a:solidFill>
                  <a:srgbClr val="000000"/>
                </a:solidFill>
                <a:latin typeface="微软雅黑" panose="020B0503020204020204" pitchFamily="34" charset="-122"/>
                <a:ea typeface="微软雅黑" panose="020B0503020204020204" pitchFamily="34" charset="-122"/>
              </a:rPr>
              <a:t>2245.9㎡</a:t>
            </a:r>
            <a:r>
              <a:rPr lang="zh-CN" altLang="en-US" sz="1200" b="1" dirty="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。该商铺从十字路口方向可从地面平进，若从小区出入口方向，则需要下台阶</a:t>
            </a:r>
            <a:endParaRPr lang="zh-CN" altLang="en-US" sz="1200" b="1"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2"/>
          <a:srcRect/>
          <a:stretch>
            <a:fillRect/>
          </a:stretch>
        </p:blipFill>
        <p:spPr bwMode="auto">
          <a:xfrm>
            <a:off x="7392144" y="1884063"/>
            <a:ext cx="4692318" cy="3519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0" y="0"/>
            <a:ext cx="5399368"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组团底商吊</a:t>
            </a:r>
            <a:r>
              <a:rPr lang="en-US" altLang="zh-CN" dirty="0"/>
              <a:t>5</a:t>
            </a:r>
            <a:r>
              <a:rPr lang="zh-CN" altLang="en-US" dirty="0"/>
              <a:t>（地面</a:t>
            </a:r>
            <a:r>
              <a:rPr lang="en-US" altLang="zh-CN" dirty="0"/>
              <a:t>1</a:t>
            </a:r>
            <a:r>
              <a:rPr lang="zh-CN" altLang="en-US" dirty="0"/>
              <a:t>层）产品信息</a:t>
            </a:r>
            <a:endParaRPr lang="zh-CN" altLang="en-US" dirty="0"/>
          </a:p>
        </p:txBody>
      </p:sp>
      <p:sp>
        <p:nvSpPr>
          <p:cNvPr id="4" name="矩形 3"/>
          <p:cNvSpPr/>
          <p:nvPr/>
        </p:nvSpPr>
        <p:spPr>
          <a:xfrm>
            <a:off x="1199456" y="612975"/>
            <a:ext cx="8684218" cy="336695"/>
          </a:xfrm>
          <a:prstGeom prst="rect">
            <a:avLst/>
          </a:prstGeom>
        </p:spPr>
        <p:txBody>
          <a:bodyPr wrap="square">
            <a:spAutoFit/>
          </a:bodyPr>
          <a:lstStyle/>
          <a:p>
            <a:pPr eaLnBrk="0" hangingPunct="0">
              <a:lnSpc>
                <a:spcPct val="150000"/>
              </a:lnSpc>
            </a:pPr>
            <a:r>
              <a:rPr lang="zh-CN" altLang="en-US" sz="1200" b="1" dirty="0">
                <a:latin typeface="微软雅黑" panose="020B0503020204020204" pitchFamily="34" charset="-122"/>
                <a:ea typeface="微软雅黑" panose="020B0503020204020204" pitchFamily="34" charset="-122"/>
              </a:rPr>
              <a:t>吊</a:t>
            </a:r>
            <a:r>
              <a:rPr lang="en-US" altLang="zh-CN" sz="1200" b="1" dirty="0">
                <a:latin typeface="微软雅黑" panose="020B0503020204020204" pitchFamily="34" charset="-122"/>
                <a:ea typeface="微软雅黑" panose="020B0503020204020204" pitchFamily="34" charset="-122"/>
              </a:rPr>
              <a:t>5</a:t>
            </a:r>
            <a:r>
              <a:rPr lang="zh-CN" altLang="en-US" sz="1200" b="1" dirty="0">
                <a:latin typeface="微软雅黑" panose="020B0503020204020204" pitchFamily="34" charset="-122"/>
                <a:ea typeface="微软雅黑" panose="020B0503020204020204" pitchFamily="34" charset="-122"/>
              </a:rPr>
              <a:t>层（路面</a:t>
            </a: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层）商铺共计</a:t>
            </a:r>
            <a:r>
              <a:rPr lang="en-US" altLang="zh-CN" sz="1200" b="1" dirty="0">
                <a:latin typeface="微软雅黑" panose="020B0503020204020204" pitchFamily="34" charset="-122"/>
                <a:ea typeface="微软雅黑" panose="020B0503020204020204" pitchFamily="34" charset="-122"/>
              </a:rPr>
              <a:t>35</a:t>
            </a:r>
            <a:r>
              <a:rPr lang="zh-CN" altLang="en-US" sz="1200" b="1" dirty="0">
                <a:latin typeface="微软雅黑" panose="020B0503020204020204" pitchFamily="34" charset="-122"/>
                <a:ea typeface="微软雅黑" panose="020B0503020204020204" pitchFamily="34" charset="-122"/>
              </a:rPr>
              <a:t>套。商铺面积区间：</a:t>
            </a:r>
            <a:r>
              <a:rPr lang="en-US" altLang="zh-CN" sz="1200" b="1" dirty="0">
                <a:latin typeface="微软雅黑" panose="020B0503020204020204" pitchFamily="34" charset="-122"/>
                <a:ea typeface="微软雅黑" panose="020B0503020204020204" pitchFamily="34" charset="-122"/>
              </a:rPr>
              <a:t>51-145</a:t>
            </a:r>
            <a:r>
              <a:rPr lang="zh-CN" altLang="en-US" sz="1200" b="1" dirty="0">
                <a:latin typeface="微软雅黑" panose="020B0503020204020204" pitchFamily="34" charset="-122"/>
                <a:ea typeface="微软雅黑" panose="020B0503020204020204" pitchFamily="34" charset="-122"/>
              </a:rPr>
              <a:t>㎡，建筑面积</a:t>
            </a:r>
            <a:r>
              <a:rPr lang="en-US" altLang="zh-CN" sz="1200" b="1" dirty="0">
                <a:solidFill>
                  <a:srgbClr val="000000"/>
                </a:solidFill>
                <a:latin typeface="微软雅黑" panose="020B0503020204020204" pitchFamily="34" charset="-122"/>
                <a:ea typeface="微软雅黑" panose="020B0503020204020204" pitchFamily="34" charset="-122"/>
              </a:rPr>
              <a:t>2902.23㎡</a:t>
            </a:r>
            <a:r>
              <a:rPr lang="zh-CN" altLang="en-US" sz="1200" b="1" dirty="0">
                <a:latin typeface="微软雅黑" panose="020B0503020204020204" pitchFamily="34" charset="-122"/>
                <a:ea typeface="微软雅黑" panose="020B0503020204020204" pitchFamily="34" charset="-122"/>
              </a:rPr>
              <a:t>，本层商铺层高</a:t>
            </a:r>
            <a:r>
              <a:rPr lang="en-US" altLang="zh-CN" sz="1200" b="1" dirty="0">
                <a:latin typeface="微软雅黑" panose="020B0503020204020204" pitchFamily="34" charset="-122"/>
                <a:ea typeface="微软雅黑" panose="020B0503020204020204" pitchFamily="34" charset="-122"/>
              </a:rPr>
              <a:t>6m</a:t>
            </a:r>
            <a:r>
              <a:rPr lang="zh-CN" altLang="en-US" sz="1200" b="1" dirty="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0" y="949670"/>
            <a:ext cx="8369577" cy="5917602"/>
          </a:xfrm>
          <a:prstGeom prst="rect">
            <a:avLst/>
          </a:prstGeom>
        </p:spPr>
      </p:pic>
      <p:cxnSp>
        <p:nvCxnSpPr>
          <p:cNvPr id="3" name="直接连接符 2"/>
          <p:cNvCxnSpPr/>
          <p:nvPr/>
        </p:nvCxnSpPr>
        <p:spPr>
          <a:xfrm flipH="1">
            <a:off x="4114800" y="2160270"/>
            <a:ext cx="69988" cy="2247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flipV="1">
            <a:off x="3166110" y="1885950"/>
            <a:ext cx="983684" cy="386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088130" y="2179260"/>
            <a:ext cx="600572" cy="200055"/>
          </a:xfrm>
          <a:prstGeom prst="rect">
            <a:avLst/>
          </a:prstGeom>
          <a:noFill/>
        </p:spPr>
        <p:txBody>
          <a:bodyPr wrap="square" rtlCol="0">
            <a:spAutoFit/>
          </a:bodyPr>
          <a:lstStyle/>
          <a:p>
            <a:r>
              <a:rPr lang="zh-CN" altLang="en-US" sz="700" b="1" dirty="0">
                <a:latin typeface="微软雅黑" panose="020B0503020204020204" pitchFamily="34" charset="-122"/>
                <a:ea typeface="微软雅黑" panose="020B0503020204020204" pitchFamily="34" charset="-122"/>
              </a:rPr>
              <a:t>起坡点</a:t>
            </a:r>
            <a:endParaRPr lang="zh-CN" altLang="en-US" sz="700" b="1" dirty="0">
              <a:latin typeface="微软雅黑" panose="020B0503020204020204" pitchFamily="34" charset="-122"/>
              <a:ea typeface="微软雅黑" panose="020B0503020204020204" pitchFamily="34" charset="-122"/>
            </a:endParaRPr>
          </a:p>
        </p:txBody>
      </p:sp>
      <p:sp>
        <p:nvSpPr>
          <p:cNvPr id="13" name="TextBox 12"/>
          <p:cNvSpPr txBox="1"/>
          <p:nvPr/>
        </p:nvSpPr>
        <p:spPr>
          <a:xfrm rot="1287936">
            <a:off x="3027377" y="1867081"/>
            <a:ext cx="1378574"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从吊</a:t>
            </a:r>
            <a:r>
              <a:rPr lang="en-US" altLang="zh-CN" sz="800" b="1" dirty="0" smtClean="0">
                <a:latin typeface="微软雅黑" panose="020B0503020204020204" pitchFamily="34" charset="-122"/>
                <a:ea typeface="微软雅黑" panose="020B0503020204020204" pitchFamily="34" charset="-122"/>
              </a:rPr>
              <a:t>5-12</a:t>
            </a:r>
            <a:r>
              <a:rPr lang="zh-CN" altLang="en-US" sz="800" b="1" dirty="0" smtClean="0">
                <a:latin typeface="微软雅黑" panose="020B0503020204020204" pitchFamily="34" charset="-122"/>
                <a:ea typeface="微软雅黑" panose="020B0503020204020204" pitchFamily="34" charset="-122"/>
              </a:rPr>
              <a:t>开始出现遮挡</a:t>
            </a:r>
            <a:endParaRPr lang="zh-CN" altLang="en-US" sz="800" b="1" dirty="0">
              <a:latin typeface="微软雅黑" panose="020B0503020204020204" pitchFamily="34" charset="-122"/>
              <a:ea typeface="微软雅黑" panose="020B0503020204020204" pitchFamily="34" charset="-122"/>
            </a:endParaRPr>
          </a:p>
        </p:txBody>
      </p:sp>
      <p:pic>
        <p:nvPicPr>
          <p:cNvPr id="2051" name="Picture 3"/>
          <p:cNvPicPr>
            <a:picLocks noChangeAspect="1" noChangeArrowheads="1"/>
          </p:cNvPicPr>
          <p:nvPr/>
        </p:nvPicPr>
        <p:blipFill>
          <a:blip r:embed="rId2"/>
          <a:srcRect/>
          <a:stretch>
            <a:fillRect/>
          </a:stretch>
        </p:blipFill>
        <p:spPr bwMode="auto">
          <a:xfrm>
            <a:off x="7400180" y="1705958"/>
            <a:ext cx="4692318" cy="3519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0" y="0"/>
            <a:ext cx="5399368"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组团底商吊</a:t>
            </a:r>
            <a:r>
              <a:rPr lang="en-US" altLang="zh-CN" dirty="0"/>
              <a:t>3</a:t>
            </a:r>
            <a:r>
              <a:rPr lang="zh-CN" altLang="en-US" dirty="0"/>
              <a:t>（地面</a:t>
            </a:r>
            <a:r>
              <a:rPr lang="en-US" altLang="zh-CN" dirty="0"/>
              <a:t>2</a:t>
            </a:r>
            <a:r>
              <a:rPr lang="zh-CN" altLang="en-US" dirty="0"/>
              <a:t>层）产品信息</a:t>
            </a:r>
            <a:endParaRPr lang="zh-CN" altLang="en-US" dirty="0"/>
          </a:p>
        </p:txBody>
      </p:sp>
      <p:sp>
        <p:nvSpPr>
          <p:cNvPr id="4" name="矩形 3"/>
          <p:cNvSpPr/>
          <p:nvPr/>
        </p:nvSpPr>
        <p:spPr>
          <a:xfrm>
            <a:off x="1199456" y="612975"/>
            <a:ext cx="8684218" cy="336695"/>
          </a:xfrm>
          <a:prstGeom prst="rect">
            <a:avLst/>
          </a:prstGeom>
        </p:spPr>
        <p:txBody>
          <a:bodyPr wrap="square">
            <a:spAutoFit/>
          </a:bodyPr>
          <a:lstStyle/>
          <a:p>
            <a:pPr eaLnBrk="0" hangingPunct="0">
              <a:lnSpc>
                <a:spcPct val="150000"/>
              </a:lnSpc>
            </a:pPr>
            <a:r>
              <a:rPr lang="zh-CN" altLang="en-US" sz="1200" b="1" dirty="0">
                <a:latin typeface="微软雅黑" panose="020B0503020204020204" pitchFamily="34" charset="-122"/>
                <a:ea typeface="微软雅黑" panose="020B0503020204020204" pitchFamily="34" charset="-122"/>
              </a:rPr>
              <a:t>吊</a:t>
            </a:r>
            <a:r>
              <a:rPr lang="en-US" altLang="zh-CN" sz="1200" b="1"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层（路面</a:t>
            </a:r>
            <a:r>
              <a:rPr lang="en-US" altLang="zh-CN" sz="1200" b="1" dirty="0">
                <a:latin typeface="微软雅黑" panose="020B0503020204020204" pitchFamily="34" charset="-122"/>
                <a:ea typeface="微软雅黑" panose="020B0503020204020204" pitchFamily="34" charset="-122"/>
              </a:rPr>
              <a:t>2</a:t>
            </a:r>
            <a:r>
              <a:rPr lang="zh-CN" altLang="en-US" sz="1200" b="1" dirty="0">
                <a:latin typeface="微软雅黑" panose="020B0503020204020204" pitchFamily="34" charset="-122"/>
                <a:ea typeface="微软雅黑" panose="020B0503020204020204" pitchFamily="34" charset="-122"/>
              </a:rPr>
              <a:t>层）商铺共计</a:t>
            </a:r>
            <a:r>
              <a:rPr lang="en-US" altLang="zh-CN" sz="1200" b="1" dirty="0">
                <a:latin typeface="微软雅黑" panose="020B0503020204020204" pitchFamily="34" charset="-122"/>
                <a:ea typeface="微软雅黑" panose="020B0503020204020204" pitchFamily="34" charset="-122"/>
              </a:rPr>
              <a:t>38</a:t>
            </a:r>
            <a:r>
              <a:rPr lang="zh-CN" altLang="en-US" sz="1200" b="1" dirty="0">
                <a:latin typeface="微软雅黑" panose="020B0503020204020204" pitchFamily="34" charset="-122"/>
                <a:ea typeface="微软雅黑" panose="020B0503020204020204" pitchFamily="34" charset="-122"/>
              </a:rPr>
              <a:t>套。商铺面积区间：</a:t>
            </a:r>
            <a:r>
              <a:rPr lang="en-US" altLang="zh-CN" sz="1200" b="1" dirty="0">
                <a:latin typeface="微软雅黑" panose="020B0503020204020204" pitchFamily="34" charset="-122"/>
                <a:ea typeface="微软雅黑" panose="020B0503020204020204" pitchFamily="34" charset="-122"/>
              </a:rPr>
              <a:t>32-114</a:t>
            </a:r>
            <a:r>
              <a:rPr lang="zh-CN" altLang="en-US" sz="1200" b="1" dirty="0">
                <a:latin typeface="微软雅黑" panose="020B0503020204020204" pitchFamily="34" charset="-122"/>
                <a:ea typeface="微软雅黑" panose="020B0503020204020204" pitchFamily="34" charset="-122"/>
              </a:rPr>
              <a:t>㎡，建筑面积</a:t>
            </a:r>
            <a:r>
              <a:rPr lang="en-US" altLang="zh-CN" sz="1200" b="1" dirty="0">
                <a:solidFill>
                  <a:srgbClr val="000000"/>
                </a:solidFill>
                <a:latin typeface="微软雅黑" panose="020B0503020204020204" pitchFamily="34" charset="-122"/>
                <a:ea typeface="微软雅黑" panose="020B0503020204020204" pitchFamily="34" charset="-122"/>
              </a:rPr>
              <a:t>2512.65㎡</a:t>
            </a:r>
            <a:r>
              <a:rPr lang="zh-CN" altLang="en-US" sz="1200" b="1" dirty="0">
                <a:latin typeface="微软雅黑" panose="020B0503020204020204" pitchFamily="34" charset="-122"/>
                <a:ea typeface="微软雅黑" panose="020B0503020204020204" pitchFamily="34" charset="-122"/>
              </a:rPr>
              <a:t>，本层商铺层高</a:t>
            </a:r>
            <a:r>
              <a:rPr lang="en-US" altLang="zh-CN" sz="1200" b="1" dirty="0">
                <a:latin typeface="微软雅黑" panose="020B0503020204020204" pitchFamily="34" charset="-122"/>
                <a:ea typeface="微软雅黑" panose="020B0503020204020204" pitchFamily="34" charset="-122"/>
              </a:rPr>
              <a:t>3.95-6m</a:t>
            </a:r>
            <a:r>
              <a:rPr lang="zh-CN" altLang="en-US" sz="1200" b="1" dirty="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0" y="985696"/>
            <a:ext cx="8305510" cy="5872304"/>
          </a:xfrm>
          <a:prstGeom prst="rect">
            <a:avLst/>
          </a:prstGeom>
        </p:spPr>
      </p:pic>
      <p:pic>
        <p:nvPicPr>
          <p:cNvPr id="3074" name="Picture 2"/>
          <p:cNvPicPr>
            <a:picLocks noChangeAspect="1" noChangeArrowheads="1"/>
          </p:cNvPicPr>
          <p:nvPr/>
        </p:nvPicPr>
        <p:blipFill>
          <a:blip r:embed="rId2"/>
          <a:srcRect/>
          <a:stretch>
            <a:fillRect/>
          </a:stretch>
        </p:blipFill>
        <p:spPr bwMode="auto">
          <a:xfrm>
            <a:off x="7478353" y="3612427"/>
            <a:ext cx="4265744" cy="3199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srcRect/>
          <a:stretch>
            <a:fillRect/>
          </a:stretch>
        </p:blipFill>
        <p:spPr bwMode="auto">
          <a:xfrm>
            <a:off x="7478353" y="985696"/>
            <a:ext cx="4265744" cy="3199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0" y="0"/>
            <a:ext cx="5399368"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组团底商吊</a:t>
            </a:r>
            <a:r>
              <a:rPr lang="en-US" altLang="zh-CN" dirty="0"/>
              <a:t>1</a:t>
            </a:r>
            <a:r>
              <a:rPr lang="zh-CN" altLang="en-US" dirty="0"/>
              <a:t>（地面</a:t>
            </a:r>
            <a:r>
              <a:rPr lang="en-US" altLang="zh-CN" dirty="0"/>
              <a:t>3</a:t>
            </a:r>
            <a:r>
              <a:rPr lang="zh-CN" altLang="en-US" dirty="0"/>
              <a:t>层）产品信息</a:t>
            </a:r>
            <a:endParaRPr lang="zh-CN" altLang="en-US" dirty="0"/>
          </a:p>
        </p:txBody>
      </p:sp>
      <p:sp>
        <p:nvSpPr>
          <p:cNvPr id="4" name="矩形 3"/>
          <p:cNvSpPr/>
          <p:nvPr/>
        </p:nvSpPr>
        <p:spPr>
          <a:xfrm>
            <a:off x="1199456" y="612975"/>
            <a:ext cx="8684218" cy="336695"/>
          </a:xfrm>
          <a:prstGeom prst="rect">
            <a:avLst/>
          </a:prstGeom>
        </p:spPr>
        <p:txBody>
          <a:bodyPr wrap="square">
            <a:spAutoFit/>
          </a:bodyPr>
          <a:lstStyle/>
          <a:p>
            <a:pPr eaLnBrk="0" hangingPunct="0">
              <a:lnSpc>
                <a:spcPct val="150000"/>
              </a:lnSpc>
            </a:pPr>
            <a:r>
              <a:rPr lang="zh-CN" altLang="en-US" sz="1200" b="1" dirty="0">
                <a:latin typeface="微软雅黑" panose="020B0503020204020204" pitchFamily="34" charset="-122"/>
                <a:ea typeface="微软雅黑" panose="020B0503020204020204" pitchFamily="34" charset="-122"/>
              </a:rPr>
              <a:t>吊</a:t>
            </a: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层（路面</a:t>
            </a:r>
            <a:r>
              <a:rPr lang="en-US" altLang="zh-CN" sz="1200" b="1"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层）商铺共计</a:t>
            </a:r>
            <a:r>
              <a:rPr lang="en-US" altLang="zh-CN" sz="1200" b="1" dirty="0">
                <a:latin typeface="微软雅黑" panose="020B0503020204020204" pitchFamily="34" charset="-122"/>
                <a:ea typeface="微软雅黑" panose="020B0503020204020204" pitchFamily="34" charset="-122"/>
              </a:rPr>
              <a:t>39</a:t>
            </a:r>
            <a:r>
              <a:rPr lang="zh-CN" altLang="en-US" sz="1200" b="1" dirty="0">
                <a:latin typeface="微软雅黑" panose="020B0503020204020204" pitchFamily="34" charset="-122"/>
                <a:ea typeface="微软雅黑" panose="020B0503020204020204" pitchFamily="34" charset="-122"/>
              </a:rPr>
              <a:t>套。商铺面积区间：</a:t>
            </a:r>
            <a:r>
              <a:rPr lang="en-US" altLang="zh-CN" sz="1200" b="1" dirty="0">
                <a:latin typeface="微软雅黑" panose="020B0503020204020204" pitchFamily="34" charset="-122"/>
                <a:ea typeface="微软雅黑" panose="020B0503020204020204" pitchFamily="34" charset="-122"/>
              </a:rPr>
              <a:t>32-106</a:t>
            </a:r>
            <a:r>
              <a:rPr lang="zh-CN" altLang="en-US" sz="1200" b="1" dirty="0">
                <a:latin typeface="微软雅黑" panose="020B0503020204020204" pitchFamily="34" charset="-122"/>
                <a:ea typeface="微软雅黑" panose="020B0503020204020204" pitchFamily="34" charset="-122"/>
              </a:rPr>
              <a:t>㎡，建筑面积</a:t>
            </a:r>
            <a:r>
              <a:rPr lang="en-US" altLang="zh-CN" sz="1200" b="1" dirty="0">
                <a:solidFill>
                  <a:srgbClr val="000000"/>
                </a:solidFill>
                <a:latin typeface="微软雅黑" panose="020B0503020204020204" pitchFamily="34" charset="-122"/>
                <a:ea typeface="微软雅黑" panose="020B0503020204020204" pitchFamily="34" charset="-122"/>
              </a:rPr>
              <a:t>2463.29㎡</a:t>
            </a:r>
            <a:r>
              <a:rPr lang="zh-CN" altLang="en-US" sz="1200" b="1" dirty="0">
                <a:latin typeface="微软雅黑" panose="020B0503020204020204" pitchFamily="34" charset="-122"/>
                <a:ea typeface="微软雅黑" panose="020B0503020204020204" pitchFamily="34" charset="-122"/>
              </a:rPr>
              <a:t>，本层商铺层高</a:t>
            </a:r>
            <a:r>
              <a:rPr lang="en-US" altLang="zh-CN" sz="1200" b="1" dirty="0">
                <a:latin typeface="微软雅黑" panose="020B0503020204020204" pitchFamily="34" charset="-122"/>
                <a:ea typeface="微软雅黑" panose="020B0503020204020204" pitchFamily="34" charset="-122"/>
              </a:rPr>
              <a:t>5.15m</a:t>
            </a:r>
            <a:r>
              <a:rPr lang="zh-CN" altLang="en-US" sz="1200" b="1" dirty="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589812" y="949670"/>
            <a:ext cx="8375401" cy="5921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0" y="0"/>
            <a:ext cx="5399368"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组团底商平台</a:t>
            </a:r>
            <a:r>
              <a:rPr lang="en-US" altLang="zh-CN" dirty="0"/>
              <a:t>1</a:t>
            </a:r>
            <a:r>
              <a:rPr lang="zh-CN" altLang="en-US" dirty="0"/>
              <a:t>层产品信息</a:t>
            </a:r>
            <a:endParaRPr lang="zh-CN" altLang="en-US" dirty="0"/>
          </a:p>
        </p:txBody>
      </p:sp>
      <p:sp>
        <p:nvSpPr>
          <p:cNvPr id="4" name="矩形 3"/>
          <p:cNvSpPr/>
          <p:nvPr/>
        </p:nvSpPr>
        <p:spPr>
          <a:xfrm>
            <a:off x="1199456" y="612975"/>
            <a:ext cx="8684218" cy="336695"/>
          </a:xfrm>
          <a:prstGeom prst="rect">
            <a:avLst/>
          </a:prstGeom>
        </p:spPr>
        <p:txBody>
          <a:bodyPr wrap="square">
            <a:spAutoFit/>
          </a:bodyPr>
          <a:lstStyle/>
          <a:p>
            <a:pPr eaLnBrk="0" hangingPunct="0">
              <a:lnSpc>
                <a:spcPct val="150000"/>
              </a:lnSpc>
            </a:pPr>
            <a:r>
              <a:rPr lang="zh-CN" altLang="en-US" sz="1200" b="1" dirty="0">
                <a:latin typeface="微软雅黑" panose="020B0503020204020204" pitchFamily="34" charset="-122"/>
                <a:ea typeface="微软雅黑" panose="020B0503020204020204" pitchFamily="34" charset="-122"/>
              </a:rPr>
              <a:t>平台</a:t>
            </a: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层商铺共计</a:t>
            </a:r>
            <a:r>
              <a:rPr lang="en-US" altLang="zh-CN" sz="1200" b="1" dirty="0">
                <a:latin typeface="微软雅黑" panose="020B0503020204020204" pitchFamily="34" charset="-122"/>
                <a:ea typeface="微软雅黑" panose="020B0503020204020204" pitchFamily="34" charset="-122"/>
              </a:rPr>
              <a:t>9</a:t>
            </a:r>
            <a:r>
              <a:rPr lang="zh-CN" altLang="en-US" sz="1200" b="1" dirty="0">
                <a:latin typeface="微软雅黑" panose="020B0503020204020204" pitchFamily="34" charset="-122"/>
                <a:ea typeface="微软雅黑" panose="020B0503020204020204" pitchFamily="34" charset="-122"/>
              </a:rPr>
              <a:t>套。商铺面积区间：</a:t>
            </a:r>
            <a:r>
              <a:rPr lang="en-US" altLang="zh-CN" sz="1200" b="1" dirty="0">
                <a:latin typeface="微软雅黑" panose="020B0503020204020204" pitchFamily="34" charset="-122"/>
                <a:ea typeface="微软雅黑" panose="020B0503020204020204" pitchFamily="34" charset="-122"/>
              </a:rPr>
              <a:t>76-294</a:t>
            </a:r>
            <a:r>
              <a:rPr lang="zh-CN" altLang="en-US" sz="1200" b="1" dirty="0">
                <a:latin typeface="微软雅黑" panose="020B0503020204020204" pitchFamily="34" charset="-122"/>
                <a:ea typeface="微软雅黑" panose="020B0503020204020204" pitchFamily="34" charset="-122"/>
              </a:rPr>
              <a:t>㎡，建筑面积</a:t>
            </a:r>
            <a:r>
              <a:rPr lang="en-US" altLang="zh-CN" sz="1200" b="1" dirty="0">
                <a:solidFill>
                  <a:srgbClr val="000000"/>
                </a:solidFill>
                <a:latin typeface="微软雅黑" panose="020B0503020204020204" pitchFamily="34" charset="-122"/>
                <a:ea typeface="微软雅黑" panose="020B0503020204020204" pitchFamily="34" charset="-122"/>
              </a:rPr>
              <a:t>1605.23㎡</a:t>
            </a:r>
            <a:r>
              <a:rPr lang="zh-CN" altLang="en-US" sz="1200" b="1" dirty="0">
                <a:latin typeface="微软雅黑" panose="020B0503020204020204" pitchFamily="34" charset="-122"/>
                <a:ea typeface="微软雅黑" panose="020B0503020204020204" pitchFamily="34" charset="-122"/>
              </a:rPr>
              <a:t>，本层商铺层高</a:t>
            </a:r>
            <a:r>
              <a:rPr lang="en-US" altLang="zh-CN" sz="1200" b="1" dirty="0">
                <a:latin typeface="微软雅黑" panose="020B0503020204020204" pitchFamily="34" charset="-122"/>
                <a:ea typeface="微软雅黑" panose="020B0503020204020204" pitchFamily="34" charset="-122"/>
              </a:rPr>
              <a:t>4.15-5m</a:t>
            </a:r>
            <a:r>
              <a:rPr lang="zh-CN" altLang="en-US" sz="1200" b="1" dirty="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543219" y="944914"/>
            <a:ext cx="8392873" cy="59340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3" name="Rectangle 2"/>
          <p:cNvSpPr txBox="1">
            <a:spLocks noChangeArrowheads="1"/>
          </p:cNvSpPr>
          <p:nvPr/>
        </p:nvSpPr>
        <p:spPr bwMode="auto">
          <a:xfrm>
            <a:off x="-1" y="11474"/>
            <a:ext cx="5111497"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zh-CN" altLang="en-US" dirty="0" smtClean="0"/>
              <a:t>未来</a:t>
            </a:r>
            <a:r>
              <a:rPr lang="zh-CN" altLang="en-US" dirty="0" smtClean="0"/>
              <a:t>方舟底</a:t>
            </a:r>
            <a:r>
              <a:rPr lang="zh-CN" altLang="en-US" dirty="0" smtClean="0"/>
              <a:t>商经营业态（实景）</a:t>
            </a:r>
            <a:endParaRPr lang="zh-CN" altLang="en-US" dirty="0"/>
          </a:p>
        </p:txBody>
      </p:sp>
      <p:pic>
        <p:nvPicPr>
          <p:cNvPr id="3074" name="Picture 2" descr="d:\Users\Administrator\Desktop\公寓底商\F2.jpg"/>
          <p:cNvPicPr>
            <a:picLocks noChangeAspect="1" noChangeArrowheads="1"/>
          </p:cNvPicPr>
          <p:nvPr/>
        </p:nvPicPr>
        <p:blipFill>
          <a:blip r:embed="rId1"/>
          <a:srcRect/>
          <a:stretch>
            <a:fillRect/>
          </a:stretch>
        </p:blipFill>
        <p:spPr bwMode="auto">
          <a:xfrm>
            <a:off x="327650" y="1384524"/>
            <a:ext cx="2859318" cy="2144489"/>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d:\Users\Administrator\Desktop\公寓底商\F2影城商业.jpg"/>
          <p:cNvPicPr>
            <a:picLocks noChangeAspect="1" noChangeArrowheads="1"/>
          </p:cNvPicPr>
          <p:nvPr/>
        </p:nvPicPr>
        <p:blipFill>
          <a:blip r:embed="rId2"/>
          <a:srcRect/>
          <a:stretch>
            <a:fillRect/>
          </a:stretch>
        </p:blipFill>
        <p:spPr bwMode="auto">
          <a:xfrm>
            <a:off x="3236682" y="1384524"/>
            <a:ext cx="2859318" cy="21444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Users\Administrator\Desktop\公寓底商\F4面对歌剧院一侧2.jpg"/>
          <p:cNvPicPr>
            <a:picLocks noChangeAspect="1" noChangeArrowheads="1"/>
          </p:cNvPicPr>
          <p:nvPr/>
        </p:nvPicPr>
        <p:blipFill>
          <a:blip r:embed="rId3"/>
          <a:srcRect/>
          <a:stretch>
            <a:fillRect/>
          </a:stretch>
        </p:blipFill>
        <p:spPr bwMode="auto">
          <a:xfrm>
            <a:off x="6140481" y="1384525"/>
            <a:ext cx="2829784" cy="2122338"/>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d:\Users\Administrator\Desktop\公寓底商\F4北京东路一侧.jpg"/>
          <p:cNvPicPr>
            <a:picLocks noChangeAspect="1" noChangeArrowheads="1"/>
          </p:cNvPicPr>
          <p:nvPr/>
        </p:nvPicPr>
        <p:blipFill>
          <a:blip r:embed="rId4"/>
          <a:srcRect/>
          <a:stretch>
            <a:fillRect/>
          </a:stretch>
        </p:blipFill>
        <p:spPr bwMode="auto">
          <a:xfrm>
            <a:off x="9037173" y="1362374"/>
            <a:ext cx="2859318" cy="214448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Users\Administrator\Desktop\公寓底商\D11北京东路一侧.jpg"/>
          <p:cNvPicPr>
            <a:picLocks noChangeAspect="1" noChangeArrowheads="1"/>
          </p:cNvPicPr>
          <p:nvPr/>
        </p:nvPicPr>
        <p:blipFill>
          <a:blip r:embed="rId5"/>
          <a:srcRect/>
          <a:stretch>
            <a:fillRect/>
          </a:stretch>
        </p:blipFill>
        <p:spPr bwMode="auto">
          <a:xfrm>
            <a:off x="327650" y="3956956"/>
            <a:ext cx="2859318" cy="2144489"/>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d:\Users\Administrator\Desktop\公寓底商\D9北京东路一侧2.jpg"/>
          <p:cNvPicPr>
            <a:picLocks noChangeAspect="1" noChangeArrowheads="1"/>
          </p:cNvPicPr>
          <p:nvPr/>
        </p:nvPicPr>
        <p:blipFill>
          <a:blip r:embed="rId6"/>
          <a:srcRect/>
          <a:stretch>
            <a:fillRect/>
          </a:stretch>
        </p:blipFill>
        <p:spPr bwMode="auto">
          <a:xfrm>
            <a:off x="3227907" y="3950373"/>
            <a:ext cx="2853824" cy="214036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d:\Users\Administrator\Desktop\公寓底商\D11北京东路一侧3.jpg"/>
          <p:cNvPicPr>
            <a:picLocks noChangeAspect="1" noChangeArrowheads="1"/>
          </p:cNvPicPr>
          <p:nvPr/>
        </p:nvPicPr>
        <p:blipFill>
          <a:blip r:embed="rId7"/>
          <a:srcRect/>
          <a:stretch>
            <a:fillRect/>
          </a:stretch>
        </p:blipFill>
        <p:spPr bwMode="auto">
          <a:xfrm>
            <a:off x="6183349" y="3950374"/>
            <a:ext cx="2853824" cy="214036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Users\Administrator\Desktop\公寓底商\D11北京东路一侧2.jpg"/>
          <p:cNvPicPr>
            <a:picLocks noChangeAspect="1" noChangeArrowheads="1"/>
          </p:cNvPicPr>
          <p:nvPr/>
        </p:nvPicPr>
        <p:blipFill>
          <a:blip r:embed="rId8"/>
          <a:srcRect/>
          <a:stretch>
            <a:fillRect/>
          </a:stretch>
        </p:blipFill>
        <p:spPr bwMode="auto">
          <a:xfrm>
            <a:off x="9131804" y="3956956"/>
            <a:ext cx="2859318" cy="214448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7650" y="3529013"/>
            <a:ext cx="11568841" cy="421360"/>
          </a:xfrm>
          <a:prstGeom prst="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smtClean="0">
                <a:latin typeface="微软雅黑" panose="020B0503020204020204" pitchFamily="34" charset="-122"/>
                <a:ea typeface="微软雅黑" panose="020B0503020204020204" pitchFamily="34" charset="-122"/>
              </a:rPr>
              <a:t>银行、餐饮、便利店、美容美发、家装、五金等各业态，多种多样，灵活经营</a:t>
            </a:r>
            <a:endParaRPr lang="zh-CN" altLang="en-US" sz="1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3" name="Rectangle 2"/>
          <p:cNvSpPr txBox="1">
            <a:spLocks noChangeArrowheads="1"/>
          </p:cNvSpPr>
          <p:nvPr/>
        </p:nvSpPr>
        <p:spPr bwMode="auto">
          <a:xfrm>
            <a:off x="0" y="0"/>
            <a:ext cx="3378369"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组团底商产品效果图</a:t>
            </a:r>
            <a:endParaRPr lang="zh-CN" altLang="en-US" dirty="0"/>
          </a:p>
        </p:txBody>
      </p:sp>
      <p:pic>
        <p:nvPicPr>
          <p:cNvPr id="4" name="Picture 22"/>
          <p:cNvPicPr>
            <a:picLocks noChangeAspect="1"/>
          </p:cNvPicPr>
          <p:nvPr/>
        </p:nvPicPr>
        <p:blipFill rotWithShape="1">
          <a:blip r:embed="rId1"/>
          <a:srcRect/>
          <a:stretch>
            <a:fillRect/>
          </a:stretch>
        </p:blipFill>
        <p:spPr>
          <a:xfrm>
            <a:off x="4283116" y="2129409"/>
            <a:ext cx="7798221" cy="3332057"/>
          </a:xfrm>
          <a:prstGeom prst="rect">
            <a:avLst/>
          </a:prstGeom>
        </p:spPr>
      </p:pic>
      <p:pic>
        <p:nvPicPr>
          <p:cNvPr id="5" name="Picture 7"/>
          <p:cNvPicPr>
            <a:picLocks noChangeAspect="1"/>
          </p:cNvPicPr>
          <p:nvPr/>
        </p:nvPicPr>
        <p:blipFill rotWithShape="1">
          <a:blip r:embed="rId2"/>
          <a:srcRect/>
          <a:stretch>
            <a:fillRect/>
          </a:stretch>
        </p:blipFill>
        <p:spPr>
          <a:xfrm>
            <a:off x="171873" y="1468543"/>
            <a:ext cx="3938023" cy="4084363"/>
          </a:xfrm>
          <a:prstGeom prst="rect">
            <a:avLst/>
          </a:prstGeom>
        </p:spPr>
      </p:pic>
      <p:sp>
        <p:nvSpPr>
          <p:cNvPr id="6" name="TextBox 5"/>
          <p:cNvSpPr txBox="1"/>
          <p:nvPr/>
        </p:nvSpPr>
        <p:spPr>
          <a:xfrm>
            <a:off x="4404360" y="1597383"/>
            <a:ext cx="6467856"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尚礼西路侧上北京东路人行阶梯示意效果图</a:t>
            </a:r>
            <a:endParaRPr lang="zh-CN" altLang="en-US" sz="1600" dirty="0">
              <a:latin typeface="微软雅黑" panose="020B0503020204020204" pitchFamily="34" charset="-122"/>
              <a:ea typeface="微软雅黑" panose="020B0503020204020204" pitchFamily="34" charset="-122"/>
            </a:endParaRPr>
          </a:p>
        </p:txBody>
      </p:sp>
      <p:sp>
        <p:nvSpPr>
          <p:cNvPr id="7" name="TextBox 6"/>
          <p:cNvSpPr txBox="1"/>
          <p:nvPr/>
        </p:nvSpPr>
        <p:spPr>
          <a:xfrm>
            <a:off x="9570720" y="5835662"/>
            <a:ext cx="1941576" cy="461665"/>
          </a:xfrm>
          <a:prstGeom prst="rect">
            <a:avLst/>
          </a:prstGeom>
          <a:noFill/>
        </p:spPr>
        <p:txBody>
          <a:bodyPr wrap="square" rtlCol="0">
            <a:spAutoFit/>
          </a:bodyPr>
          <a:lstStyle/>
          <a:p>
            <a:r>
              <a:rPr lang="zh-CN" altLang="en-US" sz="1200" dirty="0" smtClean="0">
                <a:latin typeface="微软雅黑" panose="020B0503020204020204" pitchFamily="34" charset="-122"/>
                <a:ea typeface="微软雅黑" panose="020B0503020204020204" pitchFamily="34" charset="-122"/>
              </a:rPr>
              <a:t>注：效果图与最终实际呈现会有一定的差异</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3" name="Rectangle 2"/>
          <p:cNvSpPr txBox="1">
            <a:spLocks noChangeArrowheads="1"/>
          </p:cNvSpPr>
          <p:nvPr/>
        </p:nvSpPr>
        <p:spPr bwMode="auto">
          <a:xfrm>
            <a:off x="0" y="0"/>
            <a:ext cx="3378369"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组团底商产品效果图</a:t>
            </a:r>
            <a:endParaRPr lang="zh-CN" altLang="en-US" dirty="0"/>
          </a:p>
        </p:txBody>
      </p:sp>
      <p:pic>
        <p:nvPicPr>
          <p:cNvPr id="4" name="Picture 11"/>
          <p:cNvPicPr>
            <a:picLocks noChangeAspect="1"/>
          </p:cNvPicPr>
          <p:nvPr/>
        </p:nvPicPr>
        <p:blipFill>
          <a:blip r:embed="rId1"/>
          <a:stretch>
            <a:fillRect/>
          </a:stretch>
        </p:blipFill>
        <p:spPr>
          <a:xfrm>
            <a:off x="328016" y="674913"/>
            <a:ext cx="9090304" cy="5681439"/>
          </a:xfrm>
          <a:prstGeom prst="rect">
            <a:avLst/>
          </a:prstGeom>
        </p:spPr>
      </p:pic>
      <p:sp>
        <p:nvSpPr>
          <p:cNvPr id="5" name="TextBox 4"/>
          <p:cNvSpPr txBox="1"/>
          <p:nvPr/>
        </p:nvSpPr>
        <p:spPr>
          <a:xfrm>
            <a:off x="9570720" y="5835662"/>
            <a:ext cx="1941576" cy="461665"/>
          </a:xfrm>
          <a:prstGeom prst="rect">
            <a:avLst/>
          </a:prstGeom>
          <a:noFill/>
        </p:spPr>
        <p:txBody>
          <a:bodyPr wrap="square" rtlCol="0">
            <a:spAutoFit/>
          </a:bodyPr>
          <a:lstStyle/>
          <a:p>
            <a:r>
              <a:rPr lang="zh-CN" altLang="en-US" sz="1200" dirty="0" smtClean="0">
                <a:latin typeface="微软雅黑" panose="020B0503020204020204" pitchFamily="34" charset="-122"/>
                <a:ea typeface="微软雅黑" panose="020B0503020204020204" pitchFamily="34" charset="-122"/>
              </a:rPr>
              <a:t>注：效果图与最终实际呈现会有一定的差异</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pic>
        <p:nvPicPr>
          <p:cNvPr id="4" name="图片 3"/>
          <p:cNvPicPr>
            <a:picLocks noChangeAspect="1"/>
          </p:cNvPicPr>
          <p:nvPr/>
        </p:nvPicPr>
        <p:blipFill>
          <a:blip r:embed="rId1"/>
          <a:stretch>
            <a:fillRect/>
          </a:stretch>
        </p:blipFill>
        <p:spPr>
          <a:xfrm>
            <a:off x="2055944" y="717811"/>
            <a:ext cx="7734542" cy="5810722"/>
          </a:xfrm>
          <a:prstGeom prst="rect">
            <a:avLst/>
          </a:prstGeom>
        </p:spPr>
      </p:pic>
      <p:sp>
        <p:nvSpPr>
          <p:cNvPr id="5" name="Rectangle 2"/>
          <p:cNvSpPr txBox="1">
            <a:spLocks noChangeArrowheads="1"/>
          </p:cNvSpPr>
          <p:nvPr/>
        </p:nvSpPr>
        <p:spPr bwMode="auto">
          <a:xfrm>
            <a:off x="0" y="0"/>
            <a:ext cx="3378369" cy="5969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defPPr>
              <a:defRPr lang="zh-CN"/>
            </a:defPPr>
            <a:lvl1pPr>
              <a:buFont typeface="Arial" panose="020B0604020202020204" pitchFamily="34" charset="0"/>
              <a:buNone/>
              <a:defRPr sz="2400" b="1">
                <a:solidFill>
                  <a:srgbClr val="FFFFFF"/>
                </a:solidFill>
                <a:latin typeface="微软雅黑" panose="020B0503020204020204" pitchFamily="34" charset="-122"/>
                <a:ea typeface="微软雅黑" panose="020B0503020204020204" pitchFamily="34" charset="-122"/>
              </a:defRPr>
            </a:lvl1pPr>
          </a:lstStyle>
          <a:p>
            <a:r>
              <a:rPr lang="en-US" altLang="zh-CN" dirty="0"/>
              <a:t>F3</a:t>
            </a:r>
            <a:r>
              <a:rPr lang="zh-CN" altLang="en-US" dirty="0"/>
              <a:t>组团底商产品效果图</a:t>
            </a:r>
            <a:endParaRPr lang="zh-CN" altLang="en-US" dirty="0"/>
          </a:p>
        </p:txBody>
      </p:sp>
      <p:sp>
        <p:nvSpPr>
          <p:cNvPr id="6" name="TextBox 5"/>
          <p:cNvSpPr txBox="1"/>
          <p:nvPr/>
        </p:nvSpPr>
        <p:spPr>
          <a:xfrm>
            <a:off x="10012680" y="5864884"/>
            <a:ext cx="1996440" cy="523220"/>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注：效果图与最终实际呈现会有一定的差异</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2149</Words>
  <Application>WPS 演示</Application>
  <PresentationFormat>自定义</PresentationFormat>
  <Paragraphs>324</Paragraphs>
  <Slides>20</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宋体</vt:lpstr>
      <vt:lpstr>Wingdings</vt:lpstr>
      <vt:lpstr>微软雅黑</vt:lpstr>
      <vt:lpstr>Arial</vt:lpstr>
      <vt:lpstr>方正兰亭超细黑简体</vt:lpstr>
      <vt:lpstr>黑体</vt:lpstr>
      <vt:lpstr>方正兰亭超细黑简体</vt:lpstr>
      <vt:lpstr>Calibri</vt:lpstr>
      <vt:lpstr>BentonSans Book</vt:lpstr>
      <vt:lpstr>AMGDT</vt:lpstr>
      <vt:lpstr>等线</vt:lpstr>
      <vt:lpstr>Arial Unicode MS</vt:lpstr>
      <vt:lpstr>等线 Light</vt:lpstr>
      <vt:lpstr>PMingLiU</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方案一</dc:title>
  <dc:creator>Microsoft Office 用户</dc:creator>
  <cp:lastModifiedBy>寒蝉鸣泣之时1410882911</cp:lastModifiedBy>
  <cp:revision>408</cp:revision>
  <dcterms:created xsi:type="dcterms:W3CDTF">2017-06-27T03:49:00Z</dcterms:created>
  <dcterms:modified xsi:type="dcterms:W3CDTF">2020-12-23T09:34:21Z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