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354" r:id="rId3"/>
    <p:sldId id="357" r:id="rId5"/>
    <p:sldId id="356" r:id="rId6"/>
    <p:sldId id="358" r:id="rId7"/>
    <p:sldId id="359" r:id="rId8"/>
    <p:sldId id="360" r:id="rId9"/>
    <p:sldId id="361" r:id="rId10"/>
    <p:sldId id="362" r:id="rId11"/>
    <p:sldId id="945" r:id="rId12"/>
    <p:sldId id="371" r:id="rId13"/>
    <p:sldId id="829" r:id="rId14"/>
    <p:sldId id="855" r:id="rId15"/>
    <p:sldId id="909" r:id="rId16"/>
    <p:sldId id="910" r:id="rId17"/>
    <p:sldId id="836" r:id="rId18"/>
    <p:sldId id="901" r:id="rId19"/>
    <p:sldId id="856" r:id="rId20"/>
    <p:sldId id="922" r:id="rId21"/>
    <p:sldId id="903" r:id="rId22"/>
    <p:sldId id="878" r:id="rId23"/>
    <p:sldId id="889" r:id="rId24"/>
    <p:sldId id="890" r:id="rId25"/>
    <p:sldId id="913" r:id="rId26"/>
    <p:sldId id="914" r:id="rId27"/>
    <p:sldId id="915" r:id="rId28"/>
    <p:sldId id="916" r:id="rId29"/>
    <p:sldId id="261" r:id="rId30"/>
  </p:sldIdLst>
  <p:sldSz cx="12192000" cy="6858000"/>
  <p:notesSz cx="6858000" cy="9144000"/>
  <p:defaultTextStyle>
    <a:defPPr>
      <a:defRPr lang="zh-CN"/>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7B56"/>
    <a:srgbClr val="D06D4A"/>
    <a:srgbClr val="376091"/>
    <a:srgbClr val="F2F2F2"/>
    <a:srgbClr val="EAEAEA"/>
    <a:srgbClr val="FCEBE0"/>
    <a:srgbClr val="FBE6D7"/>
    <a:srgbClr val="13F2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79" autoAdjust="0"/>
    <p:restoredTop sz="95092" autoAdjust="0"/>
  </p:normalViewPr>
  <p:slideViewPr>
    <p:cSldViewPr snapToGrid="0" snapToObjects="1">
      <p:cViewPr varScale="1">
        <p:scale>
          <a:sx n="86" d="100"/>
          <a:sy n="86" d="100"/>
        </p:scale>
        <p:origin x="51" y="111"/>
      </p:cViewPr>
      <p:guideLst>
        <p:guide orient="horz" pos="191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7D6D34-55E3-9D4E-B67C-09DA4E963701}"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E26835-E369-1A46-ADD8-1C724DDDCB0A}"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BC3E314-CA34-4EA0-A2EB-8C3B78AEDA0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6E26835-E369-1A46-ADD8-1C724DDDCB0A}"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6E26835-E369-1A46-ADD8-1C724DDDCB0A}"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6E26835-E369-1A46-ADD8-1C724DDDCB0A}"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F275422B-04BC-46EC-8F26-E0FD5848B6D5}"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179DCC44-D59F-4ADE-8026-ABD66ABC10F8}"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21C6598B-FAAE-4690-9035-5835A3AFBB68}"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9"/>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9"/>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0BC48129-8B90-41C3-8F8E-DB4D7B7F548C}"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9"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2"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7B6694DC-26CC-4915-8BB7-D24181C39364}" type="datetime1">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83984791-77BA-4685-B37B-727AF02D8C22}"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7C85BAF-EE3B-433E-A07A-C1F3C0AA974E}" type="datetime1">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8B629CEC-C61E-434C-82C7-67ABF48A2B80}"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D3C293CB-100E-4030-B3F4-6713F6FB69B1}" type="datetime1">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764F6251-1005-4933-8BC6-880E49782A18}"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kumimoji="1" lang="zh-CN" altLang="en-US"/>
              <a:t>单击此处编辑母版标题样式</a:t>
            </a:r>
            <a:endParaRPr kumimoji="1" lang="zh-CN" altLang="en-US"/>
          </a:p>
        </p:txBody>
      </p:sp>
      <p:sp>
        <p:nvSpPr>
          <p:cNvPr id="3" name="竖排文本占位符 2"/>
          <p:cNvSpPr>
            <a:spLocks noGrp="1"/>
          </p:cNvSpPr>
          <p:nvPr>
            <p:ph type="body" orient="vert" idx="1"/>
          </p:nvPr>
        </p:nvSpPr>
        <p:spPr>
          <a:xfrm>
            <a:off x="838202" y="365127"/>
            <a:ext cx="7734300" cy="5811839"/>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CD6ABBE1-587B-4096-841B-9A0155F08494}" type="datetime1">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D9CB2F3D-D3E3-4F8C-A985-E0E087285DDE}" type="datetime1">
              <a:rPr kumimoji="1" lang="zh-CN" altLang="en-US" smtClean="0"/>
            </a:fld>
            <a:endParaRPr kumimoji="1"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7054C4FD-7E9E-A448-98D3-6D4D6A94B96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900" kern="1200">
          <a:solidFill>
            <a:schemeClr val="tx1"/>
          </a:solidFill>
          <a:latin typeface="+mn-lt"/>
          <a:ea typeface="+mn-ea"/>
          <a:cs typeface="+mn-cs"/>
        </a:defRPr>
      </a:lvl9pPr>
    </p:bodyStyle>
    <p:otherStyle>
      <a:defPPr>
        <a:defRPr lang="zh-CN"/>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jpeg"/><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16.jpeg"/><Relationship Id="rId7" Type="http://schemas.openxmlformats.org/officeDocument/2006/relationships/tags" Target="../tags/tag4.xml"/><Relationship Id="rId6" Type="http://schemas.openxmlformats.org/officeDocument/2006/relationships/image" Target="../media/image15.jpeg"/><Relationship Id="rId5" Type="http://schemas.openxmlformats.org/officeDocument/2006/relationships/tags" Target="../tags/tag3.xml"/><Relationship Id="rId4" Type="http://schemas.openxmlformats.org/officeDocument/2006/relationships/image" Target="../media/image14.jpeg"/><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slideLayout" Target="../slideLayouts/slideLayout7.xml"/><Relationship Id="rId10" Type="http://schemas.openxmlformats.org/officeDocument/2006/relationships/image" Target="../media/image17.jpe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image" Target="../media/image28.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jpeg"/><Relationship Id="rId1" Type="http://schemas.openxmlformats.org/officeDocument/2006/relationships/image" Target="../media/image37.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图片 3"/>
          <p:cNvPicPr>
            <a:picLocks noChangeAspect="1"/>
          </p:cNvPicPr>
          <p:nvPr/>
        </p:nvPicPr>
        <p:blipFill>
          <a:blip r:embed="rId1"/>
          <a:srcRect/>
          <a:stretch>
            <a:fillRect/>
          </a:stretch>
        </p:blipFill>
        <p:spPr bwMode="auto">
          <a:xfrm>
            <a:off x="0" y="0"/>
            <a:ext cx="12192001" cy="6884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13"/>
          <p:cNvPicPr>
            <a:picLocks noChangeAspect="1"/>
          </p:cNvPicPr>
          <p:nvPr/>
        </p:nvPicPr>
        <p:blipFill>
          <a:blip r:embed="rId2"/>
          <a:srcRect/>
          <a:stretch>
            <a:fillRect/>
          </a:stretch>
        </p:blipFill>
        <p:spPr bwMode="auto">
          <a:xfrm>
            <a:off x="9336361" y="260653"/>
            <a:ext cx="1224137" cy="760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1736734" y="2039474"/>
            <a:ext cx="8707429" cy="791037"/>
          </a:xfrm>
          <a:prstGeom prst="rect">
            <a:avLst/>
          </a:prstGeom>
          <a:noFill/>
        </p:spPr>
        <p:txBody>
          <a:bodyPr wrap="square" lIns="97714" tIns="48857" rIns="97714" bIns="48857" rtlCol="0">
            <a:spAutoFit/>
          </a:bodyPr>
          <a:lstStyle/>
          <a:p>
            <a:pPr algn="ctr">
              <a:lnSpc>
                <a:spcPct val="150000"/>
              </a:lnSpc>
            </a:pPr>
            <a:r>
              <a:rPr lang="zh-CN" altLang="en-US" sz="3400" b="1" dirty="0">
                <a:solidFill>
                  <a:schemeClr val="bg1"/>
                </a:solidFill>
                <a:latin typeface="微软雅黑" panose="020B0503020204020204" pitchFamily="34" charset="-122"/>
                <a:ea typeface="微软雅黑" panose="020B0503020204020204" pitchFamily="34" charset="-122"/>
              </a:rPr>
              <a:t>中天</a:t>
            </a:r>
            <a:r>
              <a:rPr lang="en-US" altLang="zh-CN" sz="3400" b="1" dirty="0">
                <a:solidFill>
                  <a:schemeClr val="bg1"/>
                </a:solidFill>
                <a:latin typeface="微软雅黑" panose="020B0503020204020204" pitchFamily="34" charset="-122"/>
                <a:ea typeface="微软雅黑" panose="020B0503020204020204" pitchFamily="34" charset="-122"/>
              </a:rPr>
              <a:t>·</a:t>
            </a:r>
            <a:r>
              <a:rPr lang="zh-CN" altLang="en-US" sz="3400" b="1" dirty="0">
                <a:solidFill>
                  <a:schemeClr val="bg1"/>
                </a:solidFill>
                <a:latin typeface="微软雅黑" panose="020B0503020204020204" pitchFamily="34" charset="-122"/>
                <a:ea typeface="微软雅黑" panose="020B0503020204020204" pitchFamily="34" charset="-122"/>
              </a:rPr>
              <a:t>未来方舟</a:t>
            </a:r>
            <a:endParaRPr lang="en-US" altLang="zh-CN" sz="34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3677980" y="5229201"/>
            <a:ext cx="4572000" cy="1278255"/>
          </a:xfrm>
          <a:prstGeom prst="rect">
            <a:avLst/>
          </a:prstGeom>
        </p:spPr>
        <p:txBody>
          <a:bodyPr lIns="102385" tIns="51192" rIns="102385" bIns="51192">
            <a:spAutoFit/>
          </a:bodyPr>
          <a:lstStyle/>
          <a:p>
            <a:pPr algn="ctr">
              <a:lnSpc>
                <a:spcPct val="150000"/>
              </a:lnSpc>
            </a:pPr>
            <a:endParaRPr lang="en-US" altLang="zh-CN" dirty="0">
              <a:solidFill>
                <a:schemeClr val="bg1"/>
              </a:solidFill>
              <a:latin typeface="微软雅黑" panose="020B0503020204020204" pitchFamily="34" charset="-122"/>
              <a:ea typeface="微软雅黑" panose="020B0503020204020204" pitchFamily="34" charset="-122"/>
              <a:cs typeface="方正黑体简体"/>
            </a:endParaRPr>
          </a:p>
          <a:p>
            <a:pPr algn="ct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cs typeface="方正黑体简体"/>
              </a:rPr>
              <a:t>中天金融集团        </a:t>
            </a:r>
            <a:endParaRPr lang="en-US" altLang="zh-CN" sz="1600" b="1" dirty="0">
              <a:solidFill>
                <a:schemeClr val="bg1"/>
              </a:solidFill>
              <a:latin typeface="微软雅黑" panose="020B0503020204020204" pitchFamily="34" charset="-122"/>
              <a:ea typeface="微软雅黑" panose="020B0503020204020204" pitchFamily="34" charset="-122"/>
              <a:cs typeface="方正黑体简体"/>
            </a:endParaRPr>
          </a:p>
          <a:p>
            <a:pPr algn="ct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cs typeface="方正黑体简体"/>
              </a:rPr>
              <a:t> </a:t>
            </a:r>
            <a:r>
              <a:rPr lang="en-US" altLang="zh-CN" sz="1600" b="1" dirty="0">
                <a:solidFill>
                  <a:schemeClr val="bg1"/>
                </a:solidFill>
                <a:latin typeface="微软雅黑" panose="020B0503020204020204" pitchFamily="34" charset="-122"/>
                <a:ea typeface="微软雅黑" panose="020B0503020204020204" pitchFamily="34" charset="-122"/>
                <a:cs typeface="方正黑体简体"/>
              </a:rPr>
              <a:t>2021</a:t>
            </a:r>
            <a:r>
              <a:rPr lang="zh-CN" altLang="en-US" sz="1600" b="1" dirty="0">
                <a:solidFill>
                  <a:schemeClr val="bg1"/>
                </a:solidFill>
                <a:latin typeface="微软雅黑" panose="020B0503020204020204" pitchFamily="34" charset="-122"/>
                <a:ea typeface="微软雅黑" panose="020B0503020204020204" pitchFamily="34" charset="-122"/>
                <a:cs typeface="方正黑体简体"/>
              </a:rPr>
              <a:t>年</a:t>
            </a:r>
            <a:r>
              <a:rPr lang="en-US" altLang="zh-CN" sz="1600" b="1" dirty="0">
                <a:solidFill>
                  <a:schemeClr val="bg1"/>
                </a:solidFill>
                <a:latin typeface="微软雅黑" panose="020B0503020204020204" pitchFamily="34" charset="-122"/>
                <a:ea typeface="微软雅黑" panose="020B0503020204020204" pitchFamily="34" charset="-122"/>
                <a:cs typeface="方正黑体简体"/>
              </a:rPr>
              <a:t>4</a:t>
            </a:r>
            <a:r>
              <a:rPr lang="zh-CN" altLang="en-US" sz="1600" b="1" dirty="0">
                <a:solidFill>
                  <a:schemeClr val="bg1"/>
                </a:solidFill>
                <a:latin typeface="微软雅黑" panose="020B0503020204020204" pitchFamily="34" charset="-122"/>
                <a:ea typeface="微软雅黑" panose="020B0503020204020204" pitchFamily="34" charset="-122"/>
                <a:cs typeface="方正黑体简体"/>
              </a:rPr>
              <a:t>月</a:t>
            </a:r>
            <a:endParaRPr lang="zh-CN" altLang="en-US" sz="1600" b="1" dirty="0">
              <a:solidFill>
                <a:schemeClr val="bg1"/>
              </a:solidFill>
              <a:latin typeface="微软雅黑" panose="020B0503020204020204" pitchFamily="34" charset="-122"/>
              <a:ea typeface="微软雅黑" panose="020B0503020204020204" pitchFamily="34" charset="-122"/>
              <a:cs typeface="方正黑体简体"/>
            </a:endParaRPr>
          </a:p>
        </p:txBody>
      </p:sp>
      <p:sp>
        <p:nvSpPr>
          <p:cNvPr id="3" name="灯片编号占位符 2"/>
          <p:cNvSpPr>
            <a:spLocks noGrp="1"/>
          </p:cNvSpPr>
          <p:nvPr>
            <p:ph type="sldNum" sz="quarter" idx="12"/>
          </p:nvPr>
        </p:nvSpPr>
        <p:spPr/>
        <p:txBody>
          <a:bodyPr/>
          <a:lstStyle/>
          <a:p>
            <a:fld id="{129C2DCA-83EE-478A-B4BC-4758F8972C60}" type="slidenum">
              <a:rPr lang="zh-CN" altLang="en-US" smtClean="0"/>
            </a:fld>
            <a:endParaRPr lang="zh-CN" altLang="en-US"/>
          </a:p>
        </p:txBody>
      </p:sp>
      <p:sp>
        <p:nvSpPr>
          <p:cNvPr id="7" name="文本框 3"/>
          <p:cNvSpPr txBox="1"/>
          <p:nvPr/>
        </p:nvSpPr>
        <p:spPr>
          <a:xfrm>
            <a:off x="1754198" y="3028972"/>
            <a:ext cx="8707429" cy="673100"/>
          </a:xfrm>
          <a:prstGeom prst="rect">
            <a:avLst/>
          </a:prstGeom>
          <a:noFill/>
        </p:spPr>
        <p:txBody>
          <a:bodyPr wrap="square" lIns="97714" tIns="48857" rIns="97714" bIns="48857" rtlCol="0">
            <a:spAutoFit/>
          </a:bodyPr>
          <a:lstStyle/>
          <a:p>
            <a:pPr algn="ctr">
              <a:lnSpc>
                <a:spcPct val="150000"/>
              </a:lnSpc>
            </a:pPr>
            <a:r>
              <a:rPr lang="en-US" altLang="zh-CN" sz="2500" b="1" dirty="0">
                <a:solidFill>
                  <a:schemeClr val="bg1"/>
                </a:solidFill>
                <a:latin typeface="微软雅黑" panose="020B0503020204020204" pitchFamily="34" charset="-122"/>
                <a:ea typeface="微软雅黑" panose="020B0503020204020204" pitchFamily="34" charset="-122"/>
              </a:rPr>
              <a:t>F3</a:t>
            </a:r>
            <a:r>
              <a:rPr lang="zh-CN" altLang="en-US" sz="2500" b="1" dirty="0">
                <a:solidFill>
                  <a:schemeClr val="bg1"/>
                </a:solidFill>
                <a:latin typeface="微软雅黑" panose="020B0503020204020204" pitchFamily="34" charset="-122"/>
                <a:ea typeface="微软雅黑" panose="020B0503020204020204" pitchFamily="34" charset="-122"/>
              </a:rPr>
              <a:t>组团</a:t>
            </a:r>
            <a:r>
              <a:rPr lang="zh-CN" altLang="en-US" sz="2500" b="1" dirty="0">
                <a:solidFill>
                  <a:schemeClr val="bg1"/>
                </a:solidFill>
                <a:latin typeface="微软雅黑" panose="020B0503020204020204" pitchFamily="34" charset="-122"/>
                <a:ea typeface="微软雅黑" panose="020B0503020204020204" pitchFamily="34" charset="-122"/>
              </a:rPr>
              <a:t>写字楼产品推荐资料</a:t>
            </a:r>
            <a:endParaRPr lang="en-US" altLang="zh-CN" sz="25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82060" y="1991360"/>
            <a:ext cx="4627880" cy="2065655"/>
            <a:chOff x="5955" y="3136"/>
            <a:chExt cx="7288" cy="3253"/>
          </a:xfrm>
        </p:grpSpPr>
        <p:sp>
          <p:nvSpPr>
            <p:cNvPr id="5" name="TextBox 1"/>
            <p:cNvSpPr txBox="1"/>
            <p:nvPr/>
          </p:nvSpPr>
          <p:spPr>
            <a:xfrm>
              <a:off x="7559" y="3136"/>
              <a:ext cx="4082" cy="870"/>
            </a:xfrm>
            <a:prstGeom prst="rect">
              <a:avLst/>
            </a:prstGeom>
            <a:noFill/>
          </p:spPr>
          <p:txBody>
            <a:bodyPr wrap="square" lIns="74980" tIns="37490" rIns="74980" bIns="37490" rtlCol="0">
              <a:spAutoFit/>
            </a:bodyPr>
            <a:lstStyle/>
            <a:p>
              <a:pPr algn="ctr"/>
              <a:r>
                <a:rPr lang="zh-CN" altLang="en-US" sz="3100" b="1" dirty="0">
                  <a:solidFill>
                    <a:prstClr val="white">
                      <a:lumMod val="50000"/>
                    </a:prstClr>
                  </a:solidFill>
                  <a:latin typeface="微软雅黑" panose="020B0503020204020204" pitchFamily="34" charset="-122"/>
                  <a:ea typeface="微软雅黑" panose="020B0503020204020204" pitchFamily="34" charset="-122"/>
                </a:rPr>
                <a:t>目录</a:t>
              </a:r>
              <a:endParaRPr lang="zh-CN" altLang="en-US" sz="3100" b="1" dirty="0">
                <a:solidFill>
                  <a:prstClr val="white">
                    <a:lumMod val="50000"/>
                  </a:prstClr>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flipH="1" flipV="1">
              <a:off x="6717" y="4250"/>
              <a:ext cx="5765" cy="23"/>
            </a:xfrm>
            <a:prstGeom prst="line">
              <a:avLst/>
            </a:prstGeom>
          </p:spPr>
          <p:style>
            <a:lnRef idx="2">
              <a:schemeClr val="accent1"/>
            </a:lnRef>
            <a:fillRef idx="0">
              <a:schemeClr val="accent1"/>
            </a:fillRef>
            <a:effectRef idx="1">
              <a:schemeClr val="accent1"/>
            </a:effectRef>
            <a:fontRef idx="minor">
              <a:schemeClr val="tx1"/>
            </a:fontRef>
          </p:style>
        </p:cxnSp>
        <p:sp>
          <p:nvSpPr>
            <p:cNvPr id="7" name="文本框 6"/>
            <p:cNvSpPr txBox="1"/>
            <p:nvPr/>
          </p:nvSpPr>
          <p:spPr>
            <a:xfrm>
              <a:off x="6272" y="4799"/>
              <a:ext cx="6656" cy="651"/>
            </a:xfrm>
            <a:prstGeom prst="rect">
              <a:avLst/>
            </a:prstGeom>
            <a:noFill/>
          </p:spPr>
          <p:txBody>
            <a:bodyPr wrap="none" lIns="74980" tIns="37490" rIns="74980" bIns="37490" rtlCol="0" anchor="t">
              <a:spAutoFit/>
            </a:bodyPr>
            <a:lstStyle/>
            <a:p>
              <a:pPr algn="ctr" defTabSz="1023620"/>
              <a:r>
                <a:rPr lang="en-US" altLang="zh-CN" sz="2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PART1  </a:t>
              </a:r>
              <a:r>
                <a:rPr lang="zh-CN" altLang="zh-CN" sz="2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中天·未来方舟</a:t>
              </a:r>
              <a:r>
                <a:rPr lang="zh-CN" altLang="en-US" sz="2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项目简介</a:t>
              </a:r>
              <a:r>
                <a:rPr lang="zh-CN" altLang="zh-CN" sz="2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2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10"/>
            <p:cNvSpPr txBox="1"/>
            <p:nvPr/>
          </p:nvSpPr>
          <p:spPr>
            <a:xfrm>
              <a:off x="5955" y="5739"/>
              <a:ext cx="7289" cy="651"/>
            </a:xfrm>
            <a:prstGeom prst="rect">
              <a:avLst/>
            </a:prstGeom>
            <a:noFill/>
          </p:spPr>
          <p:txBody>
            <a:bodyPr wrap="none" lIns="74980" tIns="37490" rIns="74980" bIns="37490" rtlCol="0" anchor="t">
              <a:spAutoFit/>
            </a:bodyPr>
            <a:lstStyle>
              <a:defPPr>
                <a:defRPr lang="zh-CN"/>
              </a:defPPr>
              <a:lvl1pPr algn="ctr" defTabSz="1247775">
                <a:defRPr sz="27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ctr"/>
              <a:r>
                <a:rPr lang="en-US" altLang="zh-CN" sz="2200" dirty="0"/>
                <a:t>PART2  F3</a:t>
              </a:r>
              <a:r>
                <a:rPr lang="zh-CN" altLang="en-US" sz="2200" dirty="0"/>
                <a:t>组团</a:t>
              </a:r>
              <a:r>
                <a:rPr lang="zh-CN" altLang="en-US" sz="2200" dirty="0"/>
                <a:t>写字楼产品推荐资料</a:t>
              </a:r>
              <a:endParaRPr lang="zh-CN" altLang="en-US" sz="22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线连接符 3"/>
          <p:cNvCxnSpPr/>
          <p:nvPr/>
        </p:nvCxnSpPr>
        <p:spPr>
          <a:xfrm>
            <a:off x="3612371" y="2577604"/>
            <a:ext cx="507524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直线连接符 9"/>
          <p:cNvCxnSpPr/>
          <p:nvPr/>
        </p:nvCxnSpPr>
        <p:spPr>
          <a:xfrm>
            <a:off x="3612371" y="3633721"/>
            <a:ext cx="5075242"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文本框 4"/>
          <p:cNvSpPr txBox="1"/>
          <p:nvPr/>
        </p:nvSpPr>
        <p:spPr>
          <a:xfrm>
            <a:off x="3187828" y="2744074"/>
            <a:ext cx="6008387" cy="580454"/>
          </a:xfrm>
          <a:prstGeom prst="rect">
            <a:avLst/>
          </a:prstGeom>
          <a:noFill/>
        </p:spPr>
        <p:txBody>
          <a:bodyPr wrap="none" lIns="102399" tIns="51200" rIns="102399" bIns="51200" rtlCol="0">
            <a:spAutoFit/>
          </a:bodyPr>
          <a:lstStyle/>
          <a:p>
            <a:pPr algn="ctr"/>
            <a:r>
              <a:rPr lang="en-US" altLang="zh-CN" sz="3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PART 1 </a:t>
            </a:r>
            <a:r>
              <a:rPr lang="zh-CN" altLang="zh-CN" sz="3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中天·未来方舟</a:t>
            </a:r>
            <a:r>
              <a:rPr lang="zh-CN" altLang="en-US" sz="3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项目简介</a:t>
            </a:r>
            <a:r>
              <a:rPr lang="zh-CN" altLang="zh-CN" sz="3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zh-CN" sz="3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灯片编号占位符 8"/>
          <p:cNvSpPr>
            <a:spLocks noGrp="1"/>
          </p:cNvSpPr>
          <p:nvPr>
            <p:ph type="sldNum" sz="quarter" idx="12"/>
          </p:nvPr>
        </p:nvSpPr>
        <p:spPr/>
        <p:txBody>
          <a:bodyPr/>
          <a:lstStyle/>
          <a:p>
            <a:fld id="{129C2DCA-83EE-478A-B4BC-4758F8972C60}"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文本框"/>
          <p:cNvSpPr>
            <a:spLocks noGrp="1"/>
          </p:cNvSpPr>
          <p:nvPr>
            <p:ph type="sldNum" idx="4294967295"/>
          </p:nvPr>
        </p:nvSpPr>
        <p:spPr>
          <a:xfrm>
            <a:off x="8077200" y="6356360"/>
            <a:ext cx="2133600" cy="365125"/>
          </a:xfrm>
          <a:prstGeom prst="rect">
            <a:avLst/>
          </a:prstGeom>
          <a:noFill/>
          <a:ln w="9525" cap="flat" cmpd="sng">
            <a:noFill/>
            <a:prstDash val="solid"/>
            <a:miter/>
          </a:ln>
        </p:spPr>
        <p:txBody>
          <a:bodyPr vert="horz" wrap="none" lIns="91440" tIns="45720" rIns="91440" bIns="45720" rtlCol="0" anchor="t" anchorCtr="0"/>
          <a:lstStyle/>
          <a:p>
            <a:pPr algn="r"/>
            <a:fld id="{CAD2D6BD-DE1B-4B5F-8B41-2702339687B9}" type="slidenum">
              <a:rPr lang="en-US" altLang="zh-CN" sz="1400">
                <a:solidFill>
                  <a:srgbClr val="898989"/>
                </a:solidFill>
                <a:latin typeface="微软雅黑" panose="020B0503020204020204" pitchFamily="34" charset="-122"/>
                <a:ea typeface="微软雅黑" panose="020B0503020204020204" pitchFamily="34" charset="-122"/>
                <a:cs typeface="Calibri" panose="020F0502020204030204" charset="0"/>
              </a:rPr>
            </a:fld>
            <a:endParaRPr lang="zh-CN" altLang="en-US" sz="1400">
              <a:solidFill>
                <a:srgbClr val="898989"/>
              </a:solidFill>
              <a:latin typeface="微软雅黑" panose="020B0503020204020204" pitchFamily="34" charset="-122"/>
              <a:ea typeface="微软雅黑" panose="020B0503020204020204" pitchFamily="34" charset="-122"/>
              <a:cs typeface="Calibri" panose="020F0502020204030204" charset="0"/>
            </a:endParaRPr>
          </a:p>
        </p:txBody>
      </p:sp>
      <p:sp>
        <p:nvSpPr>
          <p:cNvPr id="51" name="矩形"/>
          <p:cNvSpPr/>
          <p:nvPr/>
        </p:nvSpPr>
        <p:spPr>
          <a:xfrm>
            <a:off x="403860" y="2083435"/>
            <a:ext cx="4882515" cy="2690495"/>
          </a:xfrm>
          <a:prstGeom prst="rect">
            <a:avLst/>
          </a:prstGeom>
          <a:noFill/>
          <a:ln w="9525" cap="flat" cmpd="sng">
            <a:noFill/>
            <a:prstDash val="solid"/>
            <a:miter/>
          </a:ln>
        </p:spPr>
        <p:txBody>
          <a:bodyPr vert="horz" wrap="square" lIns="91428" tIns="45714" rIns="91428" bIns="45714" anchor="t" anchorCtr="0">
            <a:spAutoFit/>
          </a:bodyPr>
          <a:lstStyle/>
          <a:p>
            <a:pPr marL="284480" indent="-284480">
              <a:lnSpc>
                <a:spcPct val="150000"/>
              </a:lnSpc>
              <a:spcBef>
                <a:spcPts val="1500"/>
              </a:spcBef>
              <a:buFont typeface="Wingdings" panose="05000000000000000000" pitchFamily="2" charset="2"/>
              <a:buChar char="p"/>
            </a:pPr>
            <a:r>
              <a:rPr lang="zh-CN" altLang="en-US" sz="1600">
                <a:latin typeface="微软雅黑" panose="020B0503020204020204" pitchFamily="34" charset="-122"/>
                <a:ea typeface="微软雅黑" panose="020B0503020204020204" pitchFamily="34" charset="-122"/>
                <a:cs typeface="Calibri" panose="020F0502020204030204" charset="0"/>
              </a:rPr>
              <a:t>位于贵阳市主城区（云岩区）东部。</a:t>
            </a:r>
            <a:endParaRPr lang="en-US" altLang="zh-CN" sz="1600">
              <a:latin typeface="微软雅黑" panose="020B0503020204020204" pitchFamily="34" charset="-122"/>
              <a:ea typeface="微软雅黑" panose="020B0503020204020204" pitchFamily="34" charset="-122"/>
              <a:cs typeface="Calibri" panose="020F0502020204030204" charset="0"/>
            </a:endParaRPr>
          </a:p>
          <a:p>
            <a:pPr marL="284480" indent="-284480">
              <a:lnSpc>
                <a:spcPct val="150000"/>
              </a:lnSpc>
              <a:spcBef>
                <a:spcPts val="1500"/>
              </a:spcBef>
              <a:buFont typeface="Wingdings" panose="05000000000000000000" pitchFamily="2" charset="2"/>
              <a:buChar char="p"/>
            </a:pPr>
            <a:r>
              <a:rPr lang="zh-CN" altLang="en-US" sz="1600">
                <a:latin typeface="微软雅黑" panose="020B0503020204020204" pitchFamily="34" charset="-122"/>
                <a:ea typeface="微软雅黑" panose="020B0503020204020204" pitchFamily="34" charset="-122"/>
                <a:cs typeface="Calibri" panose="020F0502020204030204" charset="0"/>
              </a:rPr>
              <a:t>地处贵阳市母亲河</a:t>
            </a:r>
            <a:r>
              <a:rPr lang="en-US" altLang="zh-CN" sz="1600">
                <a:latin typeface="微软雅黑" panose="020B0503020204020204" pitchFamily="34" charset="-122"/>
                <a:ea typeface="微软雅黑" panose="020B0503020204020204" pitchFamily="34" charset="-122"/>
                <a:cs typeface="Calibri" panose="020F0502020204030204" charset="0"/>
              </a:rPr>
              <a:t>——</a:t>
            </a:r>
            <a:r>
              <a:rPr lang="zh-CN" altLang="en-US" sz="1600">
                <a:latin typeface="微软雅黑" panose="020B0503020204020204" pitchFamily="34" charset="-122"/>
                <a:ea typeface="微软雅黑" panose="020B0503020204020204" pitchFamily="34" charset="-122"/>
                <a:cs typeface="Calibri" panose="020F0502020204030204" charset="0"/>
              </a:rPr>
              <a:t>南明河下游流域的起点，且河流贯穿片区而过，景观十分优越；北接乌当温泉旅游带，具备丰富且稀缺的温泉旅游资源。</a:t>
            </a:r>
            <a:endParaRPr lang="en-US" altLang="zh-CN" sz="1600">
              <a:latin typeface="微软雅黑" panose="020B0503020204020204" pitchFamily="34" charset="-122"/>
              <a:ea typeface="微软雅黑" panose="020B0503020204020204" pitchFamily="34" charset="-122"/>
              <a:cs typeface="Calibri" panose="020F0502020204030204" charset="0"/>
            </a:endParaRPr>
          </a:p>
          <a:p>
            <a:pPr marL="284480" indent="-284480">
              <a:lnSpc>
                <a:spcPct val="150000"/>
              </a:lnSpc>
              <a:spcBef>
                <a:spcPts val="1500"/>
              </a:spcBef>
              <a:buFont typeface="Wingdings" panose="05000000000000000000" pitchFamily="2" charset="2"/>
              <a:buChar char="p"/>
            </a:pPr>
            <a:r>
              <a:rPr lang="zh-CN" altLang="en-US" sz="1600">
                <a:latin typeface="微软雅黑" panose="020B0503020204020204" pitchFamily="34" charset="-122"/>
                <a:ea typeface="微软雅黑" panose="020B0503020204020204" pitchFamily="34" charset="-122"/>
                <a:cs typeface="Calibri" panose="020F0502020204030204" charset="0"/>
              </a:rPr>
              <a:t>区域体量宏伟，整体占地面积约</a:t>
            </a:r>
            <a:r>
              <a:rPr lang="en-US" altLang="zh-CN" sz="1600">
                <a:latin typeface="微软雅黑" panose="020B0503020204020204" pitchFamily="34" charset="-122"/>
                <a:ea typeface="微软雅黑" panose="020B0503020204020204" pitchFamily="34" charset="-122"/>
                <a:cs typeface="Calibri" panose="020F0502020204030204" charset="0"/>
              </a:rPr>
              <a:t>15000</a:t>
            </a:r>
            <a:r>
              <a:rPr lang="zh-CN" altLang="en-US" sz="1600">
                <a:latin typeface="微软雅黑" panose="020B0503020204020204" pitchFamily="34" charset="-122"/>
                <a:ea typeface="微软雅黑" panose="020B0503020204020204" pitchFamily="34" charset="-122"/>
                <a:cs typeface="Calibri" panose="020F0502020204030204" charset="0"/>
              </a:rPr>
              <a:t>亩，是贵阳市中心城区内弥足珍贵的发展建设用地。</a:t>
            </a:r>
            <a:endParaRPr lang="zh-CN" altLang="en-US" sz="1600">
              <a:latin typeface="微软雅黑" panose="020B0503020204020204" pitchFamily="34" charset="-122"/>
              <a:ea typeface="微软雅黑" panose="020B0503020204020204" pitchFamily="34" charset="-122"/>
              <a:cs typeface="Calibri" panose="020F0502020204030204" charset="0"/>
            </a:endParaRPr>
          </a:p>
        </p:txBody>
      </p:sp>
      <p:pic>
        <p:nvPicPr>
          <p:cNvPr id="52" name="图片" descr="区位图"/>
          <p:cNvPicPr>
            <a:picLocks noChangeAspect="1"/>
          </p:cNvPicPr>
          <p:nvPr/>
        </p:nvPicPr>
        <p:blipFill>
          <a:blip r:embed="rId1"/>
          <a:stretch>
            <a:fillRect/>
          </a:stretch>
        </p:blipFill>
        <p:spPr>
          <a:xfrm>
            <a:off x="5592445" y="1267460"/>
            <a:ext cx="5888355" cy="4635500"/>
          </a:xfrm>
          <a:prstGeom prst="rect">
            <a:avLst/>
          </a:prstGeom>
          <a:noFill/>
          <a:ln w="9525" cap="flat" cmpd="sng">
            <a:noFill/>
            <a:prstDash val="solid"/>
            <a:round/>
          </a:ln>
        </p:spPr>
      </p:pic>
      <p:grpSp>
        <p:nvGrpSpPr>
          <p:cNvPr id="3" name="组合 2"/>
          <p:cNvGrpSpPr/>
          <p:nvPr/>
        </p:nvGrpSpPr>
        <p:grpSpPr>
          <a:xfrm>
            <a:off x="403860" y="836930"/>
            <a:ext cx="2477135" cy="430530"/>
            <a:chOff x="1036" y="1317"/>
            <a:chExt cx="3901" cy="678"/>
          </a:xfrm>
        </p:grpSpPr>
        <p:sp>
          <p:nvSpPr>
            <p:cNvPr id="53" name="矩形"/>
            <p:cNvSpPr/>
            <p:nvPr/>
          </p:nvSpPr>
          <p:spPr>
            <a:xfrm>
              <a:off x="1421" y="1317"/>
              <a:ext cx="3516" cy="679"/>
            </a:xfrm>
            <a:prstGeom prst="rect">
              <a:avLst/>
            </a:prstGeom>
            <a:noFill/>
            <a:ln w="9525" cap="flat" cmpd="sng">
              <a:noFill/>
              <a:prstDash val="solid"/>
              <a:miter/>
            </a:ln>
            <a:extLst>
              <a:ext uri="{909E8E84-426E-40DD-AFC4-6F175D3DCCD1}">
                <a14:hiddenFill xmlns:a14="http://schemas.microsoft.com/office/drawing/2010/main">
                  <a:solidFill>
                    <a:schemeClr val="bg1"/>
                  </a:solidFill>
                </a14:hiddenFill>
              </a:ext>
            </a:extLst>
          </p:spPr>
          <p:txBody>
            <a:bodyPr vert="horz" wrap="square" lIns="91440" tIns="45720" rIns="91440" bIns="45720" anchor="t" anchorCtr="0">
              <a:spAutoFit/>
            </a:bodyPr>
            <a:lstStyle/>
            <a:p>
              <a:pPr algn="ctr"/>
              <a:r>
                <a:rPr lang="zh-CN" altLang="en-US" sz="2200" b="1">
                  <a:solidFill>
                    <a:srgbClr val="376091"/>
                  </a:solidFill>
                  <a:latin typeface="微软雅黑" panose="020B0503020204020204" pitchFamily="34" charset="-122"/>
                  <a:ea typeface="微软雅黑" panose="020B0503020204020204" pitchFamily="34" charset="-122"/>
                  <a:cs typeface="Calibri" panose="020F0502020204030204" charset="0"/>
                </a:rPr>
                <a:t>【 项目区位】 </a:t>
              </a:r>
              <a:endParaRPr lang="zh-CN" altLang="en-US" sz="2200">
                <a:solidFill>
                  <a:srgbClr val="376091"/>
                </a:solidFill>
                <a:latin typeface="Calibri" panose="020F0502020204030204" charset="0"/>
                <a:ea typeface="宋体" panose="02010600030101010101" pitchFamily="2" charset="-122"/>
                <a:cs typeface="Calibri" panose="020F0502020204030204" charset="0"/>
              </a:endParaRPr>
            </a:p>
          </p:txBody>
        </p:sp>
        <p:sp>
          <p:nvSpPr>
            <p:cNvPr id="2" name="剪去对角的矩形 1"/>
            <p:cNvSpPr/>
            <p:nvPr/>
          </p:nvSpPr>
          <p:spPr>
            <a:xfrm>
              <a:off x="1036" y="1317"/>
              <a:ext cx="743" cy="679"/>
            </a:xfrm>
            <a:prstGeom prst="snip2DiagRect">
              <a:avLst/>
            </a:prstGeom>
            <a:solidFill>
              <a:srgbClr val="37609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文本框"/>
          <p:cNvSpPr>
            <a:spLocks noGrp="1"/>
          </p:cNvSpPr>
          <p:nvPr>
            <p:ph type="sldNum" idx="4294967295"/>
          </p:nvPr>
        </p:nvSpPr>
        <p:spPr>
          <a:xfrm>
            <a:off x="8077200" y="6356360"/>
            <a:ext cx="2133600" cy="365125"/>
          </a:xfrm>
          <a:prstGeom prst="rect">
            <a:avLst/>
          </a:prstGeom>
          <a:noFill/>
          <a:ln w="9525" cap="flat" cmpd="sng">
            <a:noFill/>
            <a:prstDash val="solid"/>
            <a:miter/>
          </a:ln>
        </p:spPr>
        <p:txBody>
          <a:bodyPr vert="horz" wrap="none" lIns="91440" tIns="45720" rIns="91440" bIns="45720" rtlCol="0" anchor="t" anchorCtr="0"/>
          <a:lstStyle/>
          <a:p>
            <a:pPr algn="r"/>
            <a:fld id="{CAD2D6BD-DE1B-4B5F-8B41-2702339687B9}" type="slidenum">
              <a:rPr lang="en-US" altLang="zh-CN" sz="1400">
                <a:solidFill>
                  <a:srgbClr val="898989"/>
                </a:solidFill>
                <a:latin typeface="微软雅黑" panose="020B0503020204020204" pitchFamily="34" charset="-122"/>
                <a:ea typeface="微软雅黑" panose="020B0503020204020204" pitchFamily="34" charset="-122"/>
                <a:cs typeface="Calibri" panose="020F0502020204030204" charset="0"/>
              </a:rPr>
            </a:fld>
            <a:endParaRPr lang="zh-CN" altLang="en-US" sz="1400">
              <a:solidFill>
                <a:srgbClr val="898989"/>
              </a:solidFill>
              <a:latin typeface="微软雅黑" panose="020B0503020204020204" pitchFamily="34" charset="-122"/>
              <a:ea typeface="微软雅黑" panose="020B0503020204020204" pitchFamily="34" charset="-122"/>
              <a:cs typeface="Calibri" panose="020F0502020204030204" charset="0"/>
            </a:endParaRPr>
          </a:p>
        </p:txBody>
      </p:sp>
      <p:grpSp>
        <p:nvGrpSpPr>
          <p:cNvPr id="59" name="组合"/>
          <p:cNvGrpSpPr/>
          <p:nvPr/>
        </p:nvGrpSpPr>
        <p:grpSpPr>
          <a:xfrm>
            <a:off x="876300" y="1720215"/>
            <a:ext cx="3756660" cy="4132580"/>
            <a:chOff x="165941" y="1290040"/>
            <a:chExt cx="2943243" cy="3070203"/>
          </a:xfrm>
        </p:grpSpPr>
        <p:pic>
          <p:nvPicPr>
            <p:cNvPr id="55" name="图片" descr="3"/>
            <p:cNvPicPr>
              <a:picLocks noChangeAspect="1"/>
            </p:cNvPicPr>
            <p:nvPr/>
          </p:nvPicPr>
          <p:blipFill>
            <a:blip r:embed="rId1" cstate="print"/>
            <a:srcRect t="6046" b="2051"/>
            <a:stretch>
              <a:fillRect/>
            </a:stretch>
          </p:blipFill>
          <p:spPr>
            <a:xfrm>
              <a:off x="165941" y="1290040"/>
              <a:ext cx="2943243" cy="3070203"/>
            </a:xfrm>
            <a:prstGeom prst="rect">
              <a:avLst/>
            </a:prstGeom>
            <a:noFill/>
            <a:ln w="9525" cap="flat" cmpd="sng">
              <a:noFill/>
              <a:prstDash val="solid"/>
              <a:miter/>
            </a:ln>
          </p:spPr>
        </p:pic>
        <p:sp>
          <p:nvSpPr>
            <p:cNvPr id="56" name="矩形"/>
            <p:cNvSpPr/>
            <p:nvPr/>
          </p:nvSpPr>
          <p:spPr>
            <a:xfrm>
              <a:off x="1133476" y="1961545"/>
              <a:ext cx="697627" cy="182099"/>
            </a:xfrm>
            <a:prstGeom prst="rect">
              <a:avLst/>
            </a:prstGeom>
            <a:solidFill>
              <a:schemeClr val="bg2"/>
            </a:solidFill>
            <a:ln w="9525" cap="flat" cmpd="sng">
              <a:noFill/>
              <a:prstDash val="solid"/>
              <a:miter/>
            </a:ln>
          </p:spPr>
          <p:txBody>
            <a:bodyPr vert="horz" wrap="square" lIns="91440" tIns="45720" rIns="91440" bIns="45720" anchor="t" anchorCtr="0">
              <a:spAutoFit/>
            </a:bodyPr>
            <a:lstStyle/>
            <a:p>
              <a:pPr fontAlgn="base"/>
              <a:r>
                <a:rPr lang="zh-CN" altLang="en-US" sz="1000" b="1">
                  <a:solidFill>
                    <a:srgbClr val="000000"/>
                  </a:solidFill>
                  <a:latin typeface="黑体" panose="02010609060101010101" pitchFamily="49" charset="-122"/>
                  <a:ea typeface="黑体" panose="02010609060101010101" pitchFamily="49" charset="-122"/>
                  <a:cs typeface="Calibri" panose="020F0502020204030204" charset="0"/>
                </a:rPr>
                <a:t>观山湖区</a:t>
              </a:r>
              <a:endParaRPr lang="zh-CN" altLang="en-US" sz="1000" b="1">
                <a:solidFill>
                  <a:srgbClr val="000000"/>
                </a:solidFill>
                <a:latin typeface="黑体" panose="02010609060101010101" pitchFamily="49" charset="-122"/>
                <a:ea typeface="黑体" panose="02010609060101010101" pitchFamily="49" charset="-122"/>
                <a:cs typeface="Calibri" panose="020F0502020204030204" charset="0"/>
              </a:endParaRPr>
            </a:p>
          </p:txBody>
        </p:sp>
        <p:sp>
          <p:nvSpPr>
            <p:cNvPr id="57" name="矩形"/>
            <p:cNvSpPr/>
            <p:nvPr/>
          </p:nvSpPr>
          <p:spPr>
            <a:xfrm>
              <a:off x="753109" y="3306336"/>
              <a:ext cx="697627" cy="182099"/>
            </a:xfrm>
            <a:prstGeom prst="rect">
              <a:avLst/>
            </a:prstGeom>
            <a:solidFill>
              <a:schemeClr val="bg2"/>
            </a:solidFill>
            <a:ln w="9525" cap="flat" cmpd="sng">
              <a:noFill/>
              <a:prstDash val="solid"/>
              <a:miter/>
            </a:ln>
          </p:spPr>
          <p:txBody>
            <a:bodyPr vert="horz" wrap="square" lIns="91440" tIns="45720" rIns="91440" bIns="45720" anchor="t" anchorCtr="0">
              <a:spAutoFit/>
            </a:bodyPr>
            <a:lstStyle/>
            <a:p>
              <a:pPr fontAlgn="base"/>
              <a:r>
                <a:rPr lang="zh-CN" altLang="en-US" sz="1000" b="1">
                  <a:solidFill>
                    <a:srgbClr val="000000"/>
                  </a:solidFill>
                  <a:latin typeface="黑体" panose="02010609060101010101" pitchFamily="49" charset="-122"/>
                  <a:ea typeface="黑体" panose="02010609060101010101" pitchFamily="49" charset="-122"/>
                  <a:cs typeface="Calibri" panose="020F0502020204030204" charset="0"/>
                </a:rPr>
                <a:t>花溪小河</a:t>
              </a:r>
              <a:endParaRPr lang="zh-CN" altLang="en-US" sz="1000" b="1">
                <a:solidFill>
                  <a:srgbClr val="000000"/>
                </a:solidFill>
                <a:latin typeface="黑体" panose="02010609060101010101" pitchFamily="49" charset="-122"/>
                <a:ea typeface="黑体" panose="02010609060101010101" pitchFamily="49" charset="-122"/>
                <a:cs typeface="Calibri" panose="020F0502020204030204" charset="0"/>
              </a:endParaRPr>
            </a:p>
          </p:txBody>
        </p:sp>
        <p:sp>
          <p:nvSpPr>
            <p:cNvPr id="58" name="矩形"/>
            <p:cNvSpPr/>
            <p:nvPr/>
          </p:nvSpPr>
          <p:spPr>
            <a:xfrm>
              <a:off x="2231122" y="1919207"/>
              <a:ext cx="697627" cy="182099"/>
            </a:xfrm>
            <a:prstGeom prst="rect">
              <a:avLst/>
            </a:prstGeom>
            <a:solidFill>
              <a:schemeClr val="bg2"/>
            </a:solidFill>
            <a:ln w="9525" cap="flat" cmpd="sng">
              <a:noFill/>
              <a:prstDash val="solid"/>
              <a:miter/>
            </a:ln>
          </p:spPr>
          <p:txBody>
            <a:bodyPr vert="horz" wrap="square" lIns="91440" tIns="45720" rIns="91440" bIns="45720" anchor="t" anchorCtr="0">
              <a:spAutoFit/>
            </a:bodyPr>
            <a:lstStyle/>
            <a:p>
              <a:pPr fontAlgn="base"/>
              <a:r>
                <a:rPr lang="zh-CN" altLang="en-US" sz="1000" b="1">
                  <a:solidFill>
                    <a:srgbClr val="000000"/>
                  </a:solidFill>
                  <a:latin typeface="黑体" panose="02010609060101010101" pitchFamily="49" charset="-122"/>
                  <a:ea typeface="黑体" panose="02010609060101010101" pitchFamily="49" charset="-122"/>
                  <a:cs typeface="Calibri" panose="020F0502020204030204" charset="0"/>
                </a:rPr>
                <a:t>乌当新添</a:t>
              </a:r>
              <a:endParaRPr lang="zh-CN" altLang="en-US" sz="1000" b="1">
                <a:solidFill>
                  <a:srgbClr val="000000"/>
                </a:solidFill>
                <a:latin typeface="黑体" panose="02010609060101010101" pitchFamily="49" charset="-122"/>
                <a:ea typeface="黑体" panose="02010609060101010101" pitchFamily="49" charset="-122"/>
                <a:cs typeface="Calibri" panose="020F0502020204030204" charset="0"/>
              </a:endParaRPr>
            </a:p>
          </p:txBody>
        </p:sp>
      </p:grpSp>
      <p:grpSp>
        <p:nvGrpSpPr>
          <p:cNvPr id="88" name="组合"/>
          <p:cNvGrpSpPr/>
          <p:nvPr/>
        </p:nvGrpSpPr>
        <p:grpSpPr>
          <a:xfrm>
            <a:off x="4727575" y="1720215"/>
            <a:ext cx="4675505" cy="4253633"/>
            <a:chOff x="3203848" y="1290040"/>
            <a:chExt cx="4000258" cy="3180039"/>
          </a:xfrm>
        </p:grpSpPr>
        <p:grpSp>
          <p:nvGrpSpPr>
            <p:cNvPr id="83" name="组合"/>
            <p:cNvGrpSpPr/>
            <p:nvPr/>
          </p:nvGrpSpPr>
          <p:grpSpPr>
            <a:xfrm>
              <a:off x="3203848" y="1290040"/>
              <a:ext cx="4000258" cy="3180039"/>
              <a:chOff x="3203848" y="1290040"/>
              <a:chExt cx="4000258" cy="3180039"/>
            </a:xfrm>
          </p:grpSpPr>
          <p:pic>
            <p:nvPicPr>
              <p:cNvPr id="60" name="图片" descr="C:\Users\LJZ\Desktop\贵阳市区地图.jpg"/>
              <p:cNvPicPr>
                <a:picLocks noChangeAspect="1"/>
              </p:cNvPicPr>
              <p:nvPr/>
            </p:nvPicPr>
            <p:blipFill>
              <a:blip r:embed="rId2" cstate="print">
                <a:grayscl/>
              </a:blip>
              <a:stretch>
                <a:fillRect/>
              </a:stretch>
            </p:blipFill>
            <p:spPr>
              <a:xfrm>
                <a:off x="3203848" y="1298902"/>
                <a:ext cx="3834479" cy="3090744"/>
              </a:xfrm>
              <a:prstGeom prst="rect">
                <a:avLst/>
              </a:prstGeom>
              <a:noFill/>
              <a:ln w="9525" cap="flat" cmpd="sng">
                <a:noFill/>
                <a:prstDash val="solid"/>
                <a:round/>
              </a:ln>
            </p:spPr>
          </p:pic>
          <p:sp>
            <p:nvSpPr>
              <p:cNvPr id="61" name="曲线"/>
              <p:cNvSpPr>
                <a:spLocks noChangeAspect="1"/>
              </p:cNvSpPr>
              <p:nvPr/>
            </p:nvSpPr>
            <p:spPr>
              <a:xfrm>
                <a:off x="4902576" y="1665585"/>
                <a:ext cx="2093564" cy="1755433"/>
              </a:xfrm>
              <a:custGeom>
                <a:avLst/>
                <a:gdLst>
                  <a:gd name="T1" fmla="*/ 0 w 21600"/>
                  <a:gd name="T2" fmla="*/ 0 h 21600"/>
                  <a:gd name="T3" fmla="*/ 21600 w 21600"/>
                  <a:gd name="T4" fmla="*/ 21600 h 21600"/>
                </a:gdLst>
                <a:ahLst/>
                <a:cxnLst/>
                <a:rect l="T1" t="T2" r="T3" b="T4"/>
                <a:pathLst>
                  <a:path w="21600" h="21600">
                    <a:moveTo>
                      <a:pt x="20244" y="4086"/>
                    </a:moveTo>
                    <a:lnTo>
                      <a:pt x="18906" y="3723"/>
                    </a:lnTo>
                    <a:lnTo>
                      <a:pt x="17735" y="2191"/>
                    </a:lnTo>
                    <a:cubicBezTo>
                      <a:pt x="17265" y="1347"/>
                      <a:pt x="17516" y="1537"/>
                      <a:pt x="17177" y="1317"/>
                    </a:cubicBezTo>
                    <a:cubicBezTo>
                      <a:pt x="16268" y="1243"/>
                      <a:pt x="16583" y="1244"/>
                      <a:pt x="16230" y="1244"/>
                    </a:cubicBezTo>
                    <a:cubicBezTo>
                      <a:pt x="15639" y="628"/>
                      <a:pt x="15886" y="801"/>
                      <a:pt x="15561" y="589"/>
                    </a:cubicBezTo>
                    <a:cubicBezTo>
                      <a:pt x="13926" y="0"/>
                      <a:pt x="14503" y="5"/>
                      <a:pt x="13888" y="5"/>
                    </a:cubicBezTo>
                    <a:cubicBezTo>
                      <a:pt x="12858" y="776"/>
                      <a:pt x="13242" y="188"/>
                      <a:pt x="13052" y="807"/>
                    </a:cubicBezTo>
                    <a:cubicBezTo>
                      <a:pt x="13036" y="857"/>
                      <a:pt x="13015" y="904"/>
                      <a:pt x="12997" y="952"/>
                    </a:cubicBezTo>
                    <a:cubicBezTo>
                      <a:pt x="12795" y="1588"/>
                      <a:pt x="12924" y="1802"/>
                      <a:pt x="12551" y="1901"/>
                    </a:cubicBezTo>
                    <a:cubicBezTo>
                      <a:pt x="12514" y="1909"/>
                      <a:pt x="12477" y="1901"/>
                      <a:pt x="12440" y="1901"/>
                    </a:cubicBezTo>
                    <a:cubicBezTo>
                      <a:pt x="11890" y="2220"/>
                      <a:pt x="12067" y="2023"/>
                      <a:pt x="11826" y="2338"/>
                    </a:cubicBezTo>
                    <a:cubicBezTo>
                      <a:pt x="11710" y="2871"/>
                      <a:pt x="11714" y="2671"/>
                      <a:pt x="11714" y="2921"/>
                    </a:cubicBezTo>
                    <a:cubicBezTo>
                      <a:pt x="11450" y="3613"/>
                      <a:pt x="11657" y="3503"/>
                      <a:pt x="11213" y="3503"/>
                    </a:cubicBezTo>
                    <a:cubicBezTo>
                      <a:pt x="10997" y="3954"/>
                      <a:pt x="11069" y="4081"/>
                      <a:pt x="10767" y="4160"/>
                    </a:cubicBezTo>
                    <a:cubicBezTo>
                      <a:pt x="10731" y="4169"/>
                      <a:pt x="10692" y="4160"/>
                      <a:pt x="10656" y="4160"/>
                    </a:cubicBezTo>
                    <a:lnTo>
                      <a:pt x="10209" y="4306"/>
                    </a:lnTo>
                    <a:cubicBezTo>
                      <a:pt x="9835" y="4142"/>
                      <a:pt x="9980" y="4091"/>
                      <a:pt x="9764" y="4233"/>
                    </a:cubicBezTo>
                    <a:cubicBezTo>
                      <a:pt x="9643" y="4703"/>
                      <a:pt x="9735" y="4561"/>
                      <a:pt x="9596" y="4743"/>
                    </a:cubicBezTo>
                    <a:lnTo>
                      <a:pt x="8816" y="4889"/>
                    </a:lnTo>
                    <a:cubicBezTo>
                      <a:pt x="8667" y="4986"/>
                      <a:pt x="8521" y="5089"/>
                      <a:pt x="8370" y="5180"/>
                    </a:cubicBezTo>
                    <a:cubicBezTo>
                      <a:pt x="8317" y="5212"/>
                      <a:pt x="8202" y="5253"/>
                      <a:pt x="8202" y="5253"/>
                    </a:cubicBezTo>
                    <a:cubicBezTo>
                      <a:pt x="8090" y="5204"/>
                      <a:pt x="7975" y="5170"/>
                      <a:pt x="7867" y="5107"/>
                    </a:cubicBezTo>
                    <a:cubicBezTo>
                      <a:pt x="7806" y="5071"/>
                      <a:pt x="7762" y="4995"/>
                      <a:pt x="7700" y="4962"/>
                    </a:cubicBezTo>
                    <a:cubicBezTo>
                      <a:pt x="7631" y="4922"/>
                      <a:pt x="7552" y="4916"/>
                      <a:pt x="7477" y="4889"/>
                    </a:cubicBezTo>
                    <a:cubicBezTo>
                      <a:pt x="7262" y="4808"/>
                      <a:pt x="7380" y="4816"/>
                      <a:pt x="7254" y="4816"/>
                    </a:cubicBezTo>
                    <a:lnTo>
                      <a:pt x="7254" y="4816"/>
                    </a:lnTo>
                    <a:cubicBezTo>
                      <a:pt x="6281" y="4516"/>
                      <a:pt x="6537" y="4824"/>
                      <a:pt x="6252" y="4451"/>
                    </a:cubicBezTo>
                    <a:cubicBezTo>
                      <a:pt x="6190" y="3727"/>
                      <a:pt x="6314" y="3950"/>
                      <a:pt x="6084" y="3650"/>
                    </a:cubicBezTo>
                    <a:cubicBezTo>
                      <a:pt x="5862" y="3503"/>
                      <a:pt x="5641" y="3350"/>
                      <a:pt x="5416" y="3212"/>
                    </a:cubicBezTo>
                    <a:cubicBezTo>
                      <a:pt x="5362" y="3179"/>
                      <a:pt x="5305" y="3154"/>
                      <a:pt x="5247" y="3140"/>
                    </a:cubicBezTo>
                    <a:cubicBezTo>
                      <a:pt x="5212" y="3130"/>
                      <a:pt x="5174" y="3140"/>
                      <a:pt x="5136" y="3140"/>
                    </a:cubicBezTo>
                    <a:cubicBezTo>
                      <a:pt x="4653" y="3164"/>
                      <a:pt x="4169" y="3168"/>
                      <a:pt x="3687" y="3212"/>
                    </a:cubicBezTo>
                    <a:cubicBezTo>
                      <a:pt x="3629" y="3218"/>
                      <a:pt x="3519" y="3285"/>
                      <a:pt x="3519" y="3285"/>
                    </a:cubicBezTo>
                    <a:cubicBezTo>
                      <a:pt x="2938" y="3665"/>
                      <a:pt x="3110" y="3457"/>
                      <a:pt x="2906" y="3723"/>
                    </a:cubicBezTo>
                    <a:cubicBezTo>
                      <a:pt x="2926" y="3794"/>
                      <a:pt x="2930" y="3876"/>
                      <a:pt x="2962" y="3941"/>
                    </a:cubicBezTo>
                    <a:cubicBezTo>
                      <a:pt x="3007" y="4026"/>
                      <a:pt x="3081" y="4079"/>
                      <a:pt x="3129" y="4160"/>
                    </a:cubicBezTo>
                    <a:cubicBezTo>
                      <a:pt x="3155" y="4202"/>
                      <a:pt x="3167" y="4257"/>
                      <a:pt x="3185" y="4306"/>
                    </a:cubicBezTo>
                    <a:cubicBezTo>
                      <a:pt x="3223" y="4402"/>
                      <a:pt x="3264" y="4496"/>
                      <a:pt x="3297" y="4596"/>
                    </a:cubicBezTo>
                    <a:cubicBezTo>
                      <a:pt x="3319" y="4668"/>
                      <a:pt x="3352" y="4816"/>
                      <a:pt x="3352" y="4816"/>
                    </a:cubicBezTo>
                    <a:lnTo>
                      <a:pt x="3352" y="4816"/>
                    </a:lnTo>
                    <a:cubicBezTo>
                      <a:pt x="3241" y="5180"/>
                      <a:pt x="3139" y="5550"/>
                      <a:pt x="3018" y="5909"/>
                    </a:cubicBezTo>
                    <a:cubicBezTo>
                      <a:pt x="2991" y="5988"/>
                      <a:pt x="2937" y="6049"/>
                      <a:pt x="2906" y="6128"/>
                    </a:cubicBezTo>
                    <a:cubicBezTo>
                      <a:pt x="2881" y="6195"/>
                      <a:pt x="2851" y="6346"/>
                      <a:pt x="2851" y="6346"/>
                    </a:cubicBezTo>
                    <a:cubicBezTo>
                      <a:pt x="2621" y="7244"/>
                      <a:pt x="2862" y="7220"/>
                      <a:pt x="2573" y="7220"/>
                    </a:cubicBezTo>
                    <a:cubicBezTo>
                      <a:pt x="2517" y="7365"/>
                      <a:pt x="2455" y="7509"/>
                      <a:pt x="2405" y="7658"/>
                    </a:cubicBezTo>
                    <a:cubicBezTo>
                      <a:pt x="2303" y="7959"/>
                      <a:pt x="2407" y="7800"/>
                      <a:pt x="2294" y="7949"/>
                    </a:cubicBezTo>
                    <a:cubicBezTo>
                      <a:pt x="2181" y="8047"/>
                      <a:pt x="2059" y="8125"/>
                      <a:pt x="1958" y="8240"/>
                    </a:cubicBezTo>
                    <a:cubicBezTo>
                      <a:pt x="1908" y="8299"/>
                      <a:pt x="1890" y="8390"/>
                      <a:pt x="1847" y="8460"/>
                    </a:cubicBezTo>
                    <a:cubicBezTo>
                      <a:pt x="1814" y="8512"/>
                      <a:pt x="1773" y="8557"/>
                      <a:pt x="1735" y="8605"/>
                    </a:cubicBezTo>
                    <a:cubicBezTo>
                      <a:pt x="1644" y="8654"/>
                      <a:pt x="1539" y="8674"/>
                      <a:pt x="1457" y="8750"/>
                    </a:cubicBezTo>
                    <a:cubicBezTo>
                      <a:pt x="1201" y="8990"/>
                      <a:pt x="1449" y="8970"/>
                      <a:pt x="1290" y="8970"/>
                    </a:cubicBezTo>
                    <a:cubicBezTo>
                      <a:pt x="1178" y="9091"/>
                      <a:pt x="1064" y="9208"/>
                      <a:pt x="956" y="9334"/>
                    </a:cubicBezTo>
                    <a:cubicBezTo>
                      <a:pt x="896" y="9403"/>
                      <a:pt x="788" y="9552"/>
                      <a:pt x="788" y="9552"/>
                    </a:cubicBezTo>
                    <a:cubicBezTo>
                      <a:pt x="714" y="9650"/>
                      <a:pt x="650" y="9764"/>
                      <a:pt x="566" y="9844"/>
                    </a:cubicBezTo>
                    <a:cubicBezTo>
                      <a:pt x="518" y="9889"/>
                      <a:pt x="447" y="9874"/>
                      <a:pt x="399" y="9917"/>
                    </a:cubicBezTo>
                    <a:cubicBezTo>
                      <a:pt x="218" y="10074"/>
                      <a:pt x="231" y="10050"/>
                      <a:pt x="231" y="10209"/>
                    </a:cubicBezTo>
                    <a:cubicBezTo>
                      <a:pt x="157" y="10496"/>
                      <a:pt x="175" y="10350"/>
                      <a:pt x="175" y="10646"/>
                    </a:cubicBezTo>
                    <a:cubicBezTo>
                      <a:pt x="436" y="11412"/>
                      <a:pt x="399" y="11061"/>
                      <a:pt x="399" y="11666"/>
                    </a:cubicBezTo>
                    <a:lnTo>
                      <a:pt x="399" y="12831"/>
                    </a:lnTo>
                    <a:cubicBezTo>
                      <a:pt x="436" y="12953"/>
                      <a:pt x="476" y="13073"/>
                      <a:pt x="510" y="13196"/>
                    </a:cubicBezTo>
                    <a:cubicBezTo>
                      <a:pt x="627" y="13618"/>
                      <a:pt x="621" y="13485"/>
                      <a:pt x="621" y="13707"/>
                    </a:cubicBezTo>
                    <a:cubicBezTo>
                      <a:pt x="851" y="13906"/>
                      <a:pt x="788" y="13765"/>
                      <a:pt x="788" y="14144"/>
                    </a:cubicBezTo>
                    <a:cubicBezTo>
                      <a:pt x="769" y="14290"/>
                      <a:pt x="783" y="14449"/>
                      <a:pt x="733" y="14581"/>
                    </a:cubicBezTo>
                    <a:cubicBezTo>
                      <a:pt x="703" y="14659"/>
                      <a:pt x="566" y="14726"/>
                      <a:pt x="566" y="14726"/>
                    </a:cubicBezTo>
                    <a:cubicBezTo>
                      <a:pt x="510" y="14994"/>
                      <a:pt x="458" y="15263"/>
                      <a:pt x="399" y="15528"/>
                    </a:cubicBezTo>
                    <a:cubicBezTo>
                      <a:pt x="280" y="16049"/>
                      <a:pt x="287" y="15802"/>
                      <a:pt x="287" y="16039"/>
                    </a:cubicBezTo>
                    <a:cubicBezTo>
                      <a:pt x="0" y="16696"/>
                      <a:pt x="63" y="16353"/>
                      <a:pt x="63" y="17059"/>
                    </a:cubicBezTo>
                    <a:cubicBezTo>
                      <a:pt x="101" y="17180"/>
                      <a:pt x="139" y="17301"/>
                      <a:pt x="175" y="17423"/>
                    </a:cubicBezTo>
                    <a:cubicBezTo>
                      <a:pt x="195" y="17495"/>
                      <a:pt x="231" y="17642"/>
                      <a:pt x="231" y="17642"/>
                    </a:cubicBezTo>
                    <a:cubicBezTo>
                      <a:pt x="372" y="18194"/>
                      <a:pt x="343" y="17926"/>
                      <a:pt x="343" y="18444"/>
                    </a:cubicBezTo>
                    <a:lnTo>
                      <a:pt x="343" y="19464"/>
                    </a:lnTo>
                    <a:cubicBezTo>
                      <a:pt x="323" y="19610"/>
                      <a:pt x="235" y="19769"/>
                      <a:pt x="287" y="19901"/>
                    </a:cubicBezTo>
                    <a:cubicBezTo>
                      <a:pt x="337" y="20031"/>
                      <a:pt x="640" y="20227"/>
                      <a:pt x="788" y="20265"/>
                    </a:cubicBezTo>
                    <a:cubicBezTo>
                      <a:pt x="824" y="20275"/>
                      <a:pt x="862" y="20265"/>
                      <a:pt x="899" y="20265"/>
                    </a:cubicBezTo>
                    <a:lnTo>
                      <a:pt x="899" y="20265"/>
                    </a:lnTo>
                    <a:cubicBezTo>
                      <a:pt x="1178" y="20411"/>
                      <a:pt x="1468" y="20527"/>
                      <a:pt x="1735" y="20702"/>
                    </a:cubicBezTo>
                    <a:cubicBezTo>
                      <a:pt x="1806" y="20749"/>
                      <a:pt x="1904" y="20921"/>
                      <a:pt x="1904" y="20921"/>
                    </a:cubicBezTo>
                    <a:cubicBezTo>
                      <a:pt x="2070" y="20994"/>
                      <a:pt x="2247" y="21037"/>
                      <a:pt x="2405" y="21139"/>
                    </a:cubicBezTo>
                    <a:lnTo>
                      <a:pt x="2683" y="21504"/>
                    </a:lnTo>
                    <a:cubicBezTo>
                      <a:pt x="2833" y="21139"/>
                      <a:pt x="2884" y="20672"/>
                      <a:pt x="3129" y="20411"/>
                    </a:cubicBezTo>
                    <a:cubicBezTo>
                      <a:pt x="3248" y="20285"/>
                      <a:pt x="3423" y="20538"/>
                      <a:pt x="3575" y="20556"/>
                    </a:cubicBezTo>
                    <a:cubicBezTo>
                      <a:pt x="3817" y="20587"/>
                      <a:pt x="4058" y="20556"/>
                      <a:pt x="4301" y="20556"/>
                    </a:cubicBezTo>
                    <a:lnTo>
                      <a:pt x="4301" y="20556"/>
                    </a:lnTo>
                    <a:cubicBezTo>
                      <a:pt x="4643" y="21600"/>
                      <a:pt x="4351" y="21576"/>
                      <a:pt x="4690" y="21576"/>
                    </a:cubicBezTo>
                    <a:lnTo>
                      <a:pt x="5862" y="21504"/>
                    </a:lnTo>
                    <a:cubicBezTo>
                      <a:pt x="6931" y="21010"/>
                      <a:pt x="6473" y="21067"/>
                      <a:pt x="7199" y="21067"/>
                    </a:cubicBezTo>
                    <a:cubicBezTo>
                      <a:pt x="9463" y="20031"/>
                      <a:pt x="8642" y="20047"/>
                      <a:pt x="9541" y="20047"/>
                    </a:cubicBezTo>
                    <a:cubicBezTo>
                      <a:pt x="11675" y="18871"/>
                      <a:pt x="10893" y="18881"/>
                      <a:pt x="11714" y="18881"/>
                    </a:cubicBezTo>
                    <a:cubicBezTo>
                      <a:pt x="13185" y="17402"/>
                      <a:pt x="12733" y="17987"/>
                      <a:pt x="13220" y="17350"/>
                    </a:cubicBezTo>
                    <a:cubicBezTo>
                      <a:pt x="14265" y="16136"/>
                      <a:pt x="13775" y="16184"/>
                      <a:pt x="14391" y="16184"/>
                    </a:cubicBezTo>
                    <a:cubicBezTo>
                      <a:pt x="14706" y="16330"/>
                      <a:pt x="15048" y="16404"/>
                      <a:pt x="15338" y="16622"/>
                    </a:cubicBezTo>
                    <a:cubicBezTo>
                      <a:pt x="15455" y="16709"/>
                      <a:pt x="15466" y="16935"/>
                      <a:pt x="15561" y="17059"/>
                    </a:cubicBezTo>
                    <a:lnTo>
                      <a:pt x="15672" y="17205"/>
                    </a:lnTo>
                    <a:cubicBezTo>
                      <a:pt x="16138" y="18192"/>
                      <a:pt x="16118" y="17781"/>
                      <a:pt x="16118" y="18298"/>
                    </a:cubicBezTo>
                    <a:cubicBezTo>
                      <a:pt x="16947" y="18900"/>
                      <a:pt x="16474" y="18837"/>
                      <a:pt x="16676" y="18444"/>
                    </a:cubicBezTo>
                    <a:cubicBezTo>
                      <a:pt x="16686" y="18423"/>
                      <a:pt x="16714" y="18444"/>
                      <a:pt x="16732" y="18444"/>
                    </a:cubicBezTo>
                    <a:cubicBezTo>
                      <a:pt x="16936" y="18225"/>
                      <a:pt x="17121" y="17971"/>
                      <a:pt x="17345" y="17788"/>
                    </a:cubicBezTo>
                    <a:cubicBezTo>
                      <a:pt x="17425" y="17722"/>
                      <a:pt x="17623" y="17714"/>
                      <a:pt x="17623" y="17714"/>
                    </a:cubicBezTo>
                    <a:cubicBezTo>
                      <a:pt x="18141" y="17264"/>
                      <a:pt x="18125" y="17540"/>
                      <a:pt x="18125" y="17205"/>
                    </a:cubicBezTo>
                    <a:cubicBezTo>
                      <a:pt x="18218" y="17010"/>
                      <a:pt x="18301" y="16807"/>
                      <a:pt x="18404" y="16622"/>
                    </a:cubicBezTo>
                    <a:cubicBezTo>
                      <a:pt x="18451" y="16537"/>
                      <a:pt x="18572" y="16403"/>
                      <a:pt x="18572" y="16403"/>
                    </a:cubicBezTo>
                    <a:cubicBezTo>
                      <a:pt x="18608" y="16160"/>
                      <a:pt x="18698" y="15921"/>
                      <a:pt x="18683" y="15674"/>
                    </a:cubicBezTo>
                    <a:cubicBezTo>
                      <a:pt x="18676" y="15571"/>
                      <a:pt x="18516" y="15455"/>
                      <a:pt x="18516" y="15455"/>
                    </a:cubicBezTo>
                    <a:cubicBezTo>
                      <a:pt x="18230" y="14632"/>
                      <a:pt x="18237" y="14947"/>
                      <a:pt x="18237" y="14581"/>
                    </a:cubicBezTo>
                    <a:cubicBezTo>
                      <a:pt x="18098" y="13857"/>
                      <a:pt x="18279" y="13998"/>
                      <a:pt x="17790" y="13998"/>
                    </a:cubicBezTo>
                    <a:cubicBezTo>
                      <a:pt x="17129" y="14469"/>
                      <a:pt x="17411" y="14435"/>
                      <a:pt x="17010" y="14435"/>
                    </a:cubicBezTo>
                    <a:lnTo>
                      <a:pt x="16732" y="13341"/>
                    </a:lnTo>
                    <a:lnTo>
                      <a:pt x="16676" y="13124"/>
                    </a:lnTo>
                    <a:cubicBezTo>
                      <a:pt x="16153" y="12136"/>
                      <a:pt x="16175" y="12560"/>
                      <a:pt x="16175" y="12030"/>
                    </a:cubicBezTo>
                    <a:cubicBezTo>
                      <a:pt x="16581" y="10362"/>
                      <a:pt x="16262" y="10824"/>
                      <a:pt x="16676" y="10281"/>
                    </a:cubicBezTo>
                    <a:cubicBezTo>
                      <a:pt x="17248" y="9757"/>
                      <a:pt x="17007" y="9771"/>
                      <a:pt x="17289" y="9771"/>
                    </a:cubicBezTo>
                    <a:cubicBezTo>
                      <a:pt x="18318" y="9322"/>
                      <a:pt x="18044" y="9660"/>
                      <a:pt x="18349" y="9260"/>
                    </a:cubicBezTo>
                    <a:cubicBezTo>
                      <a:pt x="19331" y="8475"/>
                      <a:pt x="19300" y="8942"/>
                      <a:pt x="19407" y="8095"/>
                    </a:cubicBezTo>
                    <a:cubicBezTo>
                      <a:pt x="19411" y="8071"/>
                      <a:pt x="19407" y="8047"/>
                      <a:pt x="19407" y="8022"/>
                    </a:cubicBezTo>
                    <a:cubicBezTo>
                      <a:pt x="19538" y="7730"/>
                      <a:pt x="19648" y="7422"/>
                      <a:pt x="19798" y="7148"/>
                    </a:cubicBezTo>
                    <a:cubicBezTo>
                      <a:pt x="19836" y="7077"/>
                      <a:pt x="19965" y="7002"/>
                      <a:pt x="19965" y="7002"/>
                    </a:cubicBezTo>
                    <a:cubicBezTo>
                      <a:pt x="20762" y="6407"/>
                      <a:pt x="20445" y="6419"/>
                      <a:pt x="20802" y="6419"/>
                    </a:cubicBezTo>
                    <a:cubicBezTo>
                      <a:pt x="21600" y="6045"/>
                      <a:pt x="21582" y="6416"/>
                      <a:pt x="21582" y="5982"/>
                    </a:cubicBezTo>
                    <a:lnTo>
                      <a:pt x="20244" y="4086"/>
                    </a:lnTo>
                    <a:close/>
                  </a:path>
                </a:pathLst>
              </a:custGeom>
              <a:solidFill>
                <a:srgbClr val="75923C">
                  <a:alpha val="50000"/>
                </a:srgbClr>
              </a:solidFill>
              <a:ln w="57150" cap="flat" cmpd="sng">
                <a:solidFill>
                  <a:srgbClr val="FF0000"/>
                </a:solidFill>
                <a:prstDash val="solid"/>
                <a:miter/>
              </a:ln>
            </p:spPr>
          </p:sp>
          <p:sp>
            <p:nvSpPr>
              <p:cNvPr id="62" name="曲线"/>
              <p:cNvSpPr/>
              <p:nvPr/>
            </p:nvSpPr>
            <p:spPr>
              <a:xfrm>
                <a:off x="5927149" y="1306273"/>
                <a:ext cx="870591" cy="3058481"/>
              </a:xfrm>
              <a:custGeom>
                <a:avLst/>
                <a:gdLst>
                  <a:gd name="T1" fmla="*/ 0 w 21600"/>
                  <a:gd name="T2" fmla="*/ 0 h 21600"/>
                  <a:gd name="T3" fmla="*/ 21600 w 21600"/>
                  <a:gd name="T4" fmla="*/ 21600 h 21600"/>
                </a:gdLst>
                <a:ahLst/>
                <a:cxnLst/>
                <a:rect l="T1" t="T2" r="T3" b="T4"/>
                <a:pathLst>
                  <a:path w="21600" h="21600">
                    <a:moveTo>
                      <a:pt x="0" y="0"/>
                    </a:moveTo>
                    <a:cubicBezTo>
                      <a:pt x="1363" y="503"/>
                      <a:pt x="2726" y="1005"/>
                      <a:pt x="3159" y="1800"/>
                    </a:cubicBezTo>
                    <a:cubicBezTo>
                      <a:pt x="3593" y="2593"/>
                      <a:pt x="2447" y="4035"/>
                      <a:pt x="2603" y="4761"/>
                    </a:cubicBezTo>
                    <a:cubicBezTo>
                      <a:pt x="2757" y="5487"/>
                      <a:pt x="3842" y="5534"/>
                      <a:pt x="4089" y="6154"/>
                    </a:cubicBezTo>
                    <a:cubicBezTo>
                      <a:pt x="4337" y="6774"/>
                      <a:pt x="3531" y="7664"/>
                      <a:pt x="4089" y="8477"/>
                    </a:cubicBezTo>
                    <a:cubicBezTo>
                      <a:pt x="4648" y="9289"/>
                      <a:pt x="5888" y="10529"/>
                      <a:pt x="7437" y="11031"/>
                    </a:cubicBezTo>
                    <a:cubicBezTo>
                      <a:pt x="8987" y="11535"/>
                      <a:pt x="11496" y="11119"/>
                      <a:pt x="13387" y="11496"/>
                    </a:cubicBezTo>
                    <a:cubicBezTo>
                      <a:pt x="15278" y="11874"/>
                      <a:pt x="17416" y="12687"/>
                      <a:pt x="18778" y="13295"/>
                    </a:cubicBezTo>
                    <a:cubicBezTo>
                      <a:pt x="20143" y="13906"/>
                      <a:pt x="21600" y="14022"/>
                      <a:pt x="21569" y="15154"/>
                    </a:cubicBezTo>
                    <a:cubicBezTo>
                      <a:pt x="21537" y="16287"/>
                      <a:pt x="19430" y="19016"/>
                      <a:pt x="18592" y="20090"/>
                    </a:cubicBezTo>
                    <a:cubicBezTo>
                      <a:pt x="17757" y="21164"/>
                      <a:pt x="16486" y="21241"/>
                      <a:pt x="16547" y="21599"/>
                    </a:cubicBezTo>
                  </a:path>
                </a:pathLst>
              </a:custGeom>
              <a:noFill/>
              <a:ln w="76200" cap="flat" cmpd="sng">
                <a:solidFill>
                  <a:srgbClr val="C00000"/>
                </a:solidFill>
                <a:prstDash val="solid"/>
                <a:round/>
              </a:ln>
            </p:spPr>
          </p:sp>
          <p:sp>
            <p:nvSpPr>
              <p:cNvPr id="63" name="曲线"/>
              <p:cNvSpPr/>
              <p:nvPr/>
            </p:nvSpPr>
            <p:spPr>
              <a:xfrm>
                <a:off x="4801895" y="1290040"/>
                <a:ext cx="700815" cy="3049823"/>
              </a:xfrm>
              <a:custGeom>
                <a:avLst/>
                <a:gdLst>
                  <a:gd name="T1" fmla="*/ 0 w 21600"/>
                  <a:gd name="T2" fmla="*/ 0 h 21600"/>
                  <a:gd name="T3" fmla="*/ 21600 w 21600"/>
                  <a:gd name="T4" fmla="*/ 21600 h 21600"/>
                </a:gdLst>
                <a:ahLst/>
                <a:cxnLst/>
                <a:rect l="T1" t="T2" r="T3" b="T4"/>
                <a:pathLst>
                  <a:path w="21600" h="21600">
                    <a:moveTo>
                      <a:pt x="0" y="0"/>
                    </a:moveTo>
                    <a:cubicBezTo>
                      <a:pt x="1944" y="809"/>
                      <a:pt x="3888" y="1620"/>
                      <a:pt x="5774" y="1979"/>
                    </a:cubicBezTo>
                    <a:cubicBezTo>
                      <a:pt x="7661" y="2337"/>
                      <a:pt x="9433" y="2027"/>
                      <a:pt x="11318" y="2153"/>
                    </a:cubicBezTo>
                    <a:cubicBezTo>
                      <a:pt x="13206" y="2280"/>
                      <a:pt x="15670" y="2416"/>
                      <a:pt x="17094" y="2735"/>
                    </a:cubicBezTo>
                    <a:cubicBezTo>
                      <a:pt x="18519" y="3056"/>
                      <a:pt x="19212" y="3483"/>
                      <a:pt x="19866" y="4075"/>
                    </a:cubicBezTo>
                    <a:cubicBezTo>
                      <a:pt x="20520" y="4667"/>
                      <a:pt x="20867" y="5676"/>
                      <a:pt x="21021" y="6287"/>
                    </a:cubicBezTo>
                    <a:cubicBezTo>
                      <a:pt x="21175" y="6898"/>
                      <a:pt x="21600" y="7122"/>
                      <a:pt x="20791" y="7742"/>
                    </a:cubicBezTo>
                    <a:cubicBezTo>
                      <a:pt x="19981" y="8364"/>
                      <a:pt x="17210" y="9441"/>
                      <a:pt x="16171" y="10013"/>
                    </a:cubicBezTo>
                    <a:cubicBezTo>
                      <a:pt x="15131" y="10586"/>
                      <a:pt x="14591" y="10557"/>
                      <a:pt x="14553" y="11178"/>
                    </a:cubicBezTo>
                    <a:cubicBezTo>
                      <a:pt x="14514" y="11799"/>
                      <a:pt x="15323" y="12991"/>
                      <a:pt x="15940" y="13740"/>
                    </a:cubicBezTo>
                    <a:cubicBezTo>
                      <a:pt x="16555" y="14486"/>
                      <a:pt x="18672" y="15069"/>
                      <a:pt x="18250" y="15661"/>
                    </a:cubicBezTo>
                    <a:cubicBezTo>
                      <a:pt x="17825" y="16253"/>
                      <a:pt x="14399" y="16913"/>
                      <a:pt x="13397" y="17291"/>
                    </a:cubicBezTo>
                    <a:cubicBezTo>
                      <a:pt x="12397" y="17670"/>
                      <a:pt x="12974" y="17213"/>
                      <a:pt x="12243" y="17932"/>
                    </a:cubicBezTo>
                    <a:cubicBezTo>
                      <a:pt x="11512" y="18650"/>
                      <a:pt x="9162" y="21008"/>
                      <a:pt x="9008" y="21600"/>
                    </a:cubicBezTo>
                  </a:path>
                </a:pathLst>
              </a:custGeom>
              <a:noFill/>
              <a:ln w="76200" cap="flat" cmpd="sng">
                <a:solidFill>
                  <a:srgbClr val="C00000"/>
                </a:solidFill>
                <a:prstDash val="solid"/>
                <a:round/>
              </a:ln>
            </p:spPr>
          </p:sp>
          <p:sp>
            <p:nvSpPr>
              <p:cNvPr id="64" name="曲线"/>
              <p:cNvSpPr/>
              <p:nvPr/>
            </p:nvSpPr>
            <p:spPr>
              <a:xfrm>
                <a:off x="3264048" y="2507587"/>
                <a:ext cx="3756768" cy="590916"/>
              </a:xfrm>
              <a:custGeom>
                <a:avLst/>
                <a:gdLst>
                  <a:gd name="T1" fmla="*/ 0 w 21600"/>
                  <a:gd name="T2" fmla="*/ 0 h 21600"/>
                  <a:gd name="T3" fmla="*/ 21600 w 21600"/>
                  <a:gd name="T4" fmla="*/ 21600 h 21600"/>
                </a:gdLst>
                <a:ahLst/>
                <a:cxnLst/>
                <a:rect l="T1" t="T2" r="T3" b="T4"/>
                <a:pathLst>
                  <a:path w="21600" h="21600">
                    <a:moveTo>
                      <a:pt x="21599" y="20396"/>
                    </a:moveTo>
                    <a:cubicBezTo>
                      <a:pt x="20794" y="19369"/>
                      <a:pt x="19990" y="18342"/>
                      <a:pt x="19314" y="18292"/>
                    </a:cubicBezTo>
                    <a:cubicBezTo>
                      <a:pt x="18639" y="18242"/>
                      <a:pt x="18086" y="20196"/>
                      <a:pt x="17546" y="20096"/>
                    </a:cubicBezTo>
                    <a:cubicBezTo>
                      <a:pt x="17007" y="19996"/>
                      <a:pt x="16555" y="19946"/>
                      <a:pt x="16081" y="17690"/>
                    </a:cubicBezTo>
                    <a:cubicBezTo>
                      <a:pt x="15606" y="15435"/>
                      <a:pt x="15082" y="9470"/>
                      <a:pt x="14700" y="6565"/>
                    </a:cubicBezTo>
                    <a:cubicBezTo>
                      <a:pt x="14320" y="3658"/>
                      <a:pt x="14399" y="500"/>
                      <a:pt x="13796" y="249"/>
                    </a:cubicBezTo>
                    <a:cubicBezTo>
                      <a:pt x="13191" y="0"/>
                      <a:pt x="11970" y="4009"/>
                      <a:pt x="11080" y="5061"/>
                    </a:cubicBezTo>
                    <a:cubicBezTo>
                      <a:pt x="10188" y="6113"/>
                      <a:pt x="9053" y="6614"/>
                      <a:pt x="8449" y="6565"/>
                    </a:cubicBezTo>
                    <a:cubicBezTo>
                      <a:pt x="7845" y="6514"/>
                      <a:pt x="7961" y="4861"/>
                      <a:pt x="7458" y="4760"/>
                    </a:cubicBezTo>
                    <a:cubicBezTo>
                      <a:pt x="6955" y="4659"/>
                      <a:pt x="5985" y="5763"/>
                      <a:pt x="5432" y="5963"/>
                    </a:cubicBezTo>
                    <a:cubicBezTo>
                      <a:pt x="4879" y="6164"/>
                      <a:pt x="4597" y="5562"/>
                      <a:pt x="4137" y="5963"/>
                    </a:cubicBezTo>
                    <a:cubicBezTo>
                      <a:pt x="3679" y="6364"/>
                      <a:pt x="3183" y="6965"/>
                      <a:pt x="2672" y="8368"/>
                    </a:cubicBezTo>
                    <a:cubicBezTo>
                      <a:pt x="2162" y="9771"/>
                      <a:pt x="1457" y="12729"/>
                      <a:pt x="1076" y="14382"/>
                    </a:cubicBezTo>
                    <a:cubicBezTo>
                      <a:pt x="697" y="16037"/>
                      <a:pt x="566" y="17088"/>
                      <a:pt x="387" y="18292"/>
                    </a:cubicBezTo>
                    <a:cubicBezTo>
                      <a:pt x="208" y="19495"/>
                      <a:pt x="14" y="21048"/>
                      <a:pt x="0" y="21600"/>
                    </a:cubicBezTo>
                  </a:path>
                </a:pathLst>
              </a:custGeom>
              <a:noFill/>
              <a:ln w="76200" cap="flat" cmpd="sng">
                <a:solidFill>
                  <a:srgbClr val="C00000"/>
                </a:solidFill>
                <a:prstDash val="solid"/>
                <a:round/>
              </a:ln>
            </p:spPr>
          </p:sp>
          <p:sp>
            <p:nvSpPr>
              <p:cNvPr id="65" name="曲线"/>
              <p:cNvSpPr/>
              <p:nvPr/>
            </p:nvSpPr>
            <p:spPr>
              <a:xfrm>
                <a:off x="4675551" y="1306273"/>
                <a:ext cx="2192271" cy="2557393"/>
              </a:xfrm>
              <a:custGeom>
                <a:avLst/>
                <a:gdLst>
                  <a:gd name="T1" fmla="*/ 0 w 21600"/>
                  <a:gd name="T2" fmla="*/ 0 h 21600"/>
                  <a:gd name="T3" fmla="*/ 21600 w 21600"/>
                  <a:gd name="T4" fmla="*/ 21600 h 21600"/>
                </a:gdLst>
                <a:ahLst/>
                <a:cxnLst/>
                <a:rect l="T1" t="T2" r="T3" b="T4"/>
                <a:pathLst>
                  <a:path w="21600" h="21600">
                    <a:moveTo>
                      <a:pt x="0" y="21600"/>
                    </a:moveTo>
                    <a:cubicBezTo>
                      <a:pt x="380" y="21124"/>
                      <a:pt x="3769" y="19260"/>
                      <a:pt x="4716" y="18335"/>
                    </a:cubicBezTo>
                    <a:cubicBezTo>
                      <a:pt x="5662" y="17409"/>
                      <a:pt x="5294" y="16402"/>
                      <a:pt x="5677" y="16043"/>
                    </a:cubicBezTo>
                    <a:cubicBezTo>
                      <a:pt x="6059" y="15683"/>
                      <a:pt x="6194" y="16216"/>
                      <a:pt x="7007" y="16182"/>
                    </a:cubicBezTo>
                    <a:cubicBezTo>
                      <a:pt x="7820" y="16146"/>
                      <a:pt x="9629" y="16043"/>
                      <a:pt x="10553" y="15834"/>
                    </a:cubicBezTo>
                    <a:cubicBezTo>
                      <a:pt x="11476" y="15626"/>
                      <a:pt x="12042" y="15348"/>
                      <a:pt x="12548" y="14932"/>
                    </a:cubicBezTo>
                    <a:cubicBezTo>
                      <a:pt x="13052" y="14515"/>
                      <a:pt x="13471" y="13820"/>
                      <a:pt x="13582" y="13334"/>
                    </a:cubicBezTo>
                    <a:cubicBezTo>
                      <a:pt x="13694" y="12848"/>
                      <a:pt x="13521" y="12477"/>
                      <a:pt x="13212" y="12015"/>
                    </a:cubicBezTo>
                    <a:cubicBezTo>
                      <a:pt x="12905" y="11552"/>
                      <a:pt x="12080" y="10938"/>
                      <a:pt x="11735" y="10556"/>
                    </a:cubicBezTo>
                    <a:cubicBezTo>
                      <a:pt x="11391" y="10173"/>
                      <a:pt x="11279" y="9931"/>
                      <a:pt x="11145" y="9723"/>
                    </a:cubicBezTo>
                    <a:cubicBezTo>
                      <a:pt x="11008" y="9514"/>
                      <a:pt x="10874" y="9526"/>
                      <a:pt x="10922" y="9306"/>
                    </a:cubicBezTo>
                    <a:cubicBezTo>
                      <a:pt x="10972" y="9086"/>
                      <a:pt x="11169" y="8530"/>
                      <a:pt x="11439" y="8403"/>
                    </a:cubicBezTo>
                    <a:cubicBezTo>
                      <a:pt x="11711" y="8276"/>
                      <a:pt x="12276" y="8577"/>
                      <a:pt x="12548" y="8542"/>
                    </a:cubicBezTo>
                    <a:cubicBezTo>
                      <a:pt x="12819" y="8506"/>
                      <a:pt x="13040" y="8403"/>
                      <a:pt x="13066" y="8195"/>
                    </a:cubicBezTo>
                    <a:cubicBezTo>
                      <a:pt x="13090" y="7985"/>
                      <a:pt x="12795" y="7650"/>
                      <a:pt x="12695" y="7292"/>
                    </a:cubicBezTo>
                    <a:cubicBezTo>
                      <a:pt x="12598" y="6933"/>
                      <a:pt x="12449" y="6482"/>
                      <a:pt x="12474" y="6042"/>
                    </a:cubicBezTo>
                    <a:cubicBezTo>
                      <a:pt x="12498" y="5602"/>
                      <a:pt x="12598" y="5058"/>
                      <a:pt x="12844" y="4653"/>
                    </a:cubicBezTo>
                    <a:cubicBezTo>
                      <a:pt x="13090" y="4248"/>
                      <a:pt x="13620" y="3877"/>
                      <a:pt x="13952" y="3611"/>
                    </a:cubicBezTo>
                    <a:cubicBezTo>
                      <a:pt x="14285" y="3345"/>
                      <a:pt x="14519" y="3112"/>
                      <a:pt x="14839" y="3055"/>
                    </a:cubicBezTo>
                    <a:cubicBezTo>
                      <a:pt x="15158" y="2997"/>
                      <a:pt x="15503" y="3193"/>
                      <a:pt x="15873" y="3263"/>
                    </a:cubicBezTo>
                    <a:cubicBezTo>
                      <a:pt x="16242" y="3333"/>
                      <a:pt x="16797" y="3517"/>
                      <a:pt x="17055" y="3471"/>
                    </a:cubicBezTo>
                    <a:cubicBezTo>
                      <a:pt x="17314" y="3426"/>
                      <a:pt x="17165" y="3066"/>
                      <a:pt x="17424" y="2985"/>
                    </a:cubicBezTo>
                    <a:cubicBezTo>
                      <a:pt x="17683" y="2905"/>
                      <a:pt x="18101" y="3125"/>
                      <a:pt x="18606" y="2985"/>
                    </a:cubicBezTo>
                    <a:cubicBezTo>
                      <a:pt x="19111" y="2847"/>
                      <a:pt x="19986" y="2453"/>
                      <a:pt x="20453" y="2152"/>
                    </a:cubicBezTo>
                    <a:cubicBezTo>
                      <a:pt x="20922" y="1852"/>
                      <a:pt x="21230" y="1539"/>
                      <a:pt x="21414" y="1179"/>
                    </a:cubicBezTo>
                    <a:cubicBezTo>
                      <a:pt x="21600" y="821"/>
                      <a:pt x="21581" y="409"/>
                      <a:pt x="21562" y="0"/>
                    </a:cubicBezTo>
                  </a:path>
                </a:pathLst>
              </a:custGeom>
              <a:noFill/>
              <a:ln w="76200" cap="flat" cmpd="sng">
                <a:solidFill>
                  <a:srgbClr val="0070C0"/>
                </a:solidFill>
                <a:prstDash val="solid"/>
                <a:round/>
              </a:ln>
            </p:spPr>
          </p:sp>
          <p:sp>
            <p:nvSpPr>
              <p:cNvPr id="66" name="曲线"/>
              <p:cNvSpPr/>
              <p:nvPr/>
            </p:nvSpPr>
            <p:spPr>
              <a:xfrm>
                <a:off x="4058636" y="1298698"/>
                <a:ext cx="1193361" cy="3082291"/>
              </a:xfrm>
              <a:custGeom>
                <a:avLst/>
                <a:gdLst>
                  <a:gd name="T1" fmla="*/ 0 w 21600"/>
                  <a:gd name="T2" fmla="*/ 0 h 21600"/>
                  <a:gd name="T3" fmla="*/ 21600 w 21600"/>
                  <a:gd name="T4" fmla="*/ 21600 h 21600"/>
                </a:gdLst>
                <a:ahLst/>
                <a:cxnLst/>
                <a:rect l="T1" t="T2" r="T3" b="T4"/>
                <a:pathLst>
                  <a:path w="21600" h="21600">
                    <a:moveTo>
                      <a:pt x="21600" y="0"/>
                    </a:moveTo>
                    <a:cubicBezTo>
                      <a:pt x="19813" y="561"/>
                      <a:pt x="18026" y="1122"/>
                      <a:pt x="16443" y="1497"/>
                    </a:cubicBezTo>
                    <a:cubicBezTo>
                      <a:pt x="14859" y="1870"/>
                      <a:pt x="13320" y="1909"/>
                      <a:pt x="12099" y="2245"/>
                    </a:cubicBezTo>
                    <a:cubicBezTo>
                      <a:pt x="10878" y="2582"/>
                      <a:pt x="9837" y="3139"/>
                      <a:pt x="9114" y="3513"/>
                    </a:cubicBezTo>
                    <a:cubicBezTo>
                      <a:pt x="8390" y="3886"/>
                      <a:pt x="8096" y="4118"/>
                      <a:pt x="7757" y="4492"/>
                    </a:cubicBezTo>
                    <a:cubicBezTo>
                      <a:pt x="7418" y="4867"/>
                      <a:pt x="7667" y="5327"/>
                      <a:pt x="7079" y="5759"/>
                    </a:cubicBezTo>
                    <a:cubicBezTo>
                      <a:pt x="6490" y="6190"/>
                      <a:pt x="5089" y="6824"/>
                      <a:pt x="4229" y="7083"/>
                    </a:cubicBezTo>
                    <a:cubicBezTo>
                      <a:pt x="3370" y="7343"/>
                      <a:pt x="2510" y="7170"/>
                      <a:pt x="1921" y="7315"/>
                    </a:cubicBezTo>
                    <a:cubicBezTo>
                      <a:pt x="1333" y="7459"/>
                      <a:pt x="1017" y="7718"/>
                      <a:pt x="701" y="7948"/>
                    </a:cubicBezTo>
                    <a:cubicBezTo>
                      <a:pt x="383" y="8178"/>
                      <a:pt x="44" y="8168"/>
                      <a:pt x="22" y="8697"/>
                    </a:cubicBezTo>
                    <a:cubicBezTo>
                      <a:pt x="0" y="9224"/>
                      <a:pt x="452" y="10453"/>
                      <a:pt x="565" y="11116"/>
                    </a:cubicBezTo>
                    <a:cubicBezTo>
                      <a:pt x="677" y="11779"/>
                      <a:pt x="541" y="12325"/>
                      <a:pt x="701" y="12671"/>
                    </a:cubicBezTo>
                    <a:cubicBezTo>
                      <a:pt x="859" y="13017"/>
                      <a:pt x="995" y="13036"/>
                      <a:pt x="1514" y="13190"/>
                    </a:cubicBezTo>
                    <a:cubicBezTo>
                      <a:pt x="2034" y="13343"/>
                      <a:pt x="3255" y="13161"/>
                      <a:pt x="3821" y="13593"/>
                    </a:cubicBezTo>
                    <a:cubicBezTo>
                      <a:pt x="4387" y="14024"/>
                      <a:pt x="4252" y="15062"/>
                      <a:pt x="4907" y="15782"/>
                    </a:cubicBezTo>
                    <a:cubicBezTo>
                      <a:pt x="5562" y="16502"/>
                      <a:pt x="6988" y="17308"/>
                      <a:pt x="7757" y="17913"/>
                    </a:cubicBezTo>
                    <a:cubicBezTo>
                      <a:pt x="8525" y="18518"/>
                      <a:pt x="8978" y="18796"/>
                      <a:pt x="9522" y="19411"/>
                    </a:cubicBezTo>
                    <a:cubicBezTo>
                      <a:pt x="10064" y="20025"/>
                      <a:pt x="10538" y="20812"/>
                      <a:pt x="11013" y="21600"/>
                    </a:cubicBezTo>
                  </a:path>
                </a:pathLst>
              </a:custGeom>
              <a:noFill/>
              <a:ln w="76200" cap="flat" cmpd="sng">
                <a:solidFill>
                  <a:srgbClr val="0070C0"/>
                </a:solidFill>
                <a:prstDash val="solid"/>
                <a:round/>
              </a:ln>
            </p:spPr>
          </p:sp>
          <p:sp>
            <p:nvSpPr>
              <p:cNvPr id="67" name="曲线"/>
              <p:cNvSpPr/>
              <p:nvPr/>
            </p:nvSpPr>
            <p:spPr>
              <a:xfrm>
                <a:off x="3567077" y="1668833"/>
                <a:ext cx="559665" cy="2720815"/>
              </a:xfrm>
              <a:custGeom>
                <a:avLst/>
                <a:gdLst>
                  <a:gd name="T1" fmla="*/ 0 w 21600"/>
                  <a:gd name="T2" fmla="*/ 0 h 21600"/>
                  <a:gd name="T3" fmla="*/ 21600 w 21600"/>
                  <a:gd name="T4" fmla="*/ 21600 h 21600"/>
                </a:gdLst>
                <a:ahLst/>
                <a:cxnLst/>
                <a:rect l="T1" t="T2" r="T3" b="T4"/>
                <a:pathLst>
                  <a:path w="21600" h="21600">
                    <a:moveTo>
                      <a:pt x="191" y="0"/>
                    </a:moveTo>
                    <a:cubicBezTo>
                      <a:pt x="96" y="1076"/>
                      <a:pt x="0" y="2153"/>
                      <a:pt x="482" y="3132"/>
                    </a:cubicBezTo>
                    <a:cubicBezTo>
                      <a:pt x="964" y="4111"/>
                      <a:pt x="2265" y="5079"/>
                      <a:pt x="3085" y="5872"/>
                    </a:cubicBezTo>
                    <a:cubicBezTo>
                      <a:pt x="3905" y="6666"/>
                      <a:pt x="4338" y="7243"/>
                      <a:pt x="5398" y="7896"/>
                    </a:cubicBezTo>
                    <a:cubicBezTo>
                      <a:pt x="6460" y="8548"/>
                      <a:pt x="8677" y="9146"/>
                      <a:pt x="9448" y="9788"/>
                    </a:cubicBezTo>
                    <a:cubicBezTo>
                      <a:pt x="10221" y="10430"/>
                      <a:pt x="9738" y="11169"/>
                      <a:pt x="10028" y="11746"/>
                    </a:cubicBezTo>
                    <a:cubicBezTo>
                      <a:pt x="10316" y="12322"/>
                      <a:pt x="11088" y="12638"/>
                      <a:pt x="11185" y="13247"/>
                    </a:cubicBezTo>
                    <a:cubicBezTo>
                      <a:pt x="11281" y="13856"/>
                      <a:pt x="10607" y="14802"/>
                      <a:pt x="10607" y="15400"/>
                    </a:cubicBezTo>
                    <a:cubicBezTo>
                      <a:pt x="10607" y="15998"/>
                      <a:pt x="10028" y="16368"/>
                      <a:pt x="11185" y="16836"/>
                    </a:cubicBezTo>
                    <a:cubicBezTo>
                      <a:pt x="12341" y="17303"/>
                      <a:pt x="16006" y="17749"/>
                      <a:pt x="17549" y="18206"/>
                    </a:cubicBezTo>
                    <a:cubicBezTo>
                      <a:pt x="19091" y="18663"/>
                      <a:pt x="19767" y="19011"/>
                      <a:pt x="20441" y="19577"/>
                    </a:cubicBezTo>
                    <a:cubicBezTo>
                      <a:pt x="21117" y="20142"/>
                      <a:pt x="21503" y="21273"/>
                      <a:pt x="21598" y="21600"/>
                    </a:cubicBezTo>
                  </a:path>
                </a:pathLst>
              </a:custGeom>
              <a:noFill/>
              <a:ln w="76200" cap="flat" cmpd="sng">
                <a:solidFill>
                  <a:srgbClr val="0070C0"/>
                </a:solidFill>
                <a:prstDash val="solid"/>
                <a:round/>
              </a:ln>
            </p:spPr>
          </p:sp>
          <p:sp>
            <p:nvSpPr>
              <p:cNvPr id="68" name="曲线"/>
              <p:cNvSpPr/>
              <p:nvPr/>
            </p:nvSpPr>
            <p:spPr>
              <a:xfrm>
                <a:off x="3219630" y="2145029"/>
                <a:ext cx="434307" cy="2219725"/>
              </a:xfrm>
              <a:custGeom>
                <a:avLst/>
                <a:gdLst>
                  <a:gd name="T1" fmla="*/ 0 w 21600"/>
                  <a:gd name="T2" fmla="*/ 0 h 21600"/>
                  <a:gd name="T3" fmla="*/ 21600 w 21600"/>
                  <a:gd name="T4" fmla="*/ 21600 h 21600"/>
                </a:gdLst>
                <a:ahLst/>
                <a:cxnLst/>
                <a:rect l="T1" t="T2" r="T3" b="T4"/>
                <a:pathLst>
                  <a:path w="21600" h="21600">
                    <a:moveTo>
                      <a:pt x="0" y="0"/>
                    </a:moveTo>
                    <a:cubicBezTo>
                      <a:pt x="2863" y="605"/>
                      <a:pt x="5725" y="1213"/>
                      <a:pt x="6722" y="1998"/>
                    </a:cubicBezTo>
                    <a:cubicBezTo>
                      <a:pt x="7718" y="2786"/>
                      <a:pt x="5664" y="4013"/>
                      <a:pt x="5975" y="4719"/>
                    </a:cubicBezTo>
                    <a:cubicBezTo>
                      <a:pt x="6286" y="5426"/>
                      <a:pt x="7531" y="5560"/>
                      <a:pt x="8589" y="6238"/>
                    </a:cubicBezTo>
                    <a:cubicBezTo>
                      <a:pt x="9648" y="6919"/>
                      <a:pt x="11265" y="8092"/>
                      <a:pt x="12324" y="8799"/>
                    </a:cubicBezTo>
                    <a:cubicBezTo>
                      <a:pt x="13383" y="9505"/>
                      <a:pt x="14005" y="9733"/>
                      <a:pt x="14939" y="10479"/>
                    </a:cubicBezTo>
                    <a:cubicBezTo>
                      <a:pt x="15872" y="11226"/>
                      <a:pt x="17552" y="12278"/>
                      <a:pt x="17926" y="13279"/>
                    </a:cubicBezTo>
                    <a:cubicBezTo>
                      <a:pt x="18300" y="14279"/>
                      <a:pt x="17428" y="15652"/>
                      <a:pt x="17179" y="16480"/>
                    </a:cubicBezTo>
                    <a:cubicBezTo>
                      <a:pt x="16930" y="17305"/>
                      <a:pt x="15748" y="17665"/>
                      <a:pt x="16433" y="18240"/>
                    </a:cubicBezTo>
                    <a:cubicBezTo>
                      <a:pt x="17117" y="18812"/>
                      <a:pt x="20977" y="19359"/>
                      <a:pt x="21287" y="19918"/>
                    </a:cubicBezTo>
                    <a:cubicBezTo>
                      <a:pt x="21600" y="20478"/>
                      <a:pt x="19110" y="21332"/>
                      <a:pt x="18300" y="21600"/>
                    </a:cubicBezTo>
                  </a:path>
                </a:pathLst>
              </a:custGeom>
              <a:noFill/>
              <a:ln w="76200" cap="flat" cmpd="sng">
                <a:solidFill>
                  <a:srgbClr val="0070C0"/>
                </a:solidFill>
                <a:prstDash val="solid"/>
                <a:round/>
              </a:ln>
            </p:spPr>
          </p:sp>
          <p:sp>
            <p:nvSpPr>
              <p:cNvPr id="69" name="曲线"/>
              <p:cNvSpPr/>
              <p:nvPr/>
            </p:nvSpPr>
            <p:spPr>
              <a:xfrm>
                <a:off x="3239372" y="3685092"/>
                <a:ext cx="3301731" cy="740269"/>
              </a:xfrm>
              <a:custGeom>
                <a:avLst/>
                <a:gdLst>
                  <a:gd name="T1" fmla="*/ 0 w 21600"/>
                  <a:gd name="T2" fmla="*/ 0 h 21600"/>
                  <a:gd name="T3" fmla="*/ 21600 w 21600"/>
                  <a:gd name="T4" fmla="*/ 21600 h 21600"/>
                </a:gdLst>
                <a:ahLst/>
                <a:cxnLst/>
                <a:rect l="T1" t="T2" r="T3" b="T4"/>
                <a:pathLst>
                  <a:path w="21600" h="21600">
                    <a:moveTo>
                      <a:pt x="0" y="3804"/>
                    </a:moveTo>
                    <a:cubicBezTo>
                      <a:pt x="702" y="3135"/>
                      <a:pt x="1404" y="2466"/>
                      <a:pt x="1994" y="2387"/>
                    </a:cubicBezTo>
                    <a:cubicBezTo>
                      <a:pt x="2585" y="2309"/>
                      <a:pt x="2988" y="3490"/>
                      <a:pt x="3540" y="3332"/>
                    </a:cubicBezTo>
                    <a:cubicBezTo>
                      <a:pt x="4093" y="3174"/>
                      <a:pt x="4747" y="1863"/>
                      <a:pt x="5311" y="1442"/>
                    </a:cubicBezTo>
                    <a:cubicBezTo>
                      <a:pt x="5873" y="1023"/>
                      <a:pt x="6920" y="813"/>
                      <a:pt x="6920" y="813"/>
                    </a:cubicBezTo>
                    <a:cubicBezTo>
                      <a:pt x="7402" y="629"/>
                      <a:pt x="7859" y="0"/>
                      <a:pt x="8207" y="340"/>
                    </a:cubicBezTo>
                    <a:cubicBezTo>
                      <a:pt x="8556" y="681"/>
                      <a:pt x="8809" y="2072"/>
                      <a:pt x="9013" y="2859"/>
                    </a:cubicBezTo>
                    <a:cubicBezTo>
                      <a:pt x="9217" y="3648"/>
                      <a:pt x="9308" y="3884"/>
                      <a:pt x="9431" y="5064"/>
                    </a:cubicBezTo>
                    <a:cubicBezTo>
                      <a:pt x="9555" y="6245"/>
                      <a:pt x="9404" y="9053"/>
                      <a:pt x="9752" y="9946"/>
                    </a:cubicBezTo>
                    <a:cubicBezTo>
                      <a:pt x="10101" y="10838"/>
                      <a:pt x="11019" y="10209"/>
                      <a:pt x="11524" y="10419"/>
                    </a:cubicBezTo>
                    <a:cubicBezTo>
                      <a:pt x="12028" y="10628"/>
                      <a:pt x="12381" y="10366"/>
                      <a:pt x="12778" y="11206"/>
                    </a:cubicBezTo>
                    <a:cubicBezTo>
                      <a:pt x="13176" y="12046"/>
                      <a:pt x="13417" y="14435"/>
                      <a:pt x="13906" y="15457"/>
                    </a:cubicBezTo>
                    <a:cubicBezTo>
                      <a:pt x="14394" y="16482"/>
                      <a:pt x="15167" y="16979"/>
                      <a:pt x="15709" y="17347"/>
                    </a:cubicBezTo>
                    <a:cubicBezTo>
                      <a:pt x="16249" y="17715"/>
                      <a:pt x="16653" y="17741"/>
                      <a:pt x="17156" y="17663"/>
                    </a:cubicBezTo>
                    <a:cubicBezTo>
                      <a:pt x="17660" y="17584"/>
                      <a:pt x="18150" y="16429"/>
                      <a:pt x="18734" y="16875"/>
                    </a:cubicBezTo>
                    <a:cubicBezTo>
                      <a:pt x="19319" y="17321"/>
                      <a:pt x="20188" y="19551"/>
                      <a:pt x="20666" y="20339"/>
                    </a:cubicBezTo>
                    <a:cubicBezTo>
                      <a:pt x="21143" y="21127"/>
                      <a:pt x="21371" y="21363"/>
                      <a:pt x="21600" y="21600"/>
                    </a:cubicBezTo>
                  </a:path>
                </a:pathLst>
              </a:custGeom>
              <a:noFill/>
              <a:ln w="76200" cap="flat" cmpd="sng">
                <a:solidFill>
                  <a:srgbClr val="0070C0"/>
                </a:solidFill>
                <a:prstDash val="solid"/>
                <a:round/>
              </a:ln>
            </p:spPr>
          </p:sp>
          <p:sp>
            <p:nvSpPr>
              <p:cNvPr id="70" name="曲线"/>
              <p:cNvSpPr/>
              <p:nvPr/>
            </p:nvSpPr>
            <p:spPr>
              <a:xfrm>
                <a:off x="3265036" y="3151535"/>
                <a:ext cx="859733" cy="233769"/>
              </a:xfrm>
              <a:custGeom>
                <a:avLst/>
                <a:gdLst>
                  <a:gd name="T1" fmla="*/ 0 w 21600"/>
                  <a:gd name="T2" fmla="*/ 0 h 21600"/>
                  <a:gd name="T3" fmla="*/ 21600 w 21600"/>
                  <a:gd name="T4" fmla="*/ 21600 h 21600"/>
                </a:gdLst>
                <a:ahLst/>
                <a:cxnLst/>
                <a:rect l="T1" t="T2" r="T3" b="T4"/>
                <a:pathLst>
                  <a:path w="21600" h="21600">
                    <a:moveTo>
                      <a:pt x="0" y="20603"/>
                    </a:moveTo>
                    <a:cubicBezTo>
                      <a:pt x="2610" y="21101"/>
                      <a:pt x="5220" y="21600"/>
                      <a:pt x="7749" y="19937"/>
                    </a:cubicBezTo>
                    <a:cubicBezTo>
                      <a:pt x="10276" y="18275"/>
                      <a:pt x="12861" y="13955"/>
                      <a:pt x="15169" y="10632"/>
                    </a:cubicBezTo>
                    <a:cubicBezTo>
                      <a:pt x="17477" y="7309"/>
                      <a:pt x="19537" y="3655"/>
                      <a:pt x="21600" y="0"/>
                    </a:cubicBezTo>
                  </a:path>
                </a:pathLst>
              </a:custGeom>
              <a:noFill/>
              <a:ln w="76200" cap="flat" cmpd="sng">
                <a:solidFill>
                  <a:srgbClr val="0070C0"/>
                </a:solidFill>
                <a:prstDash val="solid"/>
                <a:round/>
              </a:ln>
            </p:spPr>
          </p:sp>
          <p:sp>
            <p:nvSpPr>
              <p:cNvPr id="71" name="曲线"/>
              <p:cNvSpPr/>
              <p:nvPr/>
            </p:nvSpPr>
            <p:spPr>
              <a:xfrm>
                <a:off x="3275893" y="3360413"/>
                <a:ext cx="1029508" cy="201300"/>
              </a:xfrm>
              <a:custGeom>
                <a:avLst/>
                <a:gdLst>
                  <a:gd name="T1" fmla="*/ 0 w 21600"/>
                  <a:gd name="T2" fmla="*/ 0 h 21600"/>
                  <a:gd name="T3" fmla="*/ 21600 w 21600"/>
                  <a:gd name="T4" fmla="*/ 21600 h 21600"/>
                </a:gdLst>
                <a:ahLst/>
                <a:cxnLst/>
                <a:rect l="T1" t="T2" r="T3" b="T4"/>
                <a:pathLst>
                  <a:path w="21600" h="21600">
                    <a:moveTo>
                      <a:pt x="0" y="21600"/>
                    </a:moveTo>
                    <a:lnTo>
                      <a:pt x="3120" y="15861"/>
                    </a:lnTo>
                    <a:cubicBezTo>
                      <a:pt x="3706" y="15668"/>
                      <a:pt x="5106" y="12929"/>
                      <a:pt x="5915" y="12342"/>
                    </a:cubicBezTo>
                    <a:cubicBezTo>
                      <a:pt x="6725" y="11756"/>
                      <a:pt x="7978" y="12342"/>
                      <a:pt x="7978" y="12342"/>
                    </a:cubicBezTo>
                    <a:lnTo>
                      <a:pt x="14239" y="13499"/>
                    </a:lnTo>
                    <a:cubicBezTo>
                      <a:pt x="15751" y="13757"/>
                      <a:pt x="16429" y="14013"/>
                      <a:pt x="17059" y="13884"/>
                    </a:cubicBezTo>
                    <a:cubicBezTo>
                      <a:pt x="17690" y="13757"/>
                      <a:pt x="17369" y="14463"/>
                      <a:pt x="18022" y="12728"/>
                    </a:cubicBezTo>
                    <a:cubicBezTo>
                      <a:pt x="18676" y="10991"/>
                      <a:pt x="20384" y="5591"/>
                      <a:pt x="20980" y="3471"/>
                    </a:cubicBezTo>
                    <a:cubicBezTo>
                      <a:pt x="21577" y="1349"/>
                      <a:pt x="21587" y="673"/>
                      <a:pt x="21599" y="0"/>
                    </a:cubicBezTo>
                  </a:path>
                </a:pathLst>
              </a:custGeom>
              <a:noFill/>
              <a:ln w="76200" cap="flat" cmpd="sng">
                <a:solidFill>
                  <a:srgbClr val="0070C0"/>
                </a:solidFill>
                <a:prstDash val="solid"/>
                <a:round/>
              </a:ln>
            </p:spPr>
          </p:sp>
          <p:sp>
            <p:nvSpPr>
              <p:cNvPr id="72" name="曲线"/>
              <p:cNvSpPr/>
              <p:nvPr/>
            </p:nvSpPr>
            <p:spPr>
              <a:xfrm>
                <a:off x="4117860" y="2883133"/>
                <a:ext cx="1144006" cy="268401"/>
              </a:xfrm>
              <a:custGeom>
                <a:avLst/>
                <a:gdLst>
                  <a:gd name="T1" fmla="*/ 0 w 21600"/>
                  <a:gd name="T2" fmla="*/ 0 h 21600"/>
                  <a:gd name="T3" fmla="*/ 21600 w 21600"/>
                  <a:gd name="T4" fmla="*/ 21600 h 21600"/>
                </a:gdLst>
                <a:ahLst/>
                <a:cxnLst/>
                <a:rect l="T1" t="T2" r="T3" b="T4"/>
                <a:pathLst>
                  <a:path w="21600" h="21600">
                    <a:moveTo>
                      <a:pt x="0" y="21600"/>
                    </a:moveTo>
                    <a:cubicBezTo>
                      <a:pt x="954" y="19741"/>
                      <a:pt x="1910" y="17885"/>
                      <a:pt x="3159" y="16100"/>
                    </a:cubicBezTo>
                    <a:cubicBezTo>
                      <a:pt x="4408" y="14314"/>
                      <a:pt x="5999" y="12047"/>
                      <a:pt x="7496" y="10890"/>
                    </a:cubicBezTo>
                    <a:cubicBezTo>
                      <a:pt x="8994" y="9732"/>
                      <a:pt x="9793" y="10969"/>
                      <a:pt x="12142" y="9153"/>
                    </a:cubicBezTo>
                    <a:cubicBezTo>
                      <a:pt x="14494" y="7338"/>
                      <a:pt x="21600" y="0"/>
                      <a:pt x="21600" y="0"/>
                    </a:cubicBezTo>
                  </a:path>
                </a:pathLst>
              </a:custGeom>
              <a:noFill/>
              <a:ln w="76200" cap="flat" cmpd="sng">
                <a:solidFill>
                  <a:srgbClr val="C00000"/>
                </a:solidFill>
                <a:prstDash val="sysDash"/>
                <a:round/>
              </a:ln>
            </p:spPr>
          </p:sp>
          <p:sp>
            <p:nvSpPr>
              <p:cNvPr id="73" name="曲线"/>
              <p:cNvSpPr/>
              <p:nvPr/>
            </p:nvSpPr>
            <p:spPr>
              <a:xfrm>
                <a:off x="4305402" y="3169934"/>
                <a:ext cx="984103" cy="243509"/>
              </a:xfrm>
              <a:custGeom>
                <a:avLst/>
                <a:gdLst>
                  <a:gd name="T1" fmla="*/ 0 w 21600"/>
                  <a:gd name="T2" fmla="*/ 0 h 21600"/>
                  <a:gd name="T3" fmla="*/ 21600 w 21600"/>
                  <a:gd name="T4" fmla="*/ 21600 h 21600"/>
                </a:gdLst>
                <a:ahLst/>
                <a:cxnLst/>
                <a:rect l="T1" t="T2" r="T3" b="T4"/>
                <a:pathLst>
                  <a:path w="21600" h="21600">
                    <a:moveTo>
                      <a:pt x="0" y="17875"/>
                    </a:moveTo>
                    <a:cubicBezTo>
                      <a:pt x="425" y="16119"/>
                      <a:pt x="851" y="14364"/>
                      <a:pt x="1798" y="14683"/>
                    </a:cubicBezTo>
                    <a:cubicBezTo>
                      <a:pt x="2746" y="15001"/>
                      <a:pt x="4618" y="18832"/>
                      <a:pt x="5687" y="19790"/>
                    </a:cubicBezTo>
                    <a:cubicBezTo>
                      <a:pt x="6755" y="20748"/>
                      <a:pt x="7103" y="21600"/>
                      <a:pt x="8207" y="20428"/>
                    </a:cubicBezTo>
                    <a:cubicBezTo>
                      <a:pt x="9312" y="19258"/>
                      <a:pt x="10883" y="14896"/>
                      <a:pt x="12310" y="12767"/>
                    </a:cubicBezTo>
                    <a:cubicBezTo>
                      <a:pt x="13740" y="10640"/>
                      <a:pt x="15634" y="8936"/>
                      <a:pt x="16775" y="7661"/>
                    </a:cubicBezTo>
                    <a:cubicBezTo>
                      <a:pt x="17916" y="6383"/>
                      <a:pt x="18347" y="6383"/>
                      <a:pt x="19152" y="5106"/>
                    </a:cubicBezTo>
                    <a:cubicBezTo>
                      <a:pt x="19955" y="3830"/>
                      <a:pt x="21240" y="904"/>
                      <a:pt x="21599" y="0"/>
                    </a:cubicBezTo>
                  </a:path>
                </a:pathLst>
              </a:custGeom>
              <a:noFill/>
              <a:ln w="76200" cap="flat" cmpd="sng">
                <a:solidFill>
                  <a:srgbClr val="C00000"/>
                </a:solidFill>
                <a:prstDash val="sysDash"/>
                <a:round/>
              </a:ln>
            </p:spPr>
          </p:sp>
          <p:sp>
            <p:nvSpPr>
              <p:cNvPr id="74" name="矩形"/>
              <p:cNvSpPr/>
              <p:nvPr/>
            </p:nvSpPr>
            <p:spPr>
              <a:xfrm>
                <a:off x="4262957" y="2405854"/>
                <a:ext cx="697627" cy="18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rPr>
                  <a:t>北京东路</a:t>
                </a:r>
                <a:endPar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75" name="矩形"/>
              <p:cNvSpPr/>
              <p:nvPr/>
            </p:nvSpPr>
            <p:spPr>
              <a:xfrm>
                <a:off x="4262957" y="2803048"/>
                <a:ext cx="697627" cy="18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rPr>
                  <a:t>延安东路</a:t>
                </a:r>
                <a:endPar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76" name="曲线"/>
              <p:cNvSpPr/>
              <p:nvPr/>
            </p:nvSpPr>
            <p:spPr>
              <a:xfrm>
                <a:off x="4272829" y="3080106"/>
                <a:ext cx="1069978" cy="189396"/>
              </a:xfrm>
              <a:custGeom>
                <a:avLst/>
                <a:gdLst>
                  <a:gd name="T1" fmla="*/ 0 w 21600"/>
                  <a:gd name="T2" fmla="*/ 0 h 21600"/>
                  <a:gd name="T3" fmla="*/ 21600 w 21600"/>
                  <a:gd name="T4" fmla="*/ 21600 h 21600"/>
                </a:gdLst>
                <a:ahLst/>
                <a:cxnLst/>
                <a:rect l="T1" t="T2" r="T3" b="T4"/>
                <a:pathLst>
                  <a:path w="21600" h="21600">
                    <a:moveTo>
                      <a:pt x="0" y="16352"/>
                    </a:moveTo>
                    <a:cubicBezTo>
                      <a:pt x="563" y="17000"/>
                      <a:pt x="1125" y="17646"/>
                      <a:pt x="2185" y="18396"/>
                    </a:cubicBezTo>
                    <a:cubicBezTo>
                      <a:pt x="3246" y="19145"/>
                      <a:pt x="5134" y="21600"/>
                      <a:pt x="6359" y="20850"/>
                    </a:cubicBezTo>
                    <a:cubicBezTo>
                      <a:pt x="7585" y="20100"/>
                      <a:pt x="8480" y="16012"/>
                      <a:pt x="9540" y="13899"/>
                    </a:cubicBezTo>
                    <a:cubicBezTo>
                      <a:pt x="10601" y="11787"/>
                      <a:pt x="11849" y="9675"/>
                      <a:pt x="12720" y="8175"/>
                    </a:cubicBezTo>
                    <a:cubicBezTo>
                      <a:pt x="13593" y="6676"/>
                      <a:pt x="13958" y="5996"/>
                      <a:pt x="14774" y="4904"/>
                    </a:cubicBezTo>
                    <a:cubicBezTo>
                      <a:pt x="15591" y="3815"/>
                      <a:pt x="16596" y="2316"/>
                      <a:pt x="17624" y="1634"/>
                    </a:cubicBezTo>
                    <a:cubicBezTo>
                      <a:pt x="18651" y="953"/>
                      <a:pt x="20273" y="1089"/>
                      <a:pt x="20937" y="816"/>
                    </a:cubicBezTo>
                    <a:cubicBezTo>
                      <a:pt x="21600" y="544"/>
                      <a:pt x="21600" y="272"/>
                      <a:pt x="21600" y="0"/>
                    </a:cubicBezTo>
                  </a:path>
                </a:pathLst>
              </a:custGeom>
              <a:noFill/>
              <a:ln w="76200" cap="flat" cmpd="sng">
                <a:solidFill>
                  <a:srgbClr val="0070C0"/>
                </a:solidFill>
                <a:prstDash val="solid"/>
                <a:round/>
              </a:ln>
            </p:spPr>
          </p:sp>
          <p:sp>
            <p:nvSpPr>
              <p:cNvPr id="77" name="矩形"/>
              <p:cNvSpPr/>
              <p:nvPr/>
            </p:nvSpPr>
            <p:spPr>
              <a:xfrm>
                <a:off x="4354755" y="3295476"/>
                <a:ext cx="697627" cy="18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rPr>
                  <a:t>中山东路</a:t>
                </a:r>
                <a:endPar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78" name="矩形"/>
              <p:cNvSpPr/>
              <p:nvPr/>
            </p:nvSpPr>
            <p:spPr>
              <a:xfrm>
                <a:off x="4299480" y="3085517"/>
                <a:ext cx="569387" cy="18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rPr>
                  <a:t>东山路</a:t>
                </a:r>
                <a:endPar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79" name="矩形"/>
              <p:cNvSpPr/>
              <p:nvPr/>
            </p:nvSpPr>
            <p:spPr>
              <a:xfrm>
                <a:off x="5360573" y="3207814"/>
                <a:ext cx="569387" cy="18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rPr>
                  <a:t>水东路</a:t>
                </a:r>
                <a:endPar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80" name="矩形"/>
              <p:cNvSpPr/>
              <p:nvPr/>
            </p:nvSpPr>
            <p:spPr>
              <a:xfrm>
                <a:off x="5112821" y="1717533"/>
                <a:ext cx="569387" cy="18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rPr>
                  <a:t>东二环</a:t>
                </a:r>
                <a:endPar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81" name="矩形"/>
              <p:cNvSpPr/>
              <p:nvPr/>
            </p:nvSpPr>
            <p:spPr>
              <a:xfrm>
                <a:off x="6023882" y="1993512"/>
                <a:ext cx="569387" cy="18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rPr>
                  <a:t>东三环</a:t>
                </a:r>
                <a:endPar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82" name="矩形"/>
              <p:cNvSpPr/>
              <p:nvPr/>
            </p:nvSpPr>
            <p:spPr>
              <a:xfrm>
                <a:off x="6378239" y="4286833"/>
                <a:ext cx="825867" cy="18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rPr>
                  <a:t>龙洞堡机场</a:t>
                </a:r>
                <a:endParaRPr lang="zh-CN" altLang="en-US" sz="10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grpSp>
        <p:sp>
          <p:nvSpPr>
            <p:cNvPr id="84" name="矩形"/>
            <p:cNvSpPr/>
            <p:nvPr/>
          </p:nvSpPr>
          <p:spPr>
            <a:xfrm>
              <a:off x="3922103" y="2422090"/>
              <a:ext cx="294464" cy="372217"/>
            </a:xfrm>
            <a:prstGeom prst="rect">
              <a:avLst/>
            </a:prstGeom>
            <a:noFill/>
            <a:ln w="9525" cap="flat" cmpd="sng">
              <a:noFill/>
              <a:prstDash val="solid"/>
              <a:round/>
            </a:ln>
          </p:spPr>
          <p:txBody>
            <a:bodyPr vert="eaVert" wrap="square" lIns="91440" tIns="45720" rIns="91440" bIns="45720" anchor="t" anchorCtr="0">
              <a:spAutoFit/>
            </a:bodyPr>
            <a:lstStyle/>
            <a:p>
              <a:pPr fontAlgn="base"/>
              <a:r>
                <a:rPr lang="zh-CN" altLang="en-US" sz="1050" b="1">
                  <a:solidFill>
                    <a:srgbClr val="000000"/>
                  </a:solidFill>
                  <a:latin typeface="微软雅黑" panose="020B0503020204020204" pitchFamily="34" charset="-122"/>
                  <a:ea typeface="微软雅黑" panose="020B0503020204020204" pitchFamily="34" charset="-122"/>
                  <a:cs typeface="Calibri" panose="020F0502020204030204" charset="0"/>
                </a:rPr>
                <a:t>宝山路</a:t>
              </a:r>
              <a:endParaRPr lang="zh-CN" altLang="en-US" sz="105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85" name="矩形"/>
            <p:cNvSpPr/>
            <p:nvPr/>
          </p:nvSpPr>
          <p:spPr>
            <a:xfrm>
              <a:off x="3607228" y="2791142"/>
              <a:ext cx="294464" cy="372217"/>
            </a:xfrm>
            <a:prstGeom prst="rect">
              <a:avLst/>
            </a:prstGeom>
            <a:noFill/>
            <a:ln w="9525" cap="flat" cmpd="sng">
              <a:noFill/>
              <a:prstDash val="solid"/>
              <a:round/>
            </a:ln>
          </p:spPr>
          <p:txBody>
            <a:bodyPr vert="eaVert" wrap="square" lIns="91440" tIns="45720" rIns="91440" bIns="45720" anchor="t" anchorCtr="0">
              <a:spAutoFit/>
            </a:bodyPr>
            <a:lstStyle/>
            <a:p>
              <a:pPr fontAlgn="base"/>
              <a:r>
                <a:rPr lang="zh-CN" altLang="en-US" sz="1050" b="1">
                  <a:solidFill>
                    <a:srgbClr val="000000"/>
                  </a:solidFill>
                  <a:latin typeface="微软雅黑" panose="020B0503020204020204" pitchFamily="34" charset="-122"/>
                  <a:ea typeface="微软雅黑" panose="020B0503020204020204" pitchFamily="34" charset="-122"/>
                  <a:cs typeface="Calibri" panose="020F0502020204030204" charset="0"/>
                </a:rPr>
                <a:t>中华路</a:t>
              </a:r>
              <a:endParaRPr lang="zh-CN" altLang="en-US" sz="105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86" name="矩形"/>
            <p:cNvSpPr/>
            <p:nvPr/>
          </p:nvSpPr>
          <p:spPr>
            <a:xfrm>
              <a:off x="3270639" y="3068202"/>
              <a:ext cx="294464" cy="372217"/>
            </a:xfrm>
            <a:prstGeom prst="rect">
              <a:avLst/>
            </a:prstGeom>
            <a:noFill/>
            <a:ln w="9525" cap="flat" cmpd="sng">
              <a:noFill/>
              <a:prstDash val="solid"/>
              <a:round/>
            </a:ln>
          </p:spPr>
          <p:txBody>
            <a:bodyPr vert="eaVert" wrap="square" lIns="91440" tIns="45720" rIns="91440" bIns="45720" anchor="t" anchorCtr="0">
              <a:spAutoFit/>
            </a:bodyPr>
            <a:lstStyle/>
            <a:p>
              <a:pPr fontAlgn="base"/>
              <a:r>
                <a:rPr lang="zh-CN" altLang="en-US" sz="1050" b="1">
                  <a:solidFill>
                    <a:srgbClr val="000000"/>
                  </a:solidFill>
                  <a:latin typeface="微软雅黑" panose="020B0503020204020204" pitchFamily="34" charset="-122"/>
                  <a:ea typeface="微软雅黑" panose="020B0503020204020204" pitchFamily="34" charset="-122"/>
                  <a:cs typeface="Calibri" panose="020F0502020204030204" charset="0"/>
                </a:rPr>
                <a:t>瑞金路</a:t>
              </a:r>
              <a:endParaRPr lang="zh-CN" altLang="en-US" sz="105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87" name="矩形"/>
            <p:cNvSpPr/>
            <p:nvPr/>
          </p:nvSpPr>
          <p:spPr>
            <a:xfrm>
              <a:off x="3523647" y="3991374"/>
              <a:ext cx="588623" cy="188942"/>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050" b="1">
                  <a:solidFill>
                    <a:srgbClr val="000000"/>
                  </a:solidFill>
                  <a:latin typeface="微软雅黑" panose="020B0503020204020204" pitchFamily="34" charset="-122"/>
                  <a:ea typeface="微软雅黑" panose="020B0503020204020204" pitchFamily="34" charset="-122"/>
                  <a:cs typeface="Calibri" panose="020F0502020204030204" charset="0"/>
                </a:rPr>
                <a:t>都司路</a:t>
              </a:r>
              <a:endParaRPr lang="zh-CN" altLang="en-US" sz="105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grpSp>
      <p:sp>
        <p:nvSpPr>
          <p:cNvPr id="89" name="矩形"/>
          <p:cNvSpPr/>
          <p:nvPr/>
        </p:nvSpPr>
        <p:spPr>
          <a:xfrm>
            <a:off x="9711690" y="1417955"/>
            <a:ext cx="2145030" cy="4434840"/>
          </a:xfrm>
          <a:prstGeom prst="rect">
            <a:avLst/>
          </a:prstGeom>
          <a:noFill/>
          <a:ln w="9525" cap="flat" cmpd="sng">
            <a:noFill/>
            <a:prstDash val="solid"/>
            <a:round/>
          </a:ln>
        </p:spPr>
        <p:txBody>
          <a:bodyPr vert="horz" wrap="square" lIns="87212" tIns="43605" rIns="87212" bIns="43605" anchor="t" anchorCtr="0"/>
          <a:lstStyle/>
          <a:p>
            <a:pPr eaLnBrk="0" fontAlgn="base" hangingPunct="0">
              <a:lnSpc>
                <a:spcPct val="250000"/>
              </a:lnSpc>
              <a:spcBef>
                <a:spcPct val="20000"/>
              </a:spcBef>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距省政府约</a:t>
            </a:r>
            <a:r>
              <a:rPr lang="en-US" altLang="zh-CN" sz="1800" b="1">
                <a:solidFill>
                  <a:srgbClr val="C00000"/>
                </a:solidFill>
                <a:latin typeface="微软雅黑" panose="020B0503020204020204" pitchFamily="34" charset="-122"/>
                <a:ea typeface="微软雅黑" panose="020B0503020204020204" pitchFamily="34" charset="-122"/>
                <a:cs typeface="Calibri" panose="020F0502020204030204" charset="0"/>
              </a:rPr>
              <a:t>3.2</a:t>
            </a:r>
            <a:r>
              <a:rPr lang="zh-CN" altLang="en-US" sz="1800" b="1">
                <a:solidFill>
                  <a:srgbClr val="C00000"/>
                </a:solidFill>
                <a:latin typeface="微软雅黑" panose="020B0503020204020204" pitchFamily="34" charset="-122"/>
                <a:ea typeface="微软雅黑" panose="020B0503020204020204" pitchFamily="34" charset="-122"/>
                <a:cs typeface="Calibri" panose="020F0502020204030204" charset="0"/>
              </a:rPr>
              <a:t>公里</a:t>
            </a:r>
            <a:endParaRPr lang="en-US" altLang="zh-CN" sz="1400">
              <a:solidFill>
                <a:srgbClr val="000000"/>
              </a:solidFill>
              <a:latin typeface="微软雅黑" panose="020B0503020204020204" pitchFamily="34" charset="-122"/>
              <a:ea typeface="微软雅黑" panose="020B0503020204020204" pitchFamily="34" charset="-122"/>
              <a:cs typeface="Calibri" panose="020F0502020204030204" charset="0"/>
            </a:endParaRPr>
          </a:p>
          <a:p>
            <a:pPr eaLnBrk="0" fontAlgn="base" hangingPunct="0">
              <a:lnSpc>
                <a:spcPct val="250000"/>
              </a:lnSpc>
              <a:spcBef>
                <a:spcPct val="20000"/>
              </a:spcBef>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距喷水池约</a:t>
            </a:r>
            <a:r>
              <a:rPr lang="en-US" altLang="zh-CN" sz="1800" b="1">
                <a:solidFill>
                  <a:srgbClr val="C00000"/>
                </a:solidFill>
                <a:latin typeface="微软雅黑" panose="020B0503020204020204" pitchFamily="34" charset="-122"/>
                <a:ea typeface="微软雅黑" panose="020B0503020204020204" pitchFamily="34" charset="-122"/>
                <a:cs typeface="Calibri" panose="020F0502020204030204" charset="0"/>
              </a:rPr>
              <a:t>3.3</a:t>
            </a:r>
            <a:r>
              <a:rPr lang="zh-CN" altLang="en-US" sz="1800" b="1">
                <a:solidFill>
                  <a:srgbClr val="C00000"/>
                </a:solidFill>
                <a:latin typeface="微软雅黑" panose="020B0503020204020204" pitchFamily="34" charset="-122"/>
                <a:ea typeface="微软雅黑" panose="020B0503020204020204" pitchFamily="34" charset="-122"/>
                <a:cs typeface="Calibri" panose="020F0502020204030204" charset="0"/>
              </a:rPr>
              <a:t>公里</a:t>
            </a:r>
            <a:endParaRPr lang="en-US" altLang="zh-CN" sz="1400">
              <a:solidFill>
                <a:srgbClr val="000000"/>
              </a:solidFill>
              <a:latin typeface="微软雅黑" panose="020B0503020204020204" pitchFamily="34" charset="-122"/>
              <a:ea typeface="微软雅黑" panose="020B0503020204020204" pitchFamily="34" charset="-122"/>
              <a:cs typeface="Calibri" panose="020F0502020204030204" charset="0"/>
            </a:endParaRPr>
          </a:p>
          <a:p>
            <a:pPr eaLnBrk="0" fontAlgn="base" hangingPunct="0">
              <a:lnSpc>
                <a:spcPct val="250000"/>
              </a:lnSpc>
              <a:spcBef>
                <a:spcPct val="20000"/>
              </a:spcBef>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距大十字约</a:t>
            </a:r>
            <a:r>
              <a:rPr lang="en-US" altLang="zh-CN" sz="1800" b="1">
                <a:solidFill>
                  <a:srgbClr val="C00000"/>
                </a:solidFill>
                <a:latin typeface="微软雅黑" panose="020B0503020204020204" pitchFamily="34" charset="-122"/>
                <a:ea typeface="微软雅黑" panose="020B0503020204020204" pitchFamily="34" charset="-122"/>
                <a:cs typeface="Calibri" panose="020F0502020204030204" charset="0"/>
              </a:rPr>
              <a:t>4.3</a:t>
            </a:r>
            <a:r>
              <a:rPr lang="zh-CN" altLang="en-US" sz="1800" b="1">
                <a:solidFill>
                  <a:srgbClr val="C00000"/>
                </a:solidFill>
                <a:latin typeface="微软雅黑" panose="020B0503020204020204" pitchFamily="34" charset="-122"/>
                <a:ea typeface="微软雅黑" panose="020B0503020204020204" pitchFamily="34" charset="-122"/>
                <a:cs typeface="Calibri" panose="020F0502020204030204" charset="0"/>
              </a:rPr>
              <a:t>公里</a:t>
            </a:r>
            <a:endParaRPr lang="en-US" altLang="zh-CN" sz="1400">
              <a:solidFill>
                <a:srgbClr val="000000"/>
              </a:solidFill>
              <a:latin typeface="微软雅黑" panose="020B0503020204020204" pitchFamily="34" charset="-122"/>
              <a:ea typeface="微软雅黑" panose="020B0503020204020204" pitchFamily="34" charset="-122"/>
              <a:cs typeface="Calibri" panose="020F0502020204030204" charset="0"/>
            </a:endParaRPr>
          </a:p>
          <a:p>
            <a:pPr eaLnBrk="0" fontAlgn="base" hangingPunct="0">
              <a:lnSpc>
                <a:spcPct val="250000"/>
              </a:lnSpc>
              <a:spcBef>
                <a:spcPct val="20000"/>
              </a:spcBef>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距省委约</a:t>
            </a:r>
            <a:r>
              <a:rPr lang="en-US" altLang="zh-CN" sz="1800" b="1">
                <a:solidFill>
                  <a:srgbClr val="C00000"/>
                </a:solidFill>
                <a:latin typeface="微软雅黑" panose="020B0503020204020204" pitchFamily="34" charset="-122"/>
                <a:ea typeface="微软雅黑" panose="020B0503020204020204" pitchFamily="34" charset="-122"/>
                <a:cs typeface="Calibri" panose="020F0502020204030204" charset="0"/>
              </a:rPr>
              <a:t>3.2</a:t>
            </a:r>
            <a:r>
              <a:rPr lang="zh-CN" altLang="en-US" sz="1800" b="1">
                <a:solidFill>
                  <a:srgbClr val="C00000"/>
                </a:solidFill>
                <a:latin typeface="微软雅黑" panose="020B0503020204020204" pitchFamily="34" charset="-122"/>
                <a:ea typeface="微软雅黑" panose="020B0503020204020204" pitchFamily="34" charset="-122"/>
                <a:cs typeface="Calibri" panose="020F0502020204030204" charset="0"/>
              </a:rPr>
              <a:t>公里</a:t>
            </a:r>
            <a:endParaRPr lang="en-US" altLang="zh-CN" sz="1400">
              <a:solidFill>
                <a:srgbClr val="000000"/>
              </a:solidFill>
              <a:latin typeface="微软雅黑" panose="020B0503020204020204" pitchFamily="34" charset="-122"/>
              <a:ea typeface="微软雅黑" panose="020B0503020204020204" pitchFamily="34" charset="-122"/>
              <a:cs typeface="Calibri" panose="020F0502020204030204" charset="0"/>
            </a:endParaRPr>
          </a:p>
          <a:p>
            <a:pPr eaLnBrk="0" fontAlgn="base" hangingPunct="0">
              <a:lnSpc>
                <a:spcPct val="250000"/>
              </a:lnSpc>
              <a:spcBef>
                <a:spcPct val="20000"/>
              </a:spcBef>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距市中心约</a:t>
            </a:r>
            <a:r>
              <a:rPr lang="en-US" altLang="zh-CN" sz="1800" b="1">
                <a:solidFill>
                  <a:srgbClr val="C00000"/>
                </a:solidFill>
                <a:latin typeface="微软雅黑" panose="020B0503020204020204" pitchFamily="34" charset="-122"/>
                <a:ea typeface="微软雅黑" panose="020B0503020204020204" pitchFamily="34" charset="-122"/>
                <a:cs typeface="Calibri" panose="020F0502020204030204" charset="0"/>
              </a:rPr>
              <a:t>2.2</a:t>
            </a:r>
            <a:r>
              <a:rPr lang="zh-CN" altLang="en-US" sz="1800" b="1">
                <a:solidFill>
                  <a:srgbClr val="C00000"/>
                </a:solidFill>
                <a:latin typeface="微软雅黑" panose="020B0503020204020204" pitchFamily="34" charset="-122"/>
                <a:ea typeface="微软雅黑" panose="020B0503020204020204" pitchFamily="34" charset="-122"/>
                <a:cs typeface="Calibri" panose="020F0502020204030204" charset="0"/>
              </a:rPr>
              <a:t>公里</a:t>
            </a:r>
            <a:endParaRPr lang="en-US" altLang="zh-CN" sz="1400">
              <a:solidFill>
                <a:srgbClr val="000000"/>
              </a:solidFill>
              <a:latin typeface="微软雅黑" panose="020B0503020204020204" pitchFamily="34" charset="-122"/>
              <a:ea typeface="微软雅黑" panose="020B0503020204020204" pitchFamily="34" charset="-122"/>
              <a:cs typeface="Calibri" panose="020F0502020204030204" charset="0"/>
            </a:endParaRPr>
          </a:p>
          <a:p>
            <a:pPr eaLnBrk="0" fontAlgn="base" hangingPunct="0">
              <a:lnSpc>
                <a:spcPct val="250000"/>
              </a:lnSpc>
              <a:spcBef>
                <a:spcPct val="20000"/>
              </a:spcBef>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距龙洞堡机场约</a:t>
            </a:r>
            <a:r>
              <a:rPr lang="en-US" altLang="zh-CN" sz="1800" b="1">
                <a:solidFill>
                  <a:srgbClr val="C00000"/>
                </a:solidFill>
                <a:latin typeface="微软雅黑" panose="020B0503020204020204" pitchFamily="34" charset="-122"/>
                <a:ea typeface="微软雅黑" panose="020B0503020204020204" pitchFamily="34" charset="-122"/>
                <a:cs typeface="Calibri" panose="020F0502020204030204" charset="0"/>
              </a:rPr>
              <a:t>5</a:t>
            </a:r>
            <a:r>
              <a:rPr lang="zh-CN" altLang="en-US" sz="1800" b="1">
                <a:solidFill>
                  <a:srgbClr val="C00000"/>
                </a:solidFill>
                <a:latin typeface="微软雅黑" panose="020B0503020204020204" pitchFamily="34" charset="-122"/>
                <a:ea typeface="微软雅黑" panose="020B0503020204020204" pitchFamily="34" charset="-122"/>
                <a:cs typeface="Calibri" panose="020F0502020204030204" charset="0"/>
              </a:rPr>
              <a:t>公里</a:t>
            </a:r>
            <a:endParaRPr lang="zh-CN" altLang="en-US" sz="1800" b="1">
              <a:solidFill>
                <a:srgbClr val="C00000"/>
              </a:solidFill>
              <a:latin typeface="微软雅黑" panose="020B0503020204020204" pitchFamily="34" charset="-122"/>
              <a:ea typeface="微软雅黑" panose="020B0503020204020204" pitchFamily="34" charset="-122"/>
              <a:cs typeface="Calibri" panose="020F0502020204030204" charset="0"/>
            </a:endParaRPr>
          </a:p>
        </p:txBody>
      </p:sp>
      <p:grpSp>
        <p:nvGrpSpPr>
          <p:cNvPr id="3" name="组合 2"/>
          <p:cNvGrpSpPr/>
          <p:nvPr/>
        </p:nvGrpSpPr>
        <p:grpSpPr>
          <a:xfrm>
            <a:off x="403860" y="836930"/>
            <a:ext cx="2924810" cy="431165"/>
            <a:chOff x="1036" y="1317"/>
            <a:chExt cx="4606" cy="679"/>
          </a:xfrm>
        </p:grpSpPr>
        <p:sp>
          <p:nvSpPr>
            <p:cNvPr id="53" name="矩形"/>
            <p:cNvSpPr/>
            <p:nvPr/>
          </p:nvSpPr>
          <p:spPr>
            <a:xfrm>
              <a:off x="1421" y="1317"/>
              <a:ext cx="4221" cy="677"/>
            </a:xfrm>
            <a:prstGeom prst="rect">
              <a:avLst/>
            </a:prstGeom>
            <a:noFill/>
            <a:ln w="9525" cap="flat" cmpd="sng">
              <a:noFill/>
              <a:prstDash val="solid"/>
              <a:miter/>
            </a:ln>
            <a:extLst>
              <a:ext uri="{909E8E84-426E-40DD-AFC4-6F175D3DCCD1}">
                <a14:hiddenFill xmlns:a14="http://schemas.microsoft.com/office/drawing/2010/main">
                  <a:solidFill>
                    <a:schemeClr val="bg1"/>
                  </a:solidFill>
                </a14:hiddenFill>
              </a:ext>
            </a:extLst>
          </p:spPr>
          <p:txBody>
            <a:bodyPr vert="horz" wrap="square" lIns="91440" tIns="45720" rIns="91440" bIns="45720" anchor="t" anchorCtr="0">
              <a:spAutoFit/>
            </a:bodyPr>
            <a:p>
              <a:pPr algn="ctr"/>
              <a:r>
                <a:rPr lang="zh-CN" altLang="en-US" sz="2200" b="1">
                  <a:solidFill>
                    <a:srgbClr val="376091"/>
                  </a:solidFill>
                  <a:latin typeface="微软雅黑" panose="020B0503020204020204" pitchFamily="34" charset="-122"/>
                  <a:ea typeface="微软雅黑" panose="020B0503020204020204" pitchFamily="34" charset="-122"/>
                  <a:cs typeface="Calibri" panose="020F0502020204030204" charset="0"/>
                  <a:sym typeface="+mn-ea"/>
                </a:rPr>
                <a:t>【</a:t>
              </a:r>
              <a:r>
                <a:rPr lang="zh-CN" altLang="en-US" sz="2200" b="1">
                  <a:solidFill>
                    <a:srgbClr val="376091"/>
                  </a:solidFill>
                  <a:latin typeface="微软雅黑" panose="020B0503020204020204" pitchFamily="34" charset="-122"/>
                  <a:ea typeface="微软雅黑" panose="020B0503020204020204" pitchFamily="34" charset="-122"/>
                  <a:cs typeface="Calibri" panose="020F0502020204030204" charset="0"/>
                </a:rPr>
                <a:t>项目交通路网】</a:t>
              </a:r>
              <a:endParaRPr lang="zh-CN" altLang="en-US" sz="2200" b="1">
                <a:solidFill>
                  <a:srgbClr val="376091"/>
                </a:solidFill>
                <a:latin typeface="微软雅黑" panose="020B0503020204020204" pitchFamily="34" charset="-122"/>
                <a:ea typeface="微软雅黑" panose="020B0503020204020204" pitchFamily="34" charset="-122"/>
                <a:cs typeface="Calibri" panose="020F0502020204030204" charset="0"/>
              </a:endParaRPr>
            </a:p>
          </p:txBody>
        </p:sp>
        <p:sp>
          <p:nvSpPr>
            <p:cNvPr id="2" name="剪去对角的矩形 1"/>
            <p:cNvSpPr/>
            <p:nvPr/>
          </p:nvSpPr>
          <p:spPr>
            <a:xfrm>
              <a:off x="1036" y="1317"/>
              <a:ext cx="743" cy="679"/>
            </a:xfrm>
            <a:prstGeom prst="snip2DiagRect">
              <a:avLst/>
            </a:prstGeom>
            <a:solidFill>
              <a:srgbClr val="37609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图片"/>
          <p:cNvPicPr>
            <a:picLocks noChangeAspect="1"/>
          </p:cNvPicPr>
          <p:nvPr/>
        </p:nvPicPr>
        <p:blipFill>
          <a:blip r:embed="rId1"/>
          <a:srcRect/>
          <a:stretch>
            <a:fillRect/>
          </a:stretch>
        </p:blipFill>
        <p:spPr>
          <a:xfrm>
            <a:off x="0" y="0"/>
            <a:ext cx="12192000" cy="6858000"/>
          </a:xfrm>
          <a:prstGeom prst="rect">
            <a:avLst/>
          </a:prstGeom>
          <a:noFill/>
          <a:ln w="9525" cap="flat" cmpd="sng">
            <a:noFill/>
            <a:prstDash val="solid"/>
            <a:miter/>
          </a:ln>
        </p:spPr>
      </p:pic>
      <p:sp>
        <p:nvSpPr>
          <p:cNvPr id="93" name="直线"/>
          <p:cNvSpPr/>
          <p:nvPr/>
        </p:nvSpPr>
        <p:spPr>
          <a:xfrm>
            <a:off x="2993310" y="4729005"/>
            <a:ext cx="6525014" cy="0"/>
          </a:xfrm>
          <a:prstGeom prst="line">
            <a:avLst/>
          </a:prstGeom>
          <a:noFill/>
          <a:ln w="9525" cap="flat" cmpd="sng">
            <a:solidFill>
              <a:srgbClr val="4A7EBC"/>
            </a:solidFill>
            <a:prstDash val="solid"/>
            <a:round/>
          </a:ln>
        </p:spPr>
      </p:sp>
      <p:grpSp>
        <p:nvGrpSpPr>
          <p:cNvPr id="2" name="组合 1"/>
          <p:cNvGrpSpPr/>
          <p:nvPr/>
        </p:nvGrpSpPr>
        <p:grpSpPr>
          <a:xfrm>
            <a:off x="6731635" y="462915"/>
            <a:ext cx="4824730" cy="2147570"/>
            <a:chOff x="7933" y="1309"/>
            <a:chExt cx="7598" cy="3382"/>
          </a:xfrm>
        </p:grpSpPr>
        <p:sp>
          <p:nvSpPr>
            <p:cNvPr id="92" name="矩形"/>
            <p:cNvSpPr/>
            <p:nvPr/>
          </p:nvSpPr>
          <p:spPr>
            <a:xfrm>
              <a:off x="7933" y="1309"/>
              <a:ext cx="7598" cy="3382"/>
            </a:xfrm>
            <a:prstGeom prst="rect">
              <a:avLst/>
            </a:prstGeom>
            <a:solidFill>
              <a:srgbClr val="FFFFFF">
                <a:alpha val="70000"/>
              </a:srgbClr>
            </a:solidFill>
            <a:ln w="25400" cap="flat" cmpd="sng">
              <a:noFill/>
              <a:prstDash val="solid"/>
              <a:round/>
            </a:ln>
          </p:spPr>
        </p:sp>
        <p:sp>
          <p:nvSpPr>
            <p:cNvPr id="94" name="矩形"/>
            <p:cNvSpPr/>
            <p:nvPr/>
          </p:nvSpPr>
          <p:spPr>
            <a:xfrm>
              <a:off x="8126" y="1377"/>
              <a:ext cx="7371" cy="3246"/>
            </a:xfrm>
            <a:prstGeom prst="rect">
              <a:avLst/>
            </a:prstGeom>
            <a:noFill/>
            <a:ln w="9525" cap="flat" cmpd="sng">
              <a:noFill/>
              <a:prstDash val="solid"/>
              <a:round/>
            </a:ln>
          </p:spPr>
          <p:txBody>
            <a:bodyPr vert="horz" wrap="square" lIns="91440" tIns="45720" rIns="91440" bIns="45720" anchor="t" anchorCtr="0">
              <a:spAutoFit/>
            </a:bodyPr>
            <a:lstStyle/>
            <a:p>
              <a:pPr fontAlgn="base"/>
              <a:r>
                <a:rPr lang="zh-CN" altLang="en-US" sz="1600">
                  <a:solidFill>
                    <a:srgbClr val="000000"/>
                  </a:solidFill>
                  <a:latin typeface="微软雅黑" panose="020B0503020204020204" pitchFamily="34" charset="-122"/>
                  <a:ea typeface="微软雅黑" panose="020B0503020204020204" pitchFamily="34" charset="-122"/>
                  <a:cs typeface="Calibri" panose="020F0502020204030204" charset="0"/>
                </a:rPr>
                <a:t>中天</a:t>
              </a:r>
              <a:r>
                <a:rPr lang="en-US" altLang="zh-CN" sz="1600">
                  <a:solidFill>
                    <a:srgbClr val="000000"/>
                  </a:solidFill>
                  <a:latin typeface="微软雅黑" panose="020B0503020204020204" pitchFamily="34" charset="-122"/>
                  <a:ea typeface="微软雅黑" panose="020B0503020204020204" pitchFamily="34" charset="-122"/>
                  <a:cs typeface="Calibri" panose="020F0502020204030204" charset="0"/>
                </a:rPr>
                <a:t>·</a:t>
              </a:r>
              <a:r>
                <a:rPr lang="zh-CN" altLang="en-US" sz="1600">
                  <a:solidFill>
                    <a:srgbClr val="000000"/>
                  </a:solidFill>
                  <a:latin typeface="微软雅黑" panose="020B0503020204020204" pitchFamily="34" charset="-122"/>
                  <a:ea typeface="微软雅黑" panose="020B0503020204020204" pitchFamily="34" charset="-122"/>
                  <a:cs typeface="Calibri" panose="020F0502020204030204" charset="0"/>
                </a:rPr>
                <a:t>未来方舟，位于贵阳贵阳市主城云岩区，滨南明河（贵阳母亲河）而建，占据</a:t>
              </a:r>
              <a:r>
                <a:rPr lang="en-US" altLang="zh-CN" sz="1600">
                  <a:solidFill>
                    <a:srgbClr val="000000"/>
                  </a:solidFill>
                  <a:latin typeface="微软雅黑" panose="020B0503020204020204" pitchFamily="34" charset="-122"/>
                  <a:ea typeface="微软雅黑" panose="020B0503020204020204" pitchFamily="34" charset="-122"/>
                  <a:cs typeface="Calibri" panose="020F0502020204030204" charset="0"/>
                </a:rPr>
                <a:t>7</a:t>
              </a:r>
              <a:r>
                <a:rPr lang="zh-CN" altLang="en-US" sz="1600">
                  <a:solidFill>
                    <a:srgbClr val="000000"/>
                  </a:solidFill>
                  <a:latin typeface="微软雅黑" panose="020B0503020204020204" pitchFamily="34" charset="-122"/>
                  <a:ea typeface="微软雅黑" panose="020B0503020204020204" pitchFamily="34" charset="-122"/>
                  <a:cs typeface="Calibri" panose="020F0502020204030204" charset="0"/>
                </a:rPr>
                <a:t>公里珍稀河岸资源，土地、区位价值极致珍贵！是汇集人居、商务、商业、文娱、旅游等功能复合发展的新型城市综合体。</a:t>
              </a:r>
              <a:endParaRPr lang="en-US" altLang="zh-CN" sz="1600">
                <a:solidFill>
                  <a:srgbClr val="000000"/>
                </a:solidFill>
                <a:latin typeface="微软雅黑" panose="020B0503020204020204" pitchFamily="34" charset="-122"/>
                <a:ea typeface="微软雅黑" panose="020B0503020204020204" pitchFamily="34" charset="-122"/>
                <a:cs typeface="Calibri" panose="020F0502020204030204" charset="0"/>
              </a:endParaRPr>
            </a:p>
            <a:p>
              <a:pPr fontAlgn="base"/>
              <a:r>
                <a:rPr lang="en-US" altLang="zh-CN" sz="1600" b="1">
                  <a:solidFill>
                    <a:schemeClr val="tx2"/>
                  </a:solidFill>
                  <a:latin typeface="微软雅黑" panose="020B0503020204020204" pitchFamily="34" charset="-122"/>
                  <a:ea typeface="微软雅黑" panose="020B0503020204020204" pitchFamily="34" charset="-122"/>
                  <a:cs typeface="Calibri" panose="020F0502020204030204" charset="0"/>
                </a:rPr>
                <a:t>2012</a:t>
              </a:r>
              <a:r>
                <a:rPr lang="zh-CN" altLang="en-US" sz="1600" b="1">
                  <a:solidFill>
                    <a:schemeClr val="tx2"/>
                  </a:solidFill>
                  <a:latin typeface="微软雅黑" panose="020B0503020204020204" pitchFamily="34" charset="-122"/>
                  <a:ea typeface="微软雅黑" panose="020B0503020204020204" pitchFamily="34" charset="-122"/>
                  <a:cs typeface="Calibri" panose="020F0502020204030204" charset="0"/>
                </a:rPr>
                <a:t>年，被住建部评选为中国首批</a:t>
              </a:r>
              <a:r>
                <a:rPr lang="en-US" altLang="zh-CN" sz="1600" b="1">
                  <a:solidFill>
                    <a:schemeClr val="tx2"/>
                  </a:solidFill>
                  <a:latin typeface="微软雅黑" panose="020B0503020204020204" pitchFamily="34" charset="-122"/>
                  <a:ea typeface="微软雅黑" panose="020B0503020204020204" pitchFamily="34" charset="-122"/>
                  <a:cs typeface="Calibri" panose="020F0502020204030204" charset="0"/>
                </a:rPr>
                <a:t>8</a:t>
              </a:r>
              <a:r>
                <a:rPr lang="zh-CN" altLang="en-US" sz="1600" b="1">
                  <a:solidFill>
                    <a:schemeClr val="tx2"/>
                  </a:solidFill>
                  <a:latin typeface="微软雅黑" panose="020B0503020204020204" pitchFamily="34" charset="-122"/>
                  <a:ea typeface="微软雅黑" panose="020B0503020204020204" pitchFamily="34" charset="-122"/>
                  <a:cs typeface="Calibri" panose="020F0502020204030204" charset="0"/>
                </a:rPr>
                <a:t>个“国家绿色生态示范城区”之一</a:t>
              </a:r>
              <a:endParaRPr lang="en-US" altLang="zh-CN" sz="1600" b="1">
                <a:solidFill>
                  <a:schemeClr val="tx2"/>
                </a:solidFill>
                <a:latin typeface="微软雅黑" panose="020B0503020204020204" pitchFamily="34" charset="-122"/>
                <a:ea typeface="微软雅黑" panose="020B0503020204020204" pitchFamily="34" charset="-122"/>
                <a:cs typeface="Calibri" panose="020F0502020204030204" charset="0"/>
              </a:endParaRPr>
            </a:p>
            <a:p>
              <a:pPr fontAlgn="base"/>
              <a:r>
                <a:rPr lang="en-US" altLang="zh-CN" sz="1600" b="1">
                  <a:solidFill>
                    <a:schemeClr val="tx2"/>
                  </a:solidFill>
                  <a:latin typeface="微软雅黑" panose="020B0503020204020204" pitchFamily="34" charset="-122"/>
                  <a:ea typeface="微软雅黑" panose="020B0503020204020204" pitchFamily="34" charset="-122"/>
                  <a:cs typeface="Calibri" panose="020F0502020204030204" charset="0"/>
                </a:rPr>
                <a:t>2015</a:t>
              </a:r>
              <a:r>
                <a:rPr lang="zh-CN" altLang="en-US" sz="1600" b="1">
                  <a:solidFill>
                    <a:schemeClr val="tx2"/>
                  </a:solidFill>
                  <a:latin typeface="微软雅黑" panose="020B0503020204020204" pitchFamily="34" charset="-122"/>
                  <a:ea typeface="微软雅黑" panose="020B0503020204020204" pitchFamily="34" charset="-122"/>
                  <a:cs typeface="Calibri" panose="020F0502020204030204" charset="0"/>
                </a:rPr>
                <a:t>年，荣膺“中国房地产</a:t>
              </a:r>
              <a:r>
                <a:rPr lang="en-US" altLang="zh-CN" sz="1600" b="1">
                  <a:solidFill>
                    <a:schemeClr val="tx2"/>
                  </a:solidFill>
                  <a:latin typeface="微软雅黑" panose="020B0503020204020204" pitchFamily="34" charset="-122"/>
                  <a:ea typeface="微软雅黑" panose="020B0503020204020204" pitchFamily="34" charset="-122"/>
                  <a:cs typeface="Calibri" panose="020F0502020204030204" charset="0"/>
                </a:rPr>
                <a:t>20</a:t>
              </a:r>
              <a:r>
                <a:rPr lang="zh-CN" altLang="en-US" sz="1600" b="1">
                  <a:solidFill>
                    <a:schemeClr val="tx2"/>
                  </a:solidFill>
                  <a:latin typeface="微软雅黑" panose="020B0503020204020204" pitchFamily="34" charset="-122"/>
                  <a:ea typeface="微软雅黑" panose="020B0503020204020204" pitchFamily="34" charset="-122"/>
                  <a:cs typeface="Calibri" panose="020F0502020204030204" charset="0"/>
                </a:rPr>
                <a:t>年</a:t>
              </a:r>
              <a:r>
                <a:rPr lang="en-US" altLang="zh-CN" sz="1600" b="1">
                  <a:solidFill>
                    <a:schemeClr val="tx2"/>
                  </a:solidFill>
                  <a:latin typeface="微软雅黑" panose="020B0503020204020204" pitchFamily="34" charset="-122"/>
                  <a:ea typeface="微软雅黑" panose="020B0503020204020204" pitchFamily="34" charset="-122"/>
                  <a:cs typeface="Calibri" panose="020F0502020204030204" charset="0"/>
                </a:rPr>
                <a:t>20</a:t>
              </a:r>
              <a:r>
                <a:rPr lang="zh-CN" altLang="en-US" sz="1600" b="1">
                  <a:solidFill>
                    <a:schemeClr val="tx2"/>
                  </a:solidFill>
                  <a:latin typeface="微软雅黑" panose="020B0503020204020204" pitchFamily="34" charset="-122"/>
                  <a:ea typeface="微软雅黑" panose="020B0503020204020204" pitchFamily="34" charset="-122"/>
                  <a:cs typeface="Calibri" panose="020F0502020204030204" charset="0"/>
                </a:rPr>
                <a:t>大标杆项目”</a:t>
              </a:r>
              <a:endParaRPr lang="zh-CN" altLang="en-US" sz="1600" b="1">
                <a:solidFill>
                  <a:schemeClr val="tx2"/>
                </a:solidFill>
                <a:latin typeface="微软雅黑" panose="020B0503020204020204" pitchFamily="34" charset="-122"/>
                <a:ea typeface="微软雅黑" panose="020B0503020204020204" pitchFamily="34" charset="-122"/>
                <a:cs typeface="Calibri" panose="020F0502020204030204" charset="0"/>
              </a:endParaRPr>
            </a:p>
          </p:txBody>
        </p:sp>
      </p:grpSp>
      <p:sp>
        <p:nvSpPr>
          <p:cNvPr id="95" name="文本框"/>
          <p:cNvSpPr>
            <a:spLocks noGrp="1"/>
          </p:cNvSpPr>
          <p:nvPr>
            <p:ph type="sldNum" idx="4294967295"/>
          </p:nvPr>
        </p:nvSpPr>
        <p:spPr>
          <a:xfrm>
            <a:off x="8077200" y="6356360"/>
            <a:ext cx="2133600" cy="365125"/>
          </a:xfrm>
          <a:prstGeom prst="rect">
            <a:avLst/>
          </a:prstGeom>
          <a:noFill/>
          <a:ln w="9525" cap="flat" cmpd="sng">
            <a:noFill/>
            <a:prstDash val="solid"/>
            <a:miter/>
          </a:ln>
        </p:spPr>
        <p:txBody>
          <a:bodyPr vert="horz" wrap="none" lIns="91440" tIns="45720" rIns="91440" bIns="45720" rtlCol="0" anchor="t" anchorCtr="0"/>
          <a:lstStyle/>
          <a:p>
            <a:pPr algn="r"/>
            <a:fld id="{CAD2D6BD-DE1B-4B5F-8B41-2702339687B9}" type="slidenum">
              <a:rPr lang="en-US" altLang="zh-CN" sz="1400">
                <a:solidFill>
                  <a:srgbClr val="898989"/>
                </a:solidFill>
                <a:latin typeface="微软雅黑" panose="020B0503020204020204" pitchFamily="34" charset="-122"/>
                <a:ea typeface="微软雅黑" panose="020B0503020204020204" pitchFamily="34" charset="-122"/>
                <a:cs typeface="Calibri" panose="020F0502020204030204" charset="0"/>
              </a:rPr>
            </a:fld>
            <a:endParaRPr lang="zh-CN" altLang="en-US" sz="1400">
              <a:solidFill>
                <a:srgbClr val="898989"/>
              </a:solidFill>
              <a:latin typeface="微软雅黑" panose="020B0503020204020204" pitchFamily="34" charset="-122"/>
              <a:ea typeface="微软雅黑" panose="020B0503020204020204" pitchFamily="34" charset="-122"/>
              <a:cs typeface="Calibri" panose="020F0502020204030204" charset="0"/>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图片"/>
          <p:cNvPicPr>
            <a:picLocks noChangeAspect="1"/>
          </p:cNvPicPr>
          <p:nvPr/>
        </p:nvPicPr>
        <p:blipFill>
          <a:blip r:embed="rId1"/>
          <a:stretch>
            <a:fillRect/>
          </a:stretch>
        </p:blipFill>
        <p:spPr>
          <a:xfrm>
            <a:off x="0" y="0"/>
            <a:ext cx="12192000" cy="6872605"/>
          </a:xfrm>
          <a:prstGeom prst="rect">
            <a:avLst/>
          </a:prstGeom>
          <a:noFill/>
          <a:ln w="9525" cap="flat" cmpd="sng">
            <a:noFill/>
            <a:prstDash val="solid"/>
            <a:round/>
          </a:ln>
        </p:spPr>
      </p:pic>
      <p:sp>
        <p:nvSpPr>
          <p:cNvPr id="98" name="矩形"/>
          <p:cNvSpPr/>
          <p:nvPr/>
        </p:nvSpPr>
        <p:spPr>
          <a:xfrm>
            <a:off x="780723" y="932975"/>
            <a:ext cx="5184576" cy="1708160"/>
          </a:xfrm>
          <a:prstGeom prst="rect">
            <a:avLst/>
          </a:prstGeom>
          <a:solidFill>
            <a:srgbClr val="FFFFFF">
              <a:alpha val="70000"/>
            </a:srgbClr>
          </a:solidFill>
          <a:ln w="9525" cap="flat" cmpd="sng">
            <a:noFill/>
            <a:prstDash val="solid"/>
            <a:round/>
          </a:ln>
        </p:spPr>
        <p:txBody>
          <a:bodyPr vert="horz" wrap="square" lIns="91440" tIns="45720" rIns="91440" bIns="45720" anchor="t" anchorCtr="0">
            <a:spAutoFit/>
          </a:bodyPr>
          <a:lstStyle/>
          <a:p>
            <a:pPr fontAlgn="base">
              <a:lnSpc>
                <a:spcPct val="150000"/>
              </a:lnSpc>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中天·未来方舟，截取南明河七公里绝美河段、独一无二的城市河岸资源，集汇世界鼎级建筑、景观、商业配套，</a:t>
            </a:r>
            <a:endParaRPr lang="en-US" altLang="zh-CN" sz="1400">
              <a:solidFill>
                <a:srgbClr val="000000"/>
              </a:solidFill>
              <a:latin typeface="微软雅黑" panose="020B0503020204020204" pitchFamily="34" charset="-122"/>
              <a:ea typeface="微软雅黑" panose="020B0503020204020204" pitchFamily="34" charset="-122"/>
              <a:cs typeface="Calibri" panose="020F0502020204030204" charset="0"/>
            </a:endParaRPr>
          </a:p>
          <a:p>
            <a:pPr fontAlgn="base">
              <a:lnSpc>
                <a:spcPct val="150000"/>
              </a:lnSpc>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成就全球最长的滨河景观商业长廊——外滩七公里。</a:t>
            </a:r>
            <a:endParaRPr lang="en-US" altLang="zh-CN" sz="1400">
              <a:solidFill>
                <a:srgbClr val="000000"/>
              </a:solidFill>
              <a:latin typeface="微软雅黑" panose="020B0503020204020204" pitchFamily="34" charset="-122"/>
              <a:ea typeface="微软雅黑" panose="020B0503020204020204" pitchFamily="34" charset="-122"/>
              <a:cs typeface="Calibri" panose="020F0502020204030204" charset="0"/>
            </a:endParaRPr>
          </a:p>
          <a:p>
            <a:pPr fontAlgn="base">
              <a:lnSpc>
                <a:spcPct val="150000"/>
              </a:lnSpc>
            </a:pPr>
            <a:r>
              <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rPr>
              <a:t>流光溢彩的水岸双重繁华，使方舟成为名副其实的“贵阳首席滨河城市名片”！</a:t>
            </a:r>
            <a:endParaRPr lang="zh-CN" altLang="en-US" sz="1400">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sp>
        <p:nvSpPr>
          <p:cNvPr id="99" name="直线"/>
          <p:cNvSpPr/>
          <p:nvPr/>
        </p:nvSpPr>
        <p:spPr>
          <a:xfrm flipV="1">
            <a:off x="6937257" y="932723"/>
            <a:ext cx="3640781" cy="5925279"/>
          </a:xfrm>
          <a:prstGeom prst="line">
            <a:avLst/>
          </a:prstGeom>
          <a:noFill/>
          <a:ln w="9525" cap="flat" cmpd="sng">
            <a:solidFill>
              <a:srgbClr val="FFFFFF"/>
            </a:solidFill>
            <a:prstDash val="solid"/>
            <a:round/>
          </a:ln>
        </p:spPr>
      </p:sp>
      <p:sp>
        <p:nvSpPr>
          <p:cNvPr id="103" name="文本框"/>
          <p:cNvSpPr>
            <a:spLocks noGrp="1"/>
          </p:cNvSpPr>
          <p:nvPr>
            <p:ph type="sldNum" idx="4294967295"/>
          </p:nvPr>
        </p:nvSpPr>
        <p:spPr>
          <a:xfrm>
            <a:off x="8077200" y="6356360"/>
            <a:ext cx="2133600" cy="365125"/>
          </a:xfrm>
          <a:prstGeom prst="rect">
            <a:avLst/>
          </a:prstGeom>
          <a:noFill/>
          <a:ln w="9525" cap="flat" cmpd="sng">
            <a:noFill/>
            <a:prstDash val="solid"/>
            <a:miter/>
          </a:ln>
        </p:spPr>
        <p:txBody>
          <a:bodyPr vert="horz" wrap="none" lIns="91440" tIns="45720" rIns="91440" bIns="45720" rtlCol="0" anchor="t" anchorCtr="0"/>
          <a:lstStyle/>
          <a:p>
            <a:pPr algn="r"/>
            <a:fld id="{CAD2D6BD-DE1B-4B5F-8B41-2702339687B9}" type="slidenum">
              <a:rPr lang="en-US" altLang="zh-CN" sz="1400">
                <a:solidFill>
                  <a:srgbClr val="898989"/>
                </a:solidFill>
                <a:latin typeface="微软雅黑" panose="020B0503020204020204" pitchFamily="34" charset="-122"/>
                <a:ea typeface="微软雅黑" panose="020B0503020204020204" pitchFamily="34" charset="-122"/>
                <a:cs typeface="Calibri" panose="020F0502020204030204" charset="0"/>
              </a:rPr>
            </a:fld>
            <a:endParaRPr lang="zh-CN" altLang="en-US" sz="1400">
              <a:solidFill>
                <a:srgbClr val="898989"/>
              </a:solidFill>
              <a:latin typeface="微软雅黑" panose="020B0503020204020204" pitchFamily="34" charset="-122"/>
              <a:ea typeface="微软雅黑" panose="020B0503020204020204" pitchFamily="34" charset="-122"/>
              <a:cs typeface="Calibri" panose="020F0502020204030204" charset="0"/>
            </a:endParaRPr>
          </a:p>
        </p:txBody>
      </p:sp>
      <p:grpSp>
        <p:nvGrpSpPr>
          <p:cNvPr id="2" name="组合 1"/>
          <p:cNvGrpSpPr/>
          <p:nvPr/>
        </p:nvGrpSpPr>
        <p:grpSpPr>
          <a:xfrm>
            <a:off x="7086600" y="2902585"/>
            <a:ext cx="2924175" cy="2780665"/>
            <a:chOff x="12060" y="5249"/>
            <a:chExt cx="4605" cy="4379"/>
          </a:xfrm>
        </p:grpSpPr>
        <p:sp>
          <p:nvSpPr>
            <p:cNvPr id="100" name="椭圆"/>
            <p:cNvSpPr/>
            <p:nvPr/>
          </p:nvSpPr>
          <p:spPr>
            <a:xfrm>
              <a:off x="12060" y="5249"/>
              <a:ext cx="4605" cy="4379"/>
            </a:xfrm>
            <a:prstGeom prst="ellipse">
              <a:avLst/>
            </a:prstGeom>
            <a:solidFill>
              <a:srgbClr val="FFFFFF"/>
            </a:solidFill>
            <a:ln w="25400" cap="flat" cmpd="sng">
              <a:noFill/>
              <a:prstDash val="solid"/>
              <a:round/>
            </a:ln>
          </p:spPr>
        </p:sp>
        <p:sp>
          <p:nvSpPr>
            <p:cNvPr id="101" name="椭圆"/>
            <p:cNvSpPr/>
            <p:nvPr/>
          </p:nvSpPr>
          <p:spPr>
            <a:xfrm>
              <a:off x="12060" y="5255"/>
              <a:ext cx="4590" cy="4373"/>
            </a:xfrm>
            <a:prstGeom prst="ellipse">
              <a:avLst/>
            </a:prstGeom>
            <a:noFill/>
            <a:ln w="6350" cap="flat" cmpd="sng">
              <a:solidFill>
                <a:srgbClr val="C0C0C0"/>
              </a:solidFill>
              <a:prstDash val="sysDash"/>
              <a:round/>
            </a:ln>
          </p:spPr>
        </p:sp>
        <p:sp>
          <p:nvSpPr>
            <p:cNvPr id="102" name="矩形"/>
            <p:cNvSpPr/>
            <p:nvPr/>
          </p:nvSpPr>
          <p:spPr>
            <a:xfrm>
              <a:off x="12784" y="7104"/>
              <a:ext cx="3142" cy="1307"/>
            </a:xfrm>
            <a:prstGeom prst="rect">
              <a:avLst/>
            </a:prstGeom>
            <a:noFill/>
            <a:ln w="9525" cap="flat" cmpd="sng">
              <a:noFill/>
              <a:prstDash val="solid"/>
              <a:round/>
            </a:ln>
          </p:spPr>
          <p:txBody>
            <a:bodyPr vert="horz" wrap="square" lIns="91440" tIns="45720" rIns="91440" bIns="45720" anchor="t" anchorCtr="0">
              <a:spAutoFit/>
            </a:bodyPr>
            <a:lstStyle/>
            <a:p>
              <a:pPr algn="ctr" fontAlgn="base"/>
              <a:r>
                <a:rPr lang="zh-CN" altLang="en-US" sz="1600">
                  <a:solidFill>
                    <a:srgbClr val="005CA7"/>
                  </a:solidFill>
                  <a:latin typeface="微软雅黑" panose="020B0503020204020204" pitchFamily="34" charset="-122"/>
                  <a:ea typeface="微软雅黑" panose="020B0503020204020204" pitchFamily="34" charset="-122"/>
                  <a:cs typeface="Calibri" panose="020F0502020204030204" charset="0"/>
                </a:rPr>
                <a:t>贵州风景眼</a:t>
              </a:r>
              <a:endParaRPr lang="en-US" altLang="zh-CN" sz="1600">
                <a:solidFill>
                  <a:srgbClr val="005CA7"/>
                </a:solidFill>
                <a:latin typeface="微软雅黑" panose="020B0503020204020204" pitchFamily="34" charset="-122"/>
                <a:ea typeface="微软雅黑" panose="020B0503020204020204" pitchFamily="34" charset="-122"/>
                <a:cs typeface="Calibri" panose="020F0502020204030204" charset="0"/>
              </a:endParaRPr>
            </a:p>
            <a:p>
              <a:pPr algn="ctr" fontAlgn="base"/>
              <a:r>
                <a:rPr lang="zh-CN" altLang="en-US" sz="1600">
                  <a:solidFill>
                    <a:srgbClr val="005CA7"/>
                  </a:solidFill>
                  <a:latin typeface="微软雅黑" panose="020B0503020204020204" pitchFamily="34" charset="-122"/>
                  <a:ea typeface="微软雅黑" panose="020B0503020204020204" pitchFamily="34" charset="-122"/>
                  <a:cs typeface="Calibri" panose="020F0502020204030204" charset="0"/>
                </a:rPr>
                <a:t>贵阳首席滨河商业</a:t>
              </a:r>
              <a:endParaRPr lang="en-US" altLang="zh-CN" sz="1600">
                <a:solidFill>
                  <a:srgbClr val="005CA7"/>
                </a:solidFill>
                <a:latin typeface="微软雅黑" panose="020B0503020204020204" pitchFamily="34" charset="-122"/>
                <a:ea typeface="微软雅黑" panose="020B0503020204020204" pitchFamily="34" charset="-122"/>
                <a:cs typeface="Calibri" panose="020F0502020204030204" charset="0"/>
              </a:endParaRPr>
            </a:p>
            <a:p>
              <a:pPr algn="ctr" fontAlgn="base"/>
              <a:r>
                <a:rPr lang="zh-CN" altLang="en-US" sz="1600">
                  <a:solidFill>
                    <a:srgbClr val="005CA7"/>
                  </a:solidFill>
                  <a:latin typeface="微软雅黑" panose="020B0503020204020204" pitchFamily="34" charset="-122"/>
                  <a:ea typeface="微软雅黑" panose="020B0503020204020204" pitchFamily="34" charset="-122"/>
                  <a:cs typeface="Calibri" panose="020F0502020204030204" charset="0"/>
                </a:rPr>
                <a:t>城市名片</a:t>
              </a:r>
              <a:endParaRPr lang="zh-CN" altLang="en-US" sz="1600">
                <a:solidFill>
                  <a:srgbClr val="005CA7"/>
                </a:solidFill>
                <a:latin typeface="微软雅黑" panose="020B0503020204020204" pitchFamily="34" charset="-122"/>
                <a:ea typeface="微软雅黑" panose="020B0503020204020204" pitchFamily="34" charset="-122"/>
                <a:cs typeface="Calibri" panose="020F0502020204030204" charset="0"/>
              </a:endParaRPr>
            </a:p>
          </p:txBody>
        </p:sp>
        <p:sp>
          <p:nvSpPr>
            <p:cNvPr id="105" name="矩形"/>
            <p:cNvSpPr/>
            <p:nvPr/>
          </p:nvSpPr>
          <p:spPr>
            <a:xfrm>
              <a:off x="13104" y="6047"/>
              <a:ext cx="2519" cy="630"/>
            </a:xfrm>
            <a:prstGeom prst="rect">
              <a:avLst/>
            </a:prstGeom>
            <a:noFill/>
            <a:ln w="9525" cap="flat" cmpd="sng">
              <a:noFill/>
              <a:prstDash val="solid"/>
              <a:miter/>
            </a:ln>
          </p:spPr>
          <p:txBody>
            <a:bodyPr vert="horz" wrap="square" lIns="91440" tIns="45720" rIns="91440" bIns="45720" anchor="t" anchorCtr="0">
              <a:spAutoFit/>
            </a:bodyPr>
            <a:lstStyle/>
            <a:p>
              <a:r>
                <a:rPr lang="zh-CN" altLang="en-US" sz="2000" b="1">
                  <a:solidFill>
                    <a:srgbClr val="C00000"/>
                  </a:solidFill>
                  <a:latin typeface="微软雅黑" panose="020B0503020204020204" pitchFamily="34" charset="-122"/>
                  <a:ea typeface="微软雅黑" panose="020B0503020204020204" pitchFamily="34" charset="-122"/>
                  <a:cs typeface="Calibri" panose="020F0502020204030204" charset="0"/>
                </a:rPr>
                <a:t>外滩</a:t>
              </a:r>
              <a:r>
                <a:rPr lang="en-US" altLang="zh-CN" sz="2000" b="1">
                  <a:solidFill>
                    <a:srgbClr val="C00000"/>
                  </a:solidFill>
                  <a:latin typeface="微软雅黑" panose="020B0503020204020204" pitchFamily="34" charset="-122"/>
                  <a:ea typeface="微软雅黑" panose="020B0503020204020204" pitchFamily="34" charset="-122"/>
                  <a:cs typeface="Calibri" panose="020F0502020204030204" charset="0"/>
                </a:rPr>
                <a:t>7</a:t>
              </a:r>
              <a:r>
                <a:rPr lang="zh-CN" altLang="en-US" sz="2000" b="1">
                  <a:solidFill>
                    <a:srgbClr val="C00000"/>
                  </a:solidFill>
                  <a:latin typeface="微软雅黑" panose="020B0503020204020204" pitchFamily="34" charset="-122"/>
                  <a:ea typeface="微软雅黑" panose="020B0503020204020204" pitchFamily="34" charset="-122"/>
                  <a:cs typeface="Calibri" panose="020F0502020204030204" charset="0"/>
                </a:rPr>
                <a:t>公里</a:t>
              </a:r>
              <a:endParaRPr lang="zh-CN" altLang="en-US" sz="2000" b="1">
                <a:solidFill>
                  <a:srgbClr val="C00000"/>
                </a:solidFill>
                <a:latin typeface="微软雅黑" panose="020B0503020204020204" pitchFamily="34" charset="-122"/>
                <a:ea typeface="微软雅黑" panose="020B0503020204020204" pitchFamily="34" charset="-122"/>
                <a:cs typeface="Calibri" panose="020F0502020204030204" charset="0"/>
              </a:endParaRPr>
            </a:p>
          </p:txBody>
        </p:sp>
      </p:grpSp>
      <p:sp>
        <p:nvSpPr>
          <p:cNvPr id="3" name="TextBox 12"/>
          <p:cNvSpPr/>
          <p:nvPr/>
        </p:nvSpPr>
        <p:spPr bwMode="auto">
          <a:xfrm>
            <a:off x="780415" y="314325"/>
            <a:ext cx="4177665" cy="52197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lvl="0" algn="l" fontAlgn="base">
              <a:buClrTx/>
              <a:buSzTx/>
              <a:buFontTx/>
            </a:pPr>
            <a:r>
              <a:rPr lang="en-US" altLang="zh-CN" sz="2800" b="1" dirty="0">
                <a:solidFill>
                  <a:prstClr val="black"/>
                </a:solidFill>
                <a:latin typeface="微软雅黑" panose="020B0503020204020204" pitchFamily="34" charset="-122"/>
                <a:ea typeface="微软雅黑" panose="020B0503020204020204" pitchFamily="34" charset="-122"/>
                <a:sym typeface="+mn-ea"/>
              </a:rPr>
              <a:t>7KM南明河景观商业带</a:t>
            </a:r>
            <a:endParaRPr lang="en-US" altLang="zh-CN" sz="2800" b="1" dirty="0">
              <a:solidFill>
                <a:prstClr val="black"/>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1000"/>
                                        <p:tgtEl>
                                          <p:spTgt spid="98"/>
                                        </p:tgtEl>
                                      </p:cBhvr>
                                    </p:animEffect>
                                    <p:anim calcmode="lin" valueType="num">
                                      <p:cBhvr>
                                        <p:cTn id="8" dur="1000" fill="hold"/>
                                        <p:tgtEl>
                                          <p:spTgt spid="98"/>
                                        </p:tgtEl>
                                        <p:attrNameLst>
                                          <p:attrName>ppt_x</p:attrName>
                                        </p:attrNameLst>
                                      </p:cBhvr>
                                      <p:tavLst>
                                        <p:tav tm="0">
                                          <p:val>
                                            <p:strVal val="#ppt_x"/>
                                          </p:val>
                                        </p:tav>
                                        <p:tav tm="100000">
                                          <p:val>
                                            <p:strVal val="#ppt_x"/>
                                          </p:val>
                                        </p:tav>
                                      </p:tavLst>
                                    </p:anim>
                                    <p:anim calcmode="lin" valueType="num">
                                      <p:cBhvr>
                                        <p:cTn id="9"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矩形"/>
          <p:cNvSpPr/>
          <p:nvPr/>
        </p:nvSpPr>
        <p:spPr>
          <a:xfrm>
            <a:off x="877570" y="1442085"/>
            <a:ext cx="10678160" cy="335915"/>
          </a:xfrm>
          <a:prstGeom prst="rect">
            <a:avLst/>
          </a:prstGeom>
          <a:noFill/>
          <a:ln w="9525" cap="flat" cmpd="sng">
            <a:noFill/>
            <a:prstDash val="solid"/>
            <a:miter/>
          </a:ln>
        </p:spPr>
        <p:txBody>
          <a:bodyPr vert="horz" wrap="square" lIns="91433" tIns="45717" rIns="91433" bIns="45717" anchor="t" anchorCtr="0">
            <a:spAutoFit/>
          </a:bodyPr>
          <a:lstStyle/>
          <a:p>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中天·未来方舟拥有</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21</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金牌校网、人文路网区域网、</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人文生态公园、“中轴线文化带”为特色的方舟文化符号体系。</a:t>
            </a:r>
            <a:endParaRPr lang="en-US" altLang="zh-CN" sz="1600" b="1">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6" name="组合 5"/>
          <p:cNvGrpSpPr/>
          <p:nvPr/>
        </p:nvGrpSpPr>
        <p:grpSpPr>
          <a:xfrm>
            <a:off x="877570" y="1953895"/>
            <a:ext cx="10436860" cy="4454525"/>
            <a:chOff x="1884" y="2773"/>
            <a:chExt cx="16436" cy="7015"/>
          </a:xfrm>
        </p:grpSpPr>
        <p:grpSp>
          <p:nvGrpSpPr>
            <p:cNvPr id="5" name="组合 4"/>
            <p:cNvGrpSpPr/>
            <p:nvPr/>
          </p:nvGrpSpPr>
          <p:grpSpPr>
            <a:xfrm>
              <a:off x="1884" y="2814"/>
              <a:ext cx="3960" cy="3432"/>
              <a:chOff x="3405" y="2800"/>
              <a:chExt cx="3960" cy="3432"/>
            </a:xfrm>
          </p:grpSpPr>
          <p:pic>
            <p:nvPicPr>
              <p:cNvPr id="108" name="图片"/>
              <p:cNvPicPr>
                <a:picLocks noChangeAspect="1"/>
              </p:cNvPicPr>
              <p:nvPr/>
            </p:nvPicPr>
            <p:blipFill>
              <a:blip r:embed="rId1" cstate="print"/>
              <a:stretch>
                <a:fillRect/>
              </a:stretch>
            </p:blipFill>
            <p:spPr>
              <a:xfrm>
                <a:off x="3405" y="2800"/>
                <a:ext cx="3960" cy="3419"/>
              </a:xfrm>
              <a:prstGeom prst="rect">
                <a:avLst/>
              </a:prstGeom>
              <a:noFill/>
              <a:ln w="9525" cap="flat" cmpd="sng">
                <a:noFill/>
                <a:prstDash val="solid"/>
                <a:miter/>
              </a:ln>
            </p:spPr>
          </p:pic>
          <p:sp>
            <p:nvSpPr>
              <p:cNvPr id="111" name="矩形"/>
              <p:cNvSpPr/>
              <p:nvPr/>
            </p:nvSpPr>
            <p:spPr>
              <a:xfrm>
                <a:off x="3405" y="2810"/>
                <a:ext cx="582" cy="3422"/>
              </a:xfrm>
              <a:prstGeom prst="rect">
                <a:avLst/>
              </a:prstGeom>
              <a:solidFill>
                <a:schemeClr val="bg1"/>
              </a:solidFill>
              <a:ln w="9525" cap="flat" cmpd="sng">
                <a:solidFill>
                  <a:srgbClr val="C00000"/>
                </a:solidFill>
                <a:prstDash val="solid"/>
                <a:round/>
              </a:ln>
            </p:spPr>
            <p:txBody>
              <a:bodyPr vert="eaVert" wrap="square" lIns="91433" tIns="45717" rIns="91433" bIns="45717" anchor="t" anchorCtr="0">
                <a:spAutoFit/>
              </a:bodyPr>
              <a:lstStyle/>
              <a:p>
                <a:pPr algn="ctr"/>
                <a:r>
                  <a:rPr lang="en-US" altLang="zh-CN" sz="1200" b="1">
                    <a:solidFill>
                      <a:srgbClr val="000000"/>
                    </a:solidFill>
                    <a:latin typeface="微软雅黑" panose="020B0503020204020204" pitchFamily="34" charset="-122"/>
                    <a:ea typeface="微软雅黑" panose="020B0503020204020204" pitchFamily="34" charset="-122"/>
                    <a:cs typeface="Calibri" panose="020F0502020204030204" charset="0"/>
                  </a:rPr>
                  <a:t>13  </a:t>
                </a:r>
                <a:r>
                  <a:rPr lang="zh-CN" altLang="en-US" sz="1200" b="1">
                    <a:solidFill>
                      <a:srgbClr val="000000"/>
                    </a:solidFill>
                    <a:latin typeface="微软雅黑" panose="020B0503020204020204" pitchFamily="34" charset="-122"/>
                    <a:ea typeface="微软雅黑" panose="020B0503020204020204" pitchFamily="34" charset="-122"/>
                    <a:cs typeface="Calibri" panose="020F0502020204030204" charset="0"/>
                  </a:rPr>
                  <a:t>公  园  </a:t>
                </a:r>
                <a:r>
                  <a:rPr lang="en-US" altLang="zh-CN" sz="1200" b="1">
                    <a:solidFill>
                      <a:srgbClr val="000000"/>
                    </a:solidFill>
                    <a:latin typeface="微软雅黑" panose="020B0503020204020204" pitchFamily="34" charset="-122"/>
                    <a:ea typeface="微软雅黑" panose="020B0503020204020204" pitchFamily="34" charset="-122"/>
                    <a:cs typeface="Calibri" panose="020F0502020204030204" charset="0"/>
                  </a:rPr>
                  <a:t>   </a:t>
                </a:r>
                <a:r>
                  <a:rPr lang="zh-CN" altLang="en-US" sz="1200" b="1">
                    <a:solidFill>
                      <a:srgbClr val="000000"/>
                    </a:solidFill>
                    <a:latin typeface="微软雅黑" panose="020B0503020204020204" pitchFamily="34" charset="-122"/>
                    <a:ea typeface="微软雅黑" panose="020B0503020204020204" pitchFamily="34" charset="-122"/>
                    <a:cs typeface="Calibri" panose="020F0502020204030204" charset="0"/>
                  </a:rPr>
                  <a:t>网</a:t>
                </a:r>
                <a:r>
                  <a:rPr lang="en-US" altLang="zh-CN" sz="1200" b="1">
                    <a:solidFill>
                      <a:srgbClr val="000000"/>
                    </a:solidFill>
                    <a:latin typeface="微软雅黑" panose="020B0503020204020204" pitchFamily="34" charset="-122"/>
                    <a:ea typeface="微软雅黑" panose="020B0503020204020204" pitchFamily="34" charset="-122"/>
                    <a:cs typeface="Calibri" panose="020F0502020204030204" charset="0"/>
                  </a:rPr>
                  <a:t> </a:t>
                </a:r>
                <a:endParaRPr lang="zh-CN" altLang="en-US" sz="12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grpSp>
        <p:grpSp>
          <p:nvGrpSpPr>
            <p:cNvPr id="3" name="组合 2"/>
            <p:cNvGrpSpPr/>
            <p:nvPr/>
          </p:nvGrpSpPr>
          <p:grpSpPr>
            <a:xfrm>
              <a:off x="5844" y="6238"/>
              <a:ext cx="4007" cy="3551"/>
              <a:chOff x="3405" y="6357"/>
              <a:chExt cx="4007" cy="3551"/>
            </a:xfrm>
          </p:grpSpPr>
          <p:pic>
            <p:nvPicPr>
              <p:cNvPr id="107" name="图片"/>
              <p:cNvPicPr>
                <a:picLocks noChangeAspect="1"/>
              </p:cNvPicPr>
              <p:nvPr/>
            </p:nvPicPr>
            <p:blipFill>
              <a:blip r:embed="rId2" cstate="print"/>
              <a:stretch>
                <a:fillRect/>
              </a:stretch>
            </p:blipFill>
            <p:spPr>
              <a:xfrm>
                <a:off x="3770" y="6357"/>
                <a:ext cx="3642" cy="3548"/>
              </a:xfrm>
              <a:prstGeom prst="rect">
                <a:avLst/>
              </a:prstGeom>
              <a:noFill/>
              <a:ln w="9525" cap="flat" cmpd="sng">
                <a:noFill/>
                <a:prstDash val="solid"/>
                <a:round/>
              </a:ln>
            </p:spPr>
          </p:pic>
          <p:sp>
            <p:nvSpPr>
              <p:cNvPr id="112" name="矩形"/>
              <p:cNvSpPr/>
              <p:nvPr/>
            </p:nvSpPr>
            <p:spPr>
              <a:xfrm>
                <a:off x="3405" y="6374"/>
                <a:ext cx="582" cy="3535"/>
              </a:xfrm>
              <a:prstGeom prst="rect">
                <a:avLst/>
              </a:prstGeom>
              <a:solidFill>
                <a:schemeClr val="bg1"/>
              </a:solidFill>
              <a:ln w="9525" cap="flat" cmpd="sng">
                <a:solidFill>
                  <a:srgbClr val="C00000"/>
                </a:solidFill>
                <a:prstDash val="solid"/>
                <a:round/>
              </a:ln>
            </p:spPr>
            <p:txBody>
              <a:bodyPr vert="eaVert" wrap="square" lIns="91433" tIns="45717" rIns="91433" bIns="45717" anchor="t" anchorCtr="0">
                <a:spAutoFit/>
              </a:bodyPr>
              <a:lstStyle/>
              <a:p>
                <a:pPr algn="ctr"/>
                <a:r>
                  <a:rPr lang="en-US" altLang="zh-CN" sz="1200" b="1">
                    <a:solidFill>
                      <a:srgbClr val="000000"/>
                    </a:solidFill>
                    <a:latin typeface="微软雅黑" panose="020B0503020204020204" pitchFamily="34" charset="-122"/>
                    <a:ea typeface="微软雅黑" panose="020B0503020204020204" pitchFamily="34" charset="-122"/>
                    <a:cs typeface="Calibri" panose="020F0502020204030204" charset="0"/>
                  </a:rPr>
                  <a:t>21  </a:t>
                </a:r>
                <a:r>
                  <a:rPr lang="zh-CN" altLang="en-US" sz="1200" b="1">
                    <a:solidFill>
                      <a:srgbClr val="000000"/>
                    </a:solidFill>
                    <a:latin typeface="微软雅黑" panose="020B0503020204020204" pitchFamily="34" charset="-122"/>
                    <a:ea typeface="微软雅黑" panose="020B0503020204020204" pitchFamily="34" charset="-122"/>
                    <a:cs typeface="Calibri" panose="020F0502020204030204" charset="0"/>
                  </a:rPr>
                  <a:t>黄  金  校  网</a:t>
                </a:r>
                <a:endParaRPr lang="zh-CN" altLang="en-US" sz="12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grpSp>
        <p:grpSp>
          <p:nvGrpSpPr>
            <p:cNvPr id="2" name="组合 1"/>
            <p:cNvGrpSpPr/>
            <p:nvPr/>
          </p:nvGrpSpPr>
          <p:grpSpPr>
            <a:xfrm>
              <a:off x="9851" y="2773"/>
              <a:ext cx="4213" cy="3446"/>
              <a:chOff x="11624" y="6357"/>
              <a:chExt cx="4213" cy="3552"/>
            </a:xfrm>
          </p:grpSpPr>
          <p:pic>
            <p:nvPicPr>
              <p:cNvPr id="109" name="图片"/>
              <p:cNvPicPr>
                <a:picLocks noChangeAspect="1"/>
              </p:cNvPicPr>
              <p:nvPr/>
            </p:nvPicPr>
            <p:blipFill>
              <a:blip r:embed="rId3" cstate="print"/>
              <a:stretch>
                <a:fillRect/>
              </a:stretch>
            </p:blipFill>
            <p:spPr>
              <a:xfrm>
                <a:off x="12175" y="6361"/>
                <a:ext cx="3662" cy="3548"/>
              </a:xfrm>
              <a:prstGeom prst="rect">
                <a:avLst/>
              </a:prstGeom>
              <a:noFill/>
              <a:ln w="9525" cap="flat" cmpd="sng">
                <a:noFill/>
                <a:prstDash val="solid"/>
                <a:miter/>
              </a:ln>
            </p:spPr>
          </p:pic>
          <p:sp>
            <p:nvSpPr>
              <p:cNvPr id="118" name="矩形"/>
              <p:cNvSpPr/>
              <p:nvPr/>
            </p:nvSpPr>
            <p:spPr>
              <a:xfrm>
                <a:off x="11624" y="6357"/>
                <a:ext cx="552" cy="3548"/>
              </a:xfrm>
              <a:prstGeom prst="rect">
                <a:avLst/>
              </a:prstGeom>
              <a:solidFill>
                <a:schemeClr val="bg1"/>
              </a:solidFill>
              <a:ln w="9525" cap="flat" cmpd="sng">
                <a:solidFill>
                  <a:srgbClr val="C00000"/>
                </a:solidFill>
                <a:prstDash val="solid"/>
                <a:round/>
              </a:ln>
            </p:spPr>
            <p:txBody>
              <a:bodyPr vert="eaVert" wrap="square" lIns="91433" tIns="45717" rIns="91433" bIns="45717" anchor="t" anchorCtr="0">
                <a:spAutoFit/>
              </a:bodyPr>
              <a:lstStyle/>
              <a:p>
                <a:pPr algn="ctr"/>
                <a:r>
                  <a:rPr lang="zh-CN" altLang="en-US" sz="1100" b="1">
                    <a:solidFill>
                      <a:srgbClr val="000000"/>
                    </a:solidFill>
                    <a:latin typeface="微软雅黑" panose="020B0503020204020204" pitchFamily="34" charset="-122"/>
                    <a:ea typeface="微软雅黑" panose="020B0503020204020204" pitchFamily="34" charset="-122"/>
                    <a:cs typeface="Calibri" panose="020F0502020204030204" charset="0"/>
                  </a:rPr>
                  <a:t>外 滩 七 公 里 沿 河 商 业</a:t>
                </a:r>
                <a:endParaRPr lang="zh-CN" altLang="en-US" sz="11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grpSp>
        <p:grpSp>
          <p:nvGrpSpPr>
            <p:cNvPr id="4" name="组合 3"/>
            <p:cNvGrpSpPr/>
            <p:nvPr/>
          </p:nvGrpSpPr>
          <p:grpSpPr>
            <a:xfrm>
              <a:off x="14064" y="6233"/>
              <a:ext cx="4256" cy="3553"/>
              <a:chOff x="7418" y="6356"/>
              <a:chExt cx="4256" cy="3553"/>
            </a:xfrm>
          </p:grpSpPr>
          <p:sp>
            <p:nvSpPr>
              <p:cNvPr id="117" name="矩形"/>
              <p:cNvSpPr/>
              <p:nvPr/>
            </p:nvSpPr>
            <p:spPr>
              <a:xfrm>
                <a:off x="7418" y="6361"/>
                <a:ext cx="576" cy="3548"/>
              </a:xfrm>
              <a:prstGeom prst="rect">
                <a:avLst/>
              </a:prstGeom>
              <a:solidFill>
                <a:schemeClr val="bg1"/>
              </a:solidFill>
              <a:ln w="9525" cap="flat" cmpd="sng">
                <a:solidFill>
                  <a:srgbClr val="C00000"/>
                </a:solidFill>
                <a:prstDash val="solid"/>
                <a:round/>
              </a:ln>
            </p:spPr>
            <p:txBody>
              <a:bodyPr vert="eaVert" wrap="square" lIns="91433" tIns="45717" rIns="91433" bIns="45717" anchor="t" anchorCtr="0">
                <a:spAutoFit/>
              </a:bodyPr>
              <a:lstStyle/>
              <a:p>
                <a:pPr algn="ctr"/>
                <a:r>
                  <a:rPr lang="zh-CN" altLang="en-US" sz="1200" b="1">
                    <a:solidFill>
                      <a:srgbClr val="000000"/>
                    </a:solidFill>
                    <a:latin typeface="微软雅黑" panose="020B0503020204020204" pitchFamily="34" charset="-122"/>
                    <a:ea typeface="微软雅黑" panose="020B0503020204020204" pitchFamily="34" charset="-122"/>
                    <a:cs typeface="Calibri" panose="020F0502020204030204" charset="0"/>
                  </a:rPr>
                  <a:t>中轴线文化带</a:t>
                </a:r>
                <a:endParaRPr lang="zh-CN" altLang="en-US" sz="1200" b="1">
                  <a:solidFill>
                    <a:srgbClr val="000000"/>
                  </a:solidFill>
                  <a:latin typeface="微软雅黑" panose="020B0503020204020204" pitchFamily="34" charset="-122"/>
                  <a:ea typeface="微软雅黑" panose="020B0503020204020204" pitchFamily="34" charset="-122"/>
                  <a:cs typeface="Calibri" panose="020F0502020204030204" charset="0"/>
                </a:endParaRPr>
              </a:p>
            </p:txBody>
          </p:sp>
          <p:pic>
            <p:nvPicPr>
              <p:cNvPr id="119" name="图片" descr="E:\AA中天城投\未来方舟的干活\F2\F2产品推介\F2效果图20141029\001.jpg"/>
              <p:cNvPicPr>
                <a:picLocks noChangeAspect="1"/>
              </p:cNvPicPr>
              <p:nvPr/>
            </p:nvPicPr>
            <p:blipFill>
              <a:blip r:embed="rId4" cstate="print"/>
              <a:srcRect l="18314" t="15732"/>
              <a:stretch>
                <a:fillRect/>
              </a:stretch>
            </p:blipFill>
            <p:spPr>
              <a:xfrm>
                <a:off x="8012" y="6356"/>
                <a:ext cx="3662" cy="3550"/>
              </a:xfrm>
              <a:prstGeom prst="rect">
                <a:avLst/>
              </a:prstGeom>
              <a:noFill/>
              <a:ln w="9525" cap="flat" cmpd="sng">
                <a:noFill/>
                <a:prstDash val="solid"/>
                <a:miter/>
              </a:ln>
            </p:spPr>
          </p:pic>
        </p:grpSp>
      </p:grpSp>
      <p:sp>
        <p:nvSpPr>
          <p:cNvPr id="121" name="文本框"/>
          <p:cNvSpPr>
            <a:spLocks noGrp="1"/>
          </p:cNvSpPr>
          <p:nvPr>
            <p:ph type="sldNum" idx="4294967295"/>
          </p:nvPr>
        </p:nvSpPr>
        <p:spPr>
          <a:xfrm>
            <a:off x="8077200" y="6520260"/>
            <a:ext cx="2133600" cy="365125"/>
          </a:xfrm>
          <a:prstGeom prst="rect">
            <a:avLst/>
          </a:prstGeom>
          <a:noFill/>
          <a:ln w="9525" cap="flat" cmpd="sng">
            <a:noFill/>
            <a:prstDash val="solid"/>
            <a:miter/>
          </a:ln>
        </p:spPr>
        <p:txBody>
          <a:bodyPr vert="horz" wrap="none" lIns="91440" tIns="45720" rIns="91440" bIns="45720" rtlCol="0" anchor="t" anchorCtr="0"/>
          <a:lstStyle/>
          <a:p>
            <a:pPr algn="r"/>
            <a:fld id="{CAD2D6BD-DE1B-4B5F-8B41-2702339687B9}" type="slidenum">
              <a:rPr lang="en-US" altLang="zh-CN" sz="1400">
                <a:solidFill>
                  <a:srgbClr val="898989"/>
                </a:solidFill>
                <a:latin typeface="微软雅黑" panose="020B0503020204020204" pitchFamily="34" charset="-122"/>
                <a:ea typeface="微软雅黑" panose="020B0503020204020204" pitchFamily="34" charset="-122"/>
                <a:cs typeface="Calibri" panose="020F0502020204030204" charset="0"/>
              </a:rPr>
            </a:fld>
            <a:endParaRPr lang="zh-CN" altLang="en-US" sz="1400">
              <a:solidFill>
                <a:srgbClr val="898989"/>
              </a:solidFill>
              <a:latin typeface="微软雅黑" panose="020B0503020204020204" pitchFamily="34" charset="-122"/>
              <a:ea typeface="微软雅黑" panose="020B0503020204020204" pitchFamily="34" charset="-122"/>
              <a:cs typeface="Calibri" panose="020F0502020204030204" charset="0"/>
            </a:endParaRPr>
          </a:p>
        </p:txBody>
      </p:sp>
      <p:sp>
        <p:nvSpPr>
          <p:cNvPr id="53" name="矩形"/>
          <p:cNvSpPr/>
          <p:nvPr/>
        </p:nvSpPr>
        <p:spPr bwMode="auto">
          <a:xfrm>
            <a:off x="877570" y="704850"/>
            <a:ext cx="3718560" cy="521970"/>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91440" tIns="45720" rIns="91440" bIns="45720" anchor="t" anchorCtr="0">
            <a:spAutoFit/>
          </a:bodyPr>
          <a:lstStyle/>
          <a:p>
            <a:pPr lvl="0" algn="l" fontAlgn="base">
              <a:buClrTx/>
              <a:buSzTx/>
              <a:buFontTx/>
            </a:pPr>
            <a:r>
              <a:rPr lang="en-US" altLang="zh-CN" sz="2800" b="1" dirty="0">
                <a:solidFill>
                  <a:prstClr val="black"/>
                </a:solidFill>
                <a:latin typeface="微软雅黑" panose="020B0503020204020204" pitchFamily="34" charset="-122"/>
                <a:ea typeface="微软雅黑" panose="020B0503020204020204" pitchFamily="34" charset="-122"/>
                <a:sym typeface="+mn-ea"/>
              </a:rPr>
              <a:t> 项目核心文化元素 </a:t>
            </a:r>
            <a:endParaRPr lang="en-US" altLang="zh-CN" sz="2800" b="1" dirty="0">
              <a:solidFill>
                <a:prstClr val="black"/>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7054C4FD-7E9E-A448-98D3-6D4D6A94B966}" type="slidenum">
              <a:rPr kumimoji="1" lang="zh-CN" altLang="en-US" smtClean="0"/>
            </a:fld>
            <a:endParaRPr kumimoji="1" lang="zh-CN" altLang="en-US"/>
          </a:p>
        </p:txBody>
      </p:sp>
      <p:grpSp>
        <p:nvGrpSpPr>
          <p:cNvPr id="3" name="组合 2"/>
          <p:cNvGrpSpPr/>
          <p:nvPr/>
        </p:nvGrpSpPr>
        <p:grpSpPr>
          <a:xfrm>
            <a:off x="87630" y="666116"/>
            <a:ext cx="11318875" cy="5470525"/>
            <a:chOff x="-98353" y="528860"/>
            <a:chExt cx="9483653" cy="4469185"/>
          </a:xfrm>
        </p:grpSpPr>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rcRect t="65239" b="9759"/>
            <a:stretch>
              <a:fillRect/>
            </a:stretch>
          </p:blipFill>
          <p:spPr bwMode="auto">
            <a:xfrm>
              <a:off x="118188" y="3860387"/>
              <a:ext cx="8989918" cy="1137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MH_Other_1"/>
            <p:cNvSpPr/>
            <p:nvPr>
              <p:custDataLst>
                <p:tags r:id="rId2"/>
              </p:custDataLst>
            </p:nvPr>
          </p:nvSpPr>
          <p:spPr>
            <a:xfrm rot="16200000">
              <a:off x="2864833" y="-1630377"/>
              <a:ext cx="3414342" cy="9144001"/>
            </a:xfrm>
            <a:prstGeom prst="rect">
              <a:avLst/>
            </a:prstGeom>
            <a:gradFill>
              <a:gsLst>
                <a:gs pos="82414">
                  <a:srgbClr val="838182"/>
                </a:gs>
                <a:gs pos="20393">
                  <a:srgbClr val="838182"/>
                </a:gs>
                <a:gs pos="0">
                  <a:schemeClr val="bg1">
                    <a:alpha val="0"/>
                  </a:schemeClr>
                </a:gs>
                <a:gs pos="12000">
                  <a:srgbClr val="979596">
                    <a:alpha val="70000"/>
                  </a:srgbClr>
                </a:gs>
                <a:gs pos="89000">
                  <a:srgbClr val="979596">
                    <a:alpha val="70000"/>
                  </a:srgb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prstClr val="white"/>
                </a:solidFill>
              </a:endParaRPr>
            </a:p>
          </p:txBody>
        </p:sp>
        <p:sp>
          <p:nvSpPr>
            <p:cNvPr id="29" name="MH_Picture_1"/>
            <p:cNvSpPr/>
            <p:nvPr>
              <p:custDataLst>
                <p:tags r:id="rId3"/>
              </p:custDataLst>
            </p:nvPr>
          </p:nvSpPr>
          <p:spPr>
            <a:xfrm>
              <a:off x="-4763" y="1382159"/>
              <a:ext cx="2305051" cy="3356133"/>
            </a:xfrm>
            <a:custGeom>
              <a:avLst/>
              <a:gdLst>
                <a:gd name="connsiteX0" fmla="*/ 12039 w 2299544"/>
                <a:gd name="connsiteY0" fmla="*/ 0 h 4091715"/>
                <a:gd name="connsiteX1" fmla="*/ 2287503 w 2299544"/>
                <a:gd name="connsiteY1" fmla="*/ 506276 h 4091715"/>
                <a:gd name="connsiteX2" fmla="*/ 2299544 w 2299544"/>
                <a:gd name="connsiteY2" fmla="*/ 3626936 h 4091715"/>
                <a:gd name="connsiteX3" fmla="*/ 0 w 2299544"/>
                <a:gd name="connsiteY3" fmla="*/ 4091715 h 4091715"/>
                <a:gd name="connsiteX0-1" fmla="*/ 881 w 2303626"/>
                <a:gd name="connsiteY0-2" fmla="*/ 0 h 4091715"/>
                <a:gd name="connsiteX1-3" fmla="*/ 2291585 w 2303626"/>
                <a:gd name="connsiteY1-4" fmla="*/ 506276 h 4091715"/>
                <a:gd name="connsiteX2-5" fmla="*/ 2303626 w 2303626"/>
                <a:gd name="connsiteY2-6" fmla="*/ 3626936 h 4091715"/>
                <a:gd name="connsiteX3-7" fmla="*/ 4082 w 2303626"/>
                <a:gd name="connsiteY3-8" fmla="*/ 4091715 h 4091715"/>
                <a:gd name="connsiteX4" fmla="*/ 881 w 2303626"/>
                <a:gd name="connsiteY4" fmla="*/ 0 h 4091715"/>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2303626" h="4091715">
                  <a:moveTo>
                    <a:pt x="881" y="0"/>
                  </a:moveTo>
                  <a:lnTo>
                    <a:pt x="2291585" y="506276"/>
                  </a:lnTo>
                  <a:cubicBezTo>
                    <a:pt x="2295599" y="1546496"/>
                    <a:pt x="2299612" y="2586716"/>
                    <a:pt x="2303626" y="3626936"/>
                  </a:cubicBezTo>
                  <a:lnTo>
                    <a:pt x="4082" y="4091715"/>
                  </a:lnTo>
                  <a:cubicBezTo>
                    <a:pt x="8095" y="2727810"/>
                    <a:pt x="-3132" y="1363905"/>
                    <a:pt x="881" y="0"/>
                  </a:cubicBezTo>
                  <a:close/>
                </a:path>
              </a:pathLst>
            </a:custGeom>
            <a:blipFill dpi="0" rotWithShape="1">
              <a:blip r:embed="rId4"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prstClr val="white"/>
                </a:solidFill>
              </a:endParaRPr>
            </a:p>
          </p:txBody>
        </p:sp>
        <p:sp>
          <p:nvSpPr>
            <p:cNvPr id="30" name="MH_Picture_2"/>
            <p:cNvSpPr/>
            <p:nvPr>
              <p:custDataLst>
                <p:tags r:id="rId5"/>
              </p:custDataLst>
            </p:nvPr>
          </p:nvSpPr>
          <p:spPr>
            <a:xfrm>
              <a:off x="2266950" y="1377872"/>
              <a:ext cx="2317750" cy="3360420"/>
            </a:xfrm>
            <a:custGeom>
              <a:avLst/>
              <a:gdLst>
                <a:gd name="connsiteX0" fmla="*/ 2300172 w 2318543"/>
                <a:gd name="connsiteY0" fmla="*/ 0 h 4096081"/>
                <a:gd name="connsiteX1" fmla="*/ 2318543 w 2318543"/>
                <a:gd name="connsiteY1" fmla="*/ 4096081 h 4096081"/>
                <a:gd name="connsiteX2" fmla="*/ 0 w 2318543"/>
                <a:gd name="connsiteY2" fmla="*/ 3631302 h 4096081"/>
                <a:gd name="connsiteX3" fmla="*/ 12040 w 2318543"/>
                <a:gd name="connsiteY3" fmla="*/ 510643 h 4096081"/>
              </a:gdLst>
              <a:ahLst/>
              <a:cxnLst>
                <a:cxn ang="0">
                  <a:pos x="connsiteX0" y="connsiteY0"/>
                </a:cxn>
                <a:cxn ang="0">
                  <a:pos x="connsiteX1" y="connsiteY1"/>
                </a:cxn>
                <a:cxn ang="0">
                  <a:pos x="connsiteX2" y="connsiteY2"/>
                </a:cxn>
                <a:cxn ang="0">
                  <a:pos x="connsiteX3" y="connsiteY3"/>
                </a:cxn>
              </a:cxnLst>
              <a:rect l="l" t="t" r="r" b="b"/>
              <a:pathLst>
                <a:path w="2318543" h="4096081">
                  <a:moveTo>
                    <a:pt x="2300172" y="0"/>
                  </a:moveTo>
                  <a:lnTo>
                    <a:pt x="2318543" y="4096081"/>
                  </a:lnTo>
                  <a:lnTo>
                    <a:pt x="0" y="3631302"/>
                  </a:lnTo>
                  <a:lnTo>
                    <a:pt x="12040" y="510643"/>
                  </a:lnTo>
                  <a:close/>
                </a:path>
              </a:pathLst>
            </a:custGeom>
            <a:blipFill dpi="0" rotWithShape="1">
              <a:blip r:embed="rId6"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prstClr val="white"/>
                </a:solidFill>
              </a:endParaRPr>
            </a:p>
          </p:txBody>
        </p:sp>
        <p:sp>
          <p:nvSpPr>
            <p:cNvPr id="31" name="MH_Picture_3"/>
            <p:cNvSpPr/>
            <p:nvPr>
              <p:custDataLst>
                <p:tags r:id="rId7"/>
              </p:custDataLst>
            </p:nvPr>
          </p:nvSpPr>
          <p:spPr>
            <a:xfrm>
              <a:off x="4551367" y="1377872"/>
              <a:ext cx="2325687" cy="3360420"/>
            </a:xfrm>
            <a:custGeom>
              <a:avLst/>
              <a:gdLst>
                <a:gd name="connsiteX0" fmla="*/ 0 w 2325505"/>
                <a:gd name="connsiteY0" fmla="*/ 0 h 4096081"/>
                <a:gd name="connsiteX1" fmla="*/ 2313465 w 2325505"/>
                <a:gd name="connsiteY1" fmla="*/ 510643 h 4096081"/>
                <a:gd name="connsiteX2" fmla="*/ 2325505 w 2325505"/>
                <a:gd name="connsiteY2" fmla="*/ 3631302 h 4096081"/>
                <a:gd name="connsiteX3" fmla="*/ 25961 w 2325505"/>
                <a:gd name="connsiteY3" fmla="*/ 4096081 h 4096081"/>
              </a:gdLst>
              <a:ahLst/>
              <a:cxnLst>
                <a:cxn ang="0">
                  <a:pos x="connsiteX0" y="connsiteY0"/>
                </a:cxn>
                <a:cxn ang="0">
                  <a:pos x="connsiteX1" y="connsiteY1"/>
                </a:cxn>
                <a:cxn ang="0">
                  <a:pos x="connsiteX2" y="connsiteY2"/>
                </a:cxn>
                <a:cxn ang="0">
                  <a:pos x="connsiteX3" y="connsiteY3"/>
                </a:cxn>
              </a:cxnLst>
              <a:rect l="l" t="t" r="r" b="b"/>
              <a:pathLst>
                <a:path w="2325505" h="4096081">
                  <a:moveTo>
                    <a:pt x="0" y="0"/>
                  </a:moveTo>
                  <a:lnTo>
                    <a:pt x="2313465" y="510643"/>
                  </a:lnTo>
                  <a:lnTo>
                    <a:pt x="2325505" y="3631302"/>
                  </a:lnTo>
                  <a:lnTo>
                    <a:pt x="25961" y="4096081"/>
                  </a:lnTo>
                  <a:close/>
                </a:path>
              </a:pathLst>
            </a:custGeom>
            <a:blipFill dpi="0" rotWithShape="1">
              <a:blip r:embed="rId8"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prstClr val="white"/>
                </a:solidFill>
              </a:endParaRPr>
            </a:p>
          </p:txBody>
        </p:sp>
        <p:sp>
          <p:nvSpPr>
            <p:cNvPr id="32" name="MH_Picture_4"/>
            <p:cNvSpPr/>
            <p:nvPr>
              <p:custDataLst>
                <p:tags r:id="rId9"/>
              </p:custDataLst>
            </p:nvPr>
          </p:nvSpPr>
          <p:spPr>
            <a:xfrm>
              <a:off x="6843713" y="1387874"/>
              <a:ext cx="2303462" cy="3350418"/>
            </a:xfrm>
            <a:custGeom>
              <a:avLst/>
              <a:gdLst>
                <a:gd name="connsiteX0" fmla="*/ 2287505 w 2299545"/>
                <a:gd name="connsiteY0" fmla="*/ 0 h 4091715"/>
                <a:gd name="connsiteX1" fmla="*/ 2299545 w 2299545"/>
                <a:gd name="connsiteY1" fmla="*/ 4091715 h 4091715"/>
                <a:gd name="connsiteX2" fmla="*/ 0 w 2299545"/>
                <a:gd name="connsiteY2" fmla="*/ 3626936 h 4091715"/>
                <a:gd name="connsiteX3" fmla="*/ 12040 w 2299545"/>
                <a:gd name="connsiteY3" fmla="*/ 506277 h 4091715"/>
                <a:gd name="connsiteX0-1" fmla="*/ 2302745 w 2302745"/>
                <a:gd name="connsiteY0-2" fmla="*/ 0 h 4084095"/>
                <a:gd name="connsiteX1-3" fmla="*/ 2299545 w 2302745"/>
                <a:gd name="connsiteY1-4" fmla="*/ 4084095 h 4084095"/>
                <a:gd name="connsiteX2-5" fmla="*/ 0 w 2302745"/>
                <a:gd name="connsiteY2-6" fmla="*/ 3619316 h 4084095"/>
                <a:gd name="connsiteX3-7" fmla="*/ 12040 w 2302745"/>
                <a:gd name="connsiteY3-8" fmla="*/ 498657 h 4084095"/>
                <a:gd name="connsiteX4" fmla="*/ 2302745 w 2302745"/>
                <a:gd name="connsiteY4" fmla="*/ 0 h 4084095"/>
              </a:gdLst>
              <a:ahLst/>
              <a:cxnLst>
                <a:cxn ang="0">
                  <a:pos x="connsiteX0-1" y="connsiteY0-2"/>
                </a:cxn>
                <a:cxn ang="0">
                  <a:pos x="connsiteX1-3" y="connsiteY1-4"/>
                </a:cxn>
                <a:cxn ang="0">
                  <a:pos x="connsiteX2-5" y="connsiteY2-6"/>
                </a:cxn>
                <a:cxn ang="0">
                  <a:pos x="connsiteX3-7" y="connsiteY3-8"/>
                </a:cxn>
                <a:cxn ang="0">
                  <a:pos x="connsiteX4" y="connsiteY4"/>
                </a:cxn>
              </a:cxnLst>
              <a:rect l="l" t="t" r="r" b="b"/>
              <a:pathLst>
                <a:path w="2302745" h="4084095">
                  <a:moveTo>
                    <a:pt x="2302745" y="0"/>
                  </a:moveTo>
                  <a:cubicBezTo>
                    <a:pt x="2301678" y="1361365"/>
                    <a:pt x="2300612" y="2722730"/>
                    <a:pt x="2299545" y="4084095"/>
                  </a:cubicBezTo>
                  <a:lnTo>
                    <a:pt x="0" y="3619316"/>
                  </a:lnTo>
                  <a:cubicBezTo>
                    <a:pt x="4013" y="2579096"/>
                    <a:pt x="8027" y="1538877"/>
                    <a:pt x="12040" y="498657"/>
                  </a:cubicBezTo>
                  <a:lnTo>
                    <a:pt x="2302745" y="0"/>
                  </a:lnTo>
                  <a:close/>
                </a:path>
              </a:pathLst>
            </a:custGeom>
            <a:blipFill dpi="0" rotWithShape="1">
              <a:blip r:embed="rId10"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a:solidFill>
                  <a:prstClr val="white"/>
                </a:solidFill>
              </a:endParaRPr>
            </a:p>
          </p:txBody>
        </p:sp>
        <p:sp>
          <p:nvSpPr>
            <p:cNvPr id="10249" name="矩形 3"/>
            <p:cNvSpPr>
              <a:spLocks noChangeArrowheads="1"/>
            </p:cNvSpPr>
            <p:nvPr/>
          </p:nvSpPr>
          <p:spPr bwMode="auto">
            <a:xfrm rot="21148896">
              <a:off x="262472" y="4650357"/>
              <a:ext cx="1483245" cy="22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zh-CN" altLang="en-US" sz="1200">
                  <a:solidFill>
                    <a:prstClr val="black"/>
                  </a:solidFill>
                  <a:latin typeface="微软雅黑" panose="020B0503020204020204" pitchFamily="34" charset="-122"/>
                  <a:ea typeface="微软雅黑" panose="020B0503020204020204" pitchFamily="34" charset="-122"/>
                </a:rPr>
                <a:t>贵阳世界贸易中心</a:t>
              </a:r>
              <a:endParaRPr lang="zh-CN" altLang="en-US" sz="1200">
                <a:solidFill>
                  <a:prstClr val="black"/>
                </a:solidFill>
                <a:latin typeface="微软雅黑" panose="020B0503020204020204" pitchFamily="34" charset="-122"/>
                <a:ea typeface="微软雅黑" panose="020B0503020204020204" pitchFamily="34" charset="-122"/>
              </a:endParaRPr>
            </a:p>
          </p:txBody>
        </p:sp>
        <p:sp>
          <p:nvSpPr>
            <p:cNvPr id="10250" name="矩形 4"/>
            <p:cNvSpPr>
              <a:spLocks noChangeArrowheads="1"/>
            </p:cNvSpPr>
            <p:nvPr/>
          </p:nvSpPr>
          <p:spPr bwMode="auto">
            <a:xfrm rot="742686">
              <a:off x="3006653" y="4596066"/>
              <a:ext cx="838356" cy="22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zh-CN" altLang="en-US" sz="1200">
                  <a:solidFill>
                    <a:prstClr val="black"/>
                  </a:solidFill>
                  <a:latin typeface="微软雅黑" panose="020B0503020204020204" pitchFamily="34" charset="-122"/>
                  <a:ea typeface="微软雅黑" panose="020B0503020204020204" pitchFamily="34" charset="-122"/>
                </a:rPr>
                <a:t>东懋中心</a:t>
              </a:r>
              <a:endParaRPr lang="zh-CN" altLang="en-US" sz="1200">
                <a:solidFill>
                  <a:prstClr val="black"/>
                </a:solidFill>
                <a:latin typeface="微软雅黑" panose="020B0503020204020204" pitchFamily="34" charset="-122"/>
                <a:ea typeface="微软雅黑" panose="020B0503020204020204" pitchFamily="34" charset="-122"/>
              </a:endParaRPr>
            </a:p>
          </p:txBody>
        </p:sp>
        <p:sp>
          <p:nvSpPr>
            <p:cNvPr id="10251" name="TextBox 12"/>
            <p:cNvSpPr txBox="1">
              <a:spLocks noChangeArrowheads="1"/>
            </p:cNvSpPr>
            <p:nvPr/>
          </p:nvSpPr>
          <p:spPr bwMode="auto">
            <a:xfrm rot="20751560">
              <a:off x="5457825" y="4417471"/>
              <a:ext cx="1841500" cy="22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base" hangingPunct="1">
                <a:spcBef>
                  <a:spcPct val="0"/>
                </a:spcBef>
                <a:spcAft>
                  <a:spcPct val="0"/>
                </a:spcAft>
              </a:pPr>
              <a:r>
                <a:rPr lang="en-US" altLang="zh-CN" sz="1200">
                  <a:solidFill>
                    <a:prstClr val="black"/>
                  </a:solidFill>
                  <a:latin typeface="微软雅黑" panose="020B0503020204020204" pitchFamily="34" charset="-122"/>
                  <a:ea typeface="微软雅黑" panose="020B0503020204020204" pitchFamily="34" charset="-122"/>
                </a:rPr>
                <a:t>C1</a:t>
              </a:r>
              <a:r>
                <a:rPr lang="zh-CN" altLang="en-US" sz="1200">
                  <a:solidFill>
                    <a:prstClr val="black"/>
                  </a:solidFill>
                  <a:latin typeface="微软雅黑" panose="020B0503020204020204" pitchFamily="34" charset="-122"/>
                  <a:ea typeface="微软雅黑" panose="020B0503020204020204" pitchFamily="34" charset="-122"/>
                </a:rPr>
                <a:t>环球谷</a:t>
              </a:r>
              <a:endParaRPr lang="zh-CN" altLang="en-US" sz="1200">
                <a:solidFill>
                  <a:prstClr val="black"/>
                </a:solidFill>
                <a:latin typeface="微软雅黑" panose="020B0503020204020204" pitchFamily="34" charset="-122"/>
                <a:ea typeface="微软雅黑" panose="020B0503020204020204" pitchFamily="34" charset="-122"/>
              </a:endParaRPr>
            </a:p>
          </p:txBody>
        </p:sp>
        <p:sp>
          <p:nvSpPr>
            <p:cNvPr id="10252" name="TextBox 13"/>
            <p:cNvSpPr txBox="1">
              <a:spLocks noChangeArrowheads="1"/>
            </p:cNvSpPr>
            <p:nvPr/>
          </p:nvSpPr>
          <p:spPr bwMode="auto">
            <a:xfrm rot="560616">
              <a:off x="7543800" y="4674646"/>
              <a:ext cx="1841500" cy="22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base" hangingPunct="1">
                <a:spcBef>
                  <a:spcPct val="0"/>
                </a:spcBef>
                <a:spcAft>
                  <a:spcPct val="0"/>
                </a:spcAft>
              </a:pPr>
              <a:r>
                <a:rPr lang="zh-CN" altLang="en-US" sz="1200">
                  <a:solidFill>
                    <a:prstClr val="black"/>
                  </a:solidFill>
                  <a:latin typeface="微软雅黑" panose="020B0503020204020204" pitchFamily="34" charset="-122"/>
                  <a:ea typeface="微软雅黑" panose="020B0503020204020204" pitchFamily="34" charset="-122"/>
                </a:rPr>
                <a:t>小竹笋</a:t>
              </a:r>
              <a:endParaRPr lang="zh-CN" altLang="en-US" sz="1200">
                <a:solidFill>
                  <a:prstClr val="black"/>
                </a:solidFill>
                <a:latin typeface="微软雅黑" panose="020B0503020204020204" pitchFamily="34" charset="-122"/>
                <a:ea typeface="微软雅黑" panose="020B0503020204020204" pitchFamily="34" charset="-122"/>
              </a:endParaRPr>
            </a:p>
          </p:txBody>
        </p:sp>
        <p:sp>
          <p:nvSpPr>
            <p:cNvPr id="26" name="矩形 15"/>
            <p:cNvSpPr>
              <a:spLocks noChangeArrowheads="1"/>
            </p:cNvSpPr>
            <p:nvPr/>
          </p:nvSpPr>
          <p:spPr bwMode="auto">
            <a:xfrm>
              <a:off x="25" y="528860"/>
              <a:ext cx="3071756" cy="4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en-US" altLang="zh-CN" sz="2800" b="1" dirty="0">
                  <a:solidFill>
                    <a:prstClr val="black"/>
                  </a:solidFill>
                  <a:latin typeface="微软雅黑" panose="020B0503020204020204" pitchFamily="34" charset="-122"/>
                  <a:ea typeface="微软雅黑" panose="020B0503020204020204" pitchFamily="34" charset="-122"/>
                </a:rPr>
                <a:t>ICC</a:t>
              </a:r>
              <a:r>
                <a:rPr lang="zh-CN" altLang="en-US" sz="2800" b="1" dirty="0">
                  <a:solidFill>
                    <a:prstClr val="black"/>
                  </a:solidFill>
                  <a:latin typeface="微软雅黑" panose="020B0503020204020204" pitchFamily="34" charset="-122"/>
                  <a:ea typeface="微软雅黑" panose="020B0503020204020204" pitchFamily="34" charset="-122"/>
                </a:rPr>
                <a:t>亚太产业集群</a:t>
              </a:r>
              <a:endParaRPr lang="zh-CN" altLang="en-US" sz="2800" b="1" dirty="0">
                <a:solidFill>
                  <a:prstClr val="black"/>
                </a:solidFill>
                <a:latin typeface="微软雅黑" panose="020B0503020204020204" pitchFamily="34" charset="-122"/>
                <a:ea typeface="微软雅黑" panose="020B0503020204020204" pitchFamily="34" charset="-122"/>
              </a:endParaRPr>
            </a:p>
          </p:txBody>
        </p:sp>
        <p:sp>
          <p:nvSpPr>
            <p:cNvPr id="27" name="TextBox 17"/>
            <p:cNvSpPr txBox="1">
              <a:spLocks noChangeArrowheads="1"/>
            </p:cNvSpPr>
            <p:nvPr/>
          </p:nvSpPr>
          <p:spPr bwMode="auto">
            <a:xfrm>
              <a:off x="-98353" y="1022850"/>
              <a:ext cx="3090190" cy="25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charset="0"/>
                  <a:ea typeface="宋体" panose="02010600030101010101" pitchFamily="2" charset="-122"/>
                </a:defRPr>
              </a:lvl1pPr>
              <a:lvl2pPr marL="742950" indent="-285750" eaLnBrk="0" hangingPunct="0">
                <a:defRPr>
                  <a:solidFill>
                    <a:schemeClr val="tx1"/>
                  </a:solidFill>
                  <a:latin typeface="Calibri" panose="020F0502020204030204" charset="0"/>
                  <a:ea typeface="宋体" panose="02010600030101010101" pitchFamily="2" charset="-122"/>
                </a:defRPr>
              </a:lvl2pPr>
              <a:lvl3pPr marL="1143000" indent="-228600" eaLnBrk="0" hangingPunct="0">
                <a:defRPr>
                  <a:solidFill>
                    <a:schemeClr val="tx1"/>
                  </a:solidFill>
                  <a:latin typeface="Calibri" panose="020F0502020204030204" charset="0"/>
                  <a:ea typeface="宋体" panose="02010600030101010101" pitchFamily="2" charset="-122"/>
                </a:defRPr>
              </a:lvl3pPr>
              <a:lvl4pPr marL="1600200" indent="-228600" eaLnBrk="0" hangingPunct="0">
                <a:defRPr>
                  <a:solidFill>
                    <a:schemeClr val="tx1"/>
                  </a:solidFill>
                  <a:latin typeface="Calibri" panose="020F0502020204030204" charset="0"/>
                  <a:ea typeface="宋体" panose="02010600030101010101" pitchFamily="2" charset="-122"/>
                </a:defRPr>
              </a:lvl4pPr>
              <a:lvl5pPr marL="2057400" indent="-228600" eaLnBrk="0" hangingPunct="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eaLnBrk="1" fontAlgn="base" hangingPunct="1">
                <a:spcBef>
                  <a:spcPct val="0"/>
                </a:spcBef>
                <a:spcAft>
                  <a:spcPct val="0"/>
                </a:spcAft>
              </a:pPr>
              <a:r>
                <a:rPr lang="en-US" altLang="zh-CN" sz="1400" dirty="0">
                  <a:solidFill>
                    <a:prstClr val="black"/>
                  </a:solidFill>
                </a:rPr>
                <a:t>INDUSTRIAL  CLUSTER  CENTER</a:t>
              </a:r>
              <a:endParaRPr lang="zh-CN" altLang="en-US" sz="1400" dirty="0">
                <a:solidFill>
                  <a:prstClr val="black"/>
                </a:solidFill>
              </a:endParaRPr>
            </a:p>
          </p:txBody>
        </p:sp>
        <p:grpSp>
          <p:nvGrpSpPr>
            <p:cNvPr id="4" name="组合 8"/>
            <p:cNvGrpSpPr/>
            <p:nvPr/>
          </p:nvGrpSpPr>
          <p:grpSpPr bwMode="auto">
            <a:xfrm>
              <a:off x="3525807" y="738298"/>
              <a:ext cx="5582489" cy="534859"/>
              <a:chOff x="87317" y="1764789"/>
              <a:chExt cx="4484516" cy="872690"/>
            </a:xfrm>
          </p:grpSpPr>
          <p:sp>
            <p:nvSpPr>
              <p:cNvPr id="33" name="矩形 2"/>
              <p:cNvSpPr>
                <a:spLocks noChangeArrowheads="1"/>
              </p:cNvSpPr>
              <p:nvPr/>
            </p:nvSpPr>
            <p:spPr bwMode="auto">
              <a:xfrm>
                <a:off x="92341" y="1828287"/>
                <a:ext cx="4479492" cy="69577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spcBef>
                    <a:spcPct val="0"/>
                  </a:spcBef>
                  <a:spcAft>
                    <a:spcPct val="0"/>
                  </a:spcAft>
                </a:pPr>
                <a:r>
                  <a:rPr lang="zh-CN" altLang="en-US" sz="1400" dirty="0">
                    <a:solidFill>
                      <a:prstClr val="black"/>
                    </a:solidFill>
                    <a:latin typeface="微软雅黑" panose="020B0503020204020204" pitchFamily="34" charset="-122"/>
                    <a:ea typeface="微软雅黑" panose="020B0503020204020204" pitchFamily="34" charset="-122"/>
                  </a:rPr>
                  <a:t>贵阳世界贸易中心领衔、聚集东懋中心、环球谷等门户地标，中天</a:t>
                </a:r>
                <a:r>
                  <a:rPr lang="en-US" altLang="zh-CN" sz="1400" dirty="0">
                    <a:solidFill>
                      <a:prstClr val="black"/>
                    </a:solidFill>
                    <a:latin typeface="微软雅黑" panose="020B0503020204020204" pitchFamily="34" charset="-122"/>
                    <a:ea typeface="微软雅黑" panose="020B0503020204020204" pitchFamily="34" charset="-122"/>
                  </a:rPr>
                  <a:t>·</a:t>
                </a:r>
                <a:r>
                  <a:rPr lang="zh-CN" altLang="en-US" sz="1400" dirty="0">
                    <a:solidFill>
                      <a:prstClr val="black"/>
                    </a:solidFill>
                    <a:latin typeface="微软雅黑" panose="020B0503020204020204" pitchFamily="34" charset="-122"/>
                    <a:ea typeface="微软雅黑" panose="020B0503020204020204" pitchFamily="34" charset="-122"/>
                  </a:rPr>
                  <a:t>未来方舟倾力打造</a:t>
                </a:r>
                <a:r>
                  <a:rPr lang="en-US" altLang="zh-CN" sz="1400" dirty="0">
                    <a:solidFill>
                      <a:prstClr val="black"/>
                    </a:solidFill>
                    <a:latin typeface="微软雅黑" panose="020B0503020204020204" pitchFamily="34" charset="-122"/>
                    <a:ea typeface="微软雅黑" panose="020B0503020204020204" pitchFamily="34" charset="-122"/>
                  </a:rPr>
                  <a:t>130</a:t>
                </a:r>
                <a:r>
                  <a:rPr lang="zh-CN" altLang="en-US" sz="1400" dirty="0">
                    <a:solidFill>
                      <a:prstClr val="black"/>
                    </a:solidFill>
                    <a:latin typeface="微软雅黑" panose="020B0503020204020204" pitchFamily="34" charset="-122"/>
                    <a:ea typeface="微软雅黑" panose="020B0503020204020204" pitchFamily="34" charset="-122"/>
                  </a:rPr>
                  <a:t>万㎡</a:t>
                </a:r>
                <a:r>
                  <a:rPr lang="en-US" altLang="zh-CN" sz="1400" dirty="0">
                    <a:solidFill>
                      <a:prstClr val="black"/>
                    </a:solidFill>
                    <a:latin typeface="微软雅黑" panose="020B0503020204020204" pitchFamily="34" charset="-122"/>
                    <a:ea typeface="微软雅黑" panose="020B0503020204020204" pitchFamily="34" charset="-122"/>
                  </a:rPr>
                  <a:t>ICC</a:t>
                </a:r>
                <a:r>
                  <a:rPr lang="zh-CN" altLang="en-US" sz="1400" dirty="0">
                    <a:solidFill>
                      <a:prstClr val="black"/>
                    </a:solidFill>
                    <a:latin typeface="微软雅黑" panose="020B0503020204020204" pitchFamily="34" charset="-122"/>
                    <a:ea typeface="微软雅黑" panose="020B0503020204020204" pitchFamily="34" charset="-122"/>
                  </a:rPr>
                  <a:t>亚太产业集群。</a:t>
                </a:r>
                <a:endParaRPr lang="zh-CN" altLang="en-US" sz="1400" dirty="0">
                  <a:solidFill>
                    <a:prstClr val="black"/>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87317" y="1764789"/>
                <a:ext cx="4471982" cy="118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92334" y="2575689"/>
                <a:ext cx="4461322" cy="61790"/>
              </a:xfrm>
              <a:prstGeom prst="line">
                <a:avLst/>
              </a:prstGeom>
              <a:ln w="38100"/>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05455" y="2577465"/>
            <a:ext cx="6181090" cy="1056005"/>
            <a:chOff x="4923" y="4059"/>
            <a:chExt cx="9734" cy="1663"/>
          </a:xfrm>
        </p:grpSpPr>
        <p:cxnSp>
          <p:nvCxnSpPr>
            <p:cNvPr id="4" name="直线连接符 3"/>
            <p:cNvCxnSpPr/>
            <p:nvPr/>
          </p:nvCxnSpPr>
          <p:spPr>
            <a:xfrm>
              <a:off x="5180" y="4059"/>
              <a:ext cx="922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直线连接符 9"/>
            <p:cNvCxnSpPr/>
            <p:nvPr/>
          </p:nvCxnSpPr>
          <p:spPr>
            <a:xfrm>
              <a:off x="5180" y="5722"/>
              <a:ext cx="9222"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文本框 4"/>
            <p:cNvSpPr txBox="1"/>
            <p:nvPr/>
          </p:nvSpPr>
          <p:spPr>
            <a:xfrm>
              <a:off x="4923" y="4433"/>
              <a:ext cx="9735" cy="914"/>
            </a:xfrm>
            <a:prstGeom prst="rect">
              <a:avLst/>
            </a:prstGeom>
            <a:noFill/>
          </p:spPr>
          <p:txBody>
            <a:bodyPr wrap="none" lIns="102399" tIns="51200" rIns="102399" bIns="51200" rtlCol="0">
              <a:spAutoFit/>
            </a:bodyPr>
            <a:lstStyle/>
            <a:p>
              <a:pPr algn="ctr"/>
              <a:r>
                <a:rPr lang="en-US" altLang="zh-CN" sz="3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PART 2 F3</a:t>
              </a:r>
              <a:r>
                <a:rPr lang="zh-CN" altLang="en-US" sz="3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组团公寓产品推荐资料</a:t>
              </a:r>
              <a:endParaRPr lang="en-US" altLang="zh-CN" sz="31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9" name="灯片编号占位符 8"/>
          <p:cNvSpPr>
            <a:spLocks noGrp="1"/>
          </p:cNvSpPr>
          <p:nvPr>
            <p:ph type="sldNum" sz="quarter" idx="12"/>
          </p:nvPr>
        </p:nvSpPr>
        <p:spPr/>
        <p:txBody>
          <a:bodyPr/>
          <a:lstStyle/>
          <a:p>
            <a:fld id="{129C2DCA-83EE-478A-B4BC-4758F8972C60}"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a:spLocks noChangeArrowheads="1"/>
          </p:cNvSpPr>
          <p:nvPr/>
        </p:nvSpPr>
        <p:spPr bwMode="auto">
          <a:xfrm>
            <a:off x="3640" y="7667"/>
            <a:ext cx="3120563"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组团城市交通线路</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nvPr>
        </p:nvSpPr>
        <p:spPr>
          <a:xfrm>
            <a:off x="8506425" y="6356352"/>
            <a:ext cx="2743200" cy="365125"/>
          </a:xfrm>
        </p:spPr>
        <p:txBody>
          <a:bodyPr/>
          <a:lstStyle/>
          <a:p>
            <a:fld id="{7054C4FD-7E9E-A448-98D3-6D4D6A94B966}" type="slidenum">
              <a:rPr kumimoji="1" lang="zh-CN" altLang="en-US" smtClean="0"/>
            </a:fld>
            <a:endParaRPr kumimoji="1" lang="zh-CN" altLang="en-US"/>
          </a:p>
        </p:txBody>
      </p:sp>
      <p:grpSp>
        <p:nvGrpSpPr>
          <p:cNvPr id="4" name="组合 3"/>
          <p:cNvGrpSpPr/>
          <p:nvPr/>
        </p:nvGrpSpPr>
        <p:grpSpPr>
          <a:xfrm>
            <a:off x="286385" y="633730"/>
            <a:ext cx="9533255" cy="5883275"/>
            <a:chOff x="451" y="469"/>
            <a:chExt cx="15013" cy="10331"/>
          </a:xfrm>
        </p:grpSpPr>
        <p:pic>
          <p:nvPicPr>
            <p:cNvPr id="6" name="图片 5"/>
            <p:cNvPicPr>
              <a:picLocks noChangeAspect="1"/>
            </p:cNvPicPr>
            <p:nvPr/>
          </p:nvPicPr>
          <p:blipFill>
            <a:blip r:embed="rId1" cstate="print"/>
            <a:srcRect t="4343" r="4229"/>
            <a:stretch>
              <a:fillRect/>
            </a:stretch>
          </p:blipFill>
          <p:spPr>
            <a:xfrm>
              <a:off x="3229" y="469"/>
              <a:ext cx="11888" cy="10331"/>
            </a:xfrm>
            <a:prstGeom prst="rect">
              <a:avLst/>
            </a:prstGeom>
          </p:spPr>
        </p:pic>
        <p:sp>
          <p:nvSpPr>
            <p:cNvPr id="22" name="TextBox 17"/>
            <p:cNvSpPr txBox="1">
              <a:spLocks noChangeArrowheads="1"/>
            </p:cNvSpPr>
            <p:nvPr/>
          </p:nvSpPr>
          <p:spPr bwMode="auto">
            <a:xfrm>
              <a:off x="451" y="5608"/>
              <a:ext cx="2832" cy="86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北京东路</a:t>
              </a:r>
              <a:endParaRPr lang="zh-CN" altLang="en-US" b="1" dirty="0">
                <a:solidFill>
                  <a:srgbClr val="FFFFFF"/>
                </a:solidFill>
                <a:latin typeface="微软雅黑" panose="020B0503020204020204" pitchFamily="34" charset="-122"/>
              </a:endParaRPr>
            </a:p>
          </p:txBody>
        </p:sp>
        <p:sp>
          <p:nvSpPr>
            <p:cNvPr id="23" name="TextBox 19"/>
            <p:cNvSpPr txBox="1">
              <a:spLocks noChangeArrowheads="1"/>
            </p:cNvSpPr>
            <p:nvPr/>
          </p:nvSpPr>
          <p:spPr bwMode="auto">
            <a:xfrm>
              <a:off x="9220" y="2634"/>
              <a:ext cx="1918" cy="86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水东路</a:t>
              </a:r>
              <a:endParaRPr lang="zh-CN" altLang="en-US" b="1" dirty="0">
                <a:solidFill>
                  <a:srgbClr val="FFFFFF"/>
                </a:solidFill>
                <a:latin typeface="微软雅黑" panose="020B0503020204020204" pitchFamily="34" charset="-122"/>
              </a:endParaRPr>
            </a:p>
          </p:txBody>
        </p:sp>
        <p:sp>
          <p:nvSpPr>
            <p:cNvPr id="25" name="TextBox 24"/>
            <p:cNvSpPr txBox="1">
              <a:spLocks noChangeArrowheads="1"/>
            </p:cNvSpPr>
            <p:nvPr/>
          </p:nvSpPr>
          <p:spPr bwMode="auto">
            <a:xfrm>
              <a:off x="1118" y="9319"/>
              <a:ext cx="2297" cy="86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东山路</a:t>
              </a:r>
              <a:endParaRPr lang="zh-CN" altLang="en-US" b="1" dirty="0">
                <a:solidFill>
                  <a:srgbClr val="FFFFFF"/>
                </a:solidFill>
                <a:latin typeface="微软雅黑" panose="020B0503020204020204" pitchFamily="34" charset="-122"/>
              </a:endParaRPr>
            </a:p>
          </p:txBody>
        </p:sp>
        <p:sp>
          <p:nvSpPr>
            <p:cNvPr id="26" name="TextBox 25"/>
            <p:cNvSpPr txBox="1">
              <a:spLocks noChangeArrowheads="1"/>
            </p:cNvSpPr>
            <p:nvPr/>
          </p:nvSpPr>
          <p:spPr bwMode="auto">
            <a:xfrm>
              <a:off x="1005" y="7217"/>
              <a:ext cx="2408" cy="1509"/>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algn="ct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延安东路支线</a:t>
              </a:r>
              <a:endParaRPr lang="zh-CN" altLang="en-US" b="1" dirty="0">
                <a:solidFill>
                  <a:srgbClr val="FFFFFF"/>
                </a:solidFill>
                <a:latin typeface="微软雅黑" panose="020B0503020204020204" pitchFamily="34" charset="-122"/>
              </a:endParaRPr>
            </a:p>
          </p:txBody>
        </p:sp>
        <p:sp>
          <p:nvSpPr>
            <p:cNvPr id="27" name="TextBox 26"/>
            <p:cNvSpPr txBox="1">
              <a:spLocks noChangeArrowheads="1"/>
            </p:cNvSpPr>
            <p:nvPr/>
          </p:nvSpPr>
          <p:spPr bwMode="auto">
            <a:xfrm>
              <a:off x="3757" y="1859"/>
              <a:ext cx="2168" cy="86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中环路</a:t>
              </a:r>
              <a:endParaRPr lang="zh-CN" altLang="en-US" b="1" dirty="0">
                <a:solidFill>
                  <a:srgbClr val="FFFFFF"/>
                </a:solidFill>
                <a:latin typeface="微软雅黑" panose="020B0503020204020204" pitchFamily="34" charset="-122"/>
              </a:endParaRPr>
            </a:p>
          </p:txBody>
        </p:sp>
        <p:sp>
          <p:nvSpPr>
            <p:cNvPr id="28" name="TextBox 17"/>
            <p:cNvSpPr txBox="1">
              <a:spLocks noChangeArrowheads="1"/>
            </p:cNvSpPr>
            <p:nvPr/>
          </p:nvSpPr>
          <p:spPr bwMode="auto">
            <a:xfrm>
              <a:off x="12950" y="8931"/>
              <a:ext cx="2514" cy="860"/>
            </a:xfrm>
            <a:prstGeom prst="rect">
              <a:avLst/>
            </a:prstGeom>
            <a:gradFill rotWithShape="1">
              <a:gsLst>
                <a:gs pos="0">
                  <a:srgbClr val="2C5D98"/>
                </a:gs>
                <a:gs pos="80000">
                  <a:srgbClr val="3C7BC7"/>
                </a:gs>
                <a:gs pos="100000">
                  <a:srgbClr val="3A7CCB"/>
                </a:gs>
              </a:gsLst>
              <a:lin ang="5400000"/>
            </a:gradFill>
            <a:ln>
              <a:noFill/>
            </a:ln>
            <a:effectLst>
              <a:outerShdw dist="23000" dir="5400000" algn="ctr" rotWithShape="0">
                <a:srgbClr val="000000">
                  <a:alpha val="34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lIns="121841" tIns="60924" rIns="121841" bIns="6092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spcBef>
                  <a:spcPct val="0"/>
                </a:spcBef>
                <a:buFont typeface="Arial" panose="020B0604020202020204" pitchFamily="34" charset="0"/>
                <a:buNone/>
              </a:pPr>
              <a:r>
                <a:rPr lang="zh-CN" altLang="en-US" b="1" dirty="0">
                  <a:solidFill>
                    <a:srgbClr val="FFFFFF"/>
                  </a:solidFill>
                  <a:latin typeface="微软雅黑" panose="020B0503020204020204" pitchFamily="34" charset="-122"/>
                </a:rPr>
                <a:t>北京东路</a:t>
              </a:r>
              <a:endParaRPr lang="zh-CN" altLang="en-US" b="1" dirty="0">
                <a:solidFill>
                  <a:srgbClr val="FFFFFF"/>
                </a:solidFill>
                <a:latin typeface="微软雅黑" panose="020B0503020204020204" pitchFamily="34" charset="-122"/>
              </a:endParaRPr>
            </a:p>
          </p:txBody>
        </p:sp>
        <p:sp>
          <p:nvSpPr>
            <p:cNvPr id="19" name="任意多边形 18"/>
            <p:cNvSpPr/>
            <p:nvPr/>
          </p:nvSpPr>
          <p:spPr>
            <a:xfrm>
              <a:off x="5926" y="2627"/>
              <a:ext cx="3450" cy="3056"/>
            </a:xfrm>
            <a:custGeom>
              <a:avLst/>
              <a:gdLst>
                <a:gd name="connsiteX0" fmla="*/ 2762250 w 2825065"/>
                <a:gd name="connsiteY0" fmla="*/ 0 h 2254250"/>
                <a:gd name="connsiteX1" fmla="*/ 2819400 w 2825065"/>
                <a:gd name="connsiteY1" fmla="*/ 152400 h 2254250"/>
                <a:gd name="connsiteX2" fmla="*/ 2819400 w 2825065"/>
                <a:gd name="connsiteY2" fmla="*/ 298450 h 2254250"/>
                <a:gd name="connsiteX3" fmla="*/ 2787650 w 2825065"/>
                <a:gd name="connsiteY3" fmla="*/ 393700 h 2254250"/>
                <a:gd name="connsiteX4" fmla="*/ 2660650 w 2825065"/>
                <a:gd name="connsiteY4" fmla="*/ 469900 h 2254250"/>
                <a:gd name="connsiteX5" fmla="*/ 2432050 w 2825065"/>
                <a:gd name="connsiteY5" fmla="*/ 425450 h 2254250"/>
                <a:gd name="connsiteX6" fmla="*/ 2241550 w 2825065"/>
                <a:gd name="connsiteY6" fmla="*/ 368300 h 2254250"/>
                <a:gd name="connsiteX7" fmla="*/ 2120900 w 2825065"/>
                <a:gd name="connsiteY7" fmla="*/ 374650 h 2254250"/>
                <a:gd name="connsiteX8" fmla="*/ 2012950 w 2825065"/>
                <a:gd name="connsiteY8" fmla="*/ 457200 h 2254250"/>
                <a:gd name="connsiteX9" fmla="*/ 1917700 w 2825065"/>
                <a:gd name="connsiteY9" fmla="*/ 603250 h 2254250"/>
                <a:gd name="connsiteX10" fmla="*/ 1816100 w 2825065"/>
                <a:gd name="connsiteY10" fmla="*/ 711200 h 2254250"/>
                <a:gd name="connsiteX11" fmla="*/ 1295400 w 2825065"/>
                <a:gd name="connsiteY11" fmla="*/ 711200 h 2254250"/>
                <a:gd name="connsiteX12" fmla="*/ 1231900 w 2825065"/>
                <a:gd name="connsiteY12" fmla="*/ 717550 h 2254250"/>
                <a:gd name="connsiteX13" fmla="*/ 831850 w 2825065"/>
                <a:gd name="connsiteY13" fmla="*/ 641350 h 2254250"/>
                <a:gd name="connsiteX14" fmla="*/ 742950 w 2825065"/>
                <a:gd name="connsiteY14" fmla="*/ 596900 h 2254250"/>
                <a:gd name="connsiteX15" fmla="*/ 704850 w 2825065"/>
                <a:gd name="connsiteY15" fmla="*/ 685800 h 2254250"/>
                <a:gd name="connsiteX16" fmla="*/ 685800 w 2825065"/>
                <a:gd name="connsiteY16" fmla="*/ 971550 h 2254250"/>
                <a:gd name="connsiteX17" fmla="*/ 781050 w 2825065"/>
                <a:gd name="connsiteY17" fmla="*/ 1231900 h 2254250"/>
                <a:gd name="connsiteX18" fmla="*/ 819150 w 2825065"/>
                <a:gd name="connsiteY18" fmla="*/ 1409700 h 2254250"/>
                <a:gd name="connsiteX19" fmla="*/ 800100 w 2825065"/>
                <a:gd name="connsiteY19" fmla="*/ 1466850 h 2254250"/>
                <a:gd name="connsiteX20" fmla="*/ 749300 w 2825065"/>
                <a:gd name="connsiteY20" fmla="*/ 1524000 h 2254250"/>
                <a:gd name="connsiteX21" fmla="*/ 615950 w 2825065"/>
                <a:gd name="connsiteY21" fmla="*/ 1524000 h 2254250"/>
                <a:gd name="connsiteX22" fmla="*/ 463550 w 2825065"/>
                <a:gd name="connsiteY22" fmla="*/ 1530350 h 2254250"/>
                <a:gd name="connsiteX23" fmla="*/ 279400 w 2825065"/>
                <a:gd name="connsiteY23" fmla="*/ 1631950 h 2254250"/>
                <a:gd name="connsiteX24" fmla="*/ 114300 w 2825065"/>
                <a:gd name="connsiteY24" fmla="*/ 1879600 h 2254250"/>
                <a:gd name="connsiteX25" fmla="*/ 0 w 2825065"/>
                <a:gd name="connsiteY25" fmla="*/ 2254250 h 2254250"/>
                <a:gd name="connsiteX0-1" fmla="*/ 2762250 w 2825065"/>
                <a:gd name="connsiteY0-2" fmla="*/ 0 h 2254250"/>
                <a:gd name="connsiteX1-3" fmla="*/ 2819400 w 2825065"/>
                <a:gd name="connsiteY1-4" fmla="*/ 152400 h 2254250"/>
                <a:gd name="connsiteX2-5" fmla="*/ 2819400 w 2825065"/>
                <a:gd name="connsiteY2-6" fmla="*/ 298450 h 2254250"/>
                <a:gd name="connsiteX3-7" fmla="*/ 2787650 w 2825065"/>
                <a:gd name="connsiteY3-8" fmla="*/ 393700 h 2254250"/>
                <a:gd name="connsiteX4-9" fmla="*/ 2660650 w 2825065"/>
                <a:gd name="connsiteY4-10" fmla="*/ 469900 h 2254250"/>
                <a:gd name="connsiteX5-11" fmla="*/ 2432050 w 2825065"/>
                <a:gd name="connsiteY5-12" fmla="*/ 425450 h 2254250"/>
                <a:gd name="connsiteX6-13" fmla="*/ 2241550 w 2825065"/>
                <a:gd name="connsiteY6-14" fmla="*/ 368300 h 2254250"/>
                <a:gd name="connsiteX7-15" fmla="*/ 2120900 w 2825065"/>
                <a:gd name="connsiteY7-16" fmla="*/ 374650 h 2254250"/>
                <a:gd name="connsiteX8-17" fmla="*/ 2012950 w 2825065"/>
                <a:gd name="connsiteY8-18" fmla="*/ 457200 h 2254250"/>
                <a:gd name="connsiteX9-19" fmla="*/ 1917700 w 2825065"/>
                <a:gd name="connsiteY9-20" fmla="*/ 603250 h 2254250"/>
                <a:gd name="connsiteX10-21" fmla="*/ 1816100 w 2825065"/>
                <a:gd name="connsiteY10-22" fmla="*/ 711200 h 2254250"/>
                <a:gd name="connsiteX11-23" fmla="*/ 1295400 w 2825065"/>
                <a:gd name="connsiteY11-24" fmla="*/ 711200 h 2254250"/>
                <a:gd name="connsiteX12-25" fmla="*/ 1231900 w 2825065"/>
                <a:gd name="connsiteY12-26" fmla="*/ 717550 h 2254250"/>
                <a:gd name="connsiteX13-27" fmla="*/ 831850 w 2825065"/>
                <a:gd name="connsiteY13-28" fmla="*/ 641350 h 2254250"/>
                <a:gd name="connsiteX14-29" fmla="*/ 742950 w 2825065"/>
                <a:gd name="connsiteY14-30" fmla="*/ 596900 h 2254250"/>
                <a:gd name="connsiteX15-31" fmla="*/ 704850 w 2825065"/>
                <a:gd name="connsiteY15-32" fmla="*/ 685800 h 2254250"/>
                <a:gd name="connsiteX16-33" fmla="*/ 735330 w 2825065"/>
                <a:gd name="connsiteY16-34" fmla="*/ 948690 h 2254250"/>
                <a:gd name="connsiteX17-35" fmla="*/ 781050 w 2825065"/>
                <a:gd name="connsiteY17-36" fmla="*/ 1231900 h 2254250"/>
                <a:gd name="connsiteX18-37" fmla="*/ 819150 w 2825065"/>
                <a:gd name="connsiteY18-38" fmla="*/ 1409700 h 2254250"/>
                <a:gd name="connsiteX19-39" fmla="*/ 800100 w 2825065"/>
                <a:gd name="connsiteY19-40" fmla="*/ 1466850 h 2254250"/>
                <a:gd name="connsiteX20-41" fmla="*/ 749300 w 2825065"/>
                <a:gd name="connsiteY20-42" fmla="*/ 1524000 h 2254250"/>
                <a:gd name="connsiteX21-43" fmla="*/ 615950 w 2825065"/>
                <a:gd name="connsiteY21-44" fmla="*/ 1524000 h 2254250"/>
                <a:gd name="connsiteX22-45" fmla="*/ 463550 w 2825065"/>
                <a:gd name="connsiteY22-46" fmla="*/ 1530350 h 2254250"/>
                <a:gd name="connsiteX23-47" fmla="*/ 279400 w 2825065"/>
                <a:gd name="connsiteY23-48" fmla="*/ 1631950 h 2254250"/>
                <a:gd name="connsiteX24-49" fmla="*/ 114300 w 2825065"/>
                <a:gd name="connsiteY24-50" fmla="*/ 1879600 h 2254250"/>
                <a:gd name="connsiteX25-51" fmla="*/ 0 w 2825065"/>
                <a:gd name="connsiteY25-52" fmla="*/ 2254250 h 2254250"/>
                <a:gd name="connsiteX0-53" fmla="*/ 2762250 w 2825065"/>
                <a:gd name="connsiteY0-54" fmla="*/ 0 h 2254250"/>
                <a:gd name="connsiteX1-55" fmla="*/ 2819400 w 2825065"/>
                <a:gd name="connsiteY1-56" fmla="*/ 152400 h 2254250"/>
                <a:gd name="connsiteX2-57" fmla="*/ 2819400 w 2825065"/>
                <a:gd name="connsiteY2-58" fmla="*/ 298450 h 2254250"/>
                <a:gd name="connsiteX3-59" fmla="*/ 2787650 w 2825065"/>
                <a:gd name="connsiteY3-60" fmla="*/ 393700 h 2254250"/>
                <a:gd name="connsiteX4-61" fmla="*/ 2660650 w 2825065"/>
                <a:gd name="connsiteY4-62" fmla="*/ 469900 h 2254250"/>
                <a:gd name="connsiteX5-63" fmla="*/ 2432050 w 2825065"/>
                <a:gd name="connsiteY5-64" fmla="*/ 425450 h 2254250"/>
                <a:gd name="connsiteX6-65" fmla="*/ 2241550 w 2825065"/>
                <a:gd name="connsiteY6-66" fmla="*/ 368300 h 2254250"/>
                <a:gd name="connsiteX7-67" fmla="*/ 2120900 w 2825065"/>
                <a:gd name="connsiteY7-68" fmla="*/ 374650 h 2254250"/>
                <a:gd name="connsiteX8-69" fmla="*/ 2012950 w 2825065"/>
                <a:gd name="connsiteY8-70" fmla="*/ 457200 h 2254250"/>
                <a:gd name="connsiteX9-71" fmla="*/ 1917700 w 2825065"/>
                <a:gd name="connsiteY9-72" fmla="*/ 603250 h 2254250"/>
                <a:gd name="connsiteX10-73" fmla="*/ 1816100 w 2825065"/>
                <a:gd name="connsiteY10-74" fmla="*/ 711200 h 2254250"/>
                <a:gd name="connsiteX11-75" fmla="*/ 1295400 w 2825065"/>
                <a:gd name="connsiteY11-76" fmla="*/ 711200 h 2254250"/>
                <a:gd name="connsiteX12-77" fmla="*/ 1239520 w 2825065"/>
                <a:gd name="connsiteY12-78" fmla="*/ 687070 h 2254250"/>
                <a:gd name="connsiteX13-79" fmla="*/ 831850 w 2825065"/>
                <a:gd name="connsiteY13-80" fmla="*/ 641350 h 2254250"/>
                <a:gd name="connsiteX14-81" fmla="*/ 742950 w 2825065"/>
                <a:gd name="connsiteY14-82" fmla="*/ 596900 h 2254250"/>
                <a:gd name="connsiteX15-83" fmla="*/ 704850 w 2825065"/>
                <a:gd name="connsiteY15-84" fmla="*/ 685800 h 2254250"/>
                <a:gd name="connsiteX16-85" fmla="*/ 735330 w 2825065"/>
                <a:gd name="connsiteY16-86" fmla="*/ 948690 h 2254250"/>
                <a:gd name="connsiteX17-87" fmla="*/ 781050 w 2825065"/>
                <a:gd name="connsiteY17-88" fmla="*/ 1231900 h 2254250"/>
                <a:gd name="connsiteX18-89" fmla="*/ 819150 w 2825065"/>
                <a:gd name="connsiteY18-90" fmla="*/ 1409700 h 2254250"/>
                <a:gd name="connsiteX19-91" fmla="*/ 800100 w 2825065"/>
                <a:gd name="connsiteY19-92" fmla="*/ 1466850 h 2254250"/>
                <a:gd name="connsiteX20-93" fmla="*/ 749300 w 2825065"/>
                <a:gd name="connsiteY20-94" fmla="*/ 1524000 h 2254250"/>
                <a:gd name="connsiteX21-95" fmla="*/ 615950 w 2825065"/>
                <a:gd name="connsiteY21-96" fmla="*/ 1524000 h 2254250"/>
                <a:gd name="connsiteX22-97" fmla="*/ 463550 w 2825065"/>
                <a:gd name="connsiteY22-98" fmla="*/ 1530350 h 2254250"/>
                <a:gd name="connsiteX23-99" fmla="*/ 279400 w 2825065"/>
                <a:gd name="connsiteY23-100" fmla="*/ 1631950 h 2254250"/>
                <a:gd name="connsiteX24-101" fmla="*/ 114300 w 2825065"/>
                <a:gd name="connsiteY24-102" fmla="*/ 1879600 h 2254250"/>
                <a:gd name="connsiteX25-103" fmla="*/ 0 w 2825065"/>
                <a:gd name="connsiteY25-104" fmla="*/ 2254250 h 2254250"/>
                <a:gd name="connsiteX0-105" fmla="*/ 2762250 w 2825065"/>
                <a:gd name="connsiteY0-106" fmla="*/ 0 h 2254250"/>
                <a:gd name="connsiteX1-107" fmla="*/ 2819400 w 2825065"/>
                <a:gd name="connsiteY1-108" fmla="*/ 152400 h 2254250"/>
                <a:gd name="connsiteX2-109" fmla="*/ 2819400 w 2825065"/>
                <a:gd name="connsiteY2-110" fmla="*/ 298450 h 2254250"/>
                <a:gd name="connsiteX3-111" fmla="*/ 2787650 w 2825065"/>
                <a:gd name="connsiteY3-112" fmla="*/ 393700 h 2254250"/>
                <a:gd name="connsiteX4-113" fmla="*/ 2660650 w 2825065"/>
                <a:gd name="connsiteY4-114" fmla="*/ 469900 h 2254250"/>
                <a:gd name="connsiteX5-115" fmla="*/ 2432050 w 2825065"/>
                <a:gd name="connsiteY5-116" fmla="*/ 425450 h 2254250"/>
                <a:gd name="connsiteX6-117" fmla="*/ 2241550 w 2825065"/>
                <a:gd name="connsiteY6-118" fmla="*/ 368300 h 2254250"/>
                <a:gd name="connsiteX7-119" fmla="*/ 2120900 w 2825065"/>
                <a:gd name="connsiteY7-120" fmla="*/ 374650 h 2254250"/>
                <a:gd name="connsiteX8-121" fmla="*/ 2012950 w 2825065"/>
                <a:gd name="connsiteY8-122" fmla="*/ 457200 h 2254250"/>
                <a:gd name="connsiteX9-123" fmla="*/ 1917700 w 2825065"/>
                <a:gd name="connsiteY9-124" fmla="*/ 603250 h 2254250"/>
                <a:gd name="connsiteX10-125" fmla="*/ 1816100 w 2825065"/>
                <a:gd name="connsiteY10-126" fmla="*/ 711200 h 2254250"/>
                <a:gd name="connsiteX11-127" fmla="*/ 1360170 w 2825065"/>
                <a:gd name="connsiteY11-128" fmla="*/ 680720 h 2254250"/>
                <a:gd name="connsiteX12-129" fmla="*/ 1239520 w 2825065"/>
                <a:gd name="connsiteY12-130" fmla="*/ 687070 h 2254250"/>
                <a:gd name="connsiteX13-131" fmla="*/ 831850 w 2825065"/>
                <a:gd name="connsiteY13-132" fmla="*/ 641350 h 2254250"/>
                <a:gd name="connsiteX14-133" fmla="*/ 742950 w 2825065"/>
                <a:gd name="connsiteY14-134" fmla="*/ 596900 h 2254250"/>
                <a:gd name="connsiteX15-135" fmla="*/ 704850 w 2825065"/>
                <a:gd name="connsiteY15-136" fmla="*/ 685800 h 2254250"/>
                <a:gd name="connsiteX16-137" fmla="*/ 735330 w 2825065"/>
                <a:gd name="connsiteY16-138" fmla="*/ 948690 h 2254250"/>
                <a:gd name="connsiteX17-139" fmla="*/ 781050 w 2825065"/>
                <a:gd name="connsiteY17-140" fmla="*/ 1231900 h 2254250"/>
                <a:gd name="connsiteX18-141" fmla="*/ 819150 w 2825065"/>
                <a:gd name="connsiteY18-142" fmla="*/ 1409700 h 2254250"/>
                <a:gd name="connsiteX19-143" fmla="*/ 800100 w 2825065"/>
                <a:gd name="connsiteY19-144" fmla="*/ 1466850 h 2254250"/>
                <a:gd name="connsiteX20-145" fmla="*/ 749300 w 2825065"/>
                <a:gd name="connsiteY20-146" fmla="*/ 1524000 h 2254250"/>
                <a:gd name="connsiteX21-147" fmla="*/ 615950 w 2825065"/>
                <a:gd name="connsiteY21-148" fmla="*/ 1524000 h 2254250"/>
                <a:gd name="connsiteX22-149" fmla="*/ 463550 w 2825065"/>
                <a:gd name="connsiteY22-150" fmla="*/ 1530350 h 2254250"/>
                <a:gd name="connsiteX23-151" fmla="*/ 279400 w 2825065"/>
                <a:gd name="connsiteY23-152" fmla="*/ 1631950 h 2254250"/>
                <a:gd name="connsiteX24-153" fmla="*/ 114300 w 2825065"/>
                <a:gd name="connsiteY24-154" fmla="*/ 1879600 h 2254250"/>
                <a:gd name="connsiteX25-155" fmla="*/ 0 w 2825065"/>
                <a:gd name="connsiteY25-156" fmla="*/ 2254250 h 2254250"/>
                <a:gd name="connsiteX0-157" fmla="*/ 2762250 w 2825065"/>
                <a:gd name="connsiteY0-158" fmla="*/ 0 h 2254250"/>
                <a:gd name="connsiteX1-159" fmla="*/ 2819400 w 2825065"/>
                <a:gd name="connsiteY1-160" fmla="*/ 152400 h 2254250"/>
                <a:gd name="connsiteX2-161" fmla="*/ 2819400 w 2825065"/>
                <a:gd name="connsiteY2-162" fmla="*/ 298450 h 2254250"/>
                <a:gd name="connsiteX3-163" fmla="*/ 2787650 w 2825065"/>
                <a:gd name="connsiteY3-164" fmla="*/ 393700 h 2254250"/>
                <a:gd name="connsiteX4-165" fmla="*/ 2660650 w 2825065"/>
                <a:gd name="connsiteY4-166" fmla="*/ 469900 h 2254250"/>
                <a:gd name="connsiteX5-167" fmla="*/ 2432050 w 2825065"/>
                <a:gd name="connsiteY5-168" fmla="*/ 425450 h 2254250"/>
                <a:gd name="connsiteX6-169" fmla="*/ 2241550 w 2825065"/>
                <a:gd name="connsiteY6-170" fmla="*/ 368300 h 2254250"/>
                <a:gd name="connsiteX7-171" fmla="*/ 2120900 w 2825065"/>
                <a:gd name="connsiteY7-172" fmla="*/ 374650 h 2254250"/>
                <a:gd name="connsiteX8-173" fmla="*/ 2012950 w 2825065"/>
                <a:gd name="connsiteY8-174" fmla="*/ 457200 h 2254250"/>
                <a:gd name="connsiteX9-175" fmla="*/ 1917700 w 2825065"/>
                <a:gd name="connsiteY9-176" fmla="*/ 603250 h 2254250"/>
                <a:gd name="connsiteX10-177" fmla="*/ 1579880 w 2825065"/>
                <a:gd name="connsiteY10-178" fmla="*/ 692150 h 2254250"/>
                <a:gd name="connsiteX11-179" fmla="*/ 1360170 w 2825065"/>
                <a:gd name="connsiteY11-180" fmla="*/ 680720 h 2254250"/>
                <a:gd name="connsiteX12-181" fmla="*/ 1239520 w 2825065"/>
                <a:gd name="connsiteY12-182" fmla="*/ 687070 h 2254250"/>
                <a:gd name="connsiteX13-183" fmla="*/ 831850 w 2825065"/>
                <a:gd name="connsiteY13-184" fmla="*/ 641350 h 2254250"/>
                <a:gd name="connsiteX14-185" fmla="*/ 742950 w 2825065"/>
                <a:gd name="connsiteY14-186" fmla="*/ 596900 h 2254250"/>
                <a:gd name="connsiteX15-187" fmla="*/ 704850 w 2825065"/>
                <a:gd name="connsiteY15-188" fmla="*/ 685800 h 2254250"/>
                <a:gd name="connsiteX16-189" fmla="*/ 735330 w 2825065"/>
                <a:gd name="connsiteY16-190" fmla="*/ 948690 h 2254250"/>
                <a:gd name="connsiteX17-191" fmla="*/ 781050 w 2825065"/>
                <a:gd name="connsiteY17-192" fmla="*/ 1231900 h 2254250"/>
                <a:gd name="connsiteX18-193" fmla="*/ 819150 w 2825065"/>
                <a:gd name="connsiteY18-194" fmla="*/ 1409700 h 2254250"/>
                <a:gd name="connsiteX19-195" fmla="*/ 800100 w 2825065"/>
                <a:gd name="connsiteY19-196" fmla="*/ 1466850 h 2254250"/>
                <a:gd name="connsiteX20-197" fmla="*/ 749300 w 2825065"/>
                <a:gd name="connsiteY20-198" fmla="*/ 1524000 h 2254250"/>
                <a:gd name="connsiteX21-199" fmla="*/ 615950 w 2825065"/>
                <a:gd name="connsiteY21-200" fmla="*/ 1524000 h 2254250"/>
                <a:gd name="connsiteX22-201" fmla="*/ 463550 w 2825065"/>
                <a:gd name="connsiteY22-202" fmla="*/ 1530350 h 2254250"/>
                <a:gd name="connsiteX23-203" fmla="*/ 279400 w 2825065"/>
                <a:gd name="connsiteY23-204" fmla="*/ 1631950 h 2254250"/>
                <a:gd name="connsiteX24-205" fmla="*/ 114300 w 2825065"/>
                <a:gd name="connsiteY24-206" fmla="*/ 1879600 h 2254250"/>
                <a:gd name="connsiteX25-207" fmla="*/ 0 w 2825065"/>
                <a:gd name="connsiteY25-208" fmla="*/ 2254250 h 2254250"/>
                <a:gd name="connsiteX0-209" fmla="*/ 2762250 w 2825065"/>
                <a:gd name="connsiteY0-210" fmla="*/ 0 h 2254250"/>
                <a:gd name="connsiteX1-211" fmla="*/ 2819400 w 2825065"/>
                <a:gd name="connsiteY1-212" fmla="*/ 152400 h 2254250"/>
                <a:gd name="connsiteX2-213" fmla="*/ 2819400 w 2825065"/>
                <a:gd name="connsiteY2-214" fmla="*/ 298450 h 2254250"/>
                <a:gd name="connsiteX3-215" fmla="*/ 2787650 w 2825065"/>
                <a:gd name="connsiteY3-216" fmla="*/ 393700 h 2254250"/>
                <a:gd name="connsiteX4-217" fmla="*/ 2660650 w 2825065"/>
                <a:gd name="connsiteY4-218" fmla="*/ 469900 h 2254250"/>
                <a:gd name="connsiteX5-219" fmla="*/ 2432050 w 2825065"/>
                <a:gd name="connsiteY5-220" fmla="*/ 425450 h 2254250"/>
                <a:gd name="connsiteX6-221" fmla="*/ 2241550 w 2825065"/>
                <a:gd name="connsiteY6-222" fmla="*/ 368300 h 2254250"/>
                <a:gd name="connsiteX7-223" fmla="*/ 2120900 w 2825065"/>
                <a:gd name="connsiteY7-224" fmla="*/ 374650 h 2254250"/>
                <a:gd name="connsiteX8-225" fmla="*/ 2012950 w 2825065"/>
                <a:gd name="connsiteY8-226" fmla="*/ 457200 h 2254250"/>
                <a:gd name="connsiteX9-227" fmla="*/ 1677670 w 2825065"/>
                <a:gd name="connsiteY9-228" fmla="*/ 523240 h 2254250"/>
                <a:gd name="connsiteX10-229" fmla="*/ 1579880 w 2825065"/>
                <a:gd name="connsiteY10-230" fmla="*/ 692150 h 2254250"/>
                <a:gd name="connsiteX11-231" fmla="*/ 1360170 w 2825065"/>
                <a:gd name="connsiteY11-232" fmla="*/ 680720 h 2254250"/>
                <a:gd name="connsiteX12-233" fmla="*/ 1239520 w 2825065"/>
                <a:gd name="connsiteY12-234" fmla="*/ 687070 h 2254250"/>
                <a:gd name="connsiteX13-235" fmla="*/ 831850 w 2825065"/>
                <a:gd name="connsiteY13-236" fmla="*/ 641350 h 2254250"/>
                <a:gd name="connsiteX14-237" fmla="*/ 742950 w 2825065"/>
                <a:gd name="connsiteY14-238" fmla="*/ 596900 h 2254250"/>
                <a:gd name="connsiteX15-239" fmla="*/ 704850 w 2825065"/>
                <a:gd name="connsiteY15-240" fmla="*/ 685800 h 2254250"/>
                <a:gd name="connsiteX16-241" fmla="*/ 735330 w 2825065"/>
                <a:gd name="connsiteY16-242" fmla="*/ 948690 h 2254250"/>
                <a:gd name="connsiteX17-243" fmla="*/ 781050 w 2825065"/>
                <a:gd name="connsiteY17-244" fmla="*/ 1231900 h 2254250"/>
                <a:gd name="connsiteX18-245" fmla="*/ 819150 w 2825065"/>
                <a:gd name="connsiteY18-246" fmla="*/ 1409700 h 2254250"/>
                <a:gd name="connsiteX19-247" fmla="*/ 800100 w 2825065"/>
                <a:gd name="connsiteY19-248" fmla="*/ 1466850 h 2254250"/>
                <a:gd name="connsiteX20-249" fmla="*/ 749300 w 2825065"/>
                <a:gd name="connsiteY20-250" fmla="*/ 1524000 h 2254250"/>
                <a:gd name="connsiteX21-251" fmla="*/ 615950 w 2825065"/>
                <a:gd name="connsiteY21-252" fmla="*/ 1524000 h 2254250"/>
                <a:gd name="connsiteX22-253" fmla="*/ 463550 w 2825065"/>
                <a:gd name="connsiteY22-254" fmla="*/ 1530350 h 2254250"/>
                <a:gd name="connsiteX23-255" fmla="*/ 279400 w 2825065"/>
                <a:gd name="connsiteY23-256" fmla="*/ 1631950 h 2254250"/>
                <a:gd name="connsiteX24-257" fmla="*/ 114300 w 2825065"/>
                <a:gd name="connsiteY24-258" fmla="*/ 1879600 h 2254250"/>
                <a:gd name="connsiteX25-259" fmla="*/ 0 w 2825065"/>
                <a:gd name="connsiteY25-260" fmla="*/ 2254250 h 2254250"/>
                <a:gd name="connsiteX0-261" fmla="*/ 2762250 w 2825065"/>
                <a:gd name="connsiteY0-262" fmla="*/ 0 h 2254250"/>
                <a:gd name="connsiteX1-263" fmla="*/ 2819400 w 2825065"/>
                <a:gd name="connsiteY1-264" fmla="*/ 152400 h 2254250"/>
                <a:gd name="connsiteX2-265" fmla="*/ 2819400 w 2825065"/>
                <a:gd name="connsiteY2-266" fmla="*/ 298450 h 2254250"/>
                <a:gd name="connsiteX3-267" fmla="*/ 2787650 w 2825065"/>
                <a:gd name="connsiteY3-268" fmla="*/ 393700 h 2254250"/>
                <a:gd name="connsiteX4-269" fmla="*/ 2660650 w 2825065"/>
                <a:gd name="connsiteY4-270" fmla="*/ 469900 h 2254250"/>
                <a:gd name="connsiteX5-271" fmla="*/ 2432050 w 2825065"/>
                <a:gd name="connsiteY5-272" fmla="*/ 425450 h 2254250"/>
                <a:gd name="connsiteX6-273" fmla="*/ 2241550 w 2825065"/>
                <a:gd name="connsiteY6-274" fmla="*/ 368300 h 2254250"/>
                <a:gd name="connsiteX7-275" fmla="*/ 2120900 w 2825065"/>
                <a:gd name="connsiteY7-276" fmla="*/ 374650 h 2254250"/>
                <a:gd name="connsiteX8-277" fmla="*/ 1784350 w 2825065"/>
                <a:gd name="connsiteY8-278" fmla="*/ 422910 h 2254250"/>
                <a:gd name="connsiteX9-279" fmla="*/ 1677670 w 2825065"/>
                <a:gd name="connsiteY9-280" fmla="*/ 523240 h 2254250"/>
                <a:gd name="connsiteX10-281" fmla="*/ 1579880 w 2825065"/>
                <a:gd name="connsiteY10-282" fmla="*/ 692150 h 2254250"/>
                <a:gd name="connsiteX11-283" fmla="*/ 1360170 w 2825065"/>
                <a:gd name="connsiteY11-284" fmla="*/ 680720 h 2254250"/>
                <a:gd name="connsiteX12-285" fmla="*/ 1239520 w 2825065"/>
                <a:gd name="connsiteY12-286" fmla="*/ 687070 h 2254250"/>
                <a:gd name="connsiteX13-287" fmla="*/ 831850 w 2825065"/>
                <a:gd name="connsiteY13-288" fmla="*/ 641350 h 2254250"/>
                <a:gd name="connsiteX14-289" fmla="*/ 742950 w 2825065"/>
                <a:gd name="connsiteY14-290" fmla="*/ 596900 h 2254250"/>
                <a:gd name="connsiteX15-291" fmla="*/ 704850 w 2825065"/>
                <a:gd name="connsiteY15-292" fmla="*/ 685800 h 2254250"/>
                <a:gd name="connsiteX16-293" fmla="*/ 735330 w 2825065"/>
                <a:gd name="connsiteY16-294" fmla="*/ 948690 h 2254250"/>
                <a:gd name="connsiteX17-295" fmla="*/ 781050 w 2825065"/>
                <a:gd name="connsiteY17-296" fmla="*/ 1231900 h 2254250"/>
                <a:gd name="connsiteX18-297" fmla="*/ 819150 w 2825065"/>
                <a:gd name="connsiteY18-298" fmla="*/ 1409700 h 2254250"/>
                <a:gd name="connsiteX19-299" fmla="*/ 800100 w 2825065"/>
                <a:gd name="connsiteY19-300" fmla="*/ 1466850 h 2254250"/>
                <a:gd name="connsiteX20-301" fmla="*/ 749300 w 2825065"/>
                <a:gd name="connsiteY20-302" fmla="*/ 1524000 h 2254250"/>
                <a:gd name="connsiteX21-303" fmla="*/ 615950 w 2825065"/>
                <a:gd name="connsiteY21-304" fmla="*/ 1524000 h 2254250"/>
                <a:gd name="connsiteX22-305" fmla="*/ 463550 w 2825065"/>
                <a:gd name="connsiteY22-306" fmla="*/ 1530350 h 2254250"/>
                <a:gd name="connsiteX23-307" fmla="*/ 279400 w 2825065"/>
                <a:gd name="connsiteY23-308" fmla="*/ 1631950 h 2254250"/>
                <a:gd name="connsiteX24-309" fmla="*/ 114300 w 2825065"/>
                <a:gd name="connsiteY24-310" fmla="*/ 1879600 h 2254250"/>
                <a:gd name="connsiteX25-311" fmla="*/ 0 w 2825065"/>
                <a:gd name="connsiteY25-312" fmla="*/ 2254250 h 2254250"/>
                <a:gd name="connsiteX0-313" fmla="*/ 2762250 w 2825065"/>
                <a:gd name="connsiteY0-314" fmla="*/ 0 h 2254250"/>
                <a:gd name="connsiteX1-315" fmla="*/ 2819400 w 2825065"/>
                <a:gd name="connsiteY1-316" fmla="*/ 152400 h 2254250"/>
                <a:gd name="connsiteX2-317" fmla="*/ 2819400 w 2825065"/>
                <a:gd name="connsiteY2-318" fmla="*/ 298450 h 2254250"/>
                <a:gd name="connsiteX3-319" fmla="*/ 2787650 w 2825065"/>
                <a:gd name="connsiteY3-320" fmla="*/ 393700 h 2254250"/>
                <a:gd name="connsiteX4-321" fmla="*/ 2660650 w 2825065"/>
                <a:gd name="connsiteY4-322" fmla="*/ 469900 h 2254250"/>
                <a:gd name="connsiteX5-323" fmla="*/ 2432050 w 2825065"/>
                <a:gd name="connsiteY5-324" fmla="*/ 425450 h 2254250"/>
                <a:gd name="connsiteX6-325" fmla="*/ 2241550 w 2825065"/>
                <a:gd name="connsiteY6-326" fmla="*/ 368300 h 2254250"/>
                <a:gd name="connsiteX7-327" fmla="*/ 2090420 w 2825065"/>
                <a:gd name="connsiteY7-328" fmla="*/ 496570 h 2254250"/>
                <a:gd name="connsiteX8-329" fmla="*/ 1784350 w 2825065"/>
                <a:gd name="connsiteY8-330" fmla="*/ 422910 h 2254250"/>
                <a:gd name="connsiteX9-331" fmla="*/ 1677670 w 2825065"/>
                <a:gd name="connsiteY9-332" fmla="*/ 523240 h 2254250"/>
                <a:gd name="connsiteX10-333" fmla="*/ 1579880 w 2825065"/>
                <a:gd name="connsiteY10-334" fmla="*/ 692150 h 2254250"/>
                <a:gd name="connsiteX11-335" fmla="*/ 1360170 w 2825065"/>
                <a:gd name="connsiteY11-336" fmla="*/ 680720 h 2254250"/>
                <a:gd name="connsiteX12-337" fmla="*/ 1239520 w 2825065"/>
                <a:gd name="connsiteY12-338" fmla="*/ 687070 h 2254250"/>
                <a:gd name="connsiteX13-339" fmla="*/ 831850 w 2825065"/>
                <a:gd name="connsiteY13-340" fmla="*/ 641350 h 2254250"/>
                <a:gd name="connsiteX14-341" fmla="*/ 742950 w 2825065"/>
                <a:gd name="connsiteY14-342" fmla="*/ 596900 h 2254250"/>
                <a:gd name="connsiteX15-343" fmla="*/ 704850 w 2825065"/>
                <a:gd name="connsiteY15-344" fmla="*/ 685800 h 2254250"/>
                <a:gd name="connsiteX16-345" fmla="*/ 735330 w 2825065"/>
                <a:gd name="connsiteY16-346" fmla="*/ 948690 h 2254250"/>
                <a:gd name="connsiteX17-347" fmla="*/ 781050 w 2825065"/>
                <a:gd name="connsiteY17-348" fmla="*/ 1231900 h 2254250"/>
                <a:gd name="connsiteX18-349" fmla="*/ 819150 w 2825065"/>
                <a:gd name="connsiteY18-350" fmla="*/ 1409700 h 2254250"/>
                <a:gd name="connsiteX19-351" fmla="*/ 800100 w 2825065"/>
                <a:gd name="connsiteY19-352" fmla="*/ 1466850 h 2254250"/>
                <a:gd name="connsiteX20-353" fmla="*/ 749300 w 2825065"/>
                <a:gd name="connsiteY20-354" fmla="*/ 1524000 h 2254250"/>
                <a:gd name="connsiteX21-355" fmla="*/ 615950 w 2825065"/>
                <a:gd name="connsiteY21-356" fmla="*/ 1524000 h 2254250"/>
                <a:gd name="connsiteX22-357" fmla="*/ 463550 w 2825065"/>
                <a:gd name="connsiteY22-358" fmla="*/ 1530350 h 2254250"/>
                <a:gd name="connsiteX23-359" fmla="*/ 279400 w 2825065"/>
                <a:gd name="connsiteY23-360" fmla="*/ 1631950 h 2254250"/>
                <a:gd name="connsiteX24-361" fmla="*/ 114300 w 2825065"/>
                <a:gd name="connsiteY24-362" fmla="*/ 1879600 h 2254250"/>
                <a:gd name="connsiteX25-363" fmla="*/ 0 w 2825065"/>
                <a:gd name="connsiteY25-364" fmla="*/ 2254250 h 2254250"/>
                <a:gd name="connsiteX0-365" fmla="*/ 2762250 w 2825065"/>
                <a:gd name="connsiteY0-366" fmla="*/ 0 h 2254250"/>
                <a:gd name="connsiteX1-367" fmla="*/ 2819400 w 2825065"/>
                <a:gd name="connsiteY1-368" fmla="*/ 152400 h 2254250"/>
                <a:gd name="connsiteX2-369" fmla="*/ 2819400 w 2825065"/>
                <a:gd name="connsiteY2-370" fmla="*/ 298450 h 2254250"/>
                <a:gd name="connsiteX3-371" fmla="*/ 2787650 w 2825065"/>
                <a:gd name="connsiteY3-372" fmla="*/ 393700 h 2254250"/>
                <a:gd name="connsiteX4-373" fmla="*/ 2660650 w 2825065"/>
                <a:gd name="connsiteY4-374" fmla="*/ 469900 h 2254250"/>
                <a:gd name="connsiteX5-375" fmla="*/ 2432050 w 2825065"/>
                <a:gd name="connsiteY5-376" fmla="*/ 425450 h 2254250"/>
                <a:gd name="connsiteX6-377" fmla="*/ 2241550 w 2825065"/>
                <a:gd name="connsiteY6-378" fmla="*/ 368300 h 2254250"/>
                <a:gd name="connsiteX7-379" fmla="*/ 2090420 w 2825065"/>
                <a:gd name="connsiteY7-380" fmla="*/ 496570 h 2254250"/>
                <a:gd name="connsiteX8-381" fmla="*/ 1784350 w 2825065"/>
                <a:gd name="connsiteY8-382" fmla="*/ 422910 h 2254250"/>
                <a:gd name="connsiteX9-383" fmla="*/ 1677670 w 2825065"/>
                <a:gd name="connsiteY9-384" fmla="*/ 523240 h 2254250"/>
                <a:gd name="connsiteX10-385" fmla="*/ 1579880 w 2825065"/>
                <a:gd name="connsiteY10-386" fmla="*/ 692150 h 2254250"/>
                <a:gd name="connsiteX11-387" fmla="*/ 1360170 w 2825065"/>
                <a:gd name="connsiteY11-388" fmla="*/ 680720 h 2254250"/>
                <a:gd name="connsiteX12-389" fmla="*/ 1239520 w 2825065"/>
                <a:gd name="connsiteY12-390" fmla="*/ 687070 h 2254250"/>
                <a:gd name="connsiteX13-391" fmla="*/ 831850 w 2825065"/>
                <a:gd name="connsiteY13-392" fmla="*/ 641350 h 2254250"/>
                <a:gd name="connsiteX14-393" fmla="*/ 742950 w 2825065"/>
                <a:gd name="connsiteY14-394" fmla="*/ 596900 h 2254250"/>
                <a:gd name="connsiteX15-395" fmla="*/ 704850 w 2825065"/>
                <a:gd name="connsiteY15-396" fmla="*/ 685800 h 2254250"/>
                <a:gd name="connsiteX16-397" fmla="*/ 735330 w 2825065"/>
                <a:gd name="connsiteY16-398" fmla="*/ 948690 h 2254250"/>
                <a:gd name="connsiteX17-399" fmla="*/ 781050 w 2825065"/>
                <a:gd name="connsiteY17-400" fmla="*/ 1231900 h 2254250"/>
                <a:gd name="connsiteX18-401" fmla="*/ 819150 w 2825065"/>
                <a:gd name="connsiteY18-402" fmla="*/ 1409700 h 2254250"/>
                <a:gd name="connsiteX19-403" fmla="*/ 800100 w 2825065"/>
                <a:gd name="connsiteY19-404" fmla="*/ 1466850 h 2254250"/>
                <a:gd name="connsiteX20-405" fmla="*/ 749300 w 2825065"/>
                <a:gd name="connsiteY20-406" fmla="*/ 1524000 h 2254250"/>
                <a:gd name="connsiteX21-407" fmla="*/ 615950 w 2825065"/>
                <a:gd name="connsiteY21-408" fmla="*/ 1524000 h 2254250"/>
                <a:gd name="connsiteX22-409" fmla="*/ 463550 w 2825065"/>
                <a:gd name="connsiteY22-410" fmla="*/ 1530350 h 2254250"/>
                <a:gd name="connsiteX23-411" fmla="*/ 279400 w 2825065"/>
                <a:gd name="connsiteY23-412" fmla="*/ 1631950 h 2254250"/>
                <a:gd name="connsiteX24-413" fmla="*/ 114300 w 2825065"/>
                <a:gd name="connsiteY24-414" fmla="*/ 1879600 h 2254250"/>
                <a:gd name="connsiteX25-415" fmla="*/ 0 w 2825065"/>
                <a:gd name="connsiteY25-416" fmla="*/ 2254250 h 2254250"/>
                <a:gd name="connsiteX0-417" fmla="*/ 2762250 w 2825065"/>
                <a:gd name="connsiteY0-418" fmla="*/ 0 h 2254250"/>
                <a:gd name="connsiteX1-419" fmla="*/ 2819400 w 2825065"/>
                <a:gd name="connsiteY1-420" fmla="*/ 152400 h 2254250"/>
                <a:gd name="connsiteX2-421" fmla="*/ 2819400 w 2825065"/>
                <a:gd name="connsiteY2-422" fmla="*/ 298450 h 2254250"/>
                <a:gd name="connsiteX3-423" fmla="*/ 2787650 w 2825065"/>
                <a:gd name="connsiteY3-424" fmla="*/ 393700 h 2254250"/>
                <a:gd name="connsiteX4-425" fmla="*/ 2660650 w 2825065"/>
                <a:gd name="connsiteY4-426" fmla="*/ 469900 h 2254250"/>
                <a:gd name="connsiteX5-427" fmla="*/ 2432050 w 2825065"/>
                <a:gd name="connsiteY5-428" fmla="*/ 425450 h 2254250"/>
                <a:gd name="connsiteX6-429" fmla="*/ 2241550 w 2825065"/>
                <a:gd name="connsiteY6-430" fmla="*/ 368300 h 2254250"/>
                <a:gd name="connsiteX7-431" fmla="*/ 2090420 w 2825065"/>
                <a:gd name="connsiteY7-432" fmla="*/ 496570 h 2254250"/>
                <a:gd name="connsiteX8-433" fmla="*/ 1784350 w 2825065"/>
                <a:gd name="connsiteY8-434" fmla="*/ 422910 h 2254250"/>
                <a:gd name="connsiteX9-435" fmla="*/ 1677670 w 2825065"/>
                <a:gd name="connsiteY9-436" fmla="*/ 523240 h 2254250"/>
                <a:gd name="connsiteX10-437" fmla="*/ 1579880 w 2825065"/>
                <a:gd name="connsiteY10-438" fmla="*/ 692150 h 2254250"/>
                <a:gd name="connsiteX11-439" fmla="*/ 1360170 w 2825065"/>
                <a:gd name="connsiteY11-440" fmla="*/ 680720 h 2254250"/>
                <a:gd name="connsiteX12-441" fmla="*/ 1239520 w 2825065"/>
                <a:gd name="connsiteY12-442" fmla="*/ 687070 h 2254250"/>
                <a:gd name="connsiteX13-443" fmla="*/ 831850 w 2825065"/>
                <a:gd name="connsiteY13-444" fmla="*/ 641350 h 2254250"/>
                <a:gd name="connsiteX14-445" fmla="*/ 742950 w 2825065"/>
                <a:gd name="connsiteY14-446" fmla="*/ 596900 h 2254250"/>
                <a:gd name="connsiteX15-447" fmla="*/ 704850 w 2825065"/>
                <a:gd name="connsiteY15-448" fmla="*/ 685800 h 2254250"/>
                <a:gd name="connsiteX16-449" fmla="*/ 735330 w 2825065"/>
                <a:gd name="connsiteY16-450" fmla="*/ 948690 h 2254250"/>
                <a:gd name="connsiteX17-451" fmla="*/ 781050 w 2825065"/>
                <a:gd name="connsiteY17-452" fmla="*/ 1231900 h 2254250"/>
                <a:gd name="connsiteX18-453" fmla="*/ 819150 w 2825065"/>
                <a:gd name="connsiteY18-454" fmla="*/ 1409700 h 2254250"/>
                <a:gd name="connsiteX19-455" fmla="*/ 800100 w 2825065"/>
                <a:gd name="connsiteY19-456" fmla="*/ 1466850 h 2254250"/>
                <a:gd name="connsiteX20-457" fmla="*/ 749300 w 2825065"/>
                <a:gd name="connsiteY20-458" fmla="*/ 1524000 h 2254250"/>
                <a:gd name="connsiteX21-459" fmla="*/ 615950 w 2825065"/>
                <a:gd name="connsiteY21-460" fmla="*/ 1524000 h 2254250"/>
                <a:gd name="connsiteX22-461" fmla="*/ 463550 w 2825065"/>
                <a:gd name="connsiteY22-462" fmla="*/ 1530350 h 2254250"/>
                <a:gd name="connsiteX23-463" fmla="*/ 279400 w 2825065"/>
                <a:gd name="connsiteY23-464" fmla="*/ 1631950 h 2254250"/>
                <a:gd name="connsiteX24-465" fmla="*/ 114300 w 2825065"/>
                <a:gd name="connsiteY24-466" fmla="*/ 1879600 h 2254250"/>
                <a:gd name="connsiteX25-467" fmla="*/ 0 w 2825065"/>
                <a:gd name="connsiteY25-468" fmla="*/ 2254250 h 2254250"/>
                <a:gd name="connsiteX0-469" fmla="*/ 2762250 w 2825065"/>
                <a:gd name="connsiteY0-470" fmla="*/ 0 h 2254250"/>
                <a:gd name="connsiteX1-471" fmla="*/ 2819400 w 2825065"/>
                <a:gd name="connsiteY1-472" fmla="*/ 152400 h 2254250"/>
                <a:gd name="connsiteX2-473" fmla="*/ 2819400 w 2825065"/>
                <a:gd name="connsiteY2-474" fmla="*/ 298450 h 2254250"/>
                <a:gd name="connsiteX3-475" fmla="*/ 2787650 w 2825065"/>
                <a:gd name="connsiteY3-476" fmla="*/ 393700 h 2254250"/>
                <a:gd name="connsiteX4-477" fmla="*/ 2660650 w 2825065"/>
                <a:gd name="connsiteY4-478" fmla="*/ 469900 h 2254250"/>
                <a:gd name="connsiteX5-479" fmla="*/ 2432050 w 2825065"/>
                <a:gd name="connsiteY5-480" fmla="*/ 425450 h 2254250"/>
                <a:gd name="connsiteX6-481" fmla="*/ 2241550 w 2825065"/>
                <a:gd name="connsiteY6-482" fmla="*/ 368300 h 2254250"/>
                <a:gd name="connsiteX7-483" fmla="*/ 2090420 w 2825065"/>
                <a:gd name="connsiteY7-484" fmla="*/ 496570 h 2254250"/>
                <a:gd name="connsiteX8-485" fmla="*/ 1784350 w 2825065"/>
                <a:gd name="connsiteY8-486" fmla="*/ 422910 h 2254250"/>
                <a:gd name="connsiteX9-487" fmla="*/ 1677670 w 2825065"/>
                <a:gd name="connsiteY9-488" fmla="*/ 523240 h 2254250"/>
                <a:gd name="connsiteX10-489" fmla="*/ 1579880 w 2825065"/>
                <a:gd name="connsiteY10-490" fmla="*/ 692150 h 2254250"/>
                <a:gd name="connsiteX11-491" fmla="*/ 1360170 w 2825065"/>
                <a:gd name="connsiteY11-492" fmla="*/ 680720 h 2254250"/>
                <a:gd name="connsiteX12-493" fmla="*/ 1239520 w 2825065"/>
                <a:gd name="connsiteY12-494" fmla="*/ 687070 h 2254250"/>
                <a:gd name="connsiteX13-495" fmla="*/ 831850 w 2825065"/>
                <a:gd name="connsiteY13-496" fmla="*/ 641350 h 2254250"/>
                <a:gd name="connsiteX14-497" fmla="*/ 742950 w 2825065"/>
                <a:gd name="connsiteY14-498" fmla="*/ 596900 h 2254250"/>
                <a:gd name="connsiteX15-499" fmla="*/ 704850 w 2825065"/>
                <a:gd name="connsiteY15-500" fmla="*/ 685800 h 2254250"/>
                <a:gd name="connsiteX16-501" fmla="*/ 735330 w 2825065"/>
                <a:gd name="connsiteY16-502" fmla="*/ 948690 h 2254250"/>
                <a:gd name="connsiteX17-503" fmla="*/ 781050 w 2825065"/>
                <a:gd name="connsiteY17-504" fmla="*/ 1231900 h 2254250"/>
                <a:gd name="connsiteX18-505" fmla="*/ 819150 w 2825065"/>
                <a:gd name="connsiteY18-506" fmla="*/ 1409700 h 2254250"/>
                <a:gd name="connsiteX19-507" fmla="*/ 800100 w 2825065"/>
                <a:gd name="connsiteY19-508" fmla="*/ 1466850 h 2254250"/>
                <a:gd name="connsiteX20-509" fmla="*/ 749300 w 2825065"/>
                <a:gd name="connsiteY20-510" fmla="*/ 1524000 h 2254250"/>
                <a:gd name="connsiteX21-511" fmla="*/ 615950 w 2825065"/>
                <a:gd name="connsiteY21-512" fmla="*/ 1524000 h 2254250"/>
                <a:gd name="connsiteX22-513" fmla="*/ 463550 w 2825065"/>
                <a:gd name="connsiteY22-514" fmla="*/ 1530350 h 2254250"/>
                <a:gd name="connsiteX23-515" fmla="*/ 279400 w 2825065"/>
                <a:gd name="connsiteY23-516" fmla="*/ 1631950 h 2254250"/>
                <a:gd name="connsiteX24-517" fmla="*/ 114300 w 2825065"/>
                <a:gd name="connsiteY24-518" fmla="*/ 1879600 h 2254250"/>
                <a:gd name="connsiteX25-519" fmla="*/ 0 w 2825065"/>
                <a:gd name="connsiteY25-520" fmla="*/ 2254250 h 2254250"/>
                <a:gd name="connsiteX0-521" fmla="*/ 2762250 w 2825065"/>
                <a:gd name="connsiteY0-522" fmla="*/ 0 h 2254250"/>
                <a:gd name="connsiteX1-523" fmla="*/ 2819400 w 2825065"/>
                <a:gd name="connsiteY1-524" fmla="*/ 152400 h 2254250"/>
                <a:gd name="connsiteX2-525" fmla="*/ 2819400 w 2825065"/>
                <a:gd name="connsiteY2-526" fmla="*/ 298450 h 2254250"/>
                <a:gd name="connsiteX3-527" fmla="*/ 2787650 w 2825065"/>
                <a:gd name="connsiteY3-528" fmla="*/ 393700 h 2254250"/>
                <a:gd name="connsiteX4-529" fmla="*/ 2660650 w 2825065"/>
                <a:gd name="connsiteY4-530" fmla="*/ 469900 h 2254250"/>
                <a:gd name="connsiteX5-531" fmla="*/ 2432050 w 2825065"/>
                <a:gd name="connsiteY5-532" fmla="*/ 425450 h 2254250"/>
                <a:gd name="connsiteX6-533" fmla="*/ 2249170 w 2825065"/>
                <a:gd name="connsiteY6-534" fmla="*/ 482600 h 2254250"/>
                <a:gd name="connsiteX7-535" fmla="*/ 2090420 w 2825065"/>
                <a:gd name="connsiteY7-536" fmla="*/ 496570 h 2254250"/>
                <a:gd name="connsiteX8-537" fmla="*/ 1784350 w 2825065"/>
                <a:gd name="connsiteY8-538" fmla="*/ 422910 h 2254250"/>
                <a:gd name="connsiteX9-539" fmla="*/ 1677670 w 2825065"/>
                <a:gd name="connsiteY9-540" fmla="*/ 523240 h 2254250"/>
                <a:gd name="connsiteX10-541" fmla="*/ 1579880 w 2825065"/>
                <a:gd name="connsiteY10-542" fmla="*/ 692150 h 2254250"/>
                <a:gd name="connsiteX11-543" fmla="*/ 1360170 w 2825065"/>
                <a:gd name="connsiteY11-544" fmla="*/ 680720 h 2254250"/>
                <a:gd name="connsiteX12-545" fmla="*/ 1239520 w 2825065"/>
                <a:gd name="connsiteY12-546" fmla="*/ 687070 h 2254250"/>
                <a:gd name="connsiteX13-547" fmla="*/ 831850 w 2825065"/>
                <a:gd name="connsiteY13-548" fmla="*/ 641350 h 2254250"/>
                <a:gd name="connsiteX14-549" fmla="*/ 742950 w 2825065"/>
                <a:gd name="connsiteY14-550" fmla="*/ 596900 h 2254250"/>
                <a:gd name="connsiteX15-551" fmla="*/ 704850 w 2825065"/>
                <a:gd name="connsiteY15-552" fmla="*/ 685800 h 2254250"/>
                <a:gd name="connsiteX16-553" fmla="*/ 735330 w 2825065"/>
                <a:gd name="connsiteY16-554" fmla="*/ 948690 h 2254250"/>
                <a:gd name="connsiteX17-555" fmla="*/ 781050 w 2825065"/>
                <a:gd name="connsiteY17-556" fmla="*/ 1231900 h 2254250"/>
                <a:gd name="connsiteX18-557" fmla="*/ 819150 w 2825065"/>
                <a:gd name="connsiteY18-558" fmla="*/ 1409700 h 2254250"/>
                <a:gd name="connsiteX19-559" fmla="*/ 800100 w 2825065"/>
                <a:gd name="connsiteY19-560" fmla="*/ 1466850 h 2254250"/>
                <a:gd name="connsiteX20-561" fmla="*/ 749300 w 2825065"/>
                <a:gd name="connsiteY20-562" fmla="*/ 1524000 h 2254250"/>
                <a:gd name="connsiteX21-563" fmla="*/ 615950 w 2825065"/>
                <a:gd name="connsiteY21-564" fmla="*/ 1524000 h 2254250"/>
                <a:gd name="connsiteX22-565" fmla="*/ 463550 w 2825065"/>
                <a:gd name="connsiteY22-566" fmla="*/ 1530350 h 2254250"/>
                <a:gd name="connsiteX23-567" fmla="*/ 279400 w 2825065"/>
                <a:gd name="connsiteY23-568" fmla="*/ 1631950 h 2254250"/>
                <a:gd name="connsiteX24-569" fmla="*/ 114300 w 2825065"/>
                <a:gd name="connsiteY24-570" fmla="*/ 1879600 h 2254250"/>
                <a:gd name="connsiteX25-571" fmla="*/ 0 w 2825065"/>
                <a:gd name="connsiteY25-572" fmla="*/ 2254250 h 2254250"/>
                <a:gd name="connsiteX0-573" fmla="*/ 2762250 w 2825065"/>
                <a:gd name="connsiteY0-574" fmla="*/ 0 h 2254250"/>
                <a:gd name="connsiteX1-575" fmla="*/ 2819400 w 2825065"/>
                <a:gd name="connsiteY1-576" fmla="*/ 152400 h 2254250"/>
                <a:gd name="connsiteX2-577" fmla="*/ 2819400 w 2825065"/>
                <a:gd name="connsiteY2-578" fmla="*/ 298450 h 2254250"/>
                <a:gd name="connsiteX3-579" fmla="*/ 2787650 w 2825065"/>
                <a:gd name="connsiteY3-580" fmla="*/ 393700 h 2254250"/>
                <a:gd name="connsiteX4-581" fmla="*/ 2660650 w 2825065"/>
                <a:gd name="connsiteY4-582" fmla="*/ 469900 h 2254250"/>
                <a:gd name="connsiteX5-583" fmla="*/ 2432050 w 2825065"/>
                <a:gd name="connsiteY5-584" fmla="*/ 425450 h 2254250"/>
                <a:gd name="connsiteX6-585" fmla="*/ 2249170 w 2825065"/>
                <a:gd name="connsiteY6-586" fmla="*/ 482600 h 2254250"/>
                <a:gd name="connsiteX7-587" fmla="*/ 2090420 w 2825065"/>
                <a:gd name="connsiteY7-588" fmla="*/ 496570 h 2254250"/>
                <a:gd name="connsiteX8-589" fmla="*/ 1784350 w 2825065"/>
                <a:gd name="connsiteY8-590" fmla="*/ 422910 h 2254250"/>
                <a:gd name="connsiteX9-591" fmla="*/ 1677670 w 2825065"/>
                <a:gd name="connsiteY9-592" fmla="*/ 523240 h 2254250"/>
                <a:gd name="connsiteX10-593" fmla="*/ 1579880 w 2825065"/>
                <a:gd name="connsiteY10-594" fmla="*/ 692150 h 2254250"/>
                <a:gd name="connsiteX11-595" fmla="*/ 1360170 w 2825065"/>
                <a:gd name="connsiteY11-596" fmla="*/ 680720 h 2254250"/>
                <a:gd name="connsiteX12-597" fmla="*/ 1239520 w 2825065"/>
                <a:gd name="connsiteY12-598" fmla="*/ 687070 h 2254250"/>
                <a:gd name="connsiteX13-599" fmla="*/ 831850 w 2825065"/>
                <a:gd name="connsiteY13-600" fmla="*/ 641350 h 2254250"/>
                <a:gd name="connsiteX14-601" fmla="*/ 742950 w 2825065"/>
                <a:gd name="connsiteY14-602" fmla="*/ 596900 h 2254250"/>
                <a:gd name="connsiteX15-603" fmla="*/ 704850 w 2825065"/>
                <a:gd name="connsiteY15-604" fmla="*/ 685800 h 2254250"/>
                <a:gd name="connsiteX16-605" fmla="*/ 735330 w 2825065"/>
                <a:gd name="connsiteY16-606" fmla="*/ 948690 h 2254250"/>
                <a:gd name="connsiteX17-607" fmla="*/ 781050 w 2825065"/>
                <a:gd name="connsiteY17-608" fmla="*/ 1231900 h 2254250"/>
                <a:gd name="connsiteX18-609" fmla="*/ 819150 w 2825065"/>
                <a:gd name="connsiteY18-610" fmla="*/ 1409700 h 2254250"/>
                <a:gd name="connsiteX19-611" fmla="*/ 800100 w 2825065"/>
                <a:gd name="connsiteY19-612" fmla="*/ 1466850 h 2254250"/>
                <a:gd name="connsiteX20-613" fmla="*/ 749300 w 2825065"/>
                <a:gd name="connsiteY20-614" fmla="*/ 1524000 h 2254250"/>
                <a:gd name="connsiteX21-615" fmla="*/ 615950 w 2825065"/>
                <a:gd name="connsiteY21-616" fmla="*/ 1524000 h 2254250"/>
                <a:gd name="connsiteX22-617" fmla="*/ 463550 w 2825065"/>
                <a:gd name="connsiteY22-618" fmla="*/ 1530350 h 2254250"/>
                <a:gd name="connsiteX23-619" fmla="*/ 279400 w 2825065"/>
                <a:gd name="connsiteY23-620" fmla="*/ 1631950 h 2254250"/>
                <a:gd name="connsiteX24-621" fmla="*/ 114300 w 2825065"/>
                <a:gd name="connsiteY24-622" fmla="*/ 1879600 h 2254250"/>
                <a:gd name="connsiteX25-623" fmla="*/ 0 w 2825065"/>
                <a:gd name="connsiteY25-624" fmla="*/ 2254250 h 2254250"/>
                <a:gd name="connsiteX0-625" fmla="*/ 2762250 w 2825065"/>
                <a:gd name="connsiteY0-626" fmla="*/ 0 h 2254250"/>
                <a:gd name="connsiteX1-627" fmla="*/ 2819400 w 2825065"/>
                <a:gd name="connsiteY1-628" fmla="*/ 152400 h 2254250"/>
                <a:gd name="connsiteX2-629" fmla="*/ 2819400 w 2825065"/>
                <a:gd name="connsiteY2-630" fmla="*/ 298450 h 2254250"/>
                <a:gd name="connsiteX3-631" fmla="*/ 2787650 w 2825065"/>
                <a:gd name="connsiteY3-632" fmla="*/ 393700 h 2254250"/>
                <a:gd name="connsiteX4-633" fmla="*/ 2660650 w 2825065"/>
                <a:gd name="connsiteY4-634" fmla="*/ 469900 h 2254250"/>
                <a:gd name="connsiteX5-635" fmla="*/ 2432050 w 2825065"/>
                <a:gd name="connsiteY5-636" fmla="*/ 425450 h 2254250"/>
                <a:gd name="connsiteX6-637" fmla="*/ 2249170 w 2825065"/>
                <a:gd name="connsiteY6-638" fmla="*/ 482600 h 2254250"/>
                <a:gd name="connsiteX7-639" fmla="*/ 2090420 w 2825065"/>
                <a:gd name="connsiteY7-640" fmla="*/ 496570 h 2254250"/>
                <a:gd name="connsiteX8-641" fmla="*/ 1784350 w 2825065"/>
                <a:gd name="connsiteY8-642" fmla="*/ 422910 h 2254250"/>
                <a:gd name="connsiteX9-643" fmla="*/ 1677670 w 2825065"/>
                <a:gd name="connsiteY9-644" fmla="*/ 523240 h 2254250"/>
                <a:gd name="connsiteX10-645" fmla="*/ 1579880 w 2825065"/>
                <a:gd name="connsiteY10-646" fmla="*/ 692150 h 2254250"/>
                <a:gd name="connsiteX11-647" fmla="*/ 1360170 w 2825065"/>
                <a:gd name="connsiteY11-648" fmla="*/ 680720 h 2254250"/>
                <a:gd name="connsiteX12-649" fmla="*/ 1239520 w 2825065"/>
                <a:gd name="connsiteY12-650" fmla="*/ 687070 h 2254250"/>
                <a:gd name="connsiteX13-651" fmla="*/ 831850 w 2825065"/>
                <a:gd name="connsiteY13-652" fmla="*/ 641350 h 2254250"/>
                <a:gd name="connsiteX14-653" fmla="*/ 742950 w 2825065"/>
                <a:gd name="connsiteY14-654" fmla="*/ 596900 h 2254250"/>
                <a:gd name="connsiteX15-655" fmla="*/ 704850 w 2825065"/>
                <a:gd name="connsiteY15-656" fmla="*/ 685800 h 2254250"/>
                <a:gd name="connsiteX16-657" fmla="*/ 735330 w 2825065"/>
                <a:gd name="connsiteY16-658" fmla="*/ 948690 h 2254250"/>
                <a:gd name="connsiteX17-659" fmla="*/ 781050 w 2825065"/>
                <a:gd name="connsiteY17-660" fmla="*/ 1231900 h 2254250"/>
                <a:gd name="connsiteX18-661" fmla="*/ 819150 w 2825065"/>
                <a:gd name="connsiteY18-662" fmla="*/ 1409700 h 2254250"/>
                <a:gd name="connsiteX19-663" fmla="*/ 800100 w 2825065"/>
                <a:gd name="connsiteY19-664" fmla="*/ 1466850 h 2254250"/>
                <a:gd name="connsiteX20-665" fmla="*/ 749300 w 2825065"/>
                <a:gd name="connsiteY20-666" fmla="*/ 1524000 h 2254250"/>
                <a:gd name="connsiteX21-667" fmla="*/ 615950 w 2825065"/>
                <a:gd name="connsiteY21-668" fmla="*/ 1524000 h 2254250"/>
                <a:gd name="connsiteX22-669" fmla="*/ 463550 w 2825065"/>
                <a:gd name="connsiteY22-670" fmla="*/ 1530350 h 2254250"/>
                <a:gd name="connsiteX23-671" fmla="*/ 279400 w 2825065"/>
                <a:gd name="connsiteY23-672" fmla="*/ 1631950 h 2254250"/>
                <a:gd name="connsiteX24-673" fmla="*/ 114300 w 2825065"/>
                <a:gd name="connsiteY24-674" fmla="*/ 1879600 h 2254250"/>
                <a:gd name="connsiteX25-675" fmla="*/ 0 w 2825065"/>
                <a:gd name="connsiteY25-676" fmla="*/ 2254250 h 2254250"/>
                <a:gd name="connsiteX0-677" fmla="*/ 2762250 w 2825065"/>
                <a:gd name="connsiteY0-678" fmla="*/ 0 h 2254250"/>
                <a:gd name="connsiteX1-679" fmla="*/ 2819400 w 2825065"/>
                <a:gd name="connsiteY1-680" fmla="*/ 152400 h 2254250"/>
                <a:gd name="connsiteX2-681" fmla="*/ 2819400 w 2825065"/>
                <a:gd name="connsiteY2-682" fmla="*/ 298450 h 2254250"/>
                <a:gd name="connsiteX3-683" fmla="*/ 2787650 w 2825065"/>
                <a:gd name="connsiteY3-684" fmla="*/ 393700 h 2254250"/>
                <a:gd name="connsiteX4-685" fmla="*/ 2660650 w 2825065"/>
                <a:gd name="connsiteY4-686" fmla="*/ 469900 h 2254250"/>
                <a:gd name="connsiteX5-687" fmla="*/ 2432050 w 2825065"/>
                <a:gd name="connsiteY5-688" fmla="*/ 425450 h 2254250"/>
                <a:gd name="connsiteX6-689" fmla="*/ 2249170 w 2825065"/>
                <a:gd name="connsiteY6-690" fmla="*/ 482600 h 2254250"/>
                <a:gd name="connsiteX7-691" fmla="*/ 2090420 w 2825065"/>
                <a:gd name="connsiteY7-692" fmla="*/ 496570 h 2254250"/>
                <a:gd name="connsiteX8-693" fmla="*/ 1784350 w 2825065"/>
                <a:gd name="connsiteY8-694" fmla="*/ 422910 h 2254250"/>
                <a:gd name="connsiteX9-695" fmla="*/ 1677670 w 2825065"/>
                <a:gd name="connsiteY9-696" fmla="*/ 523240 h 2254250"/>
                <a:gd name="connsiteX10-697" fmla="*/ 1579880 w 2825065"/>
                <a:gd name="connsiteY10-698" fmla="*/ 692150 h 2254250"/>
                <a:gd name="connsiteX11-699" fmla="*/ 1360170 w 2825065"/>
                <a:gd name="connsiteY11-700" fmla="*/ 680720 h 2254250"/>
                <a:gd name="connsiteX12-701" fmla="*/ 1239520 w 2825065"/>
                <a:gd name="connsiteY12-702" fmla="*/ 687070 h 2254250"/>
                <a:gd name="connsiteX13-703" fmla="*/ 831850 w 2825065"/>
                <a:gd name="connsiteY13-704" fmla="*/ 641350 h 2254250"/>
                <a:gd name="connsiteX14-705" fmla="*/ 742950 w 2825065"/>
                <a:gd name="connsiteY14-706" fmla="*/ 596900 h 2254250"/>
                <a:gd name="connsiteX15-707" fmla="*/ 704850 w 2825065"/>
                <a:gd name="connsiteY15-708" fmla="*/ 685800 h 2254250"/>
                <a:gd name="connsiteX16-709" fmla="*/ 735330 w 2825065"/>
                <a:gd name="connsiteY16-710" fmla="*/ 948690 h 2254250"/>
                <a:gd name="connsiteX17-711" fmla="*/ 781050 w 2825065"/>
                <a:gd name="connsiteY17-712" fmla="*/ 1231900 h 2254250"/>
                <a:gd name="connsiteX18-713" fmla="*/ 819150 w 2825065"/>
                <a:gd name="connsiteY18-714" fmla="*/ 1409700 h 2254250"/>
                <a:gd name="connsiteX19-715" fmla="*/ 800100 w 2825065"/>
                <a:gd name="connsiteY19-716" fmla="*/ 1466850 h 2254250"/>
                <a:gd name="connsiteX20-717" fmla="*/ 749300 w 2825065"/>
                <a:gd name="connsiteY20-718" fmla="*/ 1524000 h 2254250"/>
                <a:gd name="connsiteX21-719" fmla="*/ 615950 w 2825065"/>
                <a:gd name="connsiteY21-720" fmla="*/ 1524000 h 2254250"/>
                <a:gd name="connsiteX22-721" fmla="*/ 463550 w 2825065"/>
                <a:gd name="connsiteY22-722" fmla="*/ 1530350 h 2254250"/>
                <a:gd name="connsiteX23-723" fmla="*/ 279400 w 2825065"/>
                <a:gd name="connsiteY23-724" fmla="*/ 1631950 h 2254250"/>
                <a:gd name="connsiteX24-725" fmla="*/ 114300 w 2825065"/>
                <a:gd name="connsiteY24-726" fmla="*/ 1879600 h 2254250"/>
                <a:gd name="connsiteX25-727" fmla="*/ 0 w 2825065"/>
                <a:gd name="connsiteY25-728" fmla="*/ 2254250 h 2254250"/>
                <a:gd name="connsiteX0-729" fmla="*/ 2762250 w 2825065"/>
                <a:gd name="connsiteY0-730" fmla="*/ 0 h 2254250"/>
                <a:gd name="connsiteX1-731" fmla="*/ 2819400 w 2825065"/>
                <a:gd name="connsiteY1-732" fmla="*/ 152400 h 2254250"/>
                <a:gd name="connsiteX2-733" fmla="*/ 2819400 w 2825065"/>
                <a:gd name="connsiteY2-734" fmla="*/ 298450 h 2254250"/>
                <a:gd name="connsiteX3-735" fmla="*/ 2787650 w 2825065"/>
                <a:gd name="connsiteY3-736" fmla="*/ 393700 h 2254250"/>
                <a:gd name="connsiteX4-737" fmla="*/ 2660650 w 2825065"/>
                <a:gd name="connsiteY4-738" fmla="*/ 469900 h 2254250"/>
                <a:gd name="connsiteX5-739" fmla="*/ 2432050 w 2825065"/>
                <a:gd name="connsiteY5-740" fmla="*/ 425450 h 2254250"/>
                <a:gd name="connsiteX6-741" fmla="*/ 2249170 w 2825065"/>
                <a:gd name="connsiteY6-742" fmla="*/ 482600 h 2254250"/>
                <a:gd name="connsiteX7-743" fmla="*/ 2090420 w 2825065"/>
                <a:gd name="connsiteY7-744" fmla="*/ 496570 h 2254250"/>
                <a:gd name="connsiteX8-745" fmla="*/ 1784350 w 2825065"/>
                <a:gd name="connsiteY8-746" fmla="*/ 422910 h 2254250"/>
                <a:gd name="connsiteX9-747" fmla="*/ 1677670 w 2825065"/>
                <a:gd name="connsiteY9-748" fmla="*/ 523240 h 2254250"/>
                <a:gd name="connsiteX10-749" fmla="*/ 1579880 w 2825065"/>
                <a:gd name="connsiteY10-750" fmla="*/ 692150 h 2254250"/>
                <a:gd name="connsiteX11-751" fmla="*/ 1360170 w 2825065"/>
                <a:gd name="connsiteY11-752" fmla="*/ 680720 h 2254250"/>
                <a:gd name="connsiteX12-753" fmla="*/ 1239520 w 2825065"/>
                <a:gd name="connsiteY12-754" fmla="*/ 687070 h 2254250"/>
                <a:gd name="connsiteX13-755" fmla="*/ 831850 w 2825065"/>
                <a:gd name="connsiteY13-756" fmla="*/ 641350 h 2254250"/>
                <a:gd name="connsiteX14-757" fmla="*/ 742950 w 2825065"/>
                <a:gd name="connsiteY14-758" fmla="*/ 596900 h 2254250"/>
                <a:gd name="connsiteX15-759" fmla="*/ 704850 w 2825065"/>
                <a:gd name="connsiteY15-760" fmla="*/ 685800 h 2254250"/>
                <a:gd name="connsiteX16-761" fmla="*/ 735330 w 2825065"/>
                <a:gd name="connsiteY16-762" fmla="*/ 948690 h 2254250"/>
                <a:gd name="connsiteX17-763" fmla="*/ 781050 w 2825065"/>
                <a:gd name="connsiteY17-764" fmla="*/ 1231900 h 2254250"/>
                <a:gd name="connsiteX18-765" fmla="*/ 819150 w 2825065"/>
                <a:gd name="connsiteY18-766" fmla="*/ 1409700 h 2254250"/>
                <a:gd name="connsiteX19-767" fmla="*/ 800100 w 2825065"/>
                <a:gd name="connsiteY19-768" fmla="*/ 1466850 h 2254250"/>
                <a:gd name="connsiteX20-769" fmla="*/ 749300 w 2825065"/>
                <a:gd name="connsiteY20-770" fmla="*/ 1524000 h 2254250"/>
                <a:gd name="connsiteX21-771" fmla="*/ 615950 w 2825065"/>
                <a:gd name="connsiteY21-772" fmla="*/ 1524000 h 2254250"/>
                <a:gd name="connsiteX22-773" fmla="*/ 463550 w 2825065"/>
                <a:gd name="connsiteY22-774" fmla="*/ 1530350 h 2254250"/>
                <a:gd name="connsiteX23-775" fmla="*/ 279400 w 2825065"/>
                <a:gd name="connsiteY23-776" fmla="*/ 1631950 h 2254250"/>
                <a:gd name="connsiteX24-777" fmla="*/ 114300 w 2825065"/>
                <a:gd name="connsiteY24-778" fmla="*/ 1879600 h 2254250"/>
                <a:gd name="connsiteX25-779" fmla="*/ 0 w 2825065"/>
                <a:gd name="connsiteY25-780" fmla="*/ 2254250 h 2254250"/>
                <a:gd name="connsiteX0-781" fmla="*/ 2762250 w 2825065"/>
                <a:gd name="connsiteY0-782" fmla="*/ 0 h 2254250"/>
                <a:gd name="connsiteX1-783" fmla="*/ 2819400 w 2825065"/>
                <a:gd name="connsiteY1-784" fmla="*/ 152400 h 2254250"/>
                <a:gd name="connsiteX2-785" fmla="*/ 2819400 w 2825065"/>
                <a:gd name="connsiteY2-786" fmla="*/ 298450 h 2254250"/>
                <a:gd name="connsiteX3-787" fmla="*/ 2787650 w 2825065"/>
                <a:gd name="connsiteY3-788" fmla="*/ 393700 h 2254250"/>
                <a:gd name="connsiteX4-789" fmla="*/ 2660650 w 2825065"/>
                <a:gd name="connsiteY4-790" fmla="*/ 469900 h 2254250"/>
                <a:gd name="connsiteX5-791" fmla="*/ 2428240 w 2825065"/>
                <a:gd name="connsiteY5-792" fmla="*/ 356870 h 2254250"/>
                <a:gd name="connsiteX6-793" fmla="*/ 2249170 w 2825065"/>
                <a:gd name="connsiteY6-794" fmla="*/ 482600 h 2254250"/>
                <a:gd name="connsiteX7-795" fmla="*/ 2090420 w 2825065"/>
                <a:gd name="connsiteY7-796" fmla="*/ 496570 h 2254250"/>
                <a:gd name="connsiteX8-797" fmla="*/ 1784350 w 2825065"/>
                <a:gd name="connsiteY8-798" fmla="*/ 422910 h 2254250"/>
                <a:gd name="connsiteX9-799" fmla="*/ 1677670 w 2825065"/>
                <a:gd name="connsiteY9-800" fmla="*/ 523240 h 2254250"/>
                <a:gd name="connsiteX10-801" fmla="*/ 1579880 w 2825065"/>
                <a:gd name="connsiteY10-802" fmla="*/ 692150 h 2254250"/>
                <a:gd name="connsiteX11-803" fmla="*/ 1360170 w 2825065"/>
                <a:gd name="connsiteY11-804" fmla="*/ 680720 h 2254250"/>
                <a:gd name="connsiteX12-805" fmla="*/ 1239520 w 2825065"/>
                <a:gd name="connsiteY12-806" fmla="*/ 687070 h 2254250"/>
                <a:gd name="connsiteX13-807" fmla="*/ 831850 w 2825065"/>
                <a:gd name="connsiteY13-808" fmla="*/ 641350 h 2254250"/>
                <a:gd name="connsiteX14-809" fmla="*/ 742950 w 2825065"/>
                <a:gd name="connsiteY14-810" fmla="*/ 596900 h 2254250"/>
                <a:gd name="connsiteX15-811" fmla="*/ 704850 w 2825065"/>
                <a:gd name="connsiteY15-812" fmla="*/ 685800 h 2254250"/>
                <a:gd name="connsiteX16-813" fmla="*/ 735330 w 2825065"/>
                <a:gd name="connsiteY16-814" fmla="*/ 948690 h 2254250"/>
                <a:gd name="connsiteX17-815" fmla="*/ 781050 w 2825065"/>
                <a:gd name="connsiteY17-816" fmla="*/ 1231900 h 2254250"/>
                <a:gd name="connsiteX18-817" fmla="*/ 819150 w 2825065"/>
                <a:gd name="connsiteY18-818" fmla="*/ 1409700 h 2254250"/>
                <a:gd name="connsiteX19-819" fmla="*/ 800100 w 2825065"/>
                <a:gd name="connsiteY19-820" fmla="*/ 1466850 h 2254250"/>
                <a:gd name="connsiteX20-821" fmla="*/ 749300 w 2825065"/>
                <a:gd name="connsiteY20-822" fmla="*/ 1524000 h 2254250"/>
                <a:gd name="connsiteX21-823" fmla="*/ 615950 w 2825065"/>
                <a:gd name="connsiteY21-824" fmla="*/ 1524000 h 2254250"/>
                <a:gd name="connsiteX22-825" fmla="*/ 463550 w 2825065"/>
                <a:gd name="connsiteY22-826" fmla="*/ 1530350 h 2254250"/>
                <a:gd name="connsiteX23-827" fmla="*/ 279400 w 2825065"/>
                <a:gd name="connsiteY23-828" fmla="*/ 1631950 h 2254250"/>
                <a:gd name="connsiteX24-829" fmla="*/ 114300 w 2825065"/>
                <a:gd name="connsiteY24-830" fmla="*/ 1879600 h 2254250"/>
                <a:gd name="connsiteX25-831" fmla="*/ 0 w 2825065"/>
                <a:gd name="connsiteY25-832" fmla="*/ 2254250 h 2254250"/>
                <a:gd name="connsiteX0-833" fmla="*/ 2762250 w 2825065"/>
                <a:gd name="connsiteY0-834" fmla="*/ 0 h 2254250"/>
                <a:gd name="connsiteX1-835" fmla="*/ 2819400 w 2825065"/>
                <a:gd name="connsiteY1-836" fmla="*/ 152400 h 2254250"/>
                <a:gd name="connsiteX2-837" fmla="*/ 2819400 w 2825065"/>
                <a:gd name="connsiteY2-838" fmla="*/ 298450 h 2254250"/>
                <a:gd name="connsiteX3-839" fmla="*/ 2787650 w 2825065"/>
                <a:gd name="connsiteY3-840" fmla="*/ 393700 h 2254250"/>
                <a:gd name="connsiteX4-841" fmla="*/ 2660650 w 2825065"/>
                <a:gd name="connsiteY4-842" fmla="*/ 469900 h 2254250"/>
                <a:gd name="connsiteX5-843" fmla="*/ 2332990 w 2825065"/>
                <a:gd name="connsiteY5-844" fmla="*/ 391160 h 2254250"/>
                <a:gd name="connsiteX6-845" fmla="*/ 2249170 w 2825065"/>
                <a:gd name="connsiteY6-846" fmla="*/ 482600 h 2254250"/>
                <a:gd name="connsiteX7-847" fmla="*/ 2090420 w 2825065"/>
                <a:gd name="connsiteY7-848" fmla="*/ 496570 h 2254250"/>
                <a:gd name="connsiteX8-849" fmla="*/ 1784350 w 2825065"/>
                <a:gd name="connsiteY8-850" fmla="*/ 422910 h 2254250"/>
                <a:gd name="connsiteX9-851" fmla="*/ 1677670 w 2825065"/>
                <a:gd name="connsiteY9-852" fmla="*/ 523240 h 2254250"/>
                <a:gd name="connsiteX10-853" fmla="*/ 1579880 w 2825065"/>
                <a:gd name="connsiteY10-854" fmla="*/ 692150 h 2254250"/>
                <a:gd name="connsiteX11-855" fmla="*/ 1360170 w 2825065"/>
                <a:gd name="connsiteY11-856" fmla="*/ 680720 h 2254250"/>
                <a:gd name="connsiteX12-857" fmla="*/ 1239520 w 2825065"/>
                <a:gd name="connsiteY12-858" fmla="*/ 687070 h 2254250"/>
                <a:gd name="connsiteX13-859" fmla="*/ 831850 w 2825065"/>
                <a:gd name="connsiteY13-860" fmla="*/ 641350 h 2254250"/>
                <a:gd name="connsiteX14-861" fmla="*/ 742950 w 2825065"/>
                <a:gd name="connsiteY14-862" fmla="*/ 596900 h 2254250"/>
                <a:gd name="connsiteX15-863" fmla="*/ 704850 w 2825065"/>
                <a:gd name="connsiteY15-864" fmla="*/ 685800 h 2254250"/>
                <a:gd name="connsiteX16-865" fmla="*/ 735330 w 2825065"/>
                <a:gd name="connsiteY16-866" fmla="*/ 948690 h 2254250"/>
                <a:gd name="connsiteX17-867" fmla="*/ 781050 w 2825065"/>
                <a:gd name="connsiteY17-868" fmla="*/ 1231900 h 2254250"/>
                <a:gd name="connsiteX18-869" fmla="*/ 819150 w 2825065"/>
                <a:gd name="connsiteY18-870" fmla="*/ 1409700 h 2254250"/>
                <a:gd name="connsiteX19-871" fmla="*/ 800100 w 2825065"/>
                <a:gd name="connsiteY19-872" fmla="*/ 1466850 h 2254250"/>
                <a:gd name="connsiteX20-873" fmla="*/ 749300 w 2825065"/>
                <a:gd name="connsiteY20-874" fmla="*/ 1524000 h 2254250"/>
                <a:gd name="connsiteX21-875" fmla="*/ 615950 w 2825065"/>
                <a:gd name="connsiteY21-876" fmla="*/ 1524000 h 2254250"/>
                <a:gd name="connsiteX22-877" fmla="*/ 463550 w 2825065"/>
                <a:gd name="connsiteY22-878" fmla="*/ 1530350 h 2254250"/>
                <a:gd name="connsiteX23-879" fmla="*/ 279400 w 2825065"/>
                <a:gd name="connsiteY23-880" fmla="*/ 1631950 h 2254250"/>
                <a:gd name="connsiteX24-881" fmla="*/ 114300 w 2825065"/>
                <a:gd name="connsiteY24-882" fmla="*/ 1879600 h 2254250"/>
                <a:gd name="connsiteX25-883" fmla="*/ 0 w 2825065"/>
                <a:gd name="connsiteY25-884" fmla="*/ 2254250 h 2254250"/>
                <a:gd name="connsiteX0-885" fmla="*/ 2762250 w 2825065"/>
                <a:gd name="connsiteY0-886" fmla="*/ 0 h 2254250"/>
                <a:gd name="connsiteX1-887" fmla="*/ 2819400 w 2825065"/>
                <a:gd name="connsiteY1-888" fmla="*/ 152400 h 2254250"/>
                <a:gd name="connsiteX2-889" fmla="*/ 2819400 w 2825065"/>
                <a:gd name="connsiteY2-890" fmla="*/ 298450 h 2254250"/>
                <a:gd name="connsiteX3-891" fmla="*/ 2787650 w 2825065"/>
                <a:gd name="connsiteY3-892" fmla="*/ 393700 h 2254250"/>
                <a:gd name="connsiteX4-893" fmla="*/ 2660650 w 2825065"/>
                <a:gd name="connsiteY4-894" fmla="*/ 469900 h 2254250"/>
                <a:gd name="connsiteX5-895" fmla="*/ 2332990 w 2825065"/>
                <a:gd name="connsiteY5-896" fmla="*/ 391160 h 2254250"/>
                <a:gd name="connsiteX6-897" fmla="*/ 2249170 w 2825065"/>
                <a:gd name="connsiteY6-898" fmla="*/ 482600 h 2254250"/>
                <a:gd name="connsiteX7-899" fmla="*/ 2090420 w 2825065"/>
                <a:gd name="connsiteY7-900" fmla="*/ 496570 h 2254250"/>
                <a:gd name="connsiteX8-901" fmla="*/ 1784350 w 2825065"/>
                <a:gd name="connsiteY8-902" fmla="*/ 422910 h 2254250"/>
                <a:gd name="connsiteX9-903" fmla="*/ 1677670 w 2825065"/>
                <a:gd name="connsiteY9-904" fmla="*/ 523240 h 2254250"/>
                <a:gd name="connsiteX10-905" fmla="*/ 1579880 w 2825065"/>
                <a:gd name="connsiteY10-906" fmla="*/ 692150 h 2254250"/>
                <a:gd name="connsiteX11-907" fmla="*/ 1360170 w 2825065"/>
                <a:gd name="connsiteY11-908" fmla="*/ 680720 h 2254250"/>
                <a:gd name="connsiteX12-909" fmla="*/ 1239520 w 2825065"/>
                <a:gd name="connsiteY12-910" fmla="*/ 687070 h 2254250"/>
                <a:gd name="connsiteX13-911" fmla="*/ 831850 w 2825065"/>
                <a:gd name="connsiteY13-912" fmla="*/ 641350 h 2254250"/>
                <a:gd name="connsiteX14-913" fmla="*/ 742950 w 2825065"/>
                <a:gd name="connsiteY14-914" fmla="*/ 596900 h 2254250"/>
                <a:gd name="connsiteX15-915" fmla="*/ 704850 w 2825065"/>
                <a:gd name="connsiteY15-916" fmla="*/ 685800 h 2254250"/>
                <a:gd name="connsiteX16-917" fmla="*/ 735330 w 2825065"/>
                <a:gd name="connsiteY16-918" fmla="*/ 948690 h 2254250"/>
                <a:gd name="connsiteX17-919" fmla="*/ 781050 w 2825065"/>
                <a:gd name="connsiteY17-920" fmla="*/ 1231900 h 2254250"/>
                <a:gd name="connsiteX18-921" fmla="*/ 819150 w 2825065"/>
                <a:gd name="connsiteY18-922" fmla="*/ 1409700 h 2254250"/>
                <a:gd name="connsiteX19-923" fmla="*/ 800100 w 2825065"/>
                <a:gd name="connsiteY19-924" fmla="*/ 1466850 h 2254250"/>
                <a:gd name="connsiteX20-925" fmla="*/ 749300 w 2825065"/>
                <a:gd name="connsiteY20-926" fmla="*/ 1524000 h 2254250"/>
                <a:gd name="connsiteX21-927" fmla="*/ 615950 w 2825065"/>
                <a:gd name="connsiteY21-928" fmla="*/ 1524000 h 2254250"/>
                <a:gd name="connsiteX22-929" fmla="*/ 463550 w 2825065"/>
                <a:gd name="connsiteY22-930" fmla="*/ 1530350 h 2254250"/>
                <a:gd name="connsiteX23-931" fmla="*/ 279400 w 2825065"/>
                <a:gd name="connsiteY23-932" fmla="*/ 1631950 h 2254250"/>
                <a:gd name="connsiteX24-933" fmla="*/ 114300 w 2825065"/>
                <a:gd name="connsiteY24-934" fmla="*/ 1879600 h 2254250"/>
                <a:gd name="connsiteX25-935" fmla="*/ 0 w 2825065"/>
                <a:gd name="connsiteY25-936" fmla="*/ 2254250 h 2254250"/>
                <a:gd name="connsiteX0-937" fmla="*/ 2762250 w 2829377"/>
                <a:gd name="connsiteY0-938" fmla="*/ 0 h 2254250"/>
                <a:gd name="connsiteX1-939" fmla="*/ 2819400 w 2829377"/>
                <a:gd name="connsiteY1-940" fmla="*/ 152400 h 2254250"/>
                <a:gd name="connsiteX2-941" fmla="*/ 2819400 w 2829377"/>
                <a:gd name="connsiteY2-942" fmla="*/ 298450 h 2254250"/>
                <a:gd name="connsiteX3-943" fmla="*/ 2787650 w 2829377"/>
                <a:gd name="connsiteY3-944" fmla="*/ 393700 h 2254250"/>
                <a:gd name="connsiteX4-945" fmla="*/ 2378710 w 2829377"/>
                <a:gd name="connsiteY4-946" fmla="*/ 298450 h 2254250"/>
                <a:gd name="connsiteX5-947" fmla="*/ 2332990 w 2829377"/>
                <a:gd name="connsiteY5-948" fmla="*/ 391160 h 2254250"/>
                <a:gd name="connsiteX6-949" fmla="*/ 2249170 w 2829377"/>
                <a:gd name="connsiteY6-950" fmla="*/ 482600 h 2254250"/>
                <a:gd name="connsiteX7-951" fmla="*/ 2090420 w 2829377"/>
                <a:gd name="connsiteY7-952" fmla="*/ 496570 h 2254250"/>
                <a:gd name="connsiteX8-953" fmla="*/ 1784350 w 2829377"/>
                <a:gd name="connsiteY8-954" fmla="*/ 422910 h 2254250"/>
                <a:gd name="connsiteX9-955" fmla="*/ 1677670 w 2829377"/>
                <a:gd name="connsiteY9-956" fmla="*/ 523240 h 2254250"/>
                <a:gd name="connsiteX10-957" fmla="*/ 1579880 w 2829377"/>
                <a:gd name="connsiteY10-958" fmla="*/ 692150 h 2254250"/>
                <a:gd name="connsiteX11-959" fmla="*/ 1360170 w 2829377"/>
                <a:gd name="connsiteY11-960" fmla="*/ 680720 h 2254250"/>
                <a:gd name="connsiteX12-961" fmla="*/ 1239520 w 2829377"/>
                <a:gd name="connsiteY12-962" fmla="*/ 687070 h 2254250"/>
                <a:gd name="connsiteX13-963" fmla="*/ 831850 w 2829377"/>
                <a:gd name="connsiteY13-964" fmla="*/ 641350 h 2254250"/>
                <a:gd name="connsiteX14-965" fmla="*/ 742950 w 2829377"/>
                <a:gd name="connsiteY14-966" fmla="*/ 596900 h 2254250"/>
                <a:gd name="connsiteX15-967" fmla="*/ 704850 w 2829377"/>
                <a:gd name="connsiteY15-968" fmla="*/ 685800 h 2254250"/>
                <a:gd name="connsiteX16-969" fmla="*/ 735330 w 2829377"/>
                <a:gd name="connsiteY16-970" fmla="*/ 948690 h 2254250"/>
                <a:gd name="connsiteX17-971" fmla="*/ 781050 w 2829377"/>
                <a:gd name="connsiteY17-972" fmla="*/ 1231900 h 2254250"/>
                <a:gd name="connsiteX18-973" fmla="*/ 819150 w 2829377"/>
                <a:gd name="connsiteY18-974" fmla="*/ 1409700 h 2254250"/>
                <a:gd name="connsiteX19-975" fmla="*/ 800100 w 2829377"/>
                <a:gd name="connsiteY19-976" fmla="*/ 1466850 h 2254250"/>
                <a:gd name="connsiteX20-977" fmla="*/ 749300 w 2829377"/>
                <a:gd name="connsiteY20-978" fmla="*/ 1524000 h 2254250"/>
                <a:gd name="connsiteX21-979" fmla="*/ 615950 w 2829377"/>
                <a:gd name="connsiteY21-980" fmla="*/ 1524000 h 2254250"/>
                <a:gd name="connsiteX22-981" fmla="*/ 463550 w 2829377"/>
                <a:gd name="connsiteY22-982" fmla="*/ 1530350 h 2254250"/>
                <a:gd name="connsiteX23-983" fmla="*/ 279400 w 2829377"/>
                <a:gd name="connsiteY23-984" fmla="*/ 1631950 h 2254250"/>
                <a:gd name="connsiteX24-985" fmla="*/ 114300 w 2829377"/>
                <a:gd name="connsiteY24-986" fmla="*/ 1879600 h 2254250"/>
                <a:gd name="connsiteX25-987" fmla="*/ 0 w 2829377"/>
                <a:gd name="connsiteY25-988" fmla="*/ 2254250 h 2254250"/>
                <a:gd name="connsiteX0-989" fmla="*/ 2762250 w 2829377"/>
                <a:gd name="connsiteY0-990" fmla="*/ 0 h 2254250"/>
                <a:gd name="connsiteX1-991" fmla="*/ 2819400 w 2829377"/>
                <a:gd name="connsiteY1-992" fmla="*/ 152400 h 2254250"/>
                <a:gd name="connsiteX2-993" fmla="*/ 2819400 w 2829377"/>
                <a:gd name="connsiteY2-994" fmla="*/ 298450 h 2254250"/>
                <a:gd name="connsiteX3-995" fmla="*/ 2787650 w 2829377"/>
                <a:gd name="connsiteY3-996" fmla="*/ 393700 h 2254250"/>
                <a:gd name="connsiteX4-997" fmla="*/ 2378710 w 2829377"/>
                <a:gd name="connsiteY4-998" fmla="*/ 298450 h 2254250"/>
                <a:gd name="connsiteX5-999" fmla="*/ 2332990 w 2829377"/>
                <a:gd name="connsiteY5-1000" fmla="*/ 391160 h 2254250"/>
                <a:gd name="connsiteX6-1001" fmla="*/ 2249170 w 2829377"/>
                <a:gd name="connsiteY6-1002" fmla="*/ 482600 h 2254250"/>
                <a:gd name="connsiteX7-1003" fmla="*/ 2090420 w 2829377"/>
                <a:gd name="connsiteY7-1004" fmla="*/ 496570 h 2254250"/>
                <a:gd name="connsiteX8-1005" fmla="*/ 1784350 w 2829377"/>
                <a:gd name="connsiteY8-1006" fmla="*/ 422910 h 2254250"/>
                <a:gd name="connsiteX9-1007" fmla="*/ 1677670 w 2829377"/>
                <a:gd name="connsiteY9-1008" fmla="*/ 523240 h 2254250"/>
                <a:gd name="connsiteX10-1009" fmla="*/ 1579880 w 2829377"/>
                <a:gd name="connsiteY10-1010" fmla="*/ 692150 h 2254250"/>
                <a:gd name="connsiteX11-1011" fmla="*/ 1360170 w 2829377"/>
                <a:gd name="connsiteY11-1012" fmla="*/ 680720 h 2254250"/>
                <a:gd name="connsiteX12-1013" fmla="*/ 1239520 w 2829377"/>
                <a:gd name="connsiteY12-1014" fmla="*/ 687070 h 2254250"/>
                <a:gd name="connsiteX13-1015" fmla="*/ 831850 w 2829377"/>
                <a:gd name="connsiteY13-1016" fmla="*/ 641350 h 2254250"/>
                <a:gd name="connsiteX14-1017" fmla="*/ 742950 w 2829377"/>
                <a:gd name="connsiteY14-1018" fmla="*/ 596900 h 2254250"/>
                <a:gd name="connsiteX15-1019" fmla="*/ 704850 w 2829377"/>
                <a:gd name="connsiteY15-1020" fmla="*/ 685800 h 2254250"/>
                <a:gd name="connsiteX16-1021" fmla="*/ 735330 w 2829377"/>
                <a:gd name="connsiteY16-1022" fmla="*/ 948690 h 2254250"/>
                <a:gd name="connsiteX17-1023" fmla="*/ 781050 w 2829377"/>
                <a:gd name="connsiteY17-1024" fmla="*/ 1231900 h 2254250"/>
                <a:gd name="connsiteX18-1025" fmla="*/ 819150 w 2829377"/>
                <a:gd name="connsiteY18-1026" fmla="*/ 1409700 h 2254250"/>
                <a:gd name="connsiteX19-1027" fmla="*/ 800100 w 2829377"/>
                <a:gd name="connsiteY19-1028" fmla="*/ 1466850 h 2254250"/>
                <a:gd name="connsiteX20-1029" fmla="*/ 749300 w 2829377"/>
                <a:gd name="connsiteY20-1030" fmla="*/ 1524000 h 2254250"/>
                <a:gd name="connsiteX21-1031" fmla="*/ 615950 w 2829377"/>
                <a:gd name="connsiteY21-1032" fmla="*/ 1524000 h 2254250"/>
                <a:gd name="connsiteX22-1033" fmla="*/ 463550 w 2829377"/>
                <a:gd name="connsiteY22-1034" fmla="*/ 1530350 h 2254250"/>
                <a:gd name="connsiteX23-1035" fmla="*/ 279400 w 2829377"/>
                <a:gd name="connsiteY23-1036" fmla="*/ 1631950 h 2254250"/>
                <a:gd name="connsiteX24-1037" fmla="*/ 114300 w 2829377"/>
                <a:gd name="connsiteY24-1038" fmla="*/ 1879600 h 2254250"/>
                <a:gd name="connsiteX25-1039" fmla="*/ 0 w 2829377"/>
                <a:gd name="connsiteY25-1040" fmla="*/ 2254250 h 2254250"/>
                <a:gd name="connsiteX0-1041" fmla="*/ 2110740 w 2873089"/>
                <a:gd name="connsiteY0-1042" fmla="*/ 0 h 2661920"/>
                <a:gd name="connsiteX1-1043" fmla="*/ 2819400 w 2873089"/>
                <a:gd name="connsiteY1-1044" fmla="*/ 560070 h 2661920"/>
                <a:gd name="connsiteX2-1045" fmla="*/ 2819400 w 2873089"/>
                <a:gd name="connsiteY2-1046" fmla="*/ 706120 h 2661920"/>
                <a:gd name="connsiteX3-1047" fmla="*/ 2787650 w 2873089"/>
                <a:gd name="connsiteY3-1048" fmla="*/ 801370 h 2661920"/>
                <a:gd name="connsiteX4-1049" fmla="*/ 2378710 w 2873089"/>
                <a:gd name="connsiteY4-1050" fmla="*/ 706120 h 2661920"/>
                <a:gd name="connsiteX5-1051" fmla="*/ 2332990 w 2873089"/>
                <a:gd name="connsiteY5-1052" fmla="*/ 798830 h 2661920"/>
                <a:gd name="connsiteX6-1053" fmla="*/ 2249170 w 2873089"/>
                <a:gd name="connsiteY6-1054" fmla="*/ 890270 h 2661920"/>
                <a:gd name="connsiteX7-1055" fmla="*/ 2090420 w 2873089"/>
                <a:gd name="connsiteY7-1056" fmla="*/ 904240 h 2661920"/>
                <a:gd name="connsiteX8-1057" fmla="*/ 1784350 w 2873089"/>
                <a:gd name="connsiteY8-1058" fmla="*/ 830580 h 2661920"/>
                <a:gd name="connsiteX9-1059" fmla="*/ 1677670 w 2873089"/>
                <a:gd name="connsiteY9-1060" fmla="*/ 930910 h 2661920"/>
                <a:gd name="connsiteX10-1061" fmla="*/ 1579880 w 2873089"/>
                <a:gd name="connsiteY10-1062" fmla="*/ 1099820 h 2661920"/>
                <a:gd name="connsiteX11-1063" fmla="*/ 1360170 w 2873089"/>
                <a:gd name="connsiteY11-1064" fmla="*/ 1088390 h 2661920"/>
                <a:gd name="connsiteX12-1065" fmla="*/ 1239520 w 2873089"/>
                <a:gd name="connsiteY12-1066" fmla="*/ 1094740 h 2661920"/>
                <a:gd name="connsiteX13-1067" fmla="*/ 831850 w 2873089"/>
                <a:gd name="connsiteY13-1068" fmla="*/ 1049020 h 2661920"/>
                <a:gd name="connsiteX14-1069" fmla="*/ 742950 w 2873089"/>
                <a:gd name="connsiteY14-1070" fmla="*/ 1004570 h 2661920"/>
                <a:gd name="connsiteX15-1071" fmla="*/ 704850 w 2873089"/>
                <a:gd name="connsiteY15-1072" fmla="*/ 1093470 h 2661920"/>
                <a:gd name="connsiteX16-1073" fmla="*/ 735330 w 2873089"/>
                <a:gd name="connsiteY16-1074" fmla="*/ 1356360 h 2661920"/>
                <a:gd name="connsiteX17-1075" fmla="*/ 781050 w 2873089"/>
                <a:gd name="connsiteY17-1076" fmla="*/ 1639570 h 2661920"/>
                <a:gd name="connsiteX18-1077" fmla="*/ 819150 w 2873089"/>
                <a:gd name="connsiteY18-1078" fmla="*/ 1817370 h 2661920"/>
                <a:gd name="connsiteX19-1079" fmla="*/ 800100 w 2873089"/>
                <a:gd name="connsiteY19-1080" fmla="*/ 1874520 h 2661920"/>
                <a:gd name="connsiteX20-1081" fmla="*/ 749300 w 2873089"/>
                <a:gd name="connsiteY20-1082" fmla="*/ 1931670 h 2661920"/>
                <a:gd name="connsiteX21-1083" fmla="*/ 615950 w 2873089"/>
                <a:gd name="connsiteY21-1084" fmla="*/ 1931670 h 2661920"/>
                <a:gd name="connsiteX22-1085" fmla="*/ 463550 w 2873089"/>
                <a:gd name="connsiteY22-1086" fmla="*/ 1938020 h 2661920"/>
                <a:gd name="connsiteX23-1087" fmla="*/ 279400 w 2873089"/>
                <a:gd name="connsiteY23-1088" fmla="*/ 2039620 h 2661920"/>
                <a:gd name="connsiteX24-1089" fmla="*/ 114300 w 2873089"/>
                <a:gd name="connsiteY24-1090" fmla="*/ 2287270 h 2661920"/>
                <a:gd name="connsiteX25-1091" fmla="*/ 0 w 2873089"/>
                <a:gd name="connsiteY25-1092" fmla="*/ 2661920 h 2661920"/>
                <a:gd name="connsiteX0-1093" fmla="*/ 2110740 w 2873843"/>
                <a:gd name="connsiteY0-1094" fmla="*/ 0 h 2661920"/>
                <a:gd name="connsiteX1-1095" fmla="*/ 2171700 w 2873843"/>
                <a:gd name="connsiteY1-1096" fmla="*/ 217170 h 2661920"/>
                <a:gd name="connsiteX2-1097" fmla="*/ 2819400 w 2873843"/>
                <a:gd name="connsiteY2-1098" fmla="*/ 706120 h 2661920"/>
                <a:gd name="connsiteX3-1099" fmla="*/ 2787650 w 2873843"/>
                <a:gd name="connsiteY3-1100" fmla="*/ 801370 h 2661920"/>
                <a:gd name="connsiteX4-1101" fmla="*/ 2378710 w 2873843"/>
                <a:gd name="connsiteY4-1102" fmla="*/ 706120 h 2661920"/>
                <a:gd name="connsiteX5-1103" fmla="*/ 2332990 w 2873843"/>
                <a:gd name="connsiteY5-1104" fmla="*/ 798830 h 2661920"/>
                <a:gd name="connsiteX6-1105" fmla="*/ 2249170 w 2873843"/>
                <a:gd name="connsiteY6-1106" fmla="*/ 890270 h 2661920"/>
                <a:gd name="connsiteX7-1107" fmla="*/ 2090420 w 2873843"/>
                <a:gd name="connsiteY7-1108" fmla="*/ 904240 h 2661920"/>
                <a:gd name="connsiteX8-1109" fmla="*/ 1784350 w 2873843"/>
                <a:gd name="connsiteY8-1110" fmla="*/ 830580 h 2661920"/>
                <a:gd name="connsiteX9-1111" fmla="*/ 1677670 w 2873843"/>
                <a:gd name="connsiteY9-1112" fmla="*/ 930910 h 2661920"/>
                <a:gd name="connsiteX10-1113" fmla="*/ 1579880 w 2873843"/>
                <a:gd name="connsiteY10-1114" fmla="*/ 1099820 h 2661920"/>
                <a:gd name="connsiteX11-1115" fmla="*/ 1360170 w 2873843"/>
                <a:gd name="connsiteY11-1116" fmla="*/ 1088390 h 2661920"/>
                <a:gd name="connsiteX12-1117" fmla="*/ 1239520 w 2873843"/>
                <a:gd name="connsiteY12-1118" fmla="*/ 1094740 h 2661920"/>
                <a:gd name="connsiteX13-1119" fmla="*/ 831850 w 2873843"/>
                <a:gd name="connsiteY13-1120" fmla="*/ 1049020 h 2661920"/>
                <a:gd name="connsiteX14-1121" fmla="*/ 742950 w 2873843"/>
                <a:gd name="connsiteY14-1122" fmla="*/ 1004570 h 2661920"/>
                <a:gd name="connsiteX15-1123" fmla="*/ 704850 w 2873843"/>
                <a:gd name="connsiteY15-1124" fmla="*/ 1093470 h 2661920"/>
                <a:gd name="connsiteX16-1125" fmla="*/ 735330 w 2873843"/>
                <a:gd name="connsiteY16-1126" fmla="*/ 1356360 h 2661920"/>
                <a:gd name="connsiteX17-1127" fmla="*/ 781050 w 2873843"/>
                <a:gd name="connsiteY17-1128" fmla="*/ 1639570 h 2661920"/>
                <a:gd name="connsiteX18-1129" fmla="*/ 819150 w 2873843"/>
                <a:gd name="connsiteY18-1130" fmla="*/ 1817370 h 2661920"/>
                <a:gd name="connsiteX19-1131" fmla="*/ 800100 w 2873843"/>
                <a:gd name="connsiteY19-1132" fmla="*/ 1874520 h 2661920"/>
                <a:gd name="connsiteX20-1133" fmla="*/ 749300 w 2873843"/>
                <a:gd name="connsiteY20-1134" fmla="*/ 1931670 h 2661920"/>
                <a:gd name="connsiteX21-1135" fmla="*/ 615950 w 2873843"/>
                <a:gd name="connsiteY21-1136" fmla="*/ 1931670 h 2661920"/>
                <a:gd name="connsiteX22-1137" fmla="*/ 463550 w 2873843"/>
                <a:gd name="connsiteY22-1138" fmla="*/ 1938020 h 2661920"/>
                <a:gd name="connsiteX23-1139" fmla="*/ 279400 w 2873843"/>
                <a:gd name="connsiteY23-1140" fmla="*/ 2039620 h 2661920"/>
                <a:gd name="connsiteX24-1141" fmla="*/ 114300 w 2873843"/>
                <a:gd name="connsiteY24-1142" fmla="*/ 2287270 h 2661920"/>
                <a:gd name="connsiteX25-1143" fmla="*/ 0 w 2873843"/>
                <a:gd name="connsiteY25-1144" fmla="*/ 2661920 h 2661920"/>
                <a:gd name="connsiteX0-1145" fmla="*/ 2110740 w 2788916"/>
                <a:gd name="connsiteY0-1146" fmla="*/ 0 h 2661920"/>
                <a:gd name="connsiteX1-1147" fmla="*/ 2171700 w 2788916"/>
                <a:gd name="connsiteY1-1148" fmla="*/ 217170 h 2661920"/>
                <a:gd name="connsiteX2-1149" fmla="*/ 2221230 w 2788916"/>
                <a:gd name="connsiteY2-1150" fmla="*/ 370840 h 2661920"/>
                <a:gd name="connsiteX3-1151" fmla="*/ 2787650 w 2788916"/>
                <a:gd name="connsiteY3-1152" fmla="*/ 801370 h 2661920"/>
                <a:gd name="connsiteX4-1153" fmla="*/ 2378710 w 2788916"/>
                <a:gd name="connsiteY4-1154" fmla="*/ 706120 h 2661920"/>
                <a:gd name="connsiteX5-1155" fmla="*/ 2332990 w 2788916"/>
                <a:gd name="connsiteY5-1156" fmla="*/ 798830 h 2661920"/>
                <a:gd name="connsiteX6-1157" fmla="*/ 2249170 w 2788916"/>
                <a:gd name="connsiteY6-1158" fmla="*/ 890270 h 2661920"/>
                <a:gd name="connsiteX7-1159" fmla="*/ 2090420 w 2788916"/>
                <a:gd name="connsiteY7-1160" fmla="*/ 904240 h 2661920"/>
                <a:gd name="connsiteX8-1161" fmla="*/ 1784350 w 2788916"/>
                <a:gd name="connsiteY8-1162" fmla="*/ 830580 h 2661920"/>
                <a:gd name="connsiteX9-1163" fmla="*/ 1677670 w 2788916"/>
                <a:gd name="connsiteY9-1164" fmla="*/ 930910 h 2661920"/>
                <a:gd name="connsiteX10-1165" fmla="*/ 1579880 w 2788916"/>
                <a:gd name="connsiteY10-1166" fmla="*/ 1099820 h 2661920"/>
                <a:gd name="connsiteX11-1167" fmla="*/ 1360170 w 2788916"/>
                <a:gd name="connsiteY11-1168" fmla="*/ 1088390 h 2661920"/>
                <a:gd name="connsiteX12-1169" fmla="*/ 1239520 w 2788916"/>
                <a:gd name="connsiteY12-1170" fmla="*/ 1094740 h 2661920"/>
                <a:gd name="connsiteX13-1171" fmla="*/ 831850 w 2788916"/>
                <a:gd name="connsiteY13-1172" fmla="*/ 1049020 h 2661920"/>
                <a:gd name="connsiteX14-1173" fmla="*/ 742950 w 2788916"/>
                <a:gd name="connsiteY14-1174" fmla="*/ 1004570 h 2661920"/>
                <a:gd name="connsiteX15-1175" fmla="*/ 704850 w 2788916"/>
                <a:gd name="connsiteY15-1176" fmla="*/ 1093470 h 2661920"/>
                <a:gd name="connsiteX16-1177" fmla="*/ 735330 w 2788916"/>
                <a:gd name="connsiteY16-1178" fmla="*/ 1356360 h 2661920"/>
                <a:gd name="connsiteX17-1179" fmla="*/ 781050 w 2788916"/>
                <a:gd name="connsiteY17-1180" fmla="*/ 1639570 h 2661920"/>
                <a:gd name="connsiteX18-1181" fmla="*/ 819150 w 2788916"/>
                <a:gd name="connsiteY18-1182" fmla="*/ 1817370 h 2661920"/>
                <a:gd name="connsiteX19-1183" fmla="*/ 800100 w 2788916"/>
                <a:gd name="connsiteY19-1184" fmla="*/ 1874520 h 2661920"/>
                <a:gd name="connsiteX20-1185" fmla="*/ 749300 w 2788916"/>
                <a:gd name="connsiteY20-1186" fmla="*/ 1931670 h 2661920"/>
                <a:gd name="connsiteX21-1187" fmla="*/ 615950 w 2788916"/>
                <a:gd name="connsiteY21-1188" fmla="*/ 1931670 h 2661920"/>
                <a:gd name="connsiteX22-1189" fmla="*/ 463550 w 2788916"/>
                <a:gd name="connsiteY22-1190" fmla="*/ 1938020 h 2661920"/>
                <a:gd name="connsiteX23-1191" fmla="*/ 279400 w 2788916"/>
                <a:gd name="connsiteY23-1192" fmla="*/ 2039620 h 2661920"/>
                <a:gd name="connsiteX24-1193" fmla="*/ 114300 w 2788916"/>
                <a:gd name="connsiteY24-1194" fmla="*/ 2287270 h 2661920"/>
                <a:gd name="connsiteX25-1195" fmla="*/ 0 w 2788916"/>
                <a:gd name="connsiteY25-1196" fmla="*/ 2661920 h 2661920"/>
                <a:gd name="connsiteX0-1197" fmla="*/ 2110740 w 2380138"/>
                <a:gd name="connsiteY0-1198" fmla="*/ 0 h 2661920"/>
                <a:gd name="connsiteX1-1199" fmla="*/ 2171700 w 2380138"/>
                <a:gd name="connsiteY1-1200" fmla="*/ 217170 h 2661920"/>
                <a:gd name="connsiteX2-1201" fmla="*/ 2221230 w 2380138"/>
                <a:gd name="connsiteY2-1202" fmla="*/ 370840 h 2661920"/>
                <a:gd name="connsiteX3-1203" fmla="*/ 2280920 w 2380138"/>
                <a:gd name="connsiteY3-1204" fmla="*/ 515620 h 2661920"/>
                <a:gd name="connsiteX4-1205" fmla="*/ 2378710 w 2380138"/>
                <a:gd name="connsiteY4-1206" fmla="*/ 706120 h 2661920"/>
                <a:gd name="connsiteX5-1207" fmla="*/ 2332990 w 2380138"/>
                <a:gd name="connsiteY5-1208" fmla="*/ 798830 h 2661920"/>
                <a:gd name="connsiteX6-1209" fmla="*/ 2249170 w 2380138"/>
                <a:gd name="connsiteY6-1210" fmla="*/ 890270 h 2661920"/>
                <a:gd name="connsiteX7-1211" fmla="*/ 2090420 w 2380138"/>
                <a:gd name="connsiteY7-1212" fmla="*/ 904240 h 2661920"/>
                <a:gd name="connsiteX8-1213" fmla="*/ 1784350 w 2380138"/>
                <a:gd name="connsiteY8-1214" fmla="*/ 830580 h 2661920"/>
                <a:gd name="connsiteX9-1215" fmla="*/ 1677670 w 2380138"/>
                <a:gd name="connsiteY9-1216" fmla="*/ 930910 h 2661920"/>
                <a:gd name="connsiteX10-1217" fmla="*/ 1579880 w 2380138"/>
                <a:gd name="connsiteY10-1218" fmla="*/ 1099820 h 2661920"/>
                <a:gd name="connsiteX11-1219" fmla="*/ 1360170 w 2380138"/>
                <a:gd name="connsiteY11-1220" fmla="*/ 1088390 h 2661920"/>
                <a:gd name="connsiteX12-1221" fmla="*/ 1239520 w 2380138"/>
                <a:gd name="connsiteY12-1222" fmla="*/ 1094740 h 2661920"/>
                <a:gd name="connsiteX13-1223" fmla="*/ 831850 w 2380138"/>
                <a:gd name="connsiteY13-1224" fmla="*/ 1049020 h 2661920"/>
                <a:gd name="connsiteX14-1225" fmla="*/ 742950 w 2380138"/>
                <a:gd name="connsiteY14-1226" fmla="*/ 1004570 h 2661920"/>
                <a:gd name="connsiteX15-1227" fmla="*/ 704850 w 2380138"/>
                <a:gd name="connsiteY15-1228" fmla="*/ 1093470 h 2661920"/>
                <a:gd name="connsiteX16-1229" fmla="*/ 735330 w 2380138"/>
                <a:gd name="connsiteY16-1230" fmla="*/ 1356360 h 2661920"/>
                <a:gd name="connsiteX17-1231" fmla="*/ 781050 w 2380138"/>
                <a:gd name="connsiteY17-1232" fmla="*/ 1639570 h 2661920"/>
                <a:gd name="connsiteX18-1233" fmla="*/ 819150 w 2380138"/>
                <a:gd name="connsiteY18-1234" fmla="*/ 1817370 h 2661920"/>
                <a:gd name="connsiteX19-1235" fmla="*/ 800100 w 2380138"/>
                <a:gd name="connsiteY19-1236" fmla="*/ 1874520 h 2661920"/>
                <a:gd name="connsiteX20-1237" fmla="*/ 749300 w 2380138"/>
                <a:gd name="connsiteY20-1238" fmla="*/ 1931670 h 2661920"/>
                <a:gd name="connsiteX21-1239" fmla="*/ 615950 w 2380138"/>
                <a:gd name="connsiteY21-1240" fmla="*/ 1931670 h 2661920"/>
                <a:gd name="connsiteX22-1241" fmla="*/ 463550 w 2380138"/>
                <a:gd name="connsiteY22-1242" fmla="*/ 1938020 h 2661920"/>
                <a:gd name="connsiteX23-1243" fmla="*/ 279400 w 2380138"/>
                <a:gd name="connsiteY23-1244" fmla="*/ 2039620 h 2661920"/>
                <a:gd name="connsiteX24-1245" fmla="*/ 114300 w 2380138"/>
                <a:gd name="connsiteY24-1246" fmla="*/ 2287270 h 2661920"/>
                <a:gd name="connsiteX25-1247" fmla="*/ 0 w 2380138"/>
                <a:gd name="connsiteY25-1248" fmla="*/ 2661920 h 2661920"/>
                <a:gd name="connsiteX0-1249" fmla="*/ 2110740 w 2341595"/>
                <a:gd name="connsiteY0-1250" fmla="*/ 0 h 2661920"/>
                <a:gd name="connsiteX1-1251" fmla="*/ 2171700 w 2341595"/>
                <a:gd name="connsiteY1-1252" fmla="*/ 217170 h 2661920"/>
                <a:gd name="connsiteX2-1253" fmla="*/ 2221230 w 2341595"/>
                <a:gd name="connsiteY2-1254" fmla="*/ 370840 h 2661920"/>
                <a:gd name="connsiteX3-1255" fmla="*/ 2280920 w 2341595"/>
                <a:gd name="connsiteY3-1256" fmla="*/ 515620 h 2661920"/>
                <a:gd name="connsiteX4-1257" fmla="*/ 2332990 w 2341595"/>
                <a:gd name="connsiteY4-1258" fmla="*/ 687070 h 2661920"/>
                <a:gd name="connsiteX5-1259" fmla="*/ 2332990 w 2341595"/>
                <a:gd name="connsiteY5-1260" fmla="*/ 798830 h 2661920"/>
                <a:gd name="connsiteX6-1261" fmla="*/ 2249170 w 2341595"/>
                <a:gd name="connsiteY6-1262" fmla="*/ 890270 h 2661920"/>
                <a:gd name="connsiteX7-1263" fmla="*/ 2090420 w 2341595"/>
                <a:gd name="connsiteY7-1264" fmla="*/ 904240 h 2661920"/>
                <a:gd name="connsiteX8-1265" fmla="*/ 1784350 w 2341595"/>
                <a:gd name="connsiteY8-1266" fmla="*/ 830580 h 2661920"/>
                <a:gd name="connsiteX9-1267" fmla="*/ 1677670 w 2341595"/>
                <a:gd name="connsiteY9-1268" fmla="*/ 930910 h 2661920"/>
                <a:gd name="connsiteX10-1269" fmla="*/ 1579880 w 2341595"/>
                <a:gd name="connsiteY10-1270" fmla="*/ 1099820 h 2661920"/>
                <a:gd name="connsiteX11-1271" fmla="*/ 1360170 w 2341595"/>
                <a:gd name="connsiteY11-1272" fmla="*/ 1088390 h 2661920"/>
                <a:gd name="connsiteX12-1273" fmla="*/ 1239520 w 2341595"/>
                <a:gd name="connsiteY12-1274" fmla="*/ 1094740 h 2661920"/>
                <a:gd name="connsiteX13-1275" fmla="*/ 831850 w 2341595"/>
                <a:gd name="connsiteY13-1276" fmla="*/ 1049020 h 2661920"/>
                <a:gd name="connsiteX14-1277" fmla="*/ 742950 w 2341595"/>
                <a:gd name="connsiteY14-1278" fmla="*/ 1004570 h 2661920"/>
                <a:gd name="connsiteX15-1279" fmla="*/ 704850 w 2341595"/>
                <a:gd name="connsiteY15-1280" fmla="*/ 1093470 h 2661920"/>
                <a:gd name="connsiteX16-1281" fmla="*/ 735330 w 2341595"/>
                <a:gd name="connsiteY16-1282" fmla="*/ 1356360 h 2661920"/>
                <a:gd name="connsiteX17-1283" fmla="*/ 781050 w 2341595"/>
                <a:gd name="connsiteY17-1284" fmla="*/ 1639570 h 2661920"/>
                <a:gd name="connsiteX18-1285" fmla="*/ 819150 w 2341595"/>
                <a:gd name="connsiteY18-1286" fmla="*/ 1817370 h 2661920"/>
                <a:gd name="connsiteX19-1287" fmla="*/ 800100 w 2341595"/>
                <a:gd name="connsiteY19-1288" fmla="*/ 1874520 h 2661920"/>
                <a:gd name="connsiteX20-1289" fmla="*/ 749300 w 2341595"/>
                <a:gd name="connsiteY20-1290" fmla="*/ 1931670 h 2661920"/>
                <a:gd name="connsiteX21-1291" fmla="*/ 615950 w 2341595"/>
                <a:gd name="connsiteY21-1292" fmla="*/ 1931670 h 2661920"/>
                <a:gd name="connsiteX22-1293" fmla="*/ 463550 w 2341595"/>
                <a:gd name="connsiteY22-1294" fmla="*/ 1938020 h 2661920"/>
                <a:gd name="connsiteX23-1295" fmla="*/ 279400 w 2341595"/>
                <a:gd name="connsiteY23-1296" fmla="*/ 2039620 h 2661920"/>
                <a:gd name="connsiteX24-1297" fmla="*/ 114300 w 2341595"/>
                <a:gd name="connsiteY24-1298" fmla="*/ 2287270 h 2661920"/>
                <a:gd name="connsiteX25-1299" fmla="*/ 0 w 2341595"/>
                <a:gd name="connsiteY25-1300" fmla="*/ 2661920 h 2661920"/>
                <a:gd name="connsiteX0-1301" fmla="*/ 2110740 w 2341595"/>
                <a:gd name="connsiteY0-1302" fmla="*/ 0 h 2661920"/>
                <a:gd name="connsiteX1-1303" fmla="*/ 2171700 w 2341595"/>
                <a:gd name="connsiteY1-1304" fmla="*/ 217170 h 2661920"/>
                <a:gd name="connsiteX2-1305" fmla="*/ 2213610 w 2341595"/>
                <a:gd name="connsiteY2-1306" fmla="*/ 317500 h 2661920"/>
                <a:gd name="connsiteX3-1307" fmla="*/ 2280920 w 2341595"/>
                <a:gd name="connsiteY3-1308" fmla="*/ 515620 h 2661920"/>
                <a:gd name="connsiteX4-1309" fmla="*/ 2332990 w 2341595"/>
                <a:gd name="connsiteY4-1310" fmla="*/ 687070 h 2661920"/>
                <a:gd name="connsiteX5-1311" fmla="*/ 2332990 w 2341595"/>
                <a:gd name="connsiteY5-1312" fmla="*/ 798830 h 2661920"/>
                <a:gd name="connsiteX6-1313" fmla="*/ 2249170 w 2341595"/>
                <a:gd name="connsiteY6-1314" fmla="*/ 890270 h 2661920"/>
                <a:gd name="connsiteX7-1315" fmla="*/ 2090420 w 2341595"/>
                <a:gd name="connsiteY7-1316" fmla="*/ 904240 h 2661920"/>
                <a:gd name="connsiteX8-1317" fmla="*/ 1784350 w 2341595"/>
                <a:gd name="connsiteY8-1318" fmla="*/ 830580 h 2661920"/>
                <a:gd name="connsiteX9-1319" fmla="*/ 1677670 w 2341595"/>
                <a:gd name="connsiteY9-1320" fmla="*/ 930910 h 2661920"/>
                <a:gd name="connsiteX10-1321" fmla="*/ 1579880 w 2341595"/>
                <a:gd name="connsiteY10-1322" fmla="*/ 1099820 h 2661920"/>
                <a:gd name="connsiteX11-1323" fmla="*/ 1360170 w 2341595"/>
                <a:gd name="connsiteY11-1324" fmla="*/ 1088390 h 2661920"/>
                <a:gd name="connsiteX12-1325" fmla="*/ 1239520 w 2341595"/>
                <a:gd name="connsiteY12-1326" fmla="*/ 1094740 h 2661920"/>
                <a:gd name="connsiteX13-1327" fmla="*/ 831850 w 2341595"/>
                <a:gd name="connsiteY13-1328" fmla="*/ 1049020 h 2661920"/>
                <a:gd name="connsiteX14-1329" fmla="*/ 742950 w 2341595"/>
                <a:gd name="connsiteY14-1330" fmla="*/ 1004570 h 2661920"/>
                <a:gd name="connsiteX15-1331" fmla="*/ 704850 w 2341595"/>
                <a:gd name="connsiteY15-1332" fmla="*/ 1093470 h 2661920"/>
                <a:gd name="connsiteX16-1333" fmla="*/ 735330 w 2341595"/>
                <a:gd name="connsiteY16-1334" fmla="*/ 1356360 h 2661920"/>
                <a:gd name="connsiteX17-1335" fmla="*/ 781050 w 2341595"/>
                <a:gd name="connsiteY17-1336" fmla="*/ 1639570 h 2661920"/>
                <a:gd name="connsiteX18-1337" fmla="*/ 819150 w 2341595"/>
                <a:gd name="connsiteY18-1338" fmla="*/ 1817370 h 2661920"/>
                <a:gd name="connsiteX19-1339" fmla="*/ 800100 w 2341595"/>
                <a:gd name="connsiteY19-1340" fmla="*/ 1874520 h 2661920"/>
                <a:gd name="connsiteX20-1341" fmla="*/ 749300 w 2341595"/>
                <a:gd name="connsiteY20-1342" fmla="*/ 1931670 h 2661920"/>
                <a:gd name="connsiteX21-1343" fmla="*/ 615950 w 2341595"/>
                <a:gd name="connsiteY21-1344" fmla="*/ 1931670 h 2661920"/>
                <a:gd name="connsiteX22-1345" fmla="*/ 463550 w 2341595"/>
                <a:gd name="connsiteY22-1346" fmla="*/ 1938020 h 2661920"/>
                <a:gd name="connsiteX23-1347" fmla="*/ 279400 w 2341595"/>
                <a:gd name="connsiteY23-1348" fmla="*/ 2039620 h 2661920"/>
                <a:gd name="connsiteX24-1349" fmla="*/ 114300 w 2341595"/>
                <a:gd name="connsiteY24-1350" fmla="*/ 2287270 h 2661920"/>
                <a:gd name="connsiteX25-1351" fmla="*/ 0 w 2341595"/>
                <a:gd name="connsiteY25-1352" fmla="*/ 2661920 h 2661920"/>
                <a:gd name="connsiteX0-1353" fmla="*/ 2110740 w 2341595"/>
                <a:gd name="connsiteY0-1354" fmla="*/ 0 h 2661920"/>
                <a:gd name="connsiteX1-1355" fmla="*/ 2156460 w 2341595"/>
                <a:gd name="connsiteY1-1356" fmla="*/ 133350 h 2661920"/>
                <a:gd name="connsiteX2-1357" fmla="*/ 2213610 w 2341595"/>
                <a:gd name="connsiteY2-1358" fmla="*/ 317500 h 2661920"/>
                <a:gd name="connsiteX3-1359" fmla="*/ 2280920 w 2341595"/>
                <a:gd name="connsiteY3-1360" fmla="*/ 515620 h 2661920"/>
                <a:gd name="connsiteX4-1361" fmla="*/ 2332990 w 2341595"/>
                <a:gd name="connsiteY4-1362" fmla="*/ 687070 h 2661920"/>
                <a:gd name="connsiteX5-1363" fmla="*/ 2332990 w 2341595"/>
                <a:gd name="connsiteY5-1364" fmla="*/ 798830 h 2661920"/>
                <a:gd name="connsiteX6-1365" fmla="*/ 2249170 w 2341595"/>
                <a:gd name="connsiteY6-1366" fmla="*/ 890270 h 2661920"/>
                <a:gd name="connsiteX7-1367" fmla="*/ 2090420 w 2341595"/>
                <a:gd name="connsiteY7-1368" fmla="*/ 904240 h 2661920"/>
                <a:gd name="connsiteX8-1369" fmla="*/ 1784350 w 2341595"/>
                <a:gd name="connsiteY8-1370" fmla="*/ 830580 h 2661920"/>
                <a:gd name="connsiteX9-1371" fmla="*/ 1677670 w 2341595"/>
                <a:gd name="connsiteY9-1372" fmla="*/ 930910 h 2661920"/>
                <a:gd name="connsiteX10-1373" fmla="*/ 1579880 w 2341595"/>
                <a:gd name="connsiteY10-1374" fmla="*/ 1099820 h 2661920"/>
                <a:gd name="connsiteX11-1375" fmla="*/ 1360170 w 2341595"/>
                <a:gd name="connsiteY11-1376" fmla="*/ 1088390 h 2661920"/>
                <a:gd name="connsiteX12-1377" fmla="*/ 1239520 w 2341595"/>
                <a:gd name="connsiteY12-1378" fmla="*/ 1094740 h 2661920"/>
                <a:gd name="connsiteX13-1379" fmla="*/ 831850 w 2341595"/>
                <a:gd name="connsiteY13-1380" fmla="*/ 1049020 h 2661920"/>
                <a:gd name="connsiteX14-1381" fmla="*/ 742950 w 2341595"/>
                <a:gd name="connsiteY14-1382" fmla="*/ 1004570 h 2661920"/>
                <a:gd name="connsiteX15-1383" fmla="*/ 704850 w 2341595"/>
                <a:gd name="connsiteY15-1384" fmla="*/ 1093470 h 2661920"/>
                <a:gd name="connsiteX16-1385" fmla="*/ 735330 w 2341595"/>
                <a:gd name="connsiteY16-1386" fmla="*/ 1356360 h 2661920"/>
                <a:gd name="connsiteX17-1387" fmla="*/ 781050 w 2341595"/>
                <a:gd name="connsiteY17-1388" fmla="*/ 1639570 h 2661920"/>
                <a:gd name="connsiteX18-1389" fmla="*/ 819150 w 2341595"/>
                <a:gd name="connsiteY18-1390" fmla="*/ 1817370 h 2661920"/>
                <a:gd name="connsiteX19-1391" fmla="*/ 800100 w 2341595"/>
                <a:gd name="connsiteY19-1392" fmla="*/ 1874520 h 2661920"/>
                <a:gd name="connsiteX20-1393" fmla="*/ 749300 w 2341595"/>
                <a:gd name="connsiteY20-1394" fmla="*/ 1931670 h 2661920"/>
                <a:gd name="connsiteX21-1395" fmla="*/ 615950 w 2341595"/>
                <a:gd name="connsiteY21-1396" fmla="*/ 1931670 h 2661920"/>
                <a:gd name="connsiteX22-1397" fmla="*/ 463550 w 2341595"/>
                <a:gd name="connsiteY22-1398" fmla="*/ 1938020 h 2661920"/>
                <a:gd name="connsiteX23-1399" fmla="*/ 279400 w 2341595"/>
                <a:gd name="connsiteY23-1400" fmla="*/ 2039620 h 2661920"/>
                <a:gd name="connsiteX24-1401" fmla="*/ 114300 w 2341595"/>
                <a:gd name="connsiteY24-1402" fmla="*/ 2287270 h 2661920"/>
                <a:gd name="connsiteX25-1403" fmla="*/ 0 w 2341595"/>
                <a:gd name="connsiteY25-1404" fmla="*/ 2661920 h 2661920"/>
                <a:gd name="connsiteX0-1405" fmla="*/ 2103120 w 2341595"/>
                <a:gd name="connsiteY0-1406" fmla="*/ 0 h 2764790"/>
                <a:gd name="connsiteX1-1407" fmla="*/ 2156460 w 2341595"/>
                <a:gd name="connsiteY1-1408" fmla="*/ 236220 h 2764790"/>
                <a:gd name="connsiteX2-1409" fmla="*/ 2213610 w 2341595"/>
                <a:gd name="connsiteY2-1410" fmla="*/ 420370 h 2764790"/>
                <a:gd name="connsiteX3-1411" fmla="*/ 2280920 w 2341595"/>
                <a:gd name="connsiteY3-1412" fmla="*/ 618490 h 2764790"/>
                <a:gd name="connsiteX4-1413" fmla="*/ 2332990 w 2341595"/>
                <a:gd name="connsiteY4-1414" fmla="*/ 789940 h 2764790"/>
                <a:gd name="connsiteX5-1415" fmla="*/ 2332990 w 2341595"/>
                <a:gd name="connsiteY5-1416" fmla="*/ 901700 h 2764790"/>
                <a:gd name="connsiteX6-1417" fmla="*/ 2249170 w 2341595"/>
                <a:gd name="connsiteY6-1418" fmla="*/ 993140 h 2764790"/>
                <a:gd name="connsiteX7-1419" fmla="*/ 2090420 w 2341595"/>
                <a:gd name="connsiteY7-1420" fmla="*/ 1007110 h 2764790"/>
                <a:gd name="connsiteX8-1421" fmla="*/ 1784350 w 2341595"/>
                <a:gd name="connsiteY8-1422" fmla="*/ 933450 h 2764790"/>
                <a:gd name="connsiteX9-1423" fmla="*/ 1677670 w 2341595"/>
                <a:gd name="connsiteY9-1424" fmla="*/ 1033780 h 2764790"/>
                <a:gd name="connsiteX10-1425" fmla="*/ 1579880 w 2341595"/>
                <a:gd name="connsiteY10-1426" fmla="*/ 1202690 h 2764790"/>
                <a:gd name="connsiteX11-1427" fmla="*/ 1360170 w 2341595"/>
                <a:gd name="connsiteY11-1428" fmla="*/ 1191260 h 2764790"/>
                <a:gd name="connsiteX12-1429" fmla="*/ 1239520 w 2341595"/>
                <a:gd name="connsiteY12-1430" fmla="*/ 1197610 h 2764790"/>
                <a:gd name="connsiteX13-1431" fmla="*/ 831850 w 2341595"/>
                <a:gd name="connsiteY13-1432" fmla="*/ 1151890 h 2764790"/>
                <a:gd name="connsiteX14-1433" fmla="*/ 742950 w 2341595"/>
                <a:gd name="connsiteY14-1434" fmla="*/ 1107440 h 2764790"/>
                <a:gd name="connsiteX15-1435" fmla="*/ 704850 w 2341595"/>
                <a:gd name="connsiteY15-1436" fmla="*/ 1196340 h 2764790"/>
                <a:gd name="connsiteX16-1437" fmla="*/ 735330 w 2341595"/>
                <a:gd name="connsiteY16-1438" fmla="*/ 1459230 h 2764790"/>
                <a:gd name="connsiteX17-1439" fmla="*/ 781050 w 2341595"/>
                <a:gd name="connsiteY17-1440" fmla="*/ 1742440 h 2764790"/>
                <a:gd name="connsiteX18-1441" fmla="*/ 819150 w 2341595"/>
                <a:gd name="connsiteY18-1442" fmla="*/ 1920240 h 2764790"/>
                <a:gd name="connsiteX19-1443" fmla="*/ 800100 w 2341595"/>
                <a:gd name="connsiteY19-1444" fmla="*/ 1977390 h 2764790"/>
                <a:gd name="connsiteX20-1445" fmla="*/ 749300 w 2341595"/>
                <a:gd name="connsiteY20-1446" fmla="*/ 2034540 h 2764790"/>
                <a:gd name="connsiteX21-1447" fmla="*/ 615950 w 2341595"/>
                <a:gd name="connsiteY21-1448" fmla="*/ 2034540 h 2764790"/>
                <a:gd name="connsiteX22-1449" fmla="*/ 463550 w 2341595"/>
                <a:gd name="connsiteY22-1450" fmla="*/ 2040890 h 2764790"/>
                <a:gd name="connsiteX23-1451" fmla="*/ 279400 w 2341595"/>
                <a:gd name="connsiteY23-1452" fmla="*/ 2142490 h 2764790"/>
                <a:gd name="connsiteX24-1453" fmla="*/ 114300 w 2341595"/>
                <a:gd name="connsiteY24-1454" fmla="*/ 2390140 h 2764790"/>
                <a:gd name="connsiteX25-1455" fmla="*/ 0 w 2341595"/>
                <a:gd name="connsiteY25-1456" fmla="*/ 2764790 h 2764790"/>
                <a:gd name="connsiteX0-1457" fmla="*/ 2103120 w 2341595"/>
                <a:gd name="connsiteY0-1458" fmla="*/ 0 h 2764790"/>
                <a:gd name="connsiteX1-1459" fmla="*/ 2156460 w 2341595"/>
                <a:gd name="connsiteY1-1460" fmla="*/ 236220 h 2764790"/>
                <a:gd name="connsiteX2-1461" fmla="*/ 2213610 w 2341595"/>
                <a:gd name="connsiteY2-1462" fmla="*/ 420370 h 2764790"/>
                <a:gd name="connsiteX3-1463" fmla="*/ 2280920 w 2341595"/>
                <a:gd name="connsiteY3-1464" fmla="*/ 618490 h 2764790"/>
                <a:gd name="connsiteX4-1465" fmla="*/ 2332990 w 2341595"/>
                <a:gd name="connsiteY4-1466" fmla="*/ 789940 h 2764790"/>
                <a:gd name="connsiteX5-1467" fmla="*/ 2332990 w 2341595"/>
                <a:gd name="connsiteY5-1468" fmla="*/ 901700 h 2764790"/>
                <a:gd name="connsiteX6-1469" fmla="*/ 2249170 w 2341595"/>
                <a:gd name="connsiteY6-1470" fmla="*/ 993140 h 2764790"/>
                <a:gd name="connsiteX7-1471" fmla="*/ 2090420 w 2341595"/>
                <a:gd name="connsiteY7-1472" fmla="*/ 1007110 h 2764790"/>
                <a:gd name="connsiteX8-1473" fmla="*/ 1784350 w 2341595"/>
                <a:gd name="connsiteY8-1474" fmla="*/ 933450 h 2764790"/>
                <a:gd name="connsiteX9-1475" fmla="*/ 1677670 w 2341595"/>
                <a:gd name="connsiteY9-1476" fmla="*/ 1033780 h 2764790"/>
                <a:gd name="connsiteX10-1477" fmla="*/ 1579880 w 2341595"/>
                <a:gd name="connsiteY10-1478" fmla="*/ 1202690 h 2764790"/>
                <a:gd name="connsiteX11-1479" fmla="*/ 1360170 w 2341595"/>
                <a:gd name="connsiteY11-1480" fmla="*/ 1191260 h 2764790"/>
                <a:gd name="connsiteX12-1481" fmla="*/ 1239520 w 2341595"/>
                <a:gd name="connsiteY12-1482" fmla="*/ 1197610 h 2764790"/>
                <a:gd name="connsiteX13-1483" fmla="*/ 831850 w 2341595"/>
                <a:gd name="connsiteY13-1484" fmla="*/ 1151890 h 2764790"/>
                <a:gd name="connsiteX14-1485" fmla="*/ 742950 w 2341595"/>
                <a:gd name="connsiteY14-1486" fmla="*/ 1107440 h 2764790"/>
                <a:gd name="connsiteX15-1487" fmla="*/ 704850 w 2341595"/>
                <a:gd name="connsiteY15-1488" fmla="*/ 1196340 h 2764790"/>
                <a:gd name="connsiteX16-1489" fmla="*/ 735330 w 2341595"/>
                <a:gd name="connsiteY16-1490" fmla="*/ 1459230 h 2764790"/>
                <a:gd name="connsiteX17-1491" fmla="*/ 781050 w 2341595"/>
                <a:gd name="connsiteY17-1492" fmla="*/ 1742440 h 2764790"/>
                <a:gd name="connsiteX18-1493" fmla="*/ 819150 w 2341595"/>
                <a:gd name="connsiteY18-1494" fmla="*/ 1920240 h 2764790"/>
                <a:gd name="connsiteX19-1495" fmla="*/ 800100 w 2341595"/>
                <a:gd name="connsiteY19-1496" fmla="*/ 1977390 h 2764790"/>
                <a:gd name="connsiteX20-1497" fmla="*/ 749300 w 2341595"/>
                <a:gd name="connsiteY20-1498" fmla="*/ 2034540 h 2764790"/>
                <a:gd name="connsiteX21-1499" fmla="*/ 615950 w 2341595"/>
                <a:gd name="connsiteY21-1500" fmla="*/ 2034540 h 2764790"/>
                <a:gd name="connsiteX22-1501" fmla="*/ 463550 w 2341595"/>
                <a:gd name="connsiteY22-1502" fmla="*/ 2040890 h 2764790"/>
                <a:gd name="connsiteX23-1503" fmla="*/ 279400 w 2341595"/>
                <a:gd name="connsiteY23-1504" fmla="*/ 2142490 h 2764790"/>
                <a:gd name="connsiteX24-1505" fmla="*/ 114300 w 2341595"/>
                <a:gd name="connsiteY24-1506" fmla="*/ 2390140 h 2764790"/>
                <a:gd name="connsiteX25-1507" fmla="*/ 0 w 2341595"/>
                <a:gd name="connsiteY25-1508" fmla="*/ 2764790 h 2764790"/>
                <a:gd name="connsiteX0-1509" fmla="*/ 2103120 w 2341595"/>
                <a:gd name="connsiteY0-1510" fmla="*/ 0 h 2764790"/>
                <a:gd name="connsiteX1-1511" fmla="*/ 2156460 w 2341595"/>
                <a:gd name="connsiteY1-1512" fmla="*/ 236220 h 2764790"/>
                <a:gd name="connsiteX2-1513" fmla="*/ 2213610 w 2341595"/>
                <a:gd name="connsiteY2-1514" fmla="*/ 420370 h 2764790"/>
                <a:gd name="connsiteX3-1515" fmla="*/ 2280920 w 2341595"/>
                <a:gd name="connsiteY3-1516" fmla="*/ 618490 h 2764790"/>
                <a:gd name="connsiteX4-1517" fmla="*/ 2332990 w 2341595"/>
                <a:gd name="connsiteY4-1518" fmla="*/ 789940 h 2764790"/>
                <a:gd name="connsiteX5-1519" fmla="*/ 2332990 w 2341595"/>
                <a:gd name="connsiteY5-1520" fmla="*/ 901700 h 2764790"/>
                <a:gd name="connsiteX6-1521" fmla="*/ 2249170 w 2341595"/>
                <a:gd name="connsiteY6-1522" fmla="*/ 993140 h 2764790"/>
                <a:gd name="connsiteX7-1523" fmla="*/ 2090420 w 2341595"/>
                <a:gd name="connsiteY7-1524" fmla="*/ 1007110 h 2764790"/>
                <a:gd name="connsiteX8-1525" fmla="*/ 1784350 w 2341595"/>
                <a:gd name="connsiteY8-1526" fmla="*/ 933450 h 2764790"/>
                <a:gd name="connsiteX9-1527" fmla="*/ 1677670 w 2341595"/>
                <a:gd name="connsiteY9-1528" fmla="*/ 1033780 h 2764790"/>
                <a:gd name="connsiteX10-1529" fmla="*/ 1579880 w 2341595"/>
                <a:gd name="connsiteY10-1530" fmla="*/ 1202690 h 2764790"/>
                <a:gd name="connsiteX11-1531" fmla="*/ 1360170 w 2341595"/>
                <a:gd name="connsiteY11-1532" fmla="*/ 1191260 h 2764790"/>
                <a:gd name="connsiteX12-1533" fmla="*/ 1239520 w 2341595"/>
                <a:gd name="connsiteY12-1534" fmla="*/ 1197610 h 2764790"/>
                <a:gd name="connsiteX13-1535" fmla="*/ 831850 w 2341595"/>
                <a:gd name="connsiteY13-1536" fmla="*/ 1151890 h 2764790"/>
                <a:gd name="connsiteX14-1537" fmla="*/ 742950 w 2341595"/>
                <a:gd name="connsiteY14-1538" fmla="*/ 1107440 h 2764790"/>
                <a:gd name="connsiteX15-1539" fmla="*/ 704850 w 2341595"/>
                <a:gd name="connsiteY15-1540" fmla="*/ 1196340 h 2764790"/>
                <a:gd name="connsiteX16-1541" fmla="*/ 735330 w 2341595"/>
                <a:gd name="connsiteY16-1542" fmla="*/ 1459230 h 2764790"/>
                <a:gd name="connsiteX17-1543" fmla="*/ 781050 w 2341595"/>
                <a:gd name="connsiteY17-1544" fmla="*/ 1742440 h 2764790"/>
                <a:gd name="connsiteX18-1545" fmla="*/ 819150 w 2341595"/>
                <a:gd name="connsiteY18-1546" fmla="*/ 1920240 h 2764790"/>
                <a:gd name="connsiteX19-1547" fmla="*/ 800100 w 2341595"/>
                <a:gd name="connsiteY19-1548" fmla="*/ 1977390 h 2764790"/>
                <a:gd name="connsiteX20-1549" fmla="*/ 749300 w 2341595"/>
                <a:gd name="connsiteY20-1550" fmla="*/ 2034540 h 2764790"/>
                <a:gd name="connsiteX21-1551" fmla="*/ 615950 w 2341595"/>
                <a:gd name="connsiteY21-1552" fmla="*/ 2034540 h 2764790"/>
                <a:gd name="connsiteX22-1553" fmla="*/ 463550 w 2341595"/>
                <a:gd name="connsiteY22-1554" fmla="*/ 2040890 h 2764790"/>
                <a:gd name="connsiteX23-1555" fmla="*/ 279400 w 2341595"/>
                <a:gd name="connsiteY23-1556" fmla="*/ 2142490 h 2764790"/>
                <a:gd name="connsiteX24-1557" fmla="*/ 114300 w 2341595"/>
                <a:gd name="connsiteY24-1558" fmla="*/ 2390140 h 2764790"/>
                <a:gd name="connsiteX25-1559" fmla="*/ 0 w 2341595"/>
                <a:gd name="connsiteY25-1560" fmla="*/ 2764790 h 2764790"/>
                <a:gd name="connsiteX0-1561" fmla="*/ 2103120 w 2341595"/>
                <a:gd name="connsiteY0-1562" fmla="*/ 0 h 2764790"/>
                <a:gd name="connsiteX1-1563" fmla="*/ 2156460 w 2341595"/>
                <a:gd name="connsiteY1-1564" fmla="*/ 236220 h 2764790"/>
                <a:gd name="connsiteX2-1565" fmla="*/ 2213610 w 2341595"/>
                <a:gd name="connsiteY2-1566" fmla="*/ 420370 h 2764790"/>
                <a:gd name="connsiteX3-1567" fmla="*/ 2280920 w 2341595"/>
                <a:gd name="connsiteY3-1568" fmla="*/ 618490 h 2764790"/>
                <a:gd name="connsiteX4-1569" fmla="*/ 2332990 w 2341595"/>
                <a:gd name="connsiteY4-1570" fmla="*/ 789940 h 2764790"/>
                <a:gd name="connsiteX5-1571" fmla="*/ 2332990 w 2341595"/>
                <a:gd name="connsiteY5-1572" fmla="*/ 901700 h 2764790"/>
                <a:gd name="connsiteX6-1573" fmla="*/ 2249170 w 2341595"/>
                <a:gd name="connsiteY6-1574" fmla="*/ 993140 h 2764790"/>
                <a:gd name="connsiteX7-1575" fmla="*/ 2090420 w 2341595"/>
                <a:gd name="connsiteY7-1576" fmla="*/ 1007110 h 2764790"/>
                <a:gd name="connsiteX8-1577" fmla="*/ 1784350 w 2341595"/>
                <a:gd name="connsiteY8-1578" fmla="*/ 933450 h 2764790"/>
                <a:gd name="connsiteX9-1579" fmla="*/ 1677670 w 2341595"/>
                <a:gd name="connsiteY9-1580" fmla="*/ 1033780 h 2764790"/>
                <a:gd name="connsiteX10-1581" fmla="*/ 1579880 w 2341595"/>
                <a:gd name="connsiteY10-1582" fmla="*/ 1202690 h 2764790"/>
                <a:gd name="connsiteX11-1583" fmla="*/ 1360170 w 2341595"/>
                <a:gd name="connsiteY11-1584" fmla="*/ 1191260 h 2764790"/>
                <a:gd name="connsiteX12-1585" fmla="*/ 1239520 w 2341595"/>
                <a:gd name="connsiteY12-1586" fmla="*/ 1197610 h 2764790"/>
                <a:gd name="connsiteX13-1587" fmla="*/ 831850 w 2341595"/>
                <a:gd name="connsiteY13-1588" fmla="*/ 1151890 h 2764790"/>
                <a:gd name="connsiteX14-1589" fmla="*/ 742950 w 2341595"/>
                <a:gd name="connsiteY14-1590" fmla="*/ 1107440 h 2764790"/>
                <a:gd name="connsiteX15-1591" fmla="*/ 704850 w 2341595"/>
                <a:gd name="connsiteY15-1592" fmla="*/ 1196340 h 2764790"/>
                <a:gd name="connsiteX16-1593" fmla="*/ 735330 w 2341595"/>
                <a:gd name="connsiteY16-1594" fmla="*/ 1459230 h 2764790"/>
                <a:gd name="connsiteX17-1595" fmla="*/ 781050 w 2341595"/>
                <a:gd name="connsiteY17-1596" fmla="*/ 1742440 h 2764790"/>
                <a:gd name="connsiteX18-1597" fmla="*/ 819150 w 2341595"/>
                <a:gd name="connsiteY18-1598" fmla="*/ 1920240 h 2764790"/>
                <a:gd name="connsiteX19-1599" fmla="*/ 800100 w 2341595"/>
                <a:gd name="connsiteY19-1600" fmla="*/ 1977390 h 2764790"/>
                <a:gd name="connsiteX20-1601" fmla="*/ 749300 w 2341595"/>
                <a:gd name="connsiteY20-1602" fmla="*/ 2034540 h 2764790"/>
                <a:gd name="connsiteX21-1603" fmla="*/ 615950 w 2341595"/>
                <a:gd name="connsiteY21-1604" fmla="*/ 2034540 h 2764790"/>
                <a:gd name="connsiteX22-1605" fmla="*/ 463550 w 2341595"/>
                <a:gd name="connsiteY22-1606" fmla="*/ 2040890 h 2764790"/>
                <a:gd name="connsiteX23-1607" fmla="*/ 279400 w 2341595"/>
                <a:gd name="connsiteY23-1608" fmla="*/ 2142490 h 2764790"/>
                <a:gd name="connsiteX24-1609" fmla="*/ 114300 w 2341595"/>
                <a:gd name="connsiteY24-1610" fmla="*/ 2390140 h 2764790"/>
                <a:gd name="connsiteX25-1611" fmla="*/ 0 w 2341595"/>
                <a:gd name="connsiteY25-1612" fmla="*/ 2764790 h 2764790"/>
                <a:gd name="connsiteX0-1613" fmla="*/ 1988820 w 2227295"/>
                <a:gd name="connsiteY0-1614" fmla="*/ 0 h 2390140"/>
                <a:gd name="connsiteX1-1615" fmla="*/ 2042160 w 2227295"/>
                <a:gd name="connsiteY1-1616" fmla="*/ 236220 h 2390140"/>
                <a:gd name="connsiteX2-1617" fmla="*/ 2099310 w 2227295"/>
                <a:gd name="connsiteY2-1618" fmla="*/ 420370 h 2390140"/>
                <a:gd name="connsiteX3-1619" fmla="*/ 2166620 w 2227295"/>
                <a:gd name="connsiteY3-1620" fmla="*/ 618490 h 2390140"/>
                <a:gd name="connsiteX4-1621" fmla="*/ 2218690 w 2227295"/>
                <a:gd name="connsiteY4-1622" fmla="*/ 789940 h 2390140"/>
                <a:gd name="connsiteX5-1623" fmla="*/ 2218690 w 2227295"/>
                <a:gd name="connsiteY5-1624" fmla="*/ 901700 h 2390140"/>
                <a:gd name="connsiteX6-1625" fmla="*/ 2134870 w 2227295"/>
                <a:gd name="connsiteY6-1626" fmla="*/ 993140 h 2390140"/>
                <a:gd name="connsiteX7-1627" fmla="*/ 1976120 w 2227295"/>
                <a:gd name="connsiteY7-1628" fmla="*/ 1007110 h 2390140"/>
                <a:gd name="connsiteX8-1629" fmla="*/ 1670050 w 2227295"/>
                <a:gd name="connsiteY8-1630" fmla="*/ 933450 h 2390140"/>
                <a:gd name="connsiteX9-1631" fmla="*/ 1563370 w 2227295"/>
                <a:gd name="connsiteY9-1632" fmla="*/ 1033780 h 2390140"/>
                <a:gd name="connsiteX10-1633" fmla="*/ 1465580 w 2227295"/>
                <a:gd name="connsiteY10-1634" fmla="*/ 1202690 h 2390140"/>
                <a:gd name="connsiteX11-1635" fmla="*/ 1245870 w 2227295"/>
                <a:gd name="connsiteY11-1636" fmla="*/ 1191260 h 2390140"/>
                <a:gd name="connsiteX12-1637" fmla="*/ 1125220 w 2227295"/>
                <a:gd name="connsiteY12-1638" fmla="*/ 1197610 h 2390140"/>
                <a:gd name="connsiteX13-1639" fmla="*/ 717550 w 2227295"/>
                <a:gd name="connsiteY13-1640" fmla="*/ 1151890 h 2390140"/>
                <a:gd name="connsiteX14-1641" fmla="*/ 628650 w 2227295"/>
                <a:gd name="connsiteY14-1642" fmla="*/ 1107440 h 2390140"/>
                <a:gd name="connsiteX15-1643" fmla="*/ 590550 w 2227295"/>
                <a:gd name="connsiteY15-1644" fmla="*/ 1196340 h 2390140"/>
                <a:gd name="connsiteX16-1645" fmla="*/ 621030 w 2227295"/>
                <a:gd name="connsiteY16-1646" fmla="*/ 1459230 h 2390140"/>
                <a:gd name="connsiteX17-1647" fmla="*/ 666750 w 2227295"/>
                <a:gd name="connsiteY17-1648" fmla="*/ 1742440 h 2390140"/>
                <a:gd name="connsiteX18-1649" fmla="*/ 704850 w 2227295"/>
                <a:gd name="connsiteY18-1650" fmla="*/ 1920240 h 2390140"/>
                <a:gd name="connsiteX19-1651" fmla="*/ 685800 w 2227295"/>
                <a:gd name="connsiteY19-1652" fmla="*/ 1977390 h 2390140"/>
                <a:gd name="connsiteX20-1653" fmla="*/ 635000 w 2227295"/>
                <a:gd name="connsiteY20-1654" fmla="*/ 2034540 h 2390140"/>
                <a:gd name="connsiteX21-1655" fmla="*/ 501650 w 2227295"/>
                <a:gd name="connsiteY21-1656" fmla="*/ 2034540 h 2390140"/>
                <a:gd name="connsiteX22-1657" fmla="*/ 349250 w 2227295"/>
                <a:gd name="connsiteY22-1658" fmla="*/ 2040890 h 2390140"/>
                <a:gd name="connsiteX23-1659" fmla="*/ 165100 w 2227295"/>
                <a:gd name="connsiteY23-1660" fmla="*/ 2142490 h 2390140"/>
                <a:gd name="connsiteX24-1661" fmla="*/ 0 w 2227295"/>
                <a:gd name="connsiteY24-1662" fmla="*/ 2390140 h 2390140"/>
                <a:gd name="connsiteX0-1663" fmla="*/ 1823720 w 2062195"/>
                <a:gd name="connsiteY0-1664" fmla="*/ 0 h 2142490"/>
                <a:gd name="connsiteX1-1665" fmla="*/ 1877060 w 2062195"/>
                <a:gd name="connsiteY1-1666" fmla="*/ 236220 h 2142490"/>
                <a:gd name="connsiteX2-1667" fmla="*/ 1934210 w 2062195"/>
                <a:gd name="connsiteY2-1668" fmla="*/ 420370 h 2142490"/>
                <a:gd name="connsiteX3-1669" fmla="*/ 2001520 w 2062195"/>
                <a:gd name="connsiteY3-1670" fmla="*/ 618490 h 2142490"/>
                <a:gd name="connsiteX4-1671" fmla="*/ 2053590 w 2062195"/>
                <a:gd name="connsiteY4-1672" fmla="*/ 789940 h 2142490"/>
                <a:gd name="connsiteX5-1673" fmla="*/ 2053590 w 2062195"/>
                <a:gd name="connsiteY5-1674" fmla="*/ 901700 h 2142490"/>
                <a:gd name="connsiteX6-1675" fmla="*/ 1969770 w 2062195"/>
                <a:gd name="connsiteY6-1676" fmla="*/ 993140 h 2142490"/>
                <a:gd name="connsiteX7-1677" fmla="*/ 1811020 w 2062195"/>
                <a:gd name="connsiteY7-1678" fmla="*/ 1007110 h 2142490"/>
                <a:gd name="connsiteX8-1679" fmla="*/ 1504950 w 2062195"/>
                <a:gd name="connsiteY8-1680" fmla="*/ 933450 h 2142490"/>
                <a:gd name="connsiteX9-1681" fmla="*/ 1398270 w 2062195"/>
                <a:gd name="connsiteY9-1682" fmla="*/ 1033780 h 2142490"/>
                <a:gd name="connsiteX10-1683" fmla="*/ 1300480 w 2062195"/>
                <a:gd name="connsiteY10-1684" fmla="*/ 1202690 h 2142490"/>
                <a:gd name="connsiteX11-1685" fmla="*/ 1080770 w 2062195"/>
                <a:gd name="connsiteY11-1686" fmla="*/ 1191260 h 2142490"/>
                <a:gd name="connsiteX12-1687" fmla="*/ 960120 w 2062195"/>
                <a:gd name="connsiteY12-1688" fmla="*/ 1197610 h 2142490"/>
                <a:gd name="connsiteX13-1689" fmla="*/ 552450 w 2062195"/>
                <a:gd name="connsiteY13-1690" fmla="*/ 1151890 h 2142490"/>
                <a:gd name="connsiteX14-1691" fmla="*/ 463550 w 2062195"/>
                <a:gd name="connsiteY14-1692" fmla="*/ 1107440 h 2142490"/>
                <a:gd name="connsiteX15-1693" fmla="*/ 425450 w 2062195"/>
                <a:gd name="connsiteY15-1694" fmla="*/ 1196340 h 2142490"/>
                <a:gd name="connsiteX16-1695" fmla="*/ 455930 w 2062195"/>
                <a:gd name="connsiteY16-1696" fmla="*/ 1459230 h 2142490"/>
                <a:gd name="connsiteX17-1697" fmla="*/ 501650 w 2062195"/>
                <a:gd name="connsiteY17-1698" fmla="*/ 1742440 h 2142490"/>
                <a:gd name="connsiteX18-1699" fmla="*/ 539750 w 2062195"/>
                <a:gd name="connsiteY18-1700" fmla="*/ 1920240 h 2142490"/>
                <a:gd name="connsiteX19-1701" fmla="*/ 520700 w 2062195"/>
                <a:gd name="connsiteY19-1702" fmla="*/ 1977390 h 2142490"/>
                <a:gd name="connsiteX20-1703" fmla="*/ 469900 w 2062195"/>
                <a:gd name="connsiteY20-1704" fmla="*/ 2034540 h 2142490"/>
                <a:gd name="connsiteX21-1705" fmla="*/ 336550 w 2062195"/>
                <a:gd name="connsiteY21-1706" fmla="*/ 2034540 h 2142490"/>
                <a:gd name="connsiteX22-1707" fmla="*/ 184150 w 2062195"/>
                <a:gd name="connsiteY22-1708" fmla="*/ 2040890 h 2142490"/>
                <a:gd name="connsiteX23-1709" fmla="*/ 0 w 2062195"/>
                <a:gd name="connsiteY23-1710" fmla="*/ 2142490 h 2142490"/>
                <a:gd name="connsiteX0-1711" fmla="*/ 1639570 w 1878045"/>
                <a:gd name="connsiteY0-1712" fmla="*/ 0 h 2040890"/>
                <a:gd name="connsiteX1-1713" fmla="*/ 1692910 w 1878045"/>
                <a:gd name="connsiteY1-1714" fmla="*/ 236220 h 2040890"/>
                <a:gd name="connsiteX2-1715" fmla="*/ 1750060 w 1878045"/>
                <a:gd name="connsiteY2-1716" fmla="*/ 420370 h 2040890"/>
                <a:gd name="connsiteX3-1717" fmla="*/ 1817370 w 1878045"/>
                <a:gd name="connsiteY3-1718" fmla="*/ 618490 h 2040890"/>
                <a:gd name="connsiteX4-1719" fmla="*/ 1869440 w 1878045"/>
                <a:gd name="connsiteY4-1720" fmla="*/ 789940 h 2040890"/>
                <a:gd name="connsiteX5-1721" fmla="*/ 1869440 w 1878045"/>
                <a:gd name="connsiteY5-1722" fmla="*/ 901700 h 2040890"/>
                <a:gd name="connsiteX6-1723" fmla="*/ 1785620 w 1878045"/>
                <a:gd name="connsiteY6-1724" fmla="*/ 993140 h 2040890"/>
                <a:gd name="connsiteX7-1725" fmla="*/ 1626870 w 1878045"/>
                <a:gd name="connsiteY7-1726" fmla="*/ 1007110 h 2040890"/>
                <a:gd name="connsiteX8-1727" fmla="*/ 1320800 w 1878045"/>
                <a:gd name="connsiteY8-1728" fmla="*/ 933450 h 2040890"/>
                <a:gd name="connsiteX9-1729" fmla="*/ 1214120 w 1878045"/>
                <a:gd name="connsiteY9-1730" fmla="*/ 1033780 h 2040890"/>
                <a:gd name="connsiteX10-1731" fmla="*/ 1116330 w 1878045"/>
                <a:gd name="connsiteY10-1732" fmla="*/ 1202690 h 2040890"/>
                <a:gd name="connsiteX11-1733" fmla="*/ 896620 w 1878045"/>
                <a:gd name="connsiteY11-1734" fmla="*/ 1191260 h 2040890"/>
                <a:gd name="connsiteX12-1735" fmla="*/ 775970 w 1878045"/>
                <a:gd name="connsiteY12-1736" fmla="*/ 1197610 h 2040890"/>
                <a:gd name="connsiteX13-1737" fmla="*/ 368300 w 1878045"/>
                <a:gd name="connsiteY13-1738" fmla="*/ 1151890 h 2040890"/>
                <a:gd name="connsiteX14-1739" fmla="*/ 279400 w 1878045"/>
                <a:gd name="connsiteY14-1740" fmla="*/ 1107440 h 2040890"/>
                <a:gd name="connsiteX15-1741" fmla="*/ 241300 w 1878045"/>
                <a:gd name="connsiteY15-1742" fmla="*/ 1196340 h 2040890"/>
                <a:gd name="connsiteX16-1743" fmla="*/ 271780 w 1878045"/>
                <a:gd name="connsiteY16-1744" fmla="*/ 1459230 h 2040890"/>
                <a:gd name="connsiteX17-1745" fmla="*/ 317500 w 1878045"/>
                <a:gd name="connsiteY17-1746" fmla="*/ 1742440 h 2040890"/>
                <a:gd name="connsiteX18-1747" fmla="*/ 355600 w 1878045"/>
                <a:gd name="connsiteY18-1748" fmla="*/ 1920240 h 2040890"/>
                <a:gd name="connsiteX19-1749" fmla="*/ 336550 w 1878045"/>
                <a:gd name="connsiteY19-1750" fmla="*/ 1977390 h 2040890"/>
                <a:gd name="connsiteX20-1751" fmla="*/ 285750 w 1878045"/>
                <a:gd name="connsiteY20-1752" fmla="*/ 2034540 h 2040890"/>
                <a:gd name="connsiteX21-1753" fmla="*/ 152400 w 1878045"/>
                <a:gd name="connsiteY21-1754" fmla="*/ 2034540 h 2040890"/>
                <a:gd name="connsiteX22-1755" fmla="*/ 0 w 1878045"/>
                <a:gd name="connsiteY22-1756" fmla="*/ 2040890 h 2040890"/>
                <a:gd name="connsiteX0-1757" fmla="*/ 1487170 w 1725645"/>
                <a:gd name="connsiteY0-1758" fmla="*/ 0 h 2038547"/>
                <a:gd name="connsiteX1-1759" fmla="*/ 1540510 w 1725645"/>
                <a:gd name="connsiteY1-1760" fmla="*/ 236220 h 2038547"/>
                <a:gd name="connsiteX2-1761" fmla="*/ 1597660 w 1725645"/>
                <a:gd name="connsiteY2-1762" fmla="*/ 420370 h 2038547"/>
                <a:gd name="connsiteX3-1763" fmla="*/ 1664970 w 1725645"/>
                <a:gd name="connsiteY3-1764" fmla="*/ 618490 h 2038547"/>
                <a:gd name="connsiteX4-1765" fmla="*/ 1717040 w 1725645"/>
                <a:gd name="connsiteY4-1766" fmla="*/ 789940 h 2038547"/>
                <a:gd name="connsiteX5-1767" fmla="*/ 1717040 w 1725645"/>
                <a:gd name="connsiteY5-1768" fmla="*/ 901700 h 2038547"/>
                <a:gd name="connsiteX6-1769" fmla="*/ 1633220 w 1725645"/>
                <a:gd name="connsiteY6-1770" fmla="*/ 993140 h 2038547"/>
                <a:gd name="connsiteX7-1771" fmla="*/ 1474470 w 1725645"/>
                <a:gd name="connsiteY7-1772" fmla="*/ 1007110 h 2038547"/>
                <a:gd name="connsiteX8-1773" fmla="*/ 1168400 w 1725645"/>
                <a:gd name="connsiteY8-1774" fmla="*/ 933450 h 2038547"/>
                <a:gd name="connsiteX9-1775" fmla="*/ 1061720 w 1725645"/>
                <a:gd name="connsiteY9-1776" fmla="*/ 1033780 h 2038547"/>
                <a:gd name="connsiteX10-1777" fmla="*/ 963930 w 1725645"/>
                <a:gd name="connsiteY10-1778" fmla="*/ 1202690 h 2038547"/>
                <a:gd name="connsiteX11-1779" fmla="*/ 744220 w 1725645"/>
                <a:gd name="connsiteY11-1780" fmla="*/ 1191260 h 2038547"/>
                <a:gd name="connsiteX12-1781" fmla="*/ 623570 w 1725645"/>
                <a:gd name="connsiteY12-1782" fmla="*/ 1197610 h 2038547"/>
                <a:gd name="connsiteX13-1783" fmla="*/ 215900 w 1725645"/>
                <a:gd name="connsiteY13-1784" fmla="*/ 1151890 h 2038547"/>
                <a:gd name="connsiteX14-1785" fmla="*/ 127000 w 1725645"/>
                <a:gd name="connsiteY14-1786" fmla="*/ 1107440 h 2038547"/>
                <a:gd name="connsiteX15-1787" fmla="*/ 88900 w 1725645"/>
                <a:gd name="connsiteY15-1788" fmla="*/ 1196340 h 2038547"/>
                <a:gd name="connsiteX16-1789" fmla="*/ 119380 w 1725645"/>
                <a:gd name="connsiteY16-1790" fmla="*/ 1459230 h 2038547"/>
                <a:gd name="connsiteX17-1791" fmla="*/ 165100 w 1725645"/>
                <a:gd name="connsiteY17-1792" fmla="*/ 1742440 h 2038547"/>
                <a:gd name="connsiteX18-1793" fmla="*/ 203200 w 1725645"/>
                <a:gd name="connsiteY18-1794" fmla="*/ 1920240 h 2038547"/>
                <a:gd name="connsiteX19-1795" fmla="*/ 184150 w 1725645"/>
                <a:gd name="connsiteY19-1796" fmla="*/ 1977390 h 2038547"/>
                <a:gd name="connsiteX20-1797" fmla="*/ 133350 w 1725645"/>
                <a:gd name="connsiteY20-1798" fmla="*/ 2034540 h 2038547"/>
                <a:gd name="connsiteX21-1799" fmla="*/ 0 w 1725645"/>
                <a:gd name="connsiteY21-1800" fmla="*/ 2034540 h 2038547"/>
                <a:gd name="connsiteX0-1801" fmla="*/ 1398331 w 1636806"/>
                <a:gd name="connsiteY0-1802" fmla="*/ 0 h 2034540"/>
                <a:gd name="connsiteX1-1803" fmla="*/ 1451671 w 1636806"/>
                <a:gd name="connsiteY1-1804" fmla="*/ 236220 h 2034540"/>
                <a:gd name="connsiteX2-1805" fmla="*/ 1508821 w 1636806"/>
                <a:gd name="connsiteY2-1806" fmla="*/ 420370 h 2034540"/>
                <a:gd name="connsiteX3-1807" fmla="*/ 1576131 w 1636806"/>
                <a:gd name="connsiteY3-1808" fmla="*/ 618490 h 2034540"/>
                <a:gd name="connsiteX4-1809" fmla="*/ 1628201 w 1636806"/>
                <a:gd name="connsiteY4-1810" fmla="*/ 789940 h 2034540"/>
                <a:gd name="connsiteX5-1811" fmla="*/ 1628201 w 1636806"/>
                <a:gd name="connsiteY5-1812" fmla="*/ 901700 h 2034540"/>
                <a:gd name="connsiteX6-1813" fmla="*/ 1544381 w 1636806"/>
                <a:gd name="connsiteY6-1814" fmla="*/ 993140 h 2034540"/>
                <a:gd name="connsiteX7-1815" fmla="*/ 1385631 w 1636806"/>
                <a:gd name="connsiteY7-1816" fmla="*/ 1007110 h 2034540"/>
                <a:gd name="connsiteX8-1817" fmla="*/ 1079561 w 1636806"/>
                <a:gd name="connsiteY8-1818" fmla="*/ 933450 h 2034540"/>
                <a:gd name="connsiteX9-1819" fmla="*/ 972881 w 1636806"/>
                <a:gd name="connsiteY9-1820" fmla="*/ 1033780 h 2034540"/>
                <a:gd name="connsiteX10-1821" fmla="*/ 875091 w 1636806"/>
                <a:gd name="connsiteY10-1822" fmla="*/ 1202690 h 2034540"/>
                <a:gd name="connsiteX11-1823" fmla="*/ 655381 w 1636806"/>
                <a:gd name="connsiteY11-1824" fmla="*/ 1191260 h 2034540"/>
                <a:gd name="connsiteX12-1825" fmla="*/ 534731 w 1636806"/>
                <a:gd name="connsiteY12-1826" fmla="*/ 1197610 h 2034540"/>
                <a:gd name="connsiteX13-1827" fmla="*/ 127061 w 1636806"/>
                <a:gd name="connsiteY13-1828" fmla="*/ 1151890 h 2034540"/>
                <a:gd name="connsiteX14-1829" fmla="*/ 38161 w 1636806"/>
                <a:gd name="connsiteY14-1830" fmla="*/ 1107440 h 2034540"/>
                <a:gd name="connsiteX15-1831" fmla="*/ 61 w 1636806"/>
                <a:gd name="connsiteY15-1832" fmla="*/ 1196340 h 2034540"/>
                <a:gd name="connsiteX16-1833" fmla="*/ 30541 w 1636806"/>
                <a:gd name="connsiteY16-1834" fmla="*/ 1459230 h 2034540"/>
                <a:gd name="connsiteX17-1835" fmla="*/ 76261 w 1636806"/>
                <a:gd name="connsiteY17-1836" fmla="*/ 1742440 h 2034540"/>
                <a:gd name="connsiteX18-1837" fmla="*/ 114361 w 1636806"/>
                <a:gd name="connsiteY18-1838" fmla="*/ 1920240 h 2034540"/>
                <a:gd name="connsiteX19-1839" fmla="*/ 95311 w 1636806"/>
                <a:gd name="connsiteY19-1840" fmla="*/ 1977390 h 2034540"/>
                <a:gd name="connsiteX20-1841" fmla="*/ 44511 w 1636806"/>
                <a:gd name="connsiteY20-1842" fmla="*/ 2034540 h 2034540"/>
                <a:gd name="connsiteX0-1843" fmla="*/ 1398331 w 1636806"/>
                <a:gd name="connsiteY0-1844" fmla="*/ 0 h 2034540"/>
                <a:gd name="connsiteX1-1845" fmla="*/ 1451671 w 1636806"/>
                <a:gd name="connsiteY1-1846" fmla="*/ 236220 h 2034540"/>
                <a:gd name="connsiteX2-1847" fmla="*/ 1508821 w 1636806"/>
                <a:gd name="connsiteY2-1848" fmla="*/ 420370 h 2034540"/>
                <a:gd name="connsiteX3-1849" fmla="*/ 1576131 w 1636806"/>
                <a:gd name="connsiteY3-1850" fmla="*/ 618490 h 2034540"/>
                <a:gd name="connsiteX4-1851" fmla="*/ 1628201 w 1636806"/>
                <a:gd name="connsiteY4-1852" fmla="*/ 789940 h 2034540"/>
                <a:gd name="connsiteX5-1853" fmla="*/ 1628201 w 1636806"/>
                <a:gd name="connsiteY5-1854" fmla="*/ 901700 h 2034540"/>
                <a:gd name="connsiteX6-1855" fmla="*/ 1544381 w 1636806"/>
                <a:gd name="connsiteY6-1856" fmla="*/ 993140 h 2034540"/>
                <a:gd name="connsiteX7-1857" fmla="*/ 1385631 w 1636806"/>
                <a:gd name="connsiteY7-1858" fmla="*/ 1007110 h 2034540"/>
                <a:gd name="connsiteX8-1859" fmla="*/ 1079561 w 1636806"/>
                <a:gd name="connsiteY8-1860" fmla="*/ 933450 h 2034540"/>
                <a:gd name="connsiteX9-1861" fmla="*/ 972881 w 1636806"/>
                <a:gd name="connsiteY9-1862" fmla="*/ 1033780 h 2034540"/>
                <a:gd name="connsiteX10-1863" fmla="*/ 875091 w 1636806"/>
                <a:gd name="connsiteY10-1864" fmla="*/ 1202690 h 2034540"/>
                <a:gd name="connsiteX11-1865" fmla="*/ 655381 w 1636806"/>
                <a:gd name="connsiteY11-1866" fmla="*/ 1191260 h 2034540"/>
                <a:gd name="connsiteX12-1867" fmla="*/ 534731 w 1636806"/>
                <a:gd name="connsiteY12-1868" fmla="*/ 1197610 h 2034540"/>
                <a:gd name="connsiteX13-1869" fmla="*/ 127061 w 1636806"/>
                <a:gd name="connsiteY13-1870" fmla="*/ 1151890 h 2034540"/>
                <a:gd name="connsiteX14-1871" fmla="*/ 38161 w 1636806"/>
                <a:gd name="connsiteY14-1872" fmla="*/ 1107440 h 2034540"/>
                <a:gd name="connsiteX15-1873" fmla="*/ 61 w 1636806"/>
                <a:gd name="connsiteY15-1874" fmla="*/ 1196340 h 2034540"/>
                <a:gd name="connsiteX16-1875" fmla="*/ 30541 w 1636806"/>
                <a:gd name="connsiteY16-1876" fmla="*/ 1459230 h 2034540"/>
                <a:gd name="connsiteX17-1877" fmla="*/ 76261 w 1636806"/>
                <a:gd name="connsiteY17-1878" fmla="*/ 1742440 h 2034540"/>
                <a:gd name="connsiteX18-1879" fmla="*/ 114361 w 1636806"/>
                <a:gd name="connsiteY18-1880" fmla="*/ 1920240 h 2034540"/>
                <a:gd name="connsiteX19-1881" fmla="*/ 44511 w 1636806"/>
                <a:gd name="connsiteY19-1882" fmla="*/ 2034540 h 2034540"/>
                <a:gd name="connsiteX0-1883" fmla="*/ 1398331 w 1636806"/>
                <a:gd name="connsiteY0-1884" fmla="*/ 0 h 2034540"/>
                <a:gd name="connsiteX1-1885" fmla="*/ 1451671 w 1636806"/>
                <a:gd name="connsiteY1-1886" fmla="*/ 236220 h 2034540"/>
                <a:gd name="connsiteX2-1887" fmla="*/ 1508821 w 1636806"/>
                <a:gd name="connsiteY2-1888" fmla="*/ 420370 h 2034540"/>
                <a:gd name="connsiteX3-1889" fmla="*/ 1576131 w 1636806"/>
                <a:gd name="connsiteY3-1890" fmla="*/ 618490 h 2034540"/>
                <a:gd name="connsiteX4-1891" fmla="*/ 1628201 w 1636806"/>
                <a:gd name="connsiteY4-1892" fmla="*/ 789940 h 2034540"/>
                <a:gd name="connsiteX5-1893" fmla="*/ 1628201 w 1636806"/>
                <a:gd name="connsiteY5-1894" fmla="*/ 901700 h 2034540"/>
                <a:gd name="connsiteX6-1895" fmla="*/ 1544381 w 1636806"/>
                <a:gd name="connsiteY6-1896" fmla="*/ 993140 h 2034540"/>
                <a:gd name="connsiteX7-1897" fmla="*/ 1385631 w 1636806"/>
                <a:gd name="connsiteY7-1898" fmla="*/ 1007110 h 2034540"/>
                <a:gd name="connsiteX8-1899" fmla="*/ 1079561 w 1636806"/>
                <a:gd name="connsiteY8-1900" fmla="*/ 933450 h 2034540"/>
                <a:gd name="connsiteX9-1901" fmla="*/ 972881 w 1636806"/>
                <a:gd name="connsiteY9-1902" fmla="*/ 1033780 h 2034540"/>
                <a:gd name="connsiteX10-1903" fmla="*/ 875091 w 1636806"/>
                <a:gd name="connsiteY10-1904" fmla="*/ 1202690 h 2034540"/>
                <a:gd name="connsiteX11-1905" fmla="*/ 655381 w 1636806"/>
                <a:gd name="connsiteY11-1906" fmla="*/ 1191260 h 2034540"/>
                <a:gd name="connsiteX12-1907" fmla="*/ 534731 w 1636806"/>
                <a:gd name="connsiteY12-1908" fmla="*/ 1197610 h 2034540"/>
                <a:gd name="connsiteX13-1909" fmla="*/ 127061 w 1636806"/>
                <a:gd name="connsiteY13-1910" fmla="*/ 1151890 h 2034540"/>
                <a:gd name="connsiteX14-1911" fmla="*/ 38161 w 1636806"/>
                <a:gd name="connsiteY14-1912" fmla="*/ 1107440 h 2034540"/>
                <a:gd name="connsiteX15-1913" fmla="*/ 61 w 1636806"/>
                <a:gd name="connsiteY15-1914" fmla="*/ 1196340 h 2034540"/>
                <a:gd name="connsiteX16-1915" fmla="*/ 30541 w 1636806"/>
                <a:gd name="connsiteY16-1916" fmla="*/ 1459230 h 2034540"/>
                <a:gd name="connsiteX17-1917" fmla="*/ 76261 w 1636806"/>
                <a:gd name="connsiteY17-1918" fmla="*/ 1742440 h 2034540"/>
                <a:gd name="connsiteX18-1919" fmla="*/ 44511 w 1636806"/>
                <a:gd name="connsiteY18-1920" fmla="*/ 2034540 h 2034540"/>
                <a:gd name="connsiteX0-1921" fmla="*/ 1398318 w 1636793"/>
                <a:gd name="connsiteY0-1922" fmla="*/ 0 h 2034540"/>
                <a:gd name="connsiteX1-1923" fmla="*/ 1451658 w 1636793"/>
                <a:gd name="connsiteY1-1924" fmla="*/ 236220 h 2034540"/>
                <a:gd name="connsiteX2-1925" fmla="*/ 1508808 w 1636793"/>
                <a:gd name="connsiteY2-1926" fmla="*/ 420370 h 2034540"/>
                <a:gd name="connsiteX3-1927" fmla="*/ 1576118 w 1636793"/>
                <a:gd name="connsiteY3-1928" fmla="*/ 618490 h 2034540"/>
                <a:gd name="connsiteX4-1929" fmla="*/ 1628188 w 1636793"/>
                <a:gd name="connsiteY4-1930" fmla="*/ 789940 h 2034540"/>
                <a:gd name="connsiteX5-1931" fmla="*/ 1628188 w 1636793"/>
                <a:gd name="connsiteY5-1932" fmla="*/ 901700 h 2034540"/>
                <a:gd name="connsiteX6-1933" fmla="*/ 1544368 w 1636793"/>
                <a:gd name="connsiteY6-1934" fmla="*/ 993140 h 2034540"/>
                <a:gd name="connsiteX7-1935" fmla="*/ 1385618 w 1636793"/>
                <a:gd name="connsiteY7-1936" fmla="*/ 1007110 h 2034540"/>
                <a:gd name="connsiteX8-1937" fmla="*/ 1079548 w 1636793"/>
                <a:gd name="connsiteY8-1938" fmla="*/ 933450 h 2034540"/>
                <a:gd name="connsiteX9-1939" fmla="*/ 972868 w 1636793"/>
                <a:gd name="connsiteY9-1940" fmla="*/ 1033780 h 2034540"/>
                <a:gd name="connsiteX10-1941" fmla="*/ 875078 w 1636793"/>
                <a:gd name="connsiteY10-1942" fmla="*/ 1202690 h 2034540"/>
                <a:gd name="connsiteX11-1943" fmla="*/ 655368 w 1636793"/>
                <a:gd name="connsiteY11-1944" fmla="*/ 1191260 h 2034540"/>
                <a:gd name="connsiteX12-1945" fmla="*/ 534718 w 1636793"/>
                <a:gd name="connsiteY12-1946" fmla="*/ 1197610 h 2034540"/>
                <a:gd name="connsiteX13-1947" fmla="*/ 127048 w 1636793"/>
                <a:gd name="connsiteY13-1948" fmla="*/ 1151890 h 2034540"/>
                <a:gd name="connsiteX14-1949" fmla="*/ 38148 w 1636793"/>
                <a:gd name="connsiteY14-1950" fmla="*/ 1107440 h 2034540"/>
                <a:gd name="connsiteX15-1951" fmla="*/ 48 w 1636793"/>
                <a:gd name="connsiteY15-1952" fmla="*/ 1196340 h 2034540"/>
                <a:gd name="connsiteX16-1953" fmla="*/ 30528 w 1636793"/>
                <a:gd name="connsiteY16-1954" fmla="*/ 1459230 h 2034540"/>
                <a:gd name="connsiteX17-1955" fmla="*/ 44498 w 1636793"/>
                <a:gd name="connsiteY17-1956" fmla="*/ 2034540 h 2034540"/>
                <a:gd name="connsiteX0-1957" fmla="*/ 1398318 w 1636793"/>
                <a:gd name="connsiteY0-1958" fmla="*/ 0 h 2034540"/>
                <a:gd name="connsiteX1-1959" fmla="*/ 1451658 w 1636793"/>
                <a:gd name="connsiteY1-1960" fmla="*/ 236220 h 2034540"/>
                <a:gd name="connsiteX2-1961" fmla="*/ 1508808 w 1636793"/>
                <a:gd name="connsiteY2-1962" fmla="*/ 420370 h 2034540"/>
                <a:gd name="connsiteX3-1963" fmla="*/ 1576118 w 1636793"/>
                <a:gd name="connsiteY3-1964" fmla="*/ 618490 h 2034540"/>
                <a:gd name="connsiteX4-1965" fmla="*/ 1628188 w 1636793"/>
                <a:gd name="connsiteY4-1966" fmla="*/ 789940 h 2034540"/>
                <a:gd name="connsiteX5-1967" fmla="*/ 1628188 w 1636793"/>
                <a:gd name="connsiteY5-1968" fmla="*/ 901700 h 2034540"/>
                <a:gd name="connsiteX6-1969" fmla="*/ 1544368 w 1636793"/>
                <a:gd name="connsiteY6-1970" fmla="*/ 993140 h 2034540"/>
                <a:gd name="connsiteX7-1971" fmla="*/ 1385618 w 1636793"/>
                <a:gd name="connsiteY7-1972" fmla="*/ 1007110 h 2034540"/>
                <a:gd name="connsiteX8-1973" fmla="*/ 1079548 w 1636793"/>
                <a:gd name="connsiteY8-1974" fmla="*/ 933450 h 2034540"/>
                <a:gd name="connsiteX9-1975" fmla="*/ 972868 w 1636793"/>
                <a:gd name="connsiteY9-1976" fmla="*/ 1033780 h 2034540"/>
                <a:gd name="connsiteX10-1977" fmla="*/ 875078 w 1636793"/>
                <a:gd name="connsiteY10-1978" fmla="*/ 1202690 h 2034540"/>
                <a:gd name="connsiteX11-1979" fmla="*/ 655368 w 1636793"/>
                <a:gd name="connsiteY11-1980" fmla="*/ 1191260 h 2034540"/>
                <a:gd name="connsiteX12-1981" fmla="*/ 534718 w 1636793"/>
                <a:gd name="connsiteY12-1982" fmla="*/ 1197610 h 2034540"/>
                <a:gd name="connsiteX13-1983" fmla="*/ 127048 w 1636793"/>
                <a:gd name="connsiteY13-1984" fmla="*/ 1151890 h 2034540"/>
                <a:gd name="connsiteX14-1985" fmla="*/ 38148 w 1636793"/>
                <a:gd name="connsiteY14-1986" fmla="*/ 1107440 h 2034540"/>
                <a:gd name="connsiteX15-1987" fmla="*/ 48 w 1636793"/>
                <a:gd name="connsiteY15-1988" fmla="*/ 1196340 h 2034540"/>
                <a:gd name="connsiteX16-1989" fmla="*/ 30528 w 1636793"/>
                <a:gd name="connsiteY16-1990" fmla="*/ 1459230 h 2034540"/>
                <a:gd name="connsiteX17-1991" fmla="*/ 44498 w 1636793"/>
                <a:gd name="connsiteY17-1992" fmla="*/ 2034540 h 2034540"/>
                <a:gd name="connsiteX0-1993" fmla="*/ 1398318 w 1636793"/>
                <a:gd name="connsiteY0-1994" fmla="*/ 0 h 1459230"/>
                <a:gd name="connsiteX1-1995" fmla="*/ 1451658 w 1636793"/>
                <a:gd name="connsiteY1-1996" fmla="*/ 236220 h 1459230"/>
                <a:gd name="connsiteX2-1997" fmla="*/ 1508808 w 1636793"/>
                <a:gd name="connsiteY2-1998" fmla="*/ 420370 h 1459230"/>
                <a:gd name="connsiteX3-1999" fmla="*/ 1576118 w 1636793"/>
                <a:gd name="connsiteY3-2000" fmla="*/ 618490 h 1459230"/>
                <a:gd name="connsiteX4-2001" fmla="*/ 1628188 w 1636793"/>
                <a:gd name="connsiteY4-2002" fmla="*/ 789940 h 1459230"/>
                <a:gd name="connsiteX5-2003" fmla="*/ 1628188 w 1636793"/>
                <a:gd name="connsiteY5-2004" fmla="*/ 901700 h 1459230"/>
                <a:gd name="connsiteX6-2005" fmla="*/ 1544368 w 1636793"/>
                <a:gd name="connsiteY6-2006" fmla="*/ 993140 h 1459230"/>
                <a:gd name="connsiteX7-2007" fmla="*/ 1385618 w 1636793"/>
                <a:gd name="connsiteY7-2008" fmla="*/ 1007110 h 1459230"/>
                <a:gd name="connsiteX8-2009" fmla="*/ 1079548 w 1636793"/>
                <a:gd name="connsiteY8-2010" fmla="*/ 933450 h 1459230"/>
                <a:gd name="connsiteX9-2011" fmla="*/ 972868 w 1636793"/>
                <a:gd name="connsiteY9-2012" fmla="*/ 1033780 h 1459230"/>
                <a:gd name="connsiteX10-2013" fmla="*/ 875078 w 1636793"/>
                <a:gd name="connsiteY10-2014" fmla="*/ 1202690 h 1459230"/>
                <a:gd name="connsiteX11-2015" fmla="*/ 655368 w 1636793"/>
                <a:gd name="connsiteY11-2016" fmla="*/ 1191260 h 1459230"/>
                <a:gd name="connsiteX12-2017" fmla="*/ 534718 w 1636793"/>
                <a:gd name="connsiteY12-2018" fmla="*/ 1197610 h 1459230"/>
                <a:gd name="connsiteX13-2019" fmla="*/ 127048 w 1636793"/>
                <a:gd name="connsiteY13-2020" fmla="*/ 1151890 h 1459230"/>
                <a:gd name="connsiteX14-2021" fmla="*/ 38148 w 1636793"/>
                <a:gd name="connsiteY14-2022" fmla="*/ 1107440 h 1459230"/>
                <a:gd name="connsiteX15-2023" fmla="*/ 48 w 1636793"/>
                <a:gd name="connsiteY15-2024" fmla="*/ 1196340 h 1459230"/>
                <a:gd name="connsiteX16-2025" fmla="*/ 30528 w 1636793"/>
                <a:gd name="connsiteY16-2026" fmla="*/ 1459230 h 1459230"/>
                <a:gd name="connsiteX0-2027" fmla="*/ 1404635 w 1643110"/>
                <a:gd name="connsiteY0-2028" fmla="*/ 0 h 1455420"/>
                <a:gd name="connsiteX1-2029" fmla="*/ 1457975 w 1643110"/>
                <a:gd name="connsiteY1-2030" fmla="*/ 236220 h 1455420"/>
                <a:gd name="connsiteX2-2031" fmla="*/ 1515125 w 1643110"/>
                <a:gd name="connsiteY2-2032" fmla="*/ 420370 h 1455420"/>
                <a:gd name="connsiteX3-2033" fmla="*/ 1582435 w 1643110"/>
                <a:gd name="connsiteY3-2034" fmla="*/ 618490 h 1455420"/>
                <a:gd name="connsiteX4-2035" fmla="*/ 1634505 w 1643110"/>
                <a:gd name="connsiteY4-2036" fmla="*/ 789940 h 1455420"/>
                <a:gd name="connsiteX5-2037" fmla="*/ 1634505 w 1643110"/>
                <a:gd name="connsiteY5-2038" fmla="*/ 901700 h 1455420"/>
                <a:gd name="connsiteX6-2039" fmla="*/ 1550685 w 1643110"/>
                <a:gd name="connsiteY6-2040" fmla="*/ 993140 h 1455420"/>
                <a:gd name="connsiteX7-2041" fmla="*/ 1391935 w 1643110"/>
                <a:gd name="connsiteY7-2042" fmla="*/ 1007110 h 1455420"/>
                <a:gd name="connsiteX8-2043" fmla="*/ 1085865 w 1643110"/>
                <a:gd name="connsiteY8-2044" fmla="*/ 933450 h 1455420"/>
                <a:gd name="connsiteX9-2045" fmla="*/ 979185 w 1643110"/>
                <a:gd name="connsiteY9-2046" fmla="*/ 1033780 h 1455420"/>
                <a:gd name="connsiteX10-2047" fmla="*/ 881395 w 1643110"/>
                <a:gd name="connsiteY10-2048" fmla="*/ 1202690 h 1455420"/>
                <a:gd name="connsiteX11-2049" fmla="*/ 661685 w 1643110"/>
                <a:gd name="connsiteY11-2050" fmla="*/ 1191260 h 1455420"/>
                <a:gd name="connsiteX12-2051" fmla="*/ 541035 w 1643110"/>
                <a:gd name="connsiteY12-2052" fmla="*/ 1197610 h 1455420"/>
                <a:gd name="connsiteX13-2053" fmla="*/ 133365 w 1643110"/>
                <a:gd name="connsiteY13-2054" fmla="*/ 1151890 h 1455420"/>
                <a:gd name="connsiteX14-2055" fmla="*/ 44465 w 1643110"/>
                <a:gd name="connsiteY14-2056" fmla="*/ 1107440 h 1455420"/>
                <a:gd name="connsiteX15-2057" fmla="*/ 6365 w 1643110"/>
                <a:gd name="connsiteY15-2058" fmla="*/ 1196340 h 1455420"/>
                <a:gd name="connsiteX16-2059" fmla="*/ 4460 w 1643110"/>
                <a:gd name="connsiteY16-2060" fmla="*/ 1455420 h 1455420"/>
                <a:gd name="connsiteX0-2061" fmla="*/ 1404635 w 1643110"/>
                <a:gd name="connsiteY0-2062" fmla="*/ 0 h 1455420"/>
                <a:gd name="connsiteX1-2063" fmla="*/ 1457975 w 1643110"/>
                <a:gd name="connsiteY1-2064" fmla="*/ 236220 h 1455420"/>
                <a:gd name="connsiteX2-2065" fmla="*/ 1515125 w 1643110"/>
                <a:gd name="connsiteY2-2066" fmla="*/ 420370 h 1455420"/>
                <a:gd name="connsiteX3-2067" fmla="*/ 1582435 w 1643110"/>
                <a:gd name="connsiteY3-2068" fmla="*/ 618490 h 1455420"/>
                <a:gd name="connsiteX4-2069" fmla="*/ 1634505 w 1643110"/>
                <a:gd name="connsiteY4-2070" fmla="*/ 789940 h 1455420"/>
                <a:gd name="connsiteX5-2071" fmla="*/ 1634505 w 1643110"/>
                <a:gd name="connsiteY5-2072" fmla="*/ 901700 h 1455420"/>
                <a:gd name="connsiteX6-2073" fmla="*/ 1550685 w 1643110"/>
                <a:gd name="connsiteY6-2074" fmla="*/ 993140 h 1455420"/>
                <a:gd name="connsiteX7-2075" fmla="*/ 1391935 w 1643110"/>
                <a:gd name="connsiteY7-2076" fmla="*/ 1007110 h 1455420"/>
                <a:gd name="connsiteX8-2077" fmla="*/ 1085865 w 1643110"/>
                <a:gd name="connsiteY8-2078" fmla="*/ 933450 h 1455420"/>
                <a:gd name="connsiteX9-2079" fmla="*/ 979185 w 1643110"/>
                <a:gd name="connsiteY9-2080" fmla="*/ 1033780 h 1455420"/>
                <a:gd name="connsiteX10-2081" fmla="*/ 881395 w 1643110"/>
                <a:gd name="connsiteY10-2082" fmla="*/ 1202690 h 1455420"/>
                <a:gd name="connsiteX11-2083" fmla="*/ 661685 w 1643110"/>
                <a:gd name="connsiteY11-2084" fmla="*/ 1191260 h 1455420"/>
                <a:gd name="connsiteX12-2085" fmla="*/ 541035 w 1643110"/>
                <a:gd name="connsiteY12-2086" fmla="*/ 1197610 h 1455420"/>
                <a:gd name="connsiteX13-2087" fmla="*/ 135270 w 1643110"/>
                <a:gd name="connsiteY13-2088" fmla="*/ 1144270 h 1455420"/>
                <a:gd name="connsiteX14-2089" fmla="*/ 44465 w 1643110"/>
                <a:gd name="connsiteY14-2090" fmla="*/ 1107440 h 1455420"/>
                <a:gd name="connsiteX15-2091" fmla="*/ 6365 w 1643110"/>
                <a:gd name="connsiteY15-2092" fmla="*/ 1196340 h 1455420"/>
                <a:gd name="connsiteX16-2093" fmla="*/ 4460 w 1643110"/>
                <a:gd name="connsiteY16-2094" fmla="*/ 1455420 h 1455420"/>
                <a:gd name="connsiteX0-2095" fmla="*/ 1404635 w 1643110"/>
                <a:gd name="connsiteY0-2096" fmla="*/ 0 h 1455420"/>
                <a:gd name="connsiteX1-2097" fmla="*/ 1457975 w 1643110"/>
                <a:gd name="connsiteY1-2098" fmla="*/ 236220 h 1455420"/>
                <a:gd name="connsiteX2-2099" fmla="*/ 1515125 w 1643110"/>
                <a:gd name="connsiteY2-2100" fmla="*/ 420370 h 1455420"/>
                <a:gd name="connsiteX3-2101" fmla="*/ 1582435 w 1643110"/>
                <a:gd name="connsiteY3-2102" fmla="*/ 618490 h 1455420"/>
                <a:gd name="connsiteX4-2103" fmla="*/ 1634505 w 1643110"/>
                <a:gd name="connsiteY4-2104" fmla="*/ 789940 h 1455420"/>
                <a:gd name="connsiteX5-2105" fmla="*/ 1634505 w 1643110"/>
                <a:gd name="connsiteY5-2106" fmla="*/ 901700 h 1455420"/>
                <a:gd name="connsiteX6-2107" fmla="*/ 1550685 w 1643110"/>
                <a:gd name="connsiteY6-2108" fmla="*/ 993140 h 1455420"/>
                <a:gd name="connsiteX7-2109" fmla="*/ 1391935 w 1643110"/>
                <a:gd name="connsiteY7-2110" fmla="*/ 1007110 h 1455420"/>
                <a:gd name="connsiteX8-2111" fmla="*/ 1085865 w 1643110"/>
                <a:gd name="connsiteY8-2112" fmla="*/ 933450 h 1455420"/>
                <a:gd name="connsiteX9-2113" fmla="*/ 979185 w 1643110"/>
                <a:gd name="connsiteY9-2114" fmla="*/ 1033780 h 1455420"/>
                <a:gd name="connsiteX10-2115" fmla="*/ 881395 w 1643110"/>
                <a:gd name="connsiteY10-2116" fmla="*/ 1202690 h 1455420"/>
                <a:gd name="connsiteX11-2117" fmla="*/ 661685 w 1643110"/>
                <a:gd name="connsiteY11-2118" fmla="*/ 1191260 h 1455420"/>
                <a:gd name="connsiteX12-2119" fmla="*/ 541035 w 1643110"/>
                <a:gd name="connsiteY12-2120" fmla="*/ 1197610 h 1455420"/>
                <a:gd name="connsiteX13-2121" fmla="*/ 135270 w 1643110"/>
                <a:gd name="connsiteY13-2122" fmla="*/ 1144270 h 1455420"/>
                <a:gd name="connsiteX14-2123" fmla="*/ 44465 w 1643110"/>
                <a:gd name="connsiteY14-2124" fmla="*/ 1107440 h 1455420"/>
                <a:gd name="connsiteX15-2125" fmla="*/ 6365 w 1643110"/>
                <a:gd name="connsiteY15-2126" fmla="*/ 1196340 h 1455420"/>
                <a:gd name="connsiteX16-2127" fmla="*/ 4460 w 1643110"/>
                <a:gd name="connsiteY16-2128" fmla="*/ 1455420 h 1455420"/>
                <a:gd name="connsiteX0-2129" fmla="*/ 1404635 w 1643110"/>
                <a:gd name="connsiteY0-2130" fmla="*/ 0 h 1455420"/>
                <a:gd name="connsiteX1-2131" fmla="*/ 1457975 w 1643110"/>
                <a:gd name="connsiteY1-2132" fmla="*/ 236220 h 1455420"/>
                <a:gd name="connsiteX2-2133" fmla="*/ 1515125 w 1643110"/>
                <a:gd name="connsiteY2-2134" fmla="*/ 420370 h 1455420"/>
                <a:gd name="connsiteX3-2135" fmla="*/ 1582435 w 1643110"/>
                <a:gd name="connsiteY3-2136" fmla="*/ 618490 h 1455420"/>
                <a:gd name="connsiteX4-2137" fmla="*/ 1634505 w 1643110"/>
                <a:gd name="connsiteY4-2138" fmla="*/ 789940 h 1455420"/>
                <a:gd name="connsiteX5-2139" fmla="*/ 1634505 w 1643110"/>
                <a:gd name="connsiteY5-2140" fmla="*/ 901700 h 1455420"/>
                <a:gd name="connsiteX6-2141" fmla="*/ 1550685 w 1643110"/>
                <a:gd name="connsiteY6-2142" fmla="*/ 993140 h 1455420"/>
                <a:gd name="connsiteX7-2143" fmla="*/ 1391935 w 1643110"/>
                <a:gd name="connsiteY7-2144" fmla="*/ 1007110 h 1455420"/>
                <a:gd name="connsiteX8-2145" fmla="*/ 1085865 w 1643110"/>
                <a:gd name="connsiteY8-2146" fmla="*/ 933450 h 1455420"/>
                <a:gd name="connsiteX9-2147" fmla="*/ 979185 w 1643110"/>
                <a:gd name="connsiteY9-2148" fmla="*/ 1033780 h 1455420"/>
                <a:gd name="connsiteX10-2149" fmla="*/ 881395 w 1643110"/>
                <a:gd name="connsiteY10-2150" fmla="*/ 1202690 h 1455420"/>
                <a:gd name="connsiteX11-2151" fmla="*/ 661685 w 1643110"/>
                <a:gd name="connsiteY11-2152" fmla="*/ 1191260 h 1455420"/>
                <a:gd name="connsiteX12-2153" fmla="*/ 541035 w 1643110"/>
                <a:gd name="connsiteY12-2154" fmla="*/ 1197610 h 1455420"/>
                <a:gd name="connsiteX13-2155" fmla="*/ 135270 w 1643110"/>
                <a:gd name="connsiteY13-2156" fmla="*/ 1144270 h 1455420"/>
                <a:gd name="connsiteX14-2157" fmla="*/ 44465 w 1643110"/>
                <a:gd name="connsiteY14-2158" fmla="*/ 1107440 h 1455420"/>
                <a:gd name="connsiteX15-2159" fmla="*/ 6365 w 1643110"/>
                <a:gd name="connsiteY15-2160" fmla="*/ 1196340 h 1455420"/>
                <a:gd name="connsiteX16-2161" fmla="*/ 4460 w 1643110"/>
                <a:gd name="connsiteY16-2162" fmla="*/ 1455420 h 14554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Lst>
              <a:rect l="l" t="t" r="r" b="b"/>
              <a:pathLst>
                <a:path w="1643110" h="1455420">
                  <a:moveTo>
                    <a:pt x="1404635" y="0"/>
                  </a:moveTo>
                  <a:cubicBezTo>
                    <a:pt x="1413207" y="85619"/>
                    <a:pt x="1439560" y="166158"/>
                    <a:pt x="1457975" y="236220"/>
                  </a:cubicBezTo>
                  <a:cubicBezTo>
                    <a:pt x="1476390" y="306282"/>
                    <a:pt x="1494382" y="356658"/>
                    <a:pt x="1515125" y="420370"/>
                  </a:cubicBezTo>
                  <a:cubicBezTo>
                    <a:pt x="1535868" y="484082"/>
                    <a:pt x="1562538" y="556895"/>
                    <a:pt x="1582435" y="618490"/>
                  </a:cubicBezTo>
                  <a:cubicBezTo>
                    <a:pt x="1602332" y="680085"/>
                    <a:pt x="1625827" y="742738"/>
                    <a:pt x="1634505" y="789940"/>
                  </a:cubicBezTo>
                  <a:cubicBezTo>
                    <a:pt x="1643183" y="837142"/>
                    <a:pt x="1648475" y="867833"/>
                    <a:pt x="1634505" y="901700"/>
                  </a:cubicBezTo>
                  <a:cubicBezTo>
                    <a:pt x="1620535" y="935567"/>
                    <a:pt x="1591113" y="975572"/>
                    <a:pt x="1550685" y="993140"/>
                  </a:cubicBezTo>
                  <a:cubicBezTo>
                    <a:pt x="1510257" y="1010708"/>
                    <a:pt x="1442735" y="1032298"/>
                    <a:pt x="1391935" y="1007110"/>
                  </a:cubicBezTo>
                  <a:cubicBezTo>
                    <a:pt x="1341135" y="981922"/>
                    <a:pt x="1147037" y="898525"/>
                    <a:pt x="1085865" y="933450"/>
                  </a:cubicBezTo>
                  <a:cubicBezTo>
                    <a:pt x="1024693" y="968375"/>
                    <a:pt x="1013263" y="988907"/>
                    <a:pt x="979185" y="1033780"/>
                  </a:cubicBezTo>
                  <a:cubicBezTo>
                    <a:pt x="945107" y="1078653"/>
                    <a:pt x="934312" y="1176443"/>
                    <a:pt x="881395" y="1202690"/>
                  </a:cubicBezTo>
                  <a:cubicBezTo>
                    <a:pt x="828478" y="1228937"/>
                    <a:pt x="718412" y="1192107"/>
                    <a:pt x="661685" y="1191260"/>
                  </a:cubicBezTo>
                  <a:cubicBezTo>
                    <a:pt x="604958" y="1190413"/>
                    <a:pt x="628771" y="1205442"/>
                    <a:pt x="541035" y="1197610"/>
                  </a:cubicBezTo>
                  <a:cubicBezTo>
                    <a:pt x="453299" y="1189778"/>
                    <a:pt x="204697" y="1168823"/>
                    <a:pt x="135270" y="1144270"/>
                  </a:cubicBezTo>
                  <a:cubicBezTo>
                    <a:pt x="65843" y="1119717"/>
                    <a:pt x="65949" y="1098762"/>
                    <a:pt x="44465" y="1107440"/>
                  </a:cubicBezTo>
                  <a:cubicBezTo>
                    <a:pt x="22981" y="1116118"/>
                    <a:pt x="13032" y="1138343"/>
                    <a:pt x="6365" y="1196340"/>
                  </a:cubicBezTo>
                  <a:cubicBezTo>
                    <a:pt x="-302" y="1254337"/>
                    <a:pt x="-2948" y="1315720"/>
                    <a:pt x="4460" y="1455420"/>
                  </a:cubicBezTo>
                </a:path>
              </a:pathLst>
            </a:cu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3" name="任意多边形 2"/>
            <p:cNvSpPr/>
            <p:nvPr/>
          </p:nvSpPr>
          <p:spPr>
            <a:xfrm>
              <a:off x="5688" y="6015"/>
              <a:ext cx="4144" cy="3249"/>
            </a:xfrm>
            <a:custGeom>
              <a:avLst/>
              <a:gdLst>
                <a:gd name="connsiteX0" fmla="*/ 2631581 w 2631581"/>
                <a:gd name="connsiteY0" fmla="*/ 2062960 h 2062960"/>
                <a:gd name="connsiteX1" fmla="*/ 2286141 w 2631581"/>
                <a:gd name="connsiteY1" fmla="*/ 1803880 h 2062960"/>
                <a:gd name="connsiteX2" fmla="*/ 1920381 w 2631581"/>
                <a:gd name="connsiteY2" fmla="*/ 1290800 h 2062960"/>
                <a:gd name="connsiteX3" fmla="*/ 1493661 w 2631581"/>
                <a:gd name="connsiteY3" fmla="*/ 706600 h 2062960"/>
                <a:gd name="connsiteX4" fmla="*/ 1214261 w 2631581"/>
                <a:gd name="connsiteY4" fmla="*/ 315440 h 2062960"/>
                <a:gd name="connsiteX5" fmla="*/ 1005981 w 2631581"/>
                <a:gd name="connsiteY5" fmla="*/ 122400 h 2062960"/>
                <a:gd name="connsiteX6" fmla="*/ 782461 w 2631581"/>
                <a:gd name="connsiteY6" fmla="*/ 41120 h 2062960"/>
                <a:gd name="connsiteX7" fmla="*/ 482741 w 2631581"/>
                <a:gd name="connsiteY7" fmla="*/ 480 h 2062960"/>
                <a:gd name="connsiteX8" fmla="*/ 167781 w 2631581"/>
                <a:gd name="connsiteY8" fmla="*/ 66520 h 2062960"/>
                <a:gd name="connsiteX9" fmla="*/ 141 w 2631581"/>
                <a:gd name="connsiteY9" fmla="*/ 71600 h 2062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31581" h="2062960">
                  <a:moveTo>
                    <a:pt x="2631581" y="2062960"/>
                  </a:moveTo>
                  <a:cubicBezTo>
                    <a:pt x="2518127" y="1997766"/>
                    <a:pt x="2404674" y="1932573"/>
                    <a:pt x="2286141" y="1803880"/>
                  </a:cubicBezTo>
                  <a:cubicBezTo>
                    <a:pt x="2167608" y="1675187"/>
                    <a:pt x="2052461" y="1473680"/>
                    <a:pt x="1920381" y="1290800"/>
                  </a:cubicBezTo>
                  <a:cubicBezTo>
                    <a:pt x="1788301" y="1107920"/>
                    <a:pt x="1611348" y="869160"/>
                    <a:pt x="1493661" y="706600"/>
                  </a:cubicBezTo>
                  <a:cubicBezTo>
                    <a:pt x="1375974" y="544040"/>
                    <a:pt x="1295541" y="412807"/>
                    <a:pt x="1214261" y="315440"/>
                  </a:cubicBezTo>
                  <a:cubicBezTo>
                    <a:pt x="1132981" y="218073"/>
                    <a:pt x="1077948" y="168120"/>
                    <a:pt x="1005981" y="122400"/>
                  </a:cubicBezTo>
                  <a:cubicBezTo>
                    <a:pt x="934014" y="76680"/>
                    <a:pt x="869668" y="61440"/>
                    <a:pt x="782461" y="41120"/>
                  </a:cubicBezTo>
                  <a:cubicBezTo>
                    <a:pt x="695254" y="20800"/>
                    <a:pt x="585188" y="-3753"/>
                    <a:pt x="482741" y="480"/>
                  </a:cubicBezTo>
                  <a:cubicBezTo>
                    <a:pt x="380294" y="4713"/>
                    <a:pt x="248214" y="54667"/>
                    <a:pt x="167781" y="66520"/>
                  </a:cubicBezTo>
                  <a:cubicBezTo>
                    <a:pt x="87348" y="78373"/>
                    <a:pt x="-4092" y="77527"/>
                    <a:pt x="141" y="71600"/>
                  </a:cubicBezTo>
                </a:path>
              </a:pathLst>
            </a:cu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7" name="任意多边形 6"/>
            <p:cNvSpPr/>
            <p:nvPr/>
          </p:nvSpPr>
          <p:spPr>
            <a:xfrm>
              <a:off x="3432" y="5704"/>
              <a:ext cx="2681" cy="2288"/>
            </a:xfrm>
            <a:custGeom>
              <a:avLst/>
              <a:gdLst>
                <a:gd name="connsiteX0" fmla="*/ 0 w 1702269"/>
                <a:gd name="connsiteY0" fmla="*/ 1452880 h 1452880"/>
                <a:gd name="connsiteX1" fmla="*/ 635000 w 1702269"/>
                <a:gd name="connsiteY1" fmla="*/ 1270000 h 1452880"/>
                <a:gd name="connsiteX2" fmla="*/ 848360 w 1702269"/>
                <a:gd name="connsiteY2" fmla="*/ 1219200 h 1452880"/>
                <a:gd name="connsiteX3" fmla="*/ 909320 w 1702269"/>
                <a:gd name="connsiteY3" fmla="*/ 1061720 h 1452880"/>
                <a:gd name="connsiteX4" fmla="*/ 1021080 w 1702269"/>
                <a:gd name="connsiteY4" fmla="*/ 802640 h 1452880"/>
                <a:gd name="connsiteX5" fmla="*/ 1122680 w 1702269"/>
                <a:gd name="connsiteY5" fmla="*/ 619760 h 1452880"/>
                <a:gd name="connsiteX6" fmla="*/ 1275080 w 1702269"/>
                <a:gd name="connsiteY6" fmla="*/ 497840 h 1452880"/>
                <a:gd name="connsiteX7" fmla="*/ 1452880 w 1702269"/>
                <a:gd name="connsiteY7" fmla="*/ 462280 h 1452880"/>
                <a:gd name="connsiteX8" fmla="*/ 1640840 w 1702269"/>
                <a:gd name="connsiteY8" fmla="*/ 452120 h 1452880"/>
                <a:gd name="connsiteX9" fmla="*/ 1701800 w 1702269"/>
                <a:gd name="connsiteY9" fmla="*/ 340360 h 1452880"/>
                <a:gd name="connsiteX10" fmla="*/ 1666240 w 1702269"/>
                <a:gd name="connsiteY10" fmla="*/ 182880 h 1452880"/>
                <a:gd name="connsiteX11" fmla="*/ 1615440 w 1702269"/>
                <a:gd name="connsiteY11" fmla="*/ 0 h 1452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02269" h="1452880">
                  <a:moveTo>
                    <a:pt x="0" y="1452880"/>
                  </a:moveTo>
                  <a:lnTo>
                    <a:pt x="635000" y="1270000"/>
                  </a:lnTo>
                  <a:cubicBezTo>
                    <a:pt x="776393" y="1231053"/>
                    <a:pt x="802640" y="1253913"/>
                    <a:pt x="848360" y="1219200"/>
                  </a:cubicBezTo>
                  <a:cubicBezTo>
                    <a:pt x="894080" y="1184487"/>
                    <a:pt x="880533" y="1131147"/>
                    <a:pt x="909320" y="1061720"/>
                  </a:cubicBezTo>
                  <a:cubicBezTo>
                    <a:pt x="938107" y="992293"/>
                    <a:pt x="985520" y="876300"/>
                    <a:pt x="1021080" y="802640"/>
                  </a:cubicBezTo>
                  <a:cubicBezTo>
                    <a:pt x="1056640" y="728980"/>
                    <a:pt x="1080347" y="670560"/>
                    <a:pt x="1122680" y="619760"/>
                  </a:cubicBezTo>
                  <a:cubicBezTo>
                    <a:pt x="1165013" y="568960"/>
                    <a:pt x="1220047" y="524087"/>
                    <a:pt x="1275080" y="497840"/>
                  </a:cubicBezTo>
                  <a:cubicBezTo>
                    <a:pt x="1330113" y="471593"/>
                    <a:pt x="1391920" y="469900"/>
                    <a:pt x="1452880" y="462280"/>
                  </a:cubicBezTo>
                  <a:cubicBezTo>
                    <a:pt x="1513840" y="454660"/>
                    <a:pt x="1599353" y="472440"/>
                    <a:pt x="1640840" y="452120"/>
                  </a:cubicBezTo>
                  <a:cubicBezTo>
                    <a:pt x="1682327" y="431800"/>
                    <a:pt x="1697567" y="385233"/>
                    <a:pt x="1701800" y="340360"/>
                  </a:cubicBezTo>
                  <a:cubicBezTo>
                    <a:pt x="1706033" y="295487"/>
                    <a:pt x="1680633" y="239607"/>
                    <a:pt x="1666240" y="182880"/>
                  </a:cubicBezTo>
                  <a:cubicBezTo>
                    <a:pt x="1651847" y="126153"/>
                    <a:pt x="1633643" y="63076"/>
                    <a:pt x="1615440" y="0"/>
                  </a:cubicBezTo>
                </a:path>
              </a:pathLst>
            </a:cu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8" name="任意多边形 7"/>
            <p:cNvSpPr/>
            <p:nvPr/>
          </p:nvSpPr>
          <p:spPr>
            <a:xfrm>
              <a:off x="3254" y="6105"/>
              <a:ext cx="4003" cy="644"/>
            </a:xfrm>
            <a:custGeom>
              <a:avLst/>
              <a:gdLst>
                <a:gd name="connsiteX0" fmla="*/ 0 w 2686385"/>
                <a:gd name="connsiteY0" fmla="*/ 409128 h 409128"/>
                <a:gd name="connsiteX1" fmla="*/ 292608 w 2686385"/>
                <a:gd name="connsiteY1" fmla="*/ 372552 h 409128"/>
                <a:gd name="connsiteX2" fmla="*/ 786384 w 2686385"/>
                <a:gd name="connsiteY2" fmla="*/ 275016 h 409128"/>
                <a:gd name="connsiteX3" fmla="*/ 1377696 w 2686385"/>
                <a:gd name="connsiteY3" fmla="*/ 147000 h 409128"/>
                <a:gd name="connsiteX4" fmla="*/ 1749552 w 2686385"/>
                <a:gd name="connsiteY4" fmla="*/ 37272 h 409128"/>
                <a:gd name="connsiteX5" fmla="*/ 1938528 w 2686385"/>
                <a:gd name="connsiteY5" fmla="*/ 696 h 409128"/>
                <a:gd name="connsiteX6" fmla="*/ 2292096 w 2686385"/>
                <a:gd name="connsiteY6" fmla="*/ 18984 h 409128"/>
                <a:gd name="connsiteX7" fmla="*/ 2542032 w 2686385"/>
                <a:gd name="connsiteY7" fmla="*/ 86040 h 409128"/>
                <a:gd name="connsiteX8" fmla="*/ 2590800 w 2686385"/>
                <a:gd name="connsiteY8" fmla="*/ 116520 h 409128"/>
                <a:gd name="connsiteX0-1" fmla="*/ 0 w 2542032"/>
                <a:gd name="connsiteY0-2" fmla="*/ 409128 h 409128"/>
                <a:gd name="connsiteX1-3" fmla="*/ 292608 w 2542032"/>
                <a:gd name="connsiteY1-4" fmla="*/ 372552 h 409128"/>
                <a:gd name="connsiteX2-5" fmla="*/ 786384 w 2542032"/>
                <a:gd name="connsiteY2-6" fmla="*/ 275016 h 409128"/>
                <a:gd name="connsiteX3-7" fmla="*/ 1377696 w 2542032"/>
                <a:gd name="connsiteY3-8" fmla="*/ 147000 h 409128"/>
                <a:gd name="connsiteX4-9" fmla="*/ 1749552 w 2542032"/>
                <a:gd name="connsiteY4-10" fmla="*/ 37272 h 409128"/>
                <a:gd name="connsiteX5-11" fmla="*/ 1938528 w 2542032"/>
                <a:gd name="connsiteY5-12" fmla="*/ 696 h 409128"/>
                <a:gd name="connsiteX6-13" fmla="*/ 2292096 w 2542032"/>
                <a:gd name="connsiteY6-14" fmla="*/ 18984 h 409128"/>
                <a:gd name="connsiteX7-15" fmla="*/ 2542032 w 2542032"/>
                <a:gd name="connsiteY7-16" fmla="*/ 86040 h 40912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542032" h="409128">
                  <a:moveTo>
                    <a:pt x="0" y="409128"/>
                  </a:moveTo>
                  <a:cubicBezTo>
                    <a:pt x="80772" y="402016"/>
                    <a:pt x="161544" y="394904"/>
                    <a:pt x="292608" y="372552"/>
                  </a:cubicBezTo>
                  <a:cubicBezTo>
                    <a:pt x="423672" y="350200"/>
                    <a:pt x="786384" y="275016"/>
                    <a:pt x="786384" y="275016"/>
                  </a:cubicBezTo>
                  <a:cubicBezTo>
                    <a:pt x="967232" y="237424"/>
                    <a:pt x="1217168" y="186624"/>
                    <a:pt x="1377696" y="147000"/>
                  </a:cubicBezTo>
                  <a:cubicBezTo>
                    <a:pt x="1538224" y="107376"/>
                    <a:pt x="1656080" y="61656"/>
                    <a:pt x="1749552" y="37272"/>
                  </a:cubicBezTo>
                  <a:cubicBezTo>
                    <a:pt x="1843024" y="12888"/>
                    <a:pt x="1848104" y="3744"/>
                    <a:pt x="1938528" y="696"/>
                  </a:cubicBezTo>
                  <a:cubicBezTo>
                    <a:pt x="2028952" y="-2352"/>
                    <a:pt x="2191512" y="4760"/>
                    <a:pt x="2292096" y="18984"/>
                  </a:cubicBezTo>
                  <a:cubicBezTo>
                    <a:pt x="2392680" y="33208"/>
                    <a:pt x="2492248" y="69784"/>
                    <a:pt x="2542032" y="86040"/>
                  </a:cubicBezTo>
                </a:path>
              </a:pathLst>
            </a:custGeom>
            <a:noFill/>
            <a:ln>
              <a:solidFill>
                <a:srgbClr val="FF0000"/>
              </a:solidFill>
              <a:tailEnd type="non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9" name="任意多边形 8"/>
            <p:cNvSpPr/>
            <p:nvPr/>
          </p:nvSpPr>
          <p:spPr>
            <a:xfrm>
              <a:off x="4991" y="2634"/>
              <a:ext cx="761" cy="2998"/>
            </a:xfrm>
            <a:custGeom>
              <a:avLst/>
              <a:gdLst>
                <a:gd name="connsiteX0" fmla="*/ 287509 w 483089"/>
                <a:gd name="connsiteY0" fmla="*/ 0 h 952500"/>
                <a:gd name="connsiteX1" fmla="*/ 312909 w 483089"/>
                <a:gd name="connsiteY1" fmla="*/ 172720 h 952500"/>
                <a:gd name="connsiteX2" fmla="*/ 307829 w 483089"/>
                <a:gd name="connsiteY2" fmla="*/ 215900 h 952500"/>
                <a:gd name="connsiteX3" fmla="*/ 239249 w 483089"/>
                <a:gd name="connsiteY3" fmla="*/ 195580 h 952500"/>
                <a:gd name="connsiteX4" fmla="*/ 140189 w 483089"/>
                <a:gd name="connsiteY4" fmla="*/ 182880 h 952500"/>
                <a:gd name="connsiteX5" fmla="*/ 61449 w 483089"/>
                <a:gd name="connsiteY5" fmla="*/ 205740 h 952500"/>
                <a:gd name="connsiteX6" fmla="*/ 33509 w 483089"/>
                <a:gd name="connsiteY6" fmla="*/ 317500 h 952500"/>
                <a:gd name="connsiteX7" fmla="*/ 18269 w 483089"/>
                <a:gd name="connsiteY7" fmla="*/ 650240 h 952500"/>
                <a:gd name="connsiteX8" fmla="*/ 10649 w 483089"/>
                <a:gd name="connsiteY8" fmla="*/ 835660 h 952500"/>
                <a:gd name="connsiteX9" fmla="*/ 175749 w 483089"/>
                <a:gd name="connsiteY9" fmla="*/ 886460 h 952500"/>
                <a:gd name="connsiteX10" fmla="*/ 483089 w 483089"/>
                <a:gd name="connsiteY10" fmla="*/ 952500 h 952500"/>
                <a:gd name="connsiteX0-1" fmla="*/ 287509 w 483089"/>
                <a:gd name="connsiteY0-2" fmla="*/ 0 h 952500"/>
                <a:gd name="connsiteX1-3" fmla="*/ 299193 w 483089"/>
                <a:gd name="connsiteY1-4" fmla="*/ 27940 h 952500"/>
                <a:gd name="connsiteX2-5" fmla="*/ 312909 w 483089"/>
                <a:gd name="connsiteY2-6" fmla="*/ 172720 h 952500"/>
                <a:gd name="connsiteX3-7" fmla="*/ 307829 w 483089"/>
                <a:gd name="connsiteY3-8" fmla="*/ 215900 h 952500"/>
                <a:gd name="connsiteX4-9" fmla="*/ 239249 w 483089"/>
                <a:gd name="connsiteY4-10" fmla="*/ 195580 h 952500"/>
                <a:gd name="connsiteX5-11" fmla="*/ 140189 w 483089"/>
                <a:gd name="connsiteY5-12" fmla="*/ 182880 h 952500"/>
                <a:gd name="connsiteX6-13" fmla="*/ 61449 w 483089"/>
                <a:gd name="connsiteY6-14" fmla="*/ 205740 h 952500"/>
                <a:gd name="connsiteX7-15" fmla="*/ 33509 w 483089"/>
                <a:gd name="connsiteY7-16" fmla="*/ 317500 h 952500"/>
                <a:gd name="connsiteX8-17" fmla="*/ 18269 w 483089"/>
                <a:gd name="connsiteY8-18" fmla="*/ 650240 h 952500"/>
                <a:gd name="connsiteX9-19" fmla="*/ 10649 w 483089"/>
                <a:gd name="connsiteY9-20" fmla="*/ 835660 h 952500"/>
                <a:gd name="connsiteX10-21" fmla="*/ 175749 w 483089"/>
                <a:gd name="connsiteY10-22" fmla="*/ 886460 h 952500"/>
                <a:gd name="connsiteX11" fmla="*/ 483089 w 483089"/>
                <a:gd name="connsiteY11" fmla="*/ 952500 h 952500"/>
                <a:gd name="connsiteX0-23" fmla="*/ 299701 w 483089"/>
                <a:gd name="connsiteY0-24" fmla="*/ 0 h 1549908"/>
                <a:gd name="connsiteX1-25" fmla="*/ 299193 w 483089"/>
                <a:gd name="connsiteY1-26" fmla="*/ 625348 h 1549908"/>
                <a:gd name="connsiteX2-27" fmla="*/ 312909 w 483089"/>
                <a:gd name="connsiteY2-28" fmla="*/ 770128 h 1549908"/>
                <a:gd name="connsiteX3-29" fmla="*/ 307829 w 483089"/>
                <a:gd name="connsiteY3-30" fmla="*/ 813308 h 1549908"/>
                <a:gd name="connsiteX4-31" fmla="*/ 239249 w 483089"/>
                <a:gd name="connsiteY4-32" fmla="*/ 792988 h 1549908"/>
                <a:gd name="connsiteX5-33" fmla="*/ 140189 w 483089"/>
                <a:gd name="connsiteY5-34" fmla="*/ 780288 h 1549908"/>
                <a:gd name="connsiteX6-35" fmla="*/ 61449 w 483089"/>
                <a:gd name="connsiteY6-36" fmla="*/ 803148 h 1549908"/>
                <a:gd name="connsiteX7-37" fmla="*/ 33509 w 483089"/>
                <a:gd name="connsiteY7-38" fmla="*/ 914908 h 1549908"/>
                <a:gd name="connsiteX8-39" fmla="*/ 18269 w 483089"/>
                <a:gd name="connsiteY8-40" fmla="*/ 1247648 h 1549908"/>
                <a:gd name="connsiteX9-41" fmla="*/ 10649 w 483089"/>
                <a:gd name="connsiteY9-42" fmla="*/ 1433068 h 1549908"/>
                <a:gd name="connsiteX10-43" fmla="*/ 175749 w 483089"/>
                <a:gd name="connsiteY10-44" fmla="*/ 1483868 h 1549908"/>
                <a:gd name="connsiteX11-45" fmla="*/ 483089 w 483089"/>
                <a:gd name="connsiteY11-46" fmla="*/ 1549908 h 1549908"/>
                <a:gd name="connsiteX0-47" fmla="*/ 287509 w 483089"/>
                <a:gd name="connsiteY0-48" fmla="*/ 0 h 1903476"/>
                <a:gd name="connsiteX1-49" fmla="*/ 299193 w 483089"/>
                <a:gd name="connsiteY1-50" fmla="*/ 978916 h 1903476"/>
                <a:gd name="connsiteX2-51" fmla="*/ 312909 w 483089"/>
                <a:gd name="connsiteY2-52" fmla="*/ 1123696 h 1903476"/>
                <a:gd name="connsiteX3-53" fmla="*/ 307829 w 483089"/>
                <a:gd name="connsiteY3-54" fmla="*/ 1166876 h 1903476"/>
                <a:gd name="connsiteX4-55" fmla="*/ 239249 w 483089"/>
                <a:gd name="connsiteY4-56" fmla="*/ 1146556 h 1903476"/>
                <a:gd name="connsiteX5-57" fmla="*/ 140189 w 483089"/>
                <a:gd name="connsiteY5-58" fmla="*/ 1133856 h 1903476"/>
                <a:gd name="connsiteX6-59" fmla="*/ 61449 w 483089"/>
                <a:gd name="connsiteY6-60" fmla="*/ 1156716 h 1903476"/>
                <a:gd name="connsiteX7-61" fmla="*/ 33509 w 483089"/>
                <a:gd name="connsiteY7-62" fmla="*/ 1268476 h 1903476"/>
                <a:gd name="connsiteX8-63" fmla="*/ 18269 w 483089"/>
                <a:gd name="connsiteY8-64" fmla="*/ 1601216 h 1903476"/>
                <a:gd name="connsiteX9-65" fmla="*/ 10649 w 483089"/>
                <a:gd name="connsiteY9-66" fmla="*/ 1786636 h 1903476"/>
                <a:gd name="connsiteX10-67" fmla="*/ 175749 w 483089"/>
                <a:gd name="connsiteY10-68" fmla="*/ 1837436 h 1903476"/>
                <a:gd name="connsiteX11-69" fmla="*/ 483089 w 483089"/>
                <a:gd name="connsiteY11-70" fmla="*/ 1903476 h 19034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45" y="connsiteY11-46"/>
                </a:cxn>
              </a:cxnLst>
              <a:rect l="l" t="t" r="r" b="b"/>
              <a:pathLst>
                <a:path w="483089" h="1903476">
                  <a:moveTo>
                    <a:pt x="287509" y="0"/>
                  </a:moveTo>
                  <a:cubicBezTo>
                    <a:pt x="289456" y="4656"/>
                    <a:pt x="294960" y="950129"/>
                    <a:pt x="299193" y="978916"/>
                  </a:cubicBezTo>
                  <a:cubicBezTo>
                    <a:pt x="303426" y="1007703"/>
                    <a:pt x="311470" y="1092369"/>
                    <a:pt x="312909" y="1123696"/>
                  </a:cubicBezTo>
                  <a:cubicBezTo>
                    <a:pt x="314348" y="1155023"/>
                    <a:pt x="320106" y="1163066"/>
                    <a:pt x="307829" y="1166876"/>
                  </a:cubicBezTo>
                  <a:cubicBezTo>
                    <a:pt x="295552" y="1170686"/>
                    <a:pt x="267189" y="1152059"/>
                    <a:pt x="239249" y="1146556"/>
                  </a:cubicBezTo>
                  <a:cubicBezTo>
                    <a:pt x="211309" y="1141053"/>
                    <a:pt x="169822" y="1132163"/>
                    <a:pt x="140189" y="1133856"/>
                  </a:cubicBezTo>
                  <a:cubicBezTo>
                    <a:pt x="110556" y="1135549"/>
                    <a:pt x="79229" y="1134279"/>
                    <a:pt x="61449" y="1156716"/>
                  </a:cubicBezTo>
                  <a:cubicBezTo>
                    <a:pt x="43669" y="1179153"/>
                    <a:pt x="40706" y="1194393"/>
                    <a:pt x="33509" y="1268476"/>
                  </a:cubicBezTo>
                  <a:cubicBezTo>
                    <a:pt x="26312" y="1342559"/>
                    <a:pt x="22079" y="1514856"/>
                    <a:pt x="18269" y="1601216"/>
                  </a:cubicBezTo>
                  <a:cubicBezTo>
                    <a:pt x="14459" y="1687576"/>
                    <a:pt x="-15598" y="1747266"/>
                    <a:pt x="10649" y="1786636"/>
                  </a:cubicBezTo>
                  <a:cubicBezTo>
                    <a:pt x="36896" y="1826006"/>
                    <a:pt x="97009" y="1817963"/>
                    <a:pt x="175749" y="1837436"/>
                  </a:cubicBezTo>
                  <a:cubicBezTo>
                    <a:pt x="254489" y="1856909"/>
                    <a:pt x="368789" y="1880192"/>
                    <a:pt x="483089" y="1903476"/>
                  </a:cubicBezTo>
                </a:path>
              </a:pathLst>
            </a:cu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12" name="任意多边形 11"/>
            <p:cNvSpPr/>
            <p:nvPr/>
          </p:nvSpPr>
          <p:spPr>
            <a:xfrm>
              <a:off x="4024" y="4616"/>
              <a:ext cx="1507" cy="5696"/>
            </a:xfrm>
            <a:custGeom>
              <a:avLst/>
              <a:gdLst>
                <a:gd name="connsiteX0" fmla="*/ 294411 w 956751"/>
                <a:gd name="connsiteY0" fmla="*/ 3616960 h 3616960"/>
                <a:gd name="connsiteX1" fmla="*/ 152171 w 956751"/>
                <a:gd name="connsiteY1" fmla="*/ 2931160 h 3616960"/>
                <a:gd name="connsiteX2" fmla="*/ 30251 w 956751"/>
                <a:gd name="connsiteY2" fmla="*/ 2306320 h 3616960"/>
                <a:gd name="connsiteX3" fmla="*/ 4851 w 956751"/>
                <a:gd name="connsiteY3" fmla="*/ 1894840 h 3616960"/>
                <a:gd name="connsiteX4" fmla="*/ 106451 w 956751"/>
                <a:gd name="connsiteY4" fmla="*/ 1630680 h 3616960"/>
                <a:gd name="connsiteX5" fmla="*/ 705891 w 956751"/>
                <a:gd name="connsiteY5" fmla="*/ 853440 h 3616960"/>
                <a:gd name="connsiteX6" fmla="*/ 934491 w 956751"/>
                <a:gd name="connsiteY6" fmla="*/ 386080 h 3616960"/>
                <a:gd name="connsiteX7" fmla="*/ 949731 w 956751"/>
                <a:gd name="connsiteY7" fmla="*/ 0 h 3616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751" h="3616960">
                  <a:moveTo>
                    <a:pt x="294411" y="3616960"/>
                  </a:moveTo>
                  <a:cubicBezTo>
                    <a:pt x="245304" y="3383280"/>
                    <a:pt x="196198" y="3149600"/>
                    <a:pt x="152171" y="2931160"/>
                  </a:cubicBezTo>
                  <a:cubicBezTo>
                    <a:pt x="108144" y="2712720"/>
                    <a:pt x="54804" y="2479040"/>
                    <a:pt x="30251" y="2306320"/>
                  </a:cubicBezTo>
                  <a:cubicBezTo>
                    <a:pt x="5698" y="2133600"/>
                    <a:pt x="-7849" y="2007447"/>
                    <a:pt x="4851" y="1894840"/>
                  </a:cubicBezTo>
                  <a:cubicBezTo>
                    <a:pt x="17551" y="1782233"/>
                    <a:pt x="-10389" y="1804247"/>
                    <a:pt x="106451" y="1630680"/>
                  </a:cubicBezTo>
                  <a:cubicBezTo>
                    <a:pt x="223291" y="1457113"/>
                    <a:pt x="567884" y="1060873"/>
                    <a:pt x="705891" y="853440"/>
                  </a:cubicBezTo>
                  <a:cubicBezTo>
                    <a:pt x="843898" y="646007"/>
                    <a:pt x="893851" y="528320"/>
                    <a:pt x="934491" y="386080"/>
                  </a:cubicBezTo>
                  <a:cubicBezTo>
                    <a:pt x="975131" y="243840"/>
                    <a:pt x="947191" y="69427"/>
                    <a:pt x="949731" y="0"/>
                  </a:cubicBezTo>
                </a:path>
              </a:pathLst>
            </a:custGeom>
            <a:noFill/>
            <a:ln>
              <a:solidFill>
                <a:srgbClr val="FF0000"/>
              </a:solidFill>
              <a:tailEnd type="non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13" name="任意多边形 12"/>
            <p:cNvSpPr/>
            <p:nvPr/>
          </p:nvSpPr>
          <p:spPr>
            <a:xfrm>
              <a:off x="5513" y="4423"/>
              <a:ext cx="530" cy="513"/>
            </a:xfrm>
            <a:custGeom>
              <a:avLst/>
              <a:gdLst>
                <a:gd name="connsiteX0" fmla="*/ 4582 w 336453"/>
                <a:gd name="connsiteY0" fmla="*/ 127358 h 325478"/>
                <a:gd name="connsiteX1" fmla="*/ 19822 w 336453"/>
                <a:gd name="connsiteY1" fmla="*/ 5438 h 325478"/>
                <a:gd name="connsiteX2" fmla="*/ 162062 w 336453"/>
                <a:gd name="connsiteY2" fmla="*/ 25758 h 325478"/>
                <a:gd name="connsiteX3" fmla="*/ 319542 w 336453"/>
                <a:gd name="connsiteY3" fmla="*/ 66398 h 325478"/>
                <a:gd name="connsiteX4" fmla="*/ 324622 w 336453"/>
                <a:gd name="connsiteY4" fmla="*/ 325478 h 325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53" h="325478">
                  <a:moveTo>
                    <a:pt x="4582" y="127358"/>
                  </a:moveTo>
                  <a:cubicBezTo>
                    <a:pt x="-922" y="74864"/>
                    <a:pt x="-6425" y="22371"/>
                    <a:pt x="19822" y="5438"/>
                  </a:cubicBezTo>
                  <a:cubicBezTo>
                    <a:pt x="46069" y="-11495"/>
                    <a:pt x="112109" y="15598"/>
                    <a:pt x="162062" y="25758"/>
                  </a:cubicBezTo>
                  <a:cubicBezTo>
                    <a:pt x="212015" y="35918"/>
                    <a:pt x="292449" y="16445"/>
                    <a:pt x="319542" y="66398"/>
                  </a:cubicBezTo>
                  <a:cubicBezTo>
                    <a:pt x="346635" y="116351"/>
                    <a:pt x="335628" y="220914"/>
                    <a:pt x="324622" y="325478"/>
                  </a:cubicBezTo>
                </a:path>
              </a:pathLst>
            </a:custGeom>
            <a:noFill/>
            <a:ln>
              <a:solidFill>
                <a:srgbClr val="FF0000"/>
              </a:solidFill>
              <a:tailEnd type="non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14" name="任意多边形 13"/>
            <p:cNvSpPr/>
            <p:nvPr/>
          </p:nvSpPr>
          <p:spPr>
            <a:xfrm>
              <a:off x="3636" y="7632"/>
              <a:ext cx="2561" cy="2172"/>
            </a:xfrm>
            <a:custGeom>
              <a:avLst/>
              <a:gdLst>
                <a:gd name="connsiteX0" fmla="*/ 0 w 1626511"/>
                <a:gd name="connsiteY0" fmla="*/ 1379220 h 1379220"/>
                <a:gd name="connsiteX1" fmla="*/ 167640 w 1626511"/>
                <a:gd name="connsiteY1" fmla="*/ 1082040 h 1379220"/>
                <a:gd name="connsiteX2" fmla="*/ 365760 w 1626511"/>
                <a:gd name="connsiteY2" fmla="*/ 914400 h 1379220"/>
                <a:gd name="connsiteX3" fmla="*/ 510540 w 1626511"/>
                <a:gd name="connsiteY3" fmla="*/ 891540 h 1379220"/>
                <a:gd name="connsiteX4" fmla="*/ 693420 w 1626511"/>
                <a:gd name="connsiteY4" fmla="*/ 975360 h 1379220"/>
                <a:gd name="connsiteX5" fmla="*/ 868680 w 1626511"/>
                <a:gd name="connsiteY5" fmla="*/ 1249680 h 1379220"/>
                <a:gd name="connsiteX6" fmla="*/ 998220 w 1626511"/>
                <a:gd name="connsiteY6" fmla="*/ 1287780 h 1379220"/>
                <a:gd name="connsiteX7" fmla="*/ 1341120 w 1626511"/>
                <a:gd name="connsiteY7" fmla="*/ 1104900 h 1379220"/>
                <a:gd name="connsiteX8" fmla="*/ 1584960 w 1626511"/>
                <a:gd name="connsiteY8" fmla="*/ 1135380 h 1379220"/>
                <a:gd name="connsiteX9" fmla="*/ 1623060 w 1626511"/>
                <a:gd name="connsiteY9" fmla="*/ 906780 h 1379220"/>
                <a:gd name="connsiteX10" fmla="*/ 1546860 w 1626511"/>
                <a:gd name="connsiteY10" fmla="*/ 701040 h 1379220"/>
                <a:gd name="connsiteX11" fmla="*/ 1394460 w 1626511"/>
                <a:gd name="connsiteY11" fmla="*/ 678180 h 1379220"/>
                <a:gd name="connsiteX12" fmla="*/ 1257300 w 1626511"/>
                <a:gd name="connsiteY12" fmla="*/ 701040 h 1379220"/>
                <a:gd name="connsiteX13" fmla="*/ 1066800 w 1626511"/>
                <a:gd name="connsiteY13" fmla="*/ 632460 h 1379220"/>
                <a:gd name="connsiteX14" fmla="*/ 922020 w 1626511"/>
                <a:gd name="connsiteY14" fmla="*/ 274320 h 1379220"/>
                <a:gd name="connsiteX15" fmla="*/ 762000 w 1626511"/>
                <a:gd name="connsiteY15" fmla="*/ 0 h 1379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26511" h="1379220">
                  <a:moveTo>
                    <a:pt x="0" y="1379220"/>
                  </a:moveTo>
                  <a:cubicBezTo>
                    <a:pt x="53340" y="1269365"/>
                    <a:pt x="106680" y="1159510"/>
                    <a:pt x="167640" y="1082040"/>
                  </a:cubicBezTo>
                  <a:cubicBezTo>
                    <a:pt x="228600" y="1004570"/>
                    <a:pt x="308610" y="946150"/>
                    <a:pt x="365760" y="914400"/>
                  </a:cubicBezTo>
                  <a:cubicBezTo>
                    <a:pt x="422910" y="882650"/>
                    <a:pt x="455930" y="881380"/>
                    <a:pt x="510540" y="891540"/>
                  </a:cubicBezTo>
                  <a:cubicBezTo>
                    <a:pt x="565150" y="901700"/>
                    <a:pt x="633730" y="915670"/>
                    <a:pt x="693420" y="975360"/>
                  </a:cubicBezTo>
                  <a:cubicBezTo>
                    <a:pt x="753110" y="1035050"/>
                    <a:pt x="817880" y="1197610"/>
                    <a:pt x="868680" y="1249680"/>
                  </a:cubicBezTo>
                  <a:cubicBezTo>
                    <a:pt x="919480" y="1301750"/>
                    <a:pt x="919480" y="1311910"/>
                    <a:pt x="998220" y="1287780"/>
                  </a:cubicBezTo>
                  <a:cubicBezTo>
                    <a:pt x="1076960" y="1263650"/>
                    <a:pt x="1243330" y="1130300"/>
                    <a:pt x="1341120" y="1104900"/>
                  </a:cubicBezTo>
                  <a:cubicBezTo>
                    <a:pt x="1438910" y="1079500"/>
                    <a:pt x="1537970" y="1168400"/>
                    <a:pt x="1584960" y="1135380"/>
                  </a:cubicBezTo>
                  <a:cubicBezTo>
                    <a:pt x="1631950" y="1102360"/>
                    <a:pt x="1629410" y="979170"/>
                    <a:pt x="1623060" y="906780"/>
                  </a:cubicBezTo>
                  <a:cubicBezTo>
                    <a:pt x="1616710" y="834390"/>
                    <a:pt x="1584960" y="739140"/>
                    <a:pt x="1546860" y="701040"/>
                  </a:cubicBezTo>
                  <a:cubicBezTo>
                    <a:pt x="1508760" y="662940"/>
                    <a:pt x="1442720" y="678180"/>
                    <a:pt x="1394460" y="678180"/>
                  </a:cubicBezTo>
                  <a:cubicBezTo>
                    <a:pt x="1346200" y="678180"/>
                    <a:pt x="1311910" y="708660"/>
                    <a:pt x="1257300" y="701040"/>
                  </a:cubicBezTo>
                  <a:cubicBezTo>
                    <a:pt x="1202690" y="693420"/>
                    <a:pt x="1122680" y="703580"/>
                    <a:pt x="1066800" y="632460"/>
                  </a:cubicBezTo>
                  <a:cubicBezTo>
                    <a:pt x="1010920" y="561340"/>
                    <a:pt x="972820" y="379730"/>
                    <a:pt x="922020" y="274320"/>
                  </a:cubicBezTo>
                  <a:cubicBezTo>
                    <a:pt x="871220" y="168910"/>
                    <a:pt x="787400" y="48260"/>
                    <a:pt x="762000" y="0"/>
                  </a:cubicBezTo>
                </a:path>
              </a:pathLst>
            </a:custGeom>
            <a:noFill/>
            <a:ln>
              <a:solidFill>
                <a:srgbClr val="FF0000"/>
              </a:solidFill>
              <a:tailEnd type="non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a:p>
          </p:txBody>
        </p:sp>
        <p:sp>
          <p:nvSpPr>
            <p:cNvPr id="15" name="任意多边形 14"/>
            <p:cNvSpPr/>
            <p:nvPr/>
          </p:nvSpPr>
          <p:spPr>
            <a:xfrm>
              <a:off x="5310" y="5616"/>
              <a:ext cx="720" cy="540"/>
            </a:xfrm>
            <a:custGeom>
              <a:avLst/>
              <a:gdLst>
                <a:gd name="connsiteX0" fmla="*/ 91440 w 457200"/>
                <a:gd name="connsiteY0" fmla="*/ 3810 h 342900"/>
                <a:gd name="connsiteX1" fmla="*/ 0 w 457200"/>
                <a:gd name="connsiteY1" fmla="*/ 140970 h 342900"/>
                <a:gd name="connsiteX2" fmla="*/ 41910 w 457200"/>
                <a:gd name="connsiteY2" fmla="*/ 262890 h 342900"/>
                <a:gd name="connsiteX3" fmla="*/ 80010 w 457200"/>
                <a:gd name="connsiteY3" fmla="*/ 342900 h 342900"/>
                <a:gd name="connsiteX4" fmla="*/ 224790 w 457200"/>
                <a:gd name="connsiteY4" fmla="*/ 297180 h 342900"/>
                <a:gd name="connsiteX5" fmla="*/ 403860 w 457200"/>
                <a:gd name="connsiteY5" fmla="*/ 281940 h 342900"/>
                <a:gd name="connsiteX6" fmla="*/ 457200 w 457200"/>
                <a:gd name="connsiteY6" fmla="*/ 240030 h 342900"/>
                <a:gd name="connsiteX7" fmla="*/ 392430 w 457200"/>
                <a:gd name="connsiteY7" fmla="*/ 34290 h 342900"/>
                <a:gd name="connsiteX8" fmla="*/ 270510 w 457200"/>
                <a:gd name="connsiteY8" fmla="*/ 26670 h 342900"/>
                <a:gd name="connsiteX9" fmla="*/ 160020 w 457200"/>
                <a:gd name="connsiteY9" fmla="*/ 0 h 342900"/>
                <a:gd name="connsiteX10" fmla="*/ 91440 w 457200"/>
                <a:gd name="connsiteY10" fmla="*/ 381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200" h="342900">
                  <a:moveTo>
                    <a:pt x="91440" y="3810"/>
                  </a:moveTo>
                  <a:lnTo>
                    <a:pt x="0" y="140970"/>
                  </a:lnTo>
                  <a:lnTo>
                    <a:pt x="41910" y="262890"/>
                  </a:lnTo>
                  <a:lnTo>
                    <a:pt x="80010" y="342900"/>
                  </a:lnTo>
                  <a:lnTo>
                    <a:pt x="224790" y="297180"/>
                  </a:lnTo>
                  <a:lnTo>
                    <a:pt x="403860" y="281940"/>
                  </a:lnTo>
                  <a:lnTo>
                    <a:pt x="457200" y="240030"/>
                  </a:lnTo>
                  <a:lnTo>
                    <a:pt x="392430" y="34290"/>
                  </a:lnTo>
                  <a:lnTo>
                    <a:pt x="270510" y="26670"/>
                  </a:lnTo>
                  <a:lnTo>
                    <a:pt x="160020" y="0"/>
                  </a:lnTo>
                  <a:lnTo>
                    <a:pt x="91440" y="3810"/>
                  </a:lnTo>
                  <a:close/>
                </a:path>
              </a:pathLst>
            </a:custGeom>
            <a:solidFill>
              <a:srgbClr val="FFC000">
                <a:alpha val="8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b="1">
                <a:solidFill>
                  <a:srgbClr val="C00000"/>
                </a:solidFill>
              </a:endParaRPr>
            </a:p>
          </p:txBody>
        </p:sp>
        <p:sp>
          <p:nvSpPr>
            <p:cNvPr id="35" name="圆角矩形标注 34"/>
            <p:cNvSpPr/>
            <p:nvPr/>
          </p:nvSpPr>
          <p:spPr>
            <a:xfrm>
              <a:off x="2860" y="4051"/>
              <a:ext cx="1552" cy="745"/>
            </a:xfrm>
            <a:prstGeom prst="wedgeRoundRectCallout">
              <a:avLst>
                <a:gd name="adj1" fmla="val 112157"/>
                <a:gd name="adj2" fmla="val 193479"/>
                <a:gd name="adj3" fmla="val 16667"/>
              </a:avLst>
            </a:prstGeom>
            <a:solidFill>
              <a:srgbClr val="FFC000">
                <a:alpha val="8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400" b="1">
                <a:solidFill>
                  <a:srgbClr val="C00000"/>
                </a:solidFill>
              </a:endParaRPr>
            </a:p>
          </p:txBody>
        </p:sp>
        <p:sp>
          <p:nvSpPr>
            <p:cNvPr id="33" name="TextBox 32"/>
            <p:cNvSpPr txBox="1"/>
            <p:nvPr/>
          </p:nvSpPr>
          <p:spPr>
            <a:xfrm>
              <a:off x="2852" y="4133"/>
              <a:ext cx="2709" cy="698"/>
            </a:xfrm>
            <a:prstGeom prst="rect">
              <a:avLst/>
            </a:prstGeom>
            <a:noFill/>
          </p:spPr>
          <p:txBody>
            <a:bodyPr wrap="square" lIns="91436" tIns="45718" rIns="91436" bIns="45718" rtlCol="0">
              <a:spAutoFit/>
            </a:bodyPr>
            <a:lstStyle/>
            <a:p>
              <a:r>
                <a:rPr lang="en-US" altLang="zh-CN" sz="2000" b="1" dirty="0">
                  <a:latin typeface="微软雅黑" panose="020B0503020204020204" pitchFamily="34" charset="-122"/>
                  <a:ea typeface="微软雅黑" panose="020B0503020204020204" pitchFamily="34" charset="-122"/>
                </a:rPr>
                <a:t>F3</a:t>
              </a:r>
              <a:r>
                <a:rPr lang="zh-CN" altLang="en-US" sz="2000" b="1" dirty="0">
                  <a:latin typeface="微软雅黑" panose="020B0503020204020204" pitchFamily="34" charset="-122"/>
                  <a:ea typeface="微软雅黑" panose="020B0503020204020204" pitchFamily="34" charset="-122"/>
                </a:rPr>
                <a:t>组团</a:t>
              </a:r>
              <a:endParaRPr lang="zh-CN" altLang="en-US" sz="2000" b="1"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3639" y="-4746"/>
            <a:ext cx="4026496"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rPr>
              <a:t>组团产品基础信息</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5" name="矩形 5"/>
          <p:cNvSpPr>
            <a:spLocks noChangeArrowheads="1"/>
          </p:cNvSpPr>
          <p:nvPr/>
        </p:nvSpPr>
        <p:spPr bwMode="auto">
          <a:xfrm>
            <a:off x="509905" y="888365"/>
            <a:ext cx="10862945"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0" tIns="45694" rIns="91380" bIns="4569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buFont typeface="Arial" panose="020B0604020202020204" pitchFamily="34" charset="0"/>
              <a:buNone/>
            </a:pPr>
            <a:r>
              <a:rPr lang="en-US" altLang="zh-CN" sz="1800" b="1" dirty="0">
                <a:solidFill>
                  <a:srgbClr val="C00000"/>
                </a:solidFill>
                <a:latin typeface="微软雅黑" panose="020B0503020204020204" pitchFamily="34" charset="-122"/>
                <a:sym typeface="微软雅黑" panose="020B0503020204020204" pitchFamily="34" charset="-122"/>
              </a:rPr>
              <a:t>    F3</a:t>
            </a:r>
            <a:r>
              <a:rPr lang="zh-CN" altLang="en-US" sz="1800" b="1" dirty="0">
                <a:solidFill>
                  <a:srgbClr val="C00000"/>
                </a:solidFill>
                <a:latin typeface="微软雅黑" panose="020B0503020204020204" pitchFamily="34" charset="-122"/>
                <a:sym typeface="微软雅黑" panose="020B0503020204020204" pitchFamily="34" charset="-122"/>
              </a:rPr>
              <a:t>组团规划总用地面积约</a:t>
            </a:r>
            <a:r>
              <a:rPr lang="en-US" altLang="zh-CN" sz="1800" b="1" dirty="0">
                <a:solidFill>
                  <a:srgbClr val="C00000"/>
                </a:solidFill>
                <a:latin typeface="微软雅黑" panose="020B0503020204020204" pitchFamily="34" charset="-122"/>
                <a:sym typeface="微软雅黑" panose="020B0503020204020204" pitchFamily="34" charset="-122"/>
              </a:rPr>
              <a:t>3</a:t>
            </a:r>
            <a:r>
              <a:rPr lang="zh-CN" altLang="en-US" sz="1800" b="1" dirty="0">
                <a:solidFill>
                  <a:srgbClr val="C00000"/>
                </a:solidFill>
                <a:latin typeface="微软雅黑" panose="020B0503020204020204" pitchFamily="34" charset="-122"/>
                <a:sym typeface="微软雅黑" panose="020B0503020204020204" pitchFamily="34" charset="-122"/>
              </a:rPr>
              <a:t>万㎡，总建筑面积约</a:t>
            </a:r>
            <a:r>
              <a:rPr lang="en-US" altLang="zh-CN" sz="1800" b="1" dirty="0">
                <a:solidFill>
                  <a:srgbClr val="C00000"/>
                </a:solidFill>
                <a:latin typeface="微软雅黑" panose="020B0503020204020204" pitchFamily="34" charset="-122"/>
                <a:sym typeface="微软雅黑" panose="020B0503020204020204" pitchFamily="34" charset="-122"/>
              </a:rPr>
              <a:t>28</a:t>
            </a:r>
            <a:r>
              <a:rPr lang="zh-CN" altLang="en-US" sz="1800" b="1" dirty="0">
                <a:solidFill>
                  <a:srgbClr val="C00000"/>
                </a:solidFill>
                <a:latin typeface="微软雅黑" panose="020B0503020204020204" pitchFamily="34" charset="-122"/>
                <a:sym typeface="微软雅黑" panose="020B0503020204020204" pitchFamily="34" charset="-122"/>
              </a:rPr>
              <a:t>万</a:t>
            </a:r>
            <a:r>
              <a:rPr lang="en-US" altLang="zh-CN" sz="1800" b="1" dirty="0">
                <a:solidFill>
                  <a:srgbClr val="C00000"/>
                </a:solidFill>
                <a:latin typeface="微软雅黑" panose="020B0503020204020204" pitchFamily="34" charset="-122"/>
                <a:sym typeface="微软雅黑" panose="020B0503020204020204" pitchFamily="34" charset="-122"/>
              </a:rPr>
              <a:t>㎡</a:t>
            </a:r>
            <a:r>
              <a:rPr lang="zh-CN" altLang="en-US" sz="1800" b="1" dirty="0">
                <a:solidFill>
                  <a:srgbClr val="C00000"/>
                </a:solidFill>
                <a:latin typeface="微软雅黑" panose="020B0503020204020204" pitchFamily="34" charset="-122"/>
                <a:sym typeface="微软雅黑" panose="020B0503020204020204" pitchFamily="34" charset="-122"/>
              </a:rPr>
              <a:t>。其中公寓</a:t>
            </a:r>
            <a:r>
              <a:rPr lang="en-US" altLang="zh-CN" sz="1800" b="1" dirty="0">
                <a:solidFill>
                  <a:srgbClr val="C00000"/>
                </a:solidFill>
                <a:latin typeface="微软雅黑" panose="020B0503020204020204" pitchFamily="34" charset="-122"/>
                <a:sym typeface="微软雅黑" panose="020B0503020204020204" pitchFamily="34" charset="-122"/>
              </a:rPr>
              <a:t>1099</a:t>
            </a:r>
            <a:r>
              <a:rPr lang="zh-CN" altLang="en-US" sz="1800" b="1" dirty="0">
                <a:solidFill>
                  <a:srgbClr val="C00000"/>
                </a:solidFill>
                <a:latin typeface="微软雅黑" panose="020B0503020204020204" pitchFamily="34" charset="-122"/>
                <a:sym typeface="微软雅黑" panose="020B0503020204020204" pitchFamily="34" charset="-122"/>
              </a:rPr>
              <a:t>套，约</a:t>
            </a:r>
            <a:r>
              <a:rPr lang="en-US" altLang="zh-CN" sz="1800" b="1" dirty="0">
                <a:solidFill>
                  <a:srgbClr val="C00000"/>
                </a:solidFill>
                <a:latin typeface="微软雅黑" panose="020B0503020204020204" pitchFamily="34" charset="-122"/>
                <a:sym typeface="微软雅黑" panose="020B0503020204020204" pitchFamily="34" charset="-122"/>
              </a:rPr>
              <a:t>6.7</a:t>
            </a:r>
            <a:r>
              <a:rPr lang="zh-CN" altLang="en-US" sz="1800" b="1" dirty="0">
                <a:solidFill>
                  <a:srgbClr val="C00000"/>
                </a:solidFill>
                <a:latin typeface="微软雅黑" panose="020B0503020204020204" pitchFamily="34" charset="-122"/>
                <a:sym typeface="微软雅黑" panose="020B0503020204020204" pitchFamily="34" charset="-122"/>
              </a:rPr>
              <a:t>万㎡；办公楼</a:t>
            </a:r>
            <a:r>
              <a:rPr lang="en-US" altLang="zh-CN" sz="1800" b="1" dirty="0">
                <a:solidFill>
                  <a:srgbClr val="C00000"/>
                </a:solidFill>
                <a:latin typeface="微软雅黑" panose="020B0503020204020204" pitchFamily="34" charset="-122"/>
                <a:sym typeface="微软雅黑" panose="020B0503020204020204" pitchFamily="34" charset="-122"/>
              </a:rPr>
              <a:t>384</a:t>
            </a:r>
            <a:r>
              <a:rPr lang="zh-CN" altLang="en-US" sz="1800" b="1" dirty="0">
                <a:solidFill>
                  <a:srgbClr val="C00000"/>
                </a:solidFill>
                <a:latin typeface="微软雅黑" panose="020B0503020204020204" pitchFamily="34" charset="-122"/>
                <a:sym typeface="微软雅黑" panose="020B0503020204020204" pitchFamily="34" charset="-122"/>
              </a:rPr>
              <a:t>套，面积约</a:t>
            </a:r>
            <a:r>
              <a:rPr lang="en-US" altLang="zh-CN" sz="1800" b="1" dirty="0">
                <a:solidFill>
                  <a:srgbClr val="C00000"/>
                </a:solidFill>
                <a:latin typeface="微软雅黑" panose="020B0503020204020204" pitchFamily="34" charset="-122"/>
                <a:sym typeface="微软雅黑" panose="020B0503020204020204" pitchFamily="34" charset="-122"/>
              </a:rPr>
              <a:t>10.5</a:t>
            </a:r>
            <a:r>
              <a:rPr lang="zh-CN" altLang="en-US" sz="1800" b="1" dirty="0">
                <a:solidFill>
                  <a:srgbClr val="C00000"/>
                </a:solidFill>
                <a:latin typeface="微软雅黑" panose="020B0503020204020204" pitchFamily="34" charset="-122"/>
                <a:sym typeface="微软雅黑" panose="020B0503020204020204" pitchFamily="34" charset="-122"/>
              </a:rPr>
              <a:t>万㎡；沿街商铺面积约</a:t>
            </a:r>
            <a:r>
              <a:rPr lang="en-US" altLang="zh-CN" sz="1800" b="1" dirty="0">
                <a:solidFill>
                  <a:srgbClr val="C00000"/>
                </a:solidFill>
                <a:latin typeface="微软雅黑" panose="020B0503020204020204" pitchFamily="34" charset="-122"/>
                <a:sym typeface="微软雅黑" panose="020B0503020204020204" pitchFamily="34" charset="-122"/>
              </a:rPr>
              <a:t>1.2</a:t>
            </a:r>
            <a:r>
              <a:rPr lang="zh-CN" altLang="en-US" sz="1800" b="1" dirty="0">
                <a:solidFill>
                  <a:srgbClr val="C00000"/>
                </a:solidFill>
                <a:latin typeface="微软雅黑" panose="020B0503020204020204" pitchFamily="34" charset="-122"/>
                <a:sym typeface="微软雅黑" panose="020B0503020204020204" pitchFamily="34" charset="-122"/>
              </a:rPr>
              <a:t>万</a:t>
            </a:r>
            <a:r>
              <a:rPr lang="en-US" altLang="zh-CN" sz="1800" b="1" dirty="0">
                <a:solidFill>
                  <a:srgbClr val="C00000"/>
                </a:solidFill>
                <a:latin typeface="微软雅黑" panose="020B0503020204020204" pitchFamily="34" charset="-122"/>
                <a:sym typeface="微软雅黑" panose="020B0503020204020204" pitchFamily="34" charset="-122"/>
              </a:rPr>
              <a:t>㎡</a:t>
            </a:r>
            <a:r>
              <a:rPr lang="zh-CN" altLang="en-US" sz="1800" b="1" dirty="0">
                <a:solidFill>
                  <a:srgbClr val="C00000"/>
                </a:solidFill>
                <a:latin typeface="微软雅黑" panose="020B0503020204020204" pitchFamily="34" charset="-122"/>
                <a:sym typeface="微软雅黑" panose="020B0503020204020204" pitchFamily="34" charset="-122"/>
              </a:rPr>
              <a:t>；停车位共计约</a:t>
            </a:r>
            <a:r>
              <a:rPr lang="en-US" altLang="zh-CN" sz="1800" b="1" dirty="0">
                <a:solidFill>
                  <a:srgbClr val="C00000"/>
                </a:solidFill>
                <a:latin typeface="微软雅黑" panose="020B0503020204020204" pitchFamily="34" charset="-122"/>
                <a:sym typeface="微软雅黑" panose="020B0503020204020204" pitchFamily="34" charset="-122"/>
              </a:rPr>
              <a:t>1497</a:t>
            </a:r>
            <a:r>
              <a:rPr lang="zh-CN" altLang="en-US" sz="1800" b="1" dirty="0">
                <a:solidFill>
                  <a:srgbClr val="C00000"/>
                </a:solidFill>
                <a:latin typeface="微软雅黑" panose="020B0503020204020204" pitchFamily="34" charset="-122"/>
                <a:sym typeface="微软雅黑" panose="020B0503020204020204" pitchFamily="34" charset="-122"/>
              </a:rPr>
              <a:t>个。</a:t>
            </a:r>
            <a:endParaRPr lang="zh-CN" altLang="en-US" sz="1800" b="1" dirty="0">
              <a:solidFill>
                <a:srgbClr val="C00000"/>
              </a:solidFill>
              <a:latin typeface="微软雅黑" panose="020B0503020204020204" pitchFamily="34" charset="-122"/>
              <a:sym typeface="微软雅黑" panose="020B0503020204020204" pitchFamily="34" charset="-122"/>
            </a:endParaRPr>
          </a:p>
        </p:txBody>
      </p:sp>
      <p:sp>
        <p:nvSpPr>
          <p:cNvPr id="6" name="圆角矩形标注 6"/>
          <p:cNvSpPr>
            <a:spLocks noChangeArrowheads="1"/>
          </p:cNvSpPr>
          <p:nvPr/>
        </p:nvSpPr>
        <p:spPr bwMode="auto">
          <a:xfrm>
            <a:off x="497205" y="2120900"/>
            <a:ext cx="4252595" cy="4281170"/>
          </a:xfrm>
          <a:prstGeom prst="wedgeRoundRectCallout">
            <a:avLst>
              <a:gd name="adj1" fmla="val 50677"/>
              <a:gd name="adj2" fmla="val 16453"/>
              <a:gd name="adj3" fmla="val 16667"/>
            </a:avLst>
          </a:prstGeom>
          <a:solidFill>
            <a:schemeClr val="accent2">
              <a:lumMod val="60000"/>
              <a:lumOff val="40000"/>
            </a:schemeClr>
          </a:solidFill>
          <a:ln w="25400">
            <a:solidFill>
              <a:srgbClr val="385D8A"/>
            </a:solidFill>
            <a:miter lim="800000"/>
          </a:ln>
        </p:spPr>
        <p:txBody>
          <a:bodyPr lIns="91380" tIns="45694" rIns="91380" bIns="45694" anchor="ctr"/>
          <a:lstStyle>
            <a:lvl1pPr marL="285750" indent="-28575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eaLnBrk="1" hangingPunct="1">
              <a:lnSpc>
                <a:spcPct val="150000"/>
              </a:lnSpc>
              <a:spcBef>
                <a:spcPct val="0"/>
              </a:spcBef>
              <a:buFont typeface="Wingdings" panose="05000000000000000000" pitchFamily="2" charset="2"/>
              <a:buChar char="Ø"/>
            </a:pPr>
            <a:r>
              <a:rPr lang="zh-CN" altLang="en-US" sz="1500" b="1" dirty="0">
                <a:latin typeface="微软雅黑" panose="020B0503020204020204" pitchFamily="34" charset="-122"/>
              </a:rPr>
              <a:t>区位：位于未来方舟西北门户，中环路、北京东路、尚礼交汇的枢纽地块，交通极其便利；</a:t>
            </a:r>
            <a:r>
              <a:rPr lang="en-US" altLang="zh-CN" sz="1500" b="1" dirty="0">
                <a:latin typeface="微软雅黑" panose="020B0503020204020204" pitchFamily="34" charset="-122"/>
              </a:rPr>
              <a:t>10</a:t>
            </a:r>
            <a:r>
              <a:rPr lang="zh-CN" altLang="en-US" sz="1500" b="1" dirty="0">
                <a:latin typeface="微软雅黑" panose="020B0503020204020204" pitchFamily="34" charset="-122"/>
              </a:rPr>
              <a:t>分钟直达贵阳老城区；</a:t>
            </a:r>
            <a:endParaRPr lang="en-US" altLang="zh-CN" sz="1500" b="1" dirty="0">
              <a:latin typeface="微软雅黑" panose="020B0503020204020204" pitchFamily="34" charset="-122"/>
            </a:endParaRPr>
          </a:p>
          <a:p>
            <a:pPr eaLnBrk="1" hangingPunct="1">
              <a:lnSpc>
                <a:spcPct val="150000"/>
              </a:lnSpc>
              <a:spcBef>
                <a:spcPct val="0"/>
              </a:spcBef>
              <a:buFont typeface="Wingdings" panose="05000000000000000000" pitchFamily="2" charset="2"/>
              <a:buChar char="Ø"/>
            </a:pPr>
            <a:endParaRPr lang="en-US" altLang="zh-CN" sz="1500" b="1" dirty="0">
              <a:latin typeface="微软雅黑" panose="020B0503020204020204" pitchFamily="34" charset="-122"/>
            </a:endParaRPr>
          </a:p>
          <a:p>
            <a:pPr eaLnBrk="1" hangingPunct="1">
              <a:lnSpc>
                <a:spcPct val="150000"/>
              </a:lnSpc>
              <a:spcBef>
                <a:spcPct val="0"/>
              </a:spcBef>
              <a:buFont typeface="Wingdings" panose="05000000000000000000" pitchFamily="2" charset="2"/>
              <a:buChar char="Ø"/>
            </a:pPr>
            <a:r>
              <a:rPr lang="zh-CN" altLang="en-US" sz="1500" b="1" dirty="0">
                <a:latin typeface="微软雅黑" panose="020B0503020204020204" pitchFamily="34" charset="-122"/>
              </a:rPr>
              <a:t>建筑地标：做为方舟四大门户之一，从各方向来车均可看到组团的建筑地标；</a:t>
            </a:r>
            <a:endParaRPr lang="en-US" altLang="zh-CN" sz="1500" b="1" dirty="0">
              <a:latin typeface="微软雅黑" panose="020B0503020204020204" pitchFamily="34" charset="-122"/>
            </a:endParaRPr>
          </a:p>
          <a:p>
            <a:pPr eaLnBrk="1" hangingPunct="1">
              <a:lnSpc>
                <a:spcPct val="150000"/>
              </a:lnSpc>
              <a:spcBef>
                <a:spcPct val="0"/>
              </a:spcBef>
              <a:buFont typeface="Wingdings" panose="05000000000000000000" pitchFamily="2" charset="2"/>
              <a:buChar char="Ø"/>
            </a:pPr>
            <a:endParaRPr lang="en-US" altLang="zh-CN" sz="1500" b="1" dirty="0">
              <a:latin typeface="微软雅黑" panose="020B0503020204020204" pitchFamily="34" charset="-122"/>
            </a:endParaRPr>
          </a:p>
          <a:p>
            <a:pPr eaLnBrk="1" hangingPunct="1">
              <a:lnSpc>
                <a:spcPct val="150000"/>
              </a:lnSpc>
              <a:spcBef>
                <a:spcPct val="0"/>
              </a:spcBef>
              <a:buFont typeface="Wingdings" panose="05000000000000000000" pitchFamily="2" charset="2"/>
              <a:buChar char="Ø"/>
            </a:pPr>
            <a:r>
              <a:rPr lang="zh-CN" altLang="en-US" sz="1500" b="1" dirty="0">
                <a:latin typeface="微软雅黑" panose="020B0503020204020204" pitchFamily="34" charset="-122"/>
              </a:rPr>
              <a:t>配套丰富：组团为未来方舟最为成熟的</a:t>
            </a:r>
            <a:r>
              <a:rPr lang="en-US" altLang="zh-CN" sz="1500" b="1" dirty="0">
                <a:latin typeface="微软雅黑" panose="020B0503020204020204" pitchFamily="34" charset="-122"/>
              </a:rPr>
              <a:t>F\G\H</a:t>
            </a:r>
            <a:r>
              <a:rPr lang="zh-CN" altLang="en-US" sz="1500" b="1" dirty="0">
                <a:latin typeface="微软雅黑" panose="020B0503020204020204" pitchFamily="34" charset="-122"/>
              </a:rPr>
              <a:t>三大区域的交汇处，周边有社区底购物中心、影城、歌剧院、大量的社区底商等。</a:t>
            </a:r>
            <a:endParaRPr lang="en-US" altLang="zh-CN" sz="1500" b="1" dirty="0">
              <a:latin typeface="微软雅黑" panose="020B0503020204020204" pitchFamily="34" charset="-122"/>
            </a:endParaRPr>
          </a:p>
        </p:txBody>
      </p:sp>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pic>
        <p:nvPicPr>
          <p:cNvPr id="1026" name="Picture 2"/>
          <p:cNvPicPr>
            <a:picLocks noChangeAspect="1" noChangeArrowheads="1"/>
          </p:cNvPicPr>
          <p:nvPr/>
        </p:nvPicPr>
        <p:blipFill>
          <a:blip r:embed="rId1"/>
          <a:srcRect/>
          <a:stretch>
            <a:fillRect/>
          </a:stretch>
        </p:blipFill>
        <p:spPr bwMode="auto">
          <a:xfrm>
            <a:off x="5201469" y="2119997"/>
            <a:ext cx="6140083" cy="42823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任意多边形 9"/>
          <p:cNvSpPr>
            <a:spLocks noChangeAspect="1"/>
          </p:cNvSpPr>
          <p:nvPr/>
        </p:nvSpPr>
        <p:spPr>
          <a:xfrm>
            <a:off x="7403404" y="4437632"/>
            <a:ext cx="1736217" cy="1302165"/>
          </a:xfrm>
          <a:custGeom>
            <a:avLst/>
            <a:gdLst>
              <a:gd name="connsiteX0" fmla="*/ 91440 w 457200"/>
              <a:gd name="connsiteY0" fmla="*/ 3810 h 342900"/>
              <a:gd name="connsiteX1" fmla="*/ 0 w 457200"/>
              <a:gd name="connsiteY1" fmla="*/ 140970 h 342900"/>
              <a:gd name="connsiteX2" fmla="*/ 41910 w 457200"/>
              <a:gd name="connsiteY2" fmla="*/ 262890 h 342900"/>
              <a:gd name="connsiteX3" fmla="*/ 80010 w 457200"/>
              <a:gd name="connsiteY3" fmla="*/ 342900 h 342900"/>
              <a:gd name="connsiteX4" fmla="*/ 224790 w 457200"/>
              <a:gd name="connsiteY4" fmla="*/ 297180 h 342900"/>
              <a:gd name="connsiteX5" fmla="*/ 403860 w 457200"/>
              <a:gd name="connsiteY5" fmla="*/ 281940 h 342900"/>
              <a:gd name="connsiteX6" fmla="*/ 457200 w 457200"/>
              <a:gd name="connsiteY6" fmla="*/ 240030 h 342900"/>
              <a:gd name="connsiteX7" fmla="*/ 392430 w 457200"/>
              <a:gd name="connsiteY7" fmla="*/ 34290 h 342900"/>
              <a:gd name="connsiteX8" fmla="*/ 270510 w 457200"/>
              <a:gd name="connsiteY8" fmla="*/ 26670 h 342900"/>
              <a:gd name="connsiteX9" fmla="*/ 160020 w 457200"/>
              <a:gd name="connsiteY9" fmla="*/ 0 h 342900"/>
              <a:gd name="connsiteX10" fmla="*/ 91440 w 457200"/>
              <a:gd name="connsiteY10" fmla="*/ 3810 h 34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200" h="342900">
                <a:moveTo>
                  <a:pt x="91440" y="3810"/>
                </a:moveTo>
                <a:lnTo>
                  <a:pt x="0" y="140970"/>
                </a:lnTo>
                <a:lnTo>
                  <a:pt x="41910" y="262890"/>
                </a:lnTo>
                <a:lnTo>
                  <a:pt x="80010" y="342900"/>
                </a:lnTo>
                <a:lnTo>
                  <a:pt x="224790" y="297180"/>
                </a:lnTo>
                <a:lnTo>
                  <a:pt x="403860" y="281940"/>
                </a:lnTo>
                <a:lnTo>
                  <a:pt x="457200" y="240030"/>
                </a:lnTo>
                <a:lnTo>
                  <a:pt x="392430" y="34290"/>
                </a:lnTo>
                <a:lnTo>
                  <a:pt x="270510" y="26670"/>
                </a:lnTo>
                <a:lnTo>
                  <a:pt x="160020" y="0"/>
                </a:lnTo>
                <a:lnTo>
                  <a:pt x="91440" y="3810"/>
                </a:lnTo>
                <a:close/>
              </a:path>
            </a:pathLst>
          </a:custGeom>
          <a:solidFill>
            <a:srgbClr val="FFC000">
              <a:alpha val="8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solidFill>
                  <a:schemeClr val="tx1"/>
                </a:solidFill>
                <a:latin typeface="微软雅黑" panose="020B0503020204020204" pitchFamily="34" charset="-122"/>
                <a:ea typeface="微软雅黑" panose="020B0503020204020204" pitchFamily="34" charset="-122"/>
              </a:rPr>
              <a:t>F3</a:t>
            </a:r>
            <a:r>
              <a:rPr lang="zh-CN" altLang="en-US" sz="2400" b="1" dirty="0">
                <a:solidFill>
                  <a:schemeClr val="tx1"/>
                </a:solidFill>
                <a:latin typeface="微软雅黑" panose="020B0503020204020204" pitchFamily="34" charset="-122"/>
                <a:ea typeface="微软雅黑" panose="020B0503020204020204" pitchFamily="34" charset="-122"/>
              </a:rPr>
              <a:t>组团</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0" y="2738452"/>
            <a:ext cx="12192000" cy="4090416"/>
          </a:xfrm>
          <a:prstGeom prst="rect">
            <a:avLst/>
          </a:prstGeom>
        </p:spPr>
      </p:pic>
      <p:grpSp>
        <p:nvGrpSpPr>
          <p:cNvPr id="3" name="组合 2"/>
          <p:cNvGrpSpPr/>
          <p:nvPr/>
        </p:nvGrpSpPr>
        <p:grpSpPr>
          <a:xfrm>
            <a:off x="1650365" y="1273810"/>
            <a:ext cx="9286240" cy="3115310"/>
            <a:chOff x="853" y="2006"/>
            <a:chExt cx="14624" cy="4906"/>
          </a:xfrm>
        </p:grpSpPr>
        <p:sp>
          <p:nvSpPr>
            <p:cNvPr id="10" name="矩形 9"/>
            <p:cNvSpPr/>
            <p:nvPr/>
          </p:nvSpPr>
          <p:spPr>
            <a:xfrm>
              <a:off x="9330" y="2007"/>
              <a:ext cx="6147" cy="4905"/>
            </a:xfrm>
            <a:prstGeom prst="rect">
              <a:avLst/>
            </a:prstGeom>
            <a:solidFill>
              <a:schemeClr val="bg1"/>
            </a:solidFill>
          </p:spPr>
          <p:txBody>
            <a:bodyPr wrap="square" lIns="121912" tIns="60956" rIns="121912" bIns="60956">
              <a:spAutoFit/>
            </a:bodyPr>
            <a:lstStyle/>
            <a:p>
              <a:pPr defTabSz="1216660">
                <a:lnSpc>
                  <a:spcPct val="140000"/>
                </a:lnSpc>
              </a:pPr>
              <a:r>
                <a:rPr lang="zh-CN" altLang="en-US" b="1" dirty="0">
                  <a:solidFill>
                    <a:prstClr val="black"/>
                  </a:solidFill>
                  <a:latin typeface="微软雅黑" panose="020B0503020204020204" pitchFamily="34" charset="-122"/>
                  <a:ea typeface="微软雅黑" panose="020B0503020204020204" pitchFamily="34" charset="-122"/>
                </a:rPr>
                <a:t>商务门户价值</a:t>
              </a:r>
              <a:endParaRPr lang="en-US" altLang="zh-CN" b="1" dirty="0">
                <a:solidFill>
                  <a:prstClr val="black"/>
                </a:solidFill>
                <a:latin typeface="微软雅黑" panose="020B0503020204020204" pitchFamily="34" charset="-122"/>
                <a:ea typeface="微软雅黑" panose="020B0503020204020204" pitchFamily="34" charset="-122"/>
              </a:endParaRPr>
            </a:p>
            <a:p>
              <a:pPr indent="457200" defTabSz="1216660" fontAlgn="auto">
                <a:lnSpc>
                  <a:spcPct val="140000"/>
                </a:lnSpc>
              </a:pPr>
              <a:r>
                <a:rPr lang="zh-CN" altLang="en-US" sz="1500" dirty="0">
                  <a:solidFill>
                    <a:prstClr val="black"/>
                  </a:solidFill>
                  <a:latin typeface="微软雅黑" panose="020B0503020204020204" pitchFamily="34" charset="-122"/>
                  <a:ea typeface="微软雅黑" panose="020B0503020204020204" pitchFamily="34" charset="-122"/>
                </a:rPr>
                <a:t>贵阳世界贸易中心、东懋中心、城市之窗、环球谷商业领衔未来方舟商务、商业，聚集多元业态，链接世界资源，从多维角度丰富城市商业体系，助推城市发展。</a:t>
              </a:r>
              <a:endParaRPr lang="en-US" altLang="zh-CN" sz="1500" dirty="0">
                <a:solidFill>
                  <a:prstClr val="black"/>
                </a:solidFill>
                <a:latin typeface="微软雅黑" panose="020B0503020204020204" pitchFamily="34" charset="-122"/>
                <a:ea typeface="微软雅黑" panose="020B0503020204020204" pitchFamily="34" charset="-122"/>
              </a:endParaRPr>
            </a:p>
            <a:p>
              <a:pPr indent="457200" defTabSz="1216660" fontAlgn="auto">
                <a:lnSpc>
                  <a:spcPct val="140000"/>
                </a:lnSpc>
              </a:pPr>
              <a:r>
                <a:rPr lang="en-US" altLang="zh-CN" sz="1500" dirty="0">
                  <a:solidFill>
                    <a:prstClr val="black"/>
                  </a:solidFill>
                  <a:latin typeface="微软雅黑" panose="020B0503020204020204" pitchFamily="34" charset="-122"/>
                  <a:ea typeface="微软雅黑" panose="020B0503020204020204" pitchFamily="34" charset="-122"/>
                </a:rPr>
                <a:t>F3</a:t>
              </a:r>
              <a:r>
                <a:rPr lang="zh-CN" altLang="en-US" sz="1500" dirty="0">
                  <a:solidFill>
                    <a:prstClr val="black"/>
                  </a:solidFill>
                  <a:latin typeface="微软雅黑" panose="020B0503020204020204" pitchFamily="34" charset="-122"/>
                  <a:ea typeface="微软雅黑" panose="020B0503020204020204" pitchFamily="34" charset="-122"/>
                </a:rPr>
                <a:t>组团占据先天门户优势：文化、旅游、餐饮、购物、休闲娱乐、商业办公等功能为一体的综合性门户商务区所带来的商务价值不可估量。</a:t>
              </a:r>
              <a:endParaRPr lang="en-US" altLang="zh-CN" sz="1500" dirty="0">
                <a:solidFill>
                  <a:prstClr val="black"/>
                </a:solidFill>
                <a:latin typeface="微软雅黑" panose="020B0503020204020204" pitchFamily="34" charset="-122"/>
                <a:ea typeface="微软雅黑" panose="020B0503020204020204" pitchFamily="34" charset="-122"/>
              </a:endParaRPr>
            </a:p>
          </p:txBody>
        </p:sp>
        <p:pic>
          <p:nvPicPr>
            <p:cNvPr id="6" name="图片 8" descr="1459_Zhongtian Future Ark_CONCEPT DESIGN 100%.pdf - Adobe Acrobat Pro DC"/>
            <p:cNvPicPr>
              <a:picLocks noChangeAspect="1"/>
            </p:cNvPicPr>
            <p:nvPr/>
          </p:nvPicPr>
          <p:blipFill rotWithShape="1">
            <a:blip r:embed="rId2" cstate="print">
              <a:extLst>
                <a:ext uri="{28A0092B-C50C-407E-A947-70E740481C1C}">
                  <a14:useLocalDpi xmlns:a14="http://schemas.microsoft.com/office/drawing/2010/main" val="0"/>
                </a:ext>
              </a:extLst>
            </a:blip>
            <a:srcRect l="8348" t="21782" r="35003" b="15512"/>
            <a:stretch>
              <a:fillRect/>
            </a:stretch>
          </p:blipFill>
          <p:spPr>
            <a:xfrm>
              <a:off x="853" y="2006"/>
              <a:ext cx="7841" cy="4906"/>
            </a:xfrm>
            <a:prstGeom prst="rect">
              <a:avLst/>
            </a:prstGeom>
            <a:ln w="28575">
              <a:noFill/>
            </a:ln>
          </p:spPr>
        </p:pic>
        <p:sp>
          <p:nvSpPr>
            <p:cNvPr id="2" name="文本框 1"/>
            <p:cNvSpPr txBox="1"/>
            <p:nvPr/>
          </p:nvSpPr>
          <p:spPr>
            <a:xfrm>
              <a:off x="2534" y="2006"/>
              <a:ext cx="2457" cy="480"/>
            </a:xfrm>
            <a:prstGeom prst="rect">
              <a:avLst/>
            </a:prstGeom>
            <a:solidFill>
              <a:srgbClr val="FF0000"/>
            </a:solidFill>
          </p:spPr>
          <p:txBody>
            <a:bodyPr wrap="square" lIns="121912" tIns="60956" rIns="121912" bIns="60956" rtlCol="0">
              <a:spAutoFit/>
            </a:bodyPr>
            <a:lstStyle/>
            <a:p>
              <a:r>
                <a:rPr lang="zh-CN" altLang="en-US" sz="1200" b="1" dirty="0">
                  <a:latin typeface="微软雅黑" panose="020B0503020204020204" pitchFamily="34" charset="-122"/>
                  <a:ea typeface="微软雅黑" panose="020B0503020204020204" pitchFamily="34" charset="-122"/>
                </a:rPr>
                <a:t>西北门户</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城市之窗</a:t>
              </a:r>
              <a:endParaRPr lang="zh-CN" altLang="en-US" sz="12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5915" y="2007"/>
              <a:ext cx="2779" cy="517"/>
            </a:xfrm>
            <a:prstGeom prst="rect">
              <a:avLst/>
            </a:prstGeom>
            <a:solidFill>
              <a:schemeClr val="bg2">
                <a:lumMod val="90000"/>
              </a:schemeClr>
            </a:solidFill>
          </p:spPr>
          <p:txBody>
            <a:bodyPr wrap="square" lIns="121912" tIns="60956" rIns="121912" bIns="60956" rtlCol="0">
              <a:spAutoFit/>
            </a:bodyPr>
            <a:lstStyle/>
            <a:p>
              <a:r>
                <a:rPr lang="zh-CN" altLang="en-US" sz="1300" b="1" dirty="0">
                  <a:latin typeface="微软雅黑" panose="020B0503020204020204" pitchFamily="34" charset="-122"/>
                  <a:ea typeface="微软雅黑" panose="020B0503020204020204" pitchFamily="34" charset="-122"/>
                </a:rPr>
                <a:t>东北门户</a:t>
              </a:r>
              <a:r>
                <a:rPr lang="en-US" altLang="zh-CN" sz="1300" b="1" dirty="0">
                  <a:latin typeface="微软雅黑" panose="020B0503020204020204" pitchFamily="34" charset="-122"/>
                  <a:ea typeface="微软雅黑" panose="020B0503020204020204" pitchFamily="34" charset="-122"/>
                </a:rPr>
                <a:t>-</a:t>
              </a:r>
              <a:r>
                <a:rPr lang="zh-CN" altLang="en-US" sz="1300" b="1" dirty="0">
                  <a:latin typeface="微软雅黑" panose="020B0503020204020204" pitchFamily="34" charset="-122"/>
                  <a:ea typeface="微软雅黑" panose="020B0503020204020204" pitchFamily="34" charset="-122"/>
                </a:rPr>
                <a:t>世贸中心</a:t>
              </a:r>
              <a:endParaRPr lang="zh-CN" altLang="en-US" sz="1300" b="1"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5697" y="4569"/>
              <a:ext cx="2886" cy="517"/>
            </a:xfrm>
            <a:prstGeom prst="rect">
              <a:avLst/>
            </a:prstGeom>
            <a:solidFill>
              <a:schemeClr val="bg2">
                <a:lumMod val="90000"/>
              </a:schemeClr>
            </a:solidFill>
          </p:spPr>
          <p:txBody>
            <a:bodyPr wrap="square" lIns="121912" tIns="60956" rIns="121912" bIns="60956" rtlCol="0">
              <a:spAutoFit/>
            </a:bodyPr>
            <a:lstStyle/>
            <a:p>
              <a:r>
                <a:rPr lang="zh-CN" altLang="en-US" sz="1300" b="1" dirty="0">
                  <a:latin typeface="微软雅黑" panose="020B0503020204020204" pitchFamily="34" charset="-122"/>
                  <a:ea typeface="微软雅黑" panose="020B0503020204020204" pitchFamily="34" charset="-122"/>
                </a:rPr>
                <a:t>东南门户</a:t>
              </a:r>
              <a:r>
                <a:rPr lang="en-US" altLang="zh-CN" sz="1300" b="1" dirty="0">
                  <a:latin typeface="微软雅黑" panose="020B0503020204020204" pitchFamily="34" charset="-122"/>
                  <a:ea typeface="微软雅黑" panose="020B0503020204020204" pitchFamily="34" charset="-122"/>
                </a:rPr>
                <a:t>-</a:t>
              </a:r>
              <a:r>
                <a:rPr lang="zh-CN" altLang="en-US" sz="1300" b="1" dirty="0">
                  <a:latin typeface="微软雅黑" panose="020B0503020204020204" pitchFamily="34" charset="-122"/>
                  <a:ea typeface="微软雅黑" panose="020B0503020204020204" pitchFamily="34" charset="-122"/>
                </a:rPr>
                <a:t>东懋中心</a:t>
              </a:r>
              <a:endParaRPr lang="zh-CN" altLang="en-US" sz="1300" b="1"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1817" y="4216"/>
              <a:ext cx="2189" cy="485"/>
            </a:xfrm>
            <a:prstGeom prst="rect">
              <a:avLst/>
            </a:prstGeom>
            <a:solidFill>
              <a:schemeClr val="bg2">
                <a:lumMod val="90000"/>
              </a:schemeClr>
            </a:solidFill>
          </p:spPr>
          <p:txBody>
            <a:bodyPr wrap="square" lIns="121912" tIns="60956" rIns="121912" bIns="60956" rtlCol="0">
              <a:spAutoFit/>
            </a:bodyPr>
            <a:lstStyle/>
            <a:p>
              <a:r>
                <a:rPr lang="zh-CN" altLang="en-US" sz="1200" b="1" dirty="0">
                  <a:latin typeface="微软雅黑" panose="020B0503020204020204" pitchFamily="34" charset="-122"/>
                  <a:ea typeface="微软雅黑" panose="020B0503020204020204" pitchFamily="34" charset="-122"/>
                </a:rPr>
                <a:t>西南门户</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环球谷</a:t>
              </a:r>
              <a:endParaRPr lang="zh-CN" altLang="en-US" sz="1200" b="1" dirty="0">
                <a:latin typeface="微软雅黑" panose="020B0503020204020204" pitchFamily="34" charset="-122"/>
                <a:ea typeface="微软雅黑" panose="020B0503020204020204" pitchFamily="34" charset="-122"/>
              </a:endParaRPr>
            </a:p>
          </p:txBody>
        </p:sp>
      </p:grpSp>
      <p:sp>
        <p:nvSpPr>
          <p:cNvPr id="14" name="矩形 13"/>
          <p:cNvSpPr>
            <a:spLocks noChangeArrowheads="1"/>
          </p:cNvSpPr>
          <p:nvPr/>
        </p:nvSpPr>
        <p:spPr bwMode="auto">
          <a:xfrm>
            <a:off x="3637" y="17827"/>
            <a:ext cx="3186603"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rPr>
              <a:t>组团区位配套优势</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8" name="任意多边形 7"/>
          <p:cNvSpPr/>
          <p:nvPr/>
        </p:nvSpPr>
        <p:spPr>
          <a:xfrm>
            <a:off x="2195195" y="2077720"/>
            <a:ext cx="158115" cy="622935"/>
          </a:xfrm>
          <a:custGeom>
            <a:avLst/>
            <a:gdLst>
              <a:gd name="connisteX0" fmla="*/ 69850 w 158115"/>
              <a:gd name="connsiteY0" fmla="*/ 0 h 622935"/>
              <a:gd name="connisteX1" fmla="*/ 158115 w 158115"/>
              <a:gd name="connsiteY1" fmla="*/ 35560 h 622935"/>
              <a:gd name="connisteX2" fmla="*/ 158115 w 158115"/>
              <a:gd name="connsiteY2" fmla="*/ 579120 h 622935"/>
              <a:gd name="connisteX3" fmla="*/ 69850 w 158115"/>
              <a:gd name="connsiteY3" fmla="*/ 622935 h 622935"/>
              <a:gd name="connisteX4" fmla="*/ 17780 w 158115"/>
              <a:gd name="connsiteY4" fmla="*/ 588010 h 622935"/>
              <a:gd name="connisteX5" fmla="*/ 0 w 158115"/>
              <a:gd name="connsiteY5" fmla="*/ 88265 h 622935"/>
              <a:gd name="connisteX6" fmla="*/ 69850 w 158115"/>
              <a:gd name="connsiteY6" fmla="*/ 0 h 62293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158115" h="622935">
                <a:moveTo>
                  <a:pt x="69850" y="0"/>
                </a:moveTo>
                <a:lnTo>
                  <a:pt x="158115" y="35560"/>
                </a:lnTo>
                <a:lnTo>
                  <a:pt x="158115" y="579120"/>
                </a:lnTo>
                <a:lnTo>
                  <a:pt x="69850" y="622935"/>
                </a:lnTo>
                <a:lnTo>
                  <a:pt x="17780" y="588010"/>
                </a:lnTo>
                <a:lnTo>
                  <a:pt x="0" y="88265"/>
                </a:lnTo>
                <a:lnTo>
                  <a:pt x="69850" y="0"/>
                </a:lnTo>
                <a:close/>
              </a:path>
            </a:pathLst>
          </a:custGeom>
          <a:solidFill>
            <a:srgbClr val="DD7B56">
              <a:alpha val="81000"/>
            </a:srgbClr>
          </a:solidFill>
          <a:ln>
            <a:noFill/>
          </a:ln>
          <a:extLst>
            <a:ext uri="{909E8E84-426E-40DD-AFC4-6F175D3DCCD1}">
              <a14:hiddenFill xmlns:a14="http://schemas.microsoft.com/office/drawing/2010/main">
                <a:solidFill>
                  <a:schemeClr val="accent6"/>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1">
            <a:alphaModFix amt="0"/>
            <a:lum/>
          </a:blip>
          <a:srcRect/>
          <a:stretch>
            <a:fillRect/>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354671" y="1509026"/>
            <a:ext cx="3031315" cy="2080201"/>
          </a:xfrm>
          <a:prstGeom prst="rect">
            <a:avLst/>
          </a:prstGeom>
        </p:spPr>
      </p:pic>
      <p:pic>
        <p:nvPicPr>
          <p:cNvPr id="3" name="图片 2"/>
          <p:cNvPicPr>
            <a:picLocks noChangeAspect="1"/>
          </p:cNvPicPr>
          <p:nvPr/>
        </p:nvPicPr>
        <p:blipFill>
          <a:blip r:embed="rId3"/>
          <a:stretch>
            <a:fillRect/>
          </a:stretch>
        </p:blipFill>
        <p:spPr>
          <a:xfrm>
            <a:off x="335361" y="3559564"/>
            <a:ext cx="3048387" cy="2091917"/>
          </a:xfrm>
          <a:prstGeom prst="rect">
            <a:avLst/>
          </a:prstGeom>
        </p:spPr>
      </p:pic>
      <p:sp>
        <p:nvSpPr>
          <p:cNvPr id="92" name="矩形 91"/>
          <p:cNvSpPr/>
          <p:nvPr/>
        </p:nvSpPr>
        <p:spPr>
          <a:xfrm>
            <a:off x="9385121" y="1435659"/>
            <a:ext cx="2471523" cy="4104192"/>
          </a:xfrm>
          <a:prstGeom prst="rect">
            <a:avLst/>
          </a:prstGeom>
          <a:noFill/>
        </p:spPr>
        <p:txBody>
          <a:bodyPr wrap="square" lIns="121912" tIns="60956" rIns="121912" bIns="60956">
            <a:spAutoFit/>
          </a:bodyPr>
          <a:lstStyle/>
          <a:p>
            <a:pPr defTabSz="1216660">
              <a:lnSpc>
                <a:spcPct val="130000"/>
              </a:lnSpc>
            </a:pPr>
            <a:r>
              <a:rPr lang="zh-CN" altLang="en-US" b="1" dirty="0">
                <a:solidFill>
                  <a:prstClr val="black"/>
                </a:solidFill>
                <a:latin typeface="微软雅黑" panose="020B0503020204020204" pitchFamily="34" charset="-122"/>
                <a:ea typeface="微软雅黑" panose="020B0503020204020204" pitchFamily="34" charset="-122"/>
              </a:rPr>
              <a:t>城市配套</a:t>
            </a:r>
            <a:endParaRPr lang="en-US" altLang="zh-CN" b="1" dirty="0">
              <a:solidFill>
                <a:prstClr val="black"/>
              </a:solidFill>
              <a:latin typeface="微软雅黑" panose="020B0503020204020204" pitchFamily="34" charset="-122"/>
              <a:ea typeface="微软雅黑" panose="020B0503020204020204" pitchFamily="34" charset="-122"/>
            </a:endParaRPr>
          </a:p>
          <a:p>
            <a:pPr defTabSz="1216660">
              <a:lnSpc>
                <a:spcPct val="130000"/>
              </a:lnSpc>
            </a:pPr>
            <a:r>
              <a:rPr lang="zh-CN" altLang="en-US" sz="1500" dirty="0">
                <a:solidFill>
                  <a:prstClr val="black"/>
                </a:solidFill>
                <a:latin typeface="微软雅黑" panose="020B0503020204020204" pitchFamily="34" charset="-122"/>
                <a:ea typeface="微软雅黑" panose="020B0503020204020204" pitchFamily="34" charset="-122"/>
              </a:rPr>
              <a:t>地处未来方舟梦想银河中轴线起始端</a:t>
            </a:r>
            <a:endParaRPr lang="en-US" altLang="zh-CN" sz="1500" dirty="0">
              <a:solidFill>
                <a:prstClr val="black"/>
              </a:solidFill>
              <a:latin typeface="微软雅黑" panose="020B0503020204020204" pitchFamily="34" charset="-122"/>
              <a:ea typeface="微软雅黑" panose="020B0503020204020204" pitchFamily="34" charset="-122"/>
            </a:endParaRPr>
          </a:p>
          <a:p>
            <a:pPr defTabSz="1216660">
              <a:lnSpc>
                <a:spcPct val="130000"/>
              </a:lnSpc>
            </a:pPr>
            <a:r>
              <a:rPr lang="zh-CN" altLang="en-US" sz="1500" dirty="0">
                <a:solidFill>
                  <a:prstClr val="black"/>
                </a:solidFill>
                <a:latin typeface="微软雅黑" panose="020B0503020204020204" pitchFamily="34" charset="-122"/>
                <a:ea typeface="微软雅黑" panose="020B0503020204020204" pitchFamily="34" charset="-122"/>
              </a:rPr>
              <a:t>紧邻</a:t>
            </a:r>
            <a:r>
              <a:rPr lang="en-US" altLang="zh-CN" sz="1500" dirty="0">
                <a:solidFill>
                  <a:prstClr val="black"/>
                </a:solidFill>
                <a:latin typeface="微软雅黑" panose="020B0503020204020204" pitchFamily="34" charset="-122"/>
                <a:ea typeface="微软雅黑" panose="020B0503020204020204" pitchFamily="34" charset="-122"/>
              </a:rPr>
              <a:t>F1</a:t>
            </a:r>
            <a:r>
              <a:rPr lang="zh-CN" altLang="en-US" sz="1500" dirty="0">
                <a:solidFill>
                  <a:prstClr val="black"/>
                </a:solidFill>
                <a:latin typeface="微软雅黑" panose="020B0503020204020204" pitchFamily="34" charset="-122"/>
                <a:ea typeface="微软雅黑" panose="020B0503020204020204" pitchFamily="34" charset="-122"/>
              </a:rPr>
              <a:t>、</a:t>
            </a:r>
            <a:r>
              <a:rPr lang="en-US" altLang="zh-CN" sz="1500" dirty="0">
                <a:solidFill>
                  <a:prstClr val="black"/>
                </a:solidFill>
                <a:latin typeface="微软雅黑" panose="020B0503020204020204" pitchFamily="34" charset="-122"/>
                <a:ea typeface="微软雅黑" panose="020B0503020204020204" pitchFamily="34" charset="-122"/>
              </a:rPr>
              <a:t>F2</a:t>
            </a:r>
            <a:r>
              <a:rPr lang="zh-CN" altLang="en-US" sz="1500" dirty="0">
                <a:solidFill>
                  <a:prstClr val="black"/>
                </a:solidFill>
                <a:latin typeface="微软雅黑" panose="020B0503020204020204" pitchFamily="34" charset="-122"/>
                <a:ea typeface="微软雅黑" panose="020B0503020204020204" pitchFamily="34" charset="-122"/>
              </a:rPr>
              <a:t>商业公寓区、越界影城、贵州歌剧院，方舟之心</a:t>
            </a:r>
            <a:r>
              <a:rPr lang="en-US" altLang="zh-CN" sz="1500" dirty="0">
                <a:solidFill>
                  <a:prstClr val="black"/>
                </a:solidFill>
                <a:latin typeface="微软雅黑" panose="020B0503020204020204" pitchFamily="34" charset="-122"/>
                <a:ea typeface="微软雅黑" panose="020B0503020204020204" pitchFamily="34" charset="-122"/>
              </a:rPr>
              <a:t>10</a:t>
            </a:r>
            <a:r>
              <a:rPr lang="zh-CN" altLang="en-US" sz="1500" dirty="0">
                <a:solidFill>
                  <a:prstClr val="black"/>
                </a:solidFill>
                <a:latin typeface="微软雅黑" panose="020B0503020204020204" pitchFamily="34" charset="-122"/>
                <a:ea typeface="微软雅黑" panose="020B0503020204020204" pitchFamily="34" charset="-122"/>
              </a:rPr>
              <a:t>万方 </a:t>
            </a:r>
            <a:r>
              <a:rPr lang="en-US" altLang="zh-CN" sz="1500" dirty="0">
                <a:solidFill>
                  <a:prstClr val="black"/>
                </a:solidFill>
                <a:latin typeface="微软雅黑" panose="020B0503020204020204" pitchFamily="34" charset="-122"/>
                <a:ea typeface="微软雅黑" panose="020B0503020204020204" pitchFamily="34" charset="-122"/>
              </a:rPr>
              <a:t>shopping mall</a:t>
            </a:r>
            <a:r>
              <a:rPr lang="zh-CN" altLang="en-US" sz="1500" dirty="0">
                <a:solidFill>
                  <a:prstClr val="black"/>
                </a:solidFill>
                <a:latin typeface="微软雅黑" panose="020B0503020204020204" pitchFamily="34" charset="-122"/>
                <a:ea typeface="微软雅黑" panose="020B0503020204020204" pitchFamily="34" charset="-122"/>
              </a:rPr>
              <a:t>、社区商业、</a:t>
            </a:r>
            <a:r>
              <a:rPr lang="en-US" altLang="zh-CN" sz="1500" dirty="0">
                <a:solidFill>
                  <a:prstClr val="black"/>
                </a:solidFill>
                <a:latin typeface="微软雅黑" panose="020B0503020204020204" pitchFamily="34" charset="-122"/>
                <a:ea typeface="微软雅黑" panose="020B0503020204020204" pitchFamily="34" charset="-122"/>
              </a:rPr>
              <a:t>BRT</a:t>
            </a:r>
            <a:r>
              <a:rPr lang="zh-CN" altLang="en-US" sz="1500" dirty="0">
                <a:solidFill>
                  <a:prstClr val="black"/>
                </a:solidFill>
                <a:latin typeface="微软雅黑" panose="020B0503020204020204" pitchFamily="34" charset="-122"/>
                <a:ea typeface="微软雅黑" panose="020B0503020204020204" pitchFamily="34" charset="-122"/>
              </a:rPr>
              <a:t>站点，是方舟人流量聚集区，同时，该组团规划有世界之窗高端写字楼，商业区，未来高端门户商业群带来的商务价值不可估量。</a:t>
            </a:r>
            <a:endParaRPr lang="zh-CN" altLang="en-US" sz="1500" dirty="0">
              <a:solidFill>
                <a:prstClr val="black"/>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4"/>
          <a:stretch>
            <a:fillRect/>
          </a:stretch>
        </p:blipFill>
        <p:spPr>
          <a:xfrm>
            <a:off x="3427155" y="3593751"/>
            <a:ext cx="2958831" cy="2030460"/>
          </a:xfrm>
          <a:prstGeom prst="rect">
            <a:avLst/>
          </a:prstGeom>
        </p:spPr>
      </p:pic>
      <p:pic>
        <p:nvPicPr>
          <p:cNvPr id="9" name="图片 8"/>
          <p:cNvPicPr>
            <a:picLocks noChangeAspect="1"/>
          </p:cNvPicPr>
          <p:nvPr/>
        </p:nvPicPr>
        <p:blipFill>
          <a:blip r:embed="rId5"/>
          <a:stretch>
            <a:fillRect/>
          </a:stretch>
        </p:blipFill>
        <p:spPr>
          <a:xfrm>
            <a:off x="6429392" y="1509026"/>
            <a:ext cx="2955729" cy="4101075"/>
          </a:xfrm>
          <a:prstGeom prst="rect">
            <a:avLst/>
          </a:prstGeom>
        </p:spPr>
      </p:pic>
      <p:sp>
        <p:nvSpPr>
          <p:cNvPr id="10" name="矩形 9"/>
          <p:cNvSpPr>
            <a:spLocks noChangeArrowheads="1"/>
          </p:cNvSpPr>
          <p:nvPr/>
        </p:nvSpPr>
        <p:spPr bwMode="auto">
          <a:xfrm>
            <a:off x="3637" y="17827"/>
            <a:ext cx="3186603"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rPr>
              <a:t>组团区位配套优势</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pic>
        <p:nvPicPr>
          <p:cNvPr id="2050" name="Picture 2" descr="C:\Users\ADMINI~1\AppData\Local\Temp\WeChat Files\1dc9f258212a7821956f765d85505c7.jpg"/>
          <p:cNvPicPr>
            <a:picLocks noChangeAspect="1" noChangeArrowheads="1"/>
          </p:cNvPicPr>
          <p:nvPr/>
        </p:nvPicPr>
        <p:blipFill>
          <a:blip r:embed="rId6"/>
          <a:srcRect/>
          <a:stretch>
            <a:fillRect/>
          </a:stretch>
        </p:blipFill>
        <p:spPr bwMode="auto">
          <a:xfrm>
            <a:off x="328079" y="1516626"/>
            <a:ext cx="2982512" cy="20467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rrowheads="1"/>
          </p:cNvSpPr>
          <p:nvPr/>
        </p:nvSpPr>
        <p:spPr bwMode="auto">
          <a:xfrm>
            <a:off x="3640" y="12239"/>
            <a:ext cx="3020021"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组团鸟瞰</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8" name="TextBox 4"/>
          <p:cNvSpPr txBox="1"/>
          <p:nvPr/>
        </p:nvSpPr>
        <p:spPr>
          <a:xfrm>
            <a:off x="7731760" y="2051050"/>
            <a:ext cx="2791460" cy="2167255"/>
          </a:xfrm>
          <a:prstGeom prst="rect">
            <a:avLst/>
          </a:prstGeom>
          <a:noFill/>
        </p:spPr>
        <p:txBody>
          <a:bodyPr wrap="square" lIns="91436" tIns="45718" rIns="91436" bIns="45718" rtlCol="0">
            <a:spAutoFit/>
          </a:bodyPr>
          <a:lstStyle/>
          <a:p>
            <a:pPr marL="342900" indent="-342900">
              <a:lnSpc>
                <a:spcPct val="150000"/>
              </a:lnSpc>
              <a:buFont typeface="Wingdings" panose="05000000000000000000" pitchFamily="2" charset="2"/>
              <a:buChar char="Ø"/>
            </a:pPr>
            <a:r>
              <a:rPr lang="en-US" altLang="zh-CN" sz="1800" dirty="0">
                <a:latin typeface="微软雅黑" panose="020B0503020204020204" pitchFamily="34" charset="-122"/>
                <a:ea typeface="微软雅黑" panose="020B0503020204020204" pitchFamily="34" charset="-122"/>
              </a:rPr>
              <a:t>F3</a:t>
            </a:r>
            <a:r>
              <a:rPr lang="zh-CN" altLang="en-US" sz="1800" dirty="0">
                <a:latin typeface="微软雅黑" panose="020B0503020204020204" pitchFamily="34" charset="-122"/>
                <a:ea typeface="微软雅黑" panose="020B0503020204020204" pitchFamily="34" charset="-122"/>
              </a:rPr>
              <a:t>组团物业构成：超高办公楼</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超高层公寓</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沿街商业；</a:t>
            </a:r>
            <a:endParaRPr lang="en-US"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800" b="1" dirty="0">
                <a:solidFill>
                  <a:srgbClr val="FF0000"/>
                </a:solidFill>
                <a:latin typeface="微软雅黑" panose="020B0503020204020204" pitchFamily="34" charset="-122"/>
                <a:ea typeface="微软雅黑" panose="020B0503020204020204" pitchFamily="34" charset="-122"/>
              </a:rPr>
              <a:t>本次主要介绍</a:t>
            </a:r>
            <a:r>
              <a:rPr lang="zh-CN" altLang="en-US" sz="1800" b="1" dirty="0">
                <a:solidFill>
                  <a:srgbClr val="FF0000"/>
                </a:solidFill>
                <a:latin typeface="微软雅黑" panose="020B0503020204020204" pitchFamily="34" charset="-122"/>
                <a:ea typeface="微软雅黑" panose="020B0503020204020204" pitchFamily="34" charset="-122"/>
              </a:rPr>
              <a:t>写字楼，</a:t>
            </a:r>
            <a:r>
              <a:rPr lang="zh-CN" altLang="en-US" sz="1800" dirty="0">
                <a:latin typeface="微软雅黑" panose="020B0503020204020204" pitchFamily="34" charset="-122"/>
                <a:ea typeface="微软雅黑" panose="020B0503020204020204" pitchFamily="34" charset="-122"/>
              </a:rPr>
              <a:t>面积约</a:t>
            </a:r>
            <a:r>
              <a:rPr lang="en-US" altLang="zh-CN" sz="1800" dirty="0">
                <a:latin typeface="微软雅黑" panose="020B0503020204020204" pitchFamily="34" charset="-122"/>
                <a:ea typeface="微软雅黑" panose="020B0503020204020204" pitchFamily="34" charset="-122"/>
              </a:rPr>
              <a:t>10.5</a:t>
            </a:r>
            <a:r>
              <a:rPr lang="zh-CN" altLang="en-US" sz="1800" dirty="0">
                <a:latin typeface="微软雅黑" panose="020B0503020204020204" pitchFamily="34" charset="-122"/>
                <a:ea typeface="微软雅黑" panose="020B0503020204020204" pitchFamily="34" charset="-122"/>
              </a:rPr>
              <a:t>万㎡。</a:t>
            </a:r>
            <a:endParaRPr lang="en-US" altLang="zh-CN" sz="1800" dirty="0">
              <a:latin typeface="微软雅黑" panose="020B0503020204020204" pitchFamily="34" charset="-122"/>
              <a:ea typeface="微软雅黑" panose="020B0503020204020204" pitchFamily="34" charset="-122"/>
            </a:endParaRPr>
          </a:p>
        </p:txBody>
      </p:sp>
      <p:sp>
        <p:nvSpPr>
          <p:cNvPr id="9" name="灯片编号占位符 8"/>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pic>
        <p:nvPicPr>
          <p:cNvPr id="12" name="Picture 17"/>
          <p:cNvPicPr>
            <a:picLocks noChangeAspect="1"/>
          </p:cNvPicPr>
          <p:nvPr/>
        </p:nvPicPr>
        <p:blipFill rotWithShape="1">
          <a:blip r:embed="rId1"/>
          <a:srcRect/>
          <a:stretch>
            <a:fillRect/>
          </a:stretch>
        </p:blipFill>
        <p:spPr>
          <a:xfrm>
            <a:off x="951285" y="785325"/>
            <a:ext cx="6337003" cy="5611091"/>
          </a:xfrm>
          <a:prstGeom prst="rect">
            <a:avLst/>
          </a:prstGeom>
        </p:spPr>
      </p:pic>
      <p:sp>
        <p:nvSpPr>
          <p:cNvPr id="14" name="Rectangle 18"/>
          <p:cNvSpPr/>
          <p:nvPr/>
        </p:nvSpPr>
        <p:spPr>
          <a:xfrm>
            <a:off x="4875467" y="785327"/>
            <a:ext cx="2337000" cy="1358804"/>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HK" altLang="en-US"/>
          </a:p>
        </p:txBody>
      </p:sp>
      <p:sp>
        <p:nvSpPr>
          <p:cNvPr id="15" name="Rectangle 6"/>
          <p:cNvSpPr/>
          <p:nvPr/>
        </p:nvSpPr>
        <p:spPr>
          <a:xfrm>
            <a:off x="5507939" y="817936"/>
            <a:ext cx="1732572" cy="1320800"/>
          </a:xfrm>
          <a:prstGeom prst="rect">
            <a:avLst/>
          </a:prstGeom>
        </p:spPr>
        <p:txBody>
          <a:bodyPr wrap="square" lIns="91424" tIns="45714" rIns="91424" bIns="45714">
            <a:spAutoFit/>
          </a:bodyPr>
          <a:lstStyle/>
          <a:p>
            <a:pPr>
              <a:defRPr/>
            </a:pPr>
            <a:r>
              <a:rPr lang="zh-CN" altLang="en-US" sz="1600" b="1" kern="0" dirty="0">
                <a:solidFill>
                  <a:prstClr val="black"/>
                </a:solidFill>
                <a:latin typeface="微软雅黑" panose="020B0503020204020204" pitchFamily="34" charset="-122"/>
                <a:ea typeface="微软雅黑" panose="020B0503020204020204" pitchFamily="34" charset="-122"/>
              </a:rPr>
              <a:t>沿街商业</a:t>
            </a:r>
            <a:r>
              <a:rPr lang="en-US" altLang="zh-CN" sz="1600" b="1" kern="0" dirty="0">
                <a:solidFill>
                  <a:prstClr val="black"/>
                </a:solidFill>
                <a:latin typeface="微软雅黑" panose="020B0503020204020204" pitchFamily="34" charset="-122"/>
                <a:ea typeface="微软雅黑" panose="020B0503020204020204" pitchFamily="34" charset="-122"/>
              </a:rPr>
              <a:t>	</a:t>
            </a:r>
            <a:endParaRPr lang="en-US" altLang="zh-CN" sz="1600" b="1" kern="0" dirty="0">
              <a:solidFill>
                <a:prstClr val="black"/>
              </a:solidFill>
              <a:latin typeface="微软雅黑" panose="020B0503020204020204" pitchFamily="34" charset="-122"/>
              <a:ea typeface="微软雅黑" panose="020B0503020204020204" pitchFamily="34" charset="-122"/>
            </a:endParaRPr>
          </a:p>
          <a:p>
            <a:pPr>
              <a:defRPr/>
            </a:pPr>
            <a:endParaRPr lang="en-US" sz="16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1600" b="1" kern="0" dirty="0">
                <a:solidFill>
                  <a:prstClr val="black"/>
                </a:solidFill>
                <a:latin typeface="微软雅黑" panose="020B0503020204020204" pitchFamily="34" charset="-122"/>
                <a:ea typeface="微软雅黑" panose="020B0503020204020204" pitchFamily="34" charset="-122"/>
              </a:rPr>
              <a:t>写字楼</a:t>
            </a:r>
            <a:endParaRPr lang="en-US" altLang="zh-CN" sz="1600" b="1" kern="0" dirty="0">
              <a:solidFill>
                <a:prstClr val="black"/>
              </a:solidFill>
              <a:latin typeface="微软雅黑" panose="020B0503020204020204" pitchFamily="34" charset="-122"/>
              <a:ea typeface="微软雅黑" panose="020B0503020204020204" pitchFamily="34" charset="-122"/>
            </a:endParaRPr>
          </a:p>
          <a:p>
            <a:pPr>
              <a:defRPr/>
            </a:pPr>
            <a:endParaRPr lang="en-US" sz="1600" b="1" kern="0" dirty="0">
              <a:solidFill>
                <a:prstClr val="black"/>
              </a:solidFill>
              <a:latin typeface="微软雅黑" panose="020B0503020204020204" pitchFamily="34" charset="-122"/>
              <a:ea typeface="微软雅黑" panose="020B0503020204020204" pitchFamily="34" charset="-122"/>
            </a:endParaRPr>
          </a:p>
          <a:p>
            <a:pPr>
              <a:defRPr/>
            </a:pPr>
            <a:r>
              <a:rPr lang="zh-CN" altLang="en-US" sz="1600" b="1" kern="0" dirty="0">
                <a:solidFill>
                  <a:prstClr val="black"/>
                </a:solidFill>
                <a:latin typeface="微软雅黑" panose="020B0503020204020204" pitchFamily="34" charset="-122"/>
                <a:ea typeface="微软雅黑" panose="020B0503020204020204" pitchFamily="34" charset="-122"/>
              </a:rPr>
              <a:t>公寓</a:t>
            </a:r>
            <a:r>
              <a:rPr lang="en-US" altLang="zh-HK" sz="1600" b="1" kern="0" dirty="0">
                <a:solidFill>
                  <a:prstClr val="black"/>
                </a:solidFill>
                <a:latin typeface="微软雅黑" panose="020B0503020204020204" pitchFamily="34" charset="-122"/>
                <a:ea typeface="微软雅黑" panose="020B0503020204020204" pitchFamily="34" charset="-122"/>
              </a:rPr>
              <a:t>	</a:t>
            </a:r>
            <a:endParaRPr lang="en-US" sz="1600" b="1" kern="0" dirty="0">
              <a:solidFill>
                <a:prstClr val="black"/>
              </a:solidFill>
              <a:latin typeface="微软雅黑" panose="020B0503020204020204" pitchFamily="34" charset="-122"/>
              <a:ea typeface="微软雅黑" panose="020B0503020204020204" pitchFamily="34" charset="-122"/>
            </a:endParaRPr>
          </a:p>
        </p:txBody>
      </p:sp>
      <p:sp>
        <p:nvSpPr>
          <p:cNvPr id="16" name="Rectangle 21"/>
          <p:cNvSpPr/>
          <p:nvPr/>
        </p:nvSpPr>
        <p:spPr>
          <a:xfrm>
            <a:off x="5005112" y="881696"/>
            <a:ext cx="474785" cy="179653"/>
          </a:xfrm>
          <a:prstGeom prst="rect">
            <a:avLst/>
          </a:prstGeom>
          <a:solidFill>
            <a:srgbClr val="E92BE0">
              <a:alpha val="30000"/>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defTabSz="737235">
              <a:defRPr/>
            </a:pPr>
            <a:endParaRPr lang="zh-HK" altLang="en-US" sz="2900">
              <a:solidFill>
                <a:prstClr val="white"/>
              </a:solidFill>
              <a:latin typeface="Calibri" panose="020F0502020204030204"/>
            </a:endParaRPr>
          </a:p>
        </p:txBody>
      </p:sp>
      <p:sp>
        <p:nvSpPr>
          <p:cNvPr id="17" name="Rectangle 22"/>
          <p:cNvSpPr/>
          <p:nvPr/>
        </p:nvSpPr>
        <p:spPr>
          <a:xfrm>
            <a:off x="5005112" y="1404571"/>
            <a:ext cx="474785" cy="179655"/>
          </a:xfrm>
          <a:prstGeom prst="rect">
            <a:avLst/>
          </a:prstGeom>
          <a:solidFill>
            <a:srgbClr val="969EC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defTabSz="737235">
              <a:defRPr/>
            </a:pPr>
            <a:endParaRPr lang="zh-HK" altLang="en-US" sz="2900">
              <a:solidFill>
                <a:prstClr val="white"/>
              </a:solidFill>
              <a:latin typeface="Calibri" panose="020F0502020204030204"/>
            </a:endParaRPr>
          </a:p>
        </p:txBody>
      </p:sp>
      <p:sp>
        <p:nvSpPr>
          <p:cNvPr id="18" name="Rectangle 23"/>
          <p:cNvSpPr/>
          <p:nvPr/>
        </p:nvSpPr>
        <p:spPr>
          <a:xfrm>
            <a:off x="5005112" y="1870532"/>
            <a:ext cx="474785" cy="179655"/>
          </a:xfrm>
          <a:prstGeom prst="rect">
            <a:avLst/>
          </a:prstGeom>
          <a:solidFill>
            <a:srgbClr val="FFFF00">
              <a:alpha val="30000"/>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defTabSz="737235">
              <a:defRPr/>
            </a:pPr>
            <a:endParaRPr lang="zh-HK" altLang="en-US" sz="2900" dirty="0">
              <a:solidFill>
                <a:prstClr val="white"/>
              </a:solidFill>
              <a:latin typeface="Calibri" panose="020F0502020204030204"/>
            </a:endParaRPr>
          </a:p>
        </p:txBody>
      </p:sp>
      <p:grpSp>
        <p:nvGrpSpPr>
          <p:cNvPr id="19" name="Group 28"/>
          <p:cNvGrpSpPr/>
          <p:nvPr/>
        </p:nvGrpSpPr>
        <p:grpSpPr>
          <a:xfrm>
            <a:off x="4562367" y="2400742"/>
            <a:ext cx="885487" cy="345015"/>
            <a:chOff x="9029481" y="2090721"/>
            <a:chExt cx="1077989" cy="599823"/>
          </a:xfrm>
        </p:grpSpPr>
        <p:sp>
          <p:nvSpPr>
            <p:cNvPr id="20" name="Isosceles Triangle 32"/>
            <p:cNvSpPr/>
            <p:nvPr/>
          </p:nvSpPr>
          <p:spPr>
            <a:xfrm rot="10800000">
              <a:off x="9215507" y="2512745"/>
              <a:ext cx="206249" cy="177799"/>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21" name="Rectangle 6"/>
            <p:cNvSpPr/>
            <p:nvPr/>
          </p:nvSpPr>
          <p:spPr>
            <a:xfrm>
              <a:off x="9029481" y="2090721"/>
              <a:ext cx="1077989" cy="481557"/>
            </a:xfrm>
            <a:prstGeom prst="rect">
              <a:avLst/>
            </a:prstGeom>
          </p:spPr>
          <p:txBody>
            <a:bodyPr wrap="square" lIns="91429" tIns="45715" rIns="91429" bIns="45715">
              <a:spAutoFit/>
            </a:bodyPr>
            <a:lstStyle/>
            <a:p>
              <a:pPr>
                <a:defRPr/>
              </a:pPr>
              <a:r>
                <a:rPr lang="en-US" altLang="zh-HK" sz="1200" kern="0" dirty="0">
                  <a:solidFill>
                    <a:prstClr val="black"/>
                  </a:solidFill>
                  <a:latin typeface="Calibri" panose="020F0502020204030204"/>
                </a:rPr>
                <a:t>188m</a:t>
              </a:r>
              <a:endParaRPr lang="en-US" sz="1200" kern="0" dirty="0">
                <a:solidFill>
                  <a:prstClr val="black"/>
                </a:solidFill>
                <a:latin typeface="Calibri" panose="020F0502020204030204"/>
              </a:endParaRPr>
            </a:p>
          </p:txBody>
        </p:sp>
      </p:grpSp>
      <p:grpSp>
        <p:nvGrpSpPr>
          <p:cNvPr id="22" name="Group 27"/>
          <p:cNvGrpSpPr/>
          <p:nvPr/>
        </p:nvGrpSpPr>
        <p:grpSpPr>
          <a:xfrm>
            <a:off x="3274815" y="799159"/>
            <a:ext cx="629895" cy="344727"/>
            <a:chOff x="9041476" y="2201542"/>
            <a:chExt cx="1095103" cy="599325"/>
          </a:xfrm>
        </p:grpSpPr>
        <p:sp>
          <p:nvSpPr>
            <p:cNvPr id="23" name="Isosceles Triangle 34"/>
            <p:cNvSpPr/>
            <p:nvPr/>
          </p:nvSpPr>
          <p:spPr>
            <a:xfrm rot="10800000">
              <a:off x="9215508" y="2623067"/>
              <a:ext cx="206248" cy="1778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24" name="Rectangle 6"/>
            <p:cNvSpPr/>
            <p:nvPr/>
          </p:nvSpPr>
          <p:spPr>
            <a:xfrm>
              <a:off x="9041476" y="2201542"/>
              <a:ext cx="1095103" cy="481559"/>
            </a:xfrm>
            <a:prstGeom prst="rect">
              <a:avLst/>
            </a:prstGeom>
          </p:spPr>
          <p:txBody>
            <a:bodyPr wrap="square" lIns="91429" tIns="45715" rIns="91429" bIns="45715">
              <a:spAutoFit/>
            </a:bodyPr>
            <a:lstStyle/>
            <a:p>
              <a:pPr>
                <a:defRPr/>
              </a:pPr>
              <a:r>
                <a:rPr lang="en-US" altLang="zh-CN" sz="1200" kern="0" dirty="0">
                  <a:solidFill>
                    <a:prstClr val="black"/>
                  </a:solidFill>
                  <a:latin typeface="Calibri" panose="020F0502020204030204"/>
                </a:rPr>
                <a:t>330</a:t>
              </a:r>
              <a:r>
                <a:rPr lang="en-US" altLang="zh-HK" sz="1200" kern="0" dirty="0">
                  <a:solidFill>
                    <a:prstClr val="black"/>
                  </a:solidFill>
                  <a:latin typeface="Calibri" panose="020F0502020204030204"/>
                </a:rPr>
                <a:t>m</a:t>
              </a:r>
              <a:endParaRPr lang="en-US" sz="1200" kern="0" dirty="0">
                <a:solidFill>
                  <a:prstClr val="black"/>
                </a:solidFill>
                <a:latin typeface="Calibri" panose="020F0502020204030204"/>
              </a:endParaRPr>
            </a:p>
          </p:txBody>
        </p:sp>
      </p:grpSp>
      <p:grpSp>
        <p:nvGrpSpPr>
          <p:cNvPr id="25" name="Group 27"/>
          <p:cNvGrpSpPr/>
          <p:nvPr/>
        </p:nvGrpSpPr>
        <p:grpSpPr>
          <a:xfrm>
            <a:off x="3518642" y="1705461"/>
            <a:ext cx="819681" cy="344727"/>
            <a:chOff x="8917828" y="2201542"/>
            <a:chExt cx="1425055" cy="599325"/>
          </a:xfrm>
        </p:grpSpPr>
        <p:sp>
          <p:nvSpPr>
            <p:cNvPr id="26" name="Isosceles Triangle 34"/>
            <p:cNvSpPr/>
            <p:nvPr/>
          </p:nvSpPr>
          <p:spPr>
            <a:xfrm rot="10800000">
              <a:off x="9215508" y="2623067"/>
              <a:ext cx="206248" cy="1778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p>
          </p:txBody>
        </p:sp>
        <p:sp>
          <p:nvSpPr>
            <p:cNvPr id="27" name="Rectangle 6"/>
            <p:cNvSpPr/>
            <p:nvPr/>
          </p:nvSpPr>
          <p:spPr>
            <a:xfrm>
              <a:off x="8917828" y="2201542"/>
              <a:ext cx="1425055" cy="481559"/>
            </a:xfrm>
            <a:prstGeom prst="rect">
              <a:avLst/>
            </a:prstGeom>
          </p:spPr>
          <p:txBody>
            <a:bodyPr wrap="square" lIns="91429" tIns="45715" rIns="91429" bIns="45715">
              <a:spAutoFit/>
            </a:bodyPr>
            <a:lstStyle/>
            <a:p>
              <a:pPr>
                <a:defRPr/>
              </a:pPr>
              <a:r>
                <a:rPr lang="en-US" altLang="zh-CN" sz="1200" kern="0" dirty="0">
                  <a:solidFill>
                    <a:prstClr val="black"/>
                  </a:solidFill>
                  <a:latin typeface="Calibri" panose="020F0502020204030204"/>
                </a:rPr>
                <a:t>267.5</a:t>
              </a:r>
              <a:r>
                <a:rPr lang="en-US" altLang="zh-HK" sz="1200" kern="0" dirty="0">
                  <a:solidFill>
                    <a:prstClr val="black"/>
                  </a:solidFill>
                  <a:latin typeface="Calibri" panose="020F0502020204030204"/>
                </a:rPr>
                <a:t>m</a:t>
              </a:r>
              <a:endParaRPr lang="en-US" sz="1200" kern="0" dirty="0">
                <a:solidFill>
                  <a:prstClr val="black"/>
                </a:solidFill>
                <a:latin typeface="Calibri" panose="020F0502020204030204"/>
              </a:endParaRPr>
            </a:p>
          </p:txBody>
        </p:sp>
      </p:grpSp>
      <p:sp>
        <p:nvSpPr>
          <p:cNvPr id="11" name="TextBox 10"/>
          <p:cNvSpPr txBox="1"/>
          <p:nvPr/>
        </p:nvSpPr>
        <p:spPr>
          <a:xfrm rot="19758214">
            <a:off x="5167577" y="3334650"/>
            <a:ext cx="538480" cy="1554271"/>
          </a:xfrm>
          <a:prstGeom prst="rect">
            <a:avLst/>
          </a:prstGeom>
          <a:noFill/>
        </p:spPr>
        <p:txBody>
          <a:bodyPr wrap="square" lIns="91436" tIns="45718" rIns="91436" bIns="45718" rtlCol="0">
            <a:spAutoFit/>
          </a:bodyPr>
          <a:lstStyle/>
          <a:p>
            <a:r>
              <a:rPr lang="zh-CN" altLang="en-US" b="1" dirty="0">
                <a:latin typeface="微软雅黑" panose="020B0503020204020204" pitchFamily="34" charset="-122"/>
                <a:ea typeface="微软雅黑" panose="020B0503020204020204" pitchFamily="34" charset="-122"/>
              </a:rPr>
              <a:t>中环路东段</a:t>
            </a: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G:\F3总平面图20190508k-Model.jpg"/>
          <p:cNvPicPr>
            <a:picLocks noChangeAspect="1" noChangeArrowheads="1"/>
          </p:cNvPicPr>
          <p:nvPr/>
        </p:nvPicPr>
        <p:blipFill rotWithShape="1">
          <a:blip r:embed="rId1"/>
          <a:srcRect/>
          <a:stretch>
            <a:fillRect/>
          </a:stretch>
        </p:blipFill>
        <p:spPr bwMode="auto">
          <a:xfrm>
            <a:off x="386080" y="589383"/>
            <a:ext cx="7085576" cy="576696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6"/>
          <p:cNvSpPr/>
          <p:nvPr/>
        </p:nvSpPr>
        <p:spPr>
          <a:xfrm rot="786185">
            <a:off x="3338229" y="1230232"/>
            <a:ext cx="877583" cy="276989"/>
          </a:xfrm>
          <a:prstGeom prst="rect">
            <a:avLst/>
          </a:prstGeom>
        </p:spPr>
        <p:txBody>
          <a:bodyPr wrap="square" lIns="91424" tIns="45714" rIns="91424" bIns="45714">
            <a:spAutoFit/>
          </a:bodyPr>
          <a:lstStyle/>
          <a:p>
            <a:pPr algn="ctr">
              <a:defRPr/>
            </a:pPr>
            <a:r>
              <a:rPr lang="zh-CN" altLang="en-US" sz="1200" b="1" kern="0" dirty="0"/>
              <a:t>大寨路</a:t>
            </a:r>
            <a:endParaRPr lang="en-US" sz="1200" b="1" kern="0" dirty="0"/>
          </a:p>
        </p:txBody>
      </p:sp>
      <p:sp>
        <p:nvSpPr>
          <p:cNvPr id="13" name="Rectangle 6"/>
          <p:cNvSpPr/>
          <p:nvPr/>
        </p:nvSpPr>
        <p:spPr>
          <a:xfrm rot="17870857">
            <a:off x="-324890" y="1437364"/>
            <a:ext cx="2118771" cy="276989"/>
          </a:xfrm>
          <a:prstGeom prst="rect">
            <a:avLst/>
          </a:prstGeom>
        </p:spPr>
        <p:txBody>
          <a:bodyPr wrap="square" lIns="91424" tIns="45714" rIns="91424" bIns="45714">
            <a:spAutoFit/>
          </a:bodyPr>
          <a:lstStyle/>
          <a:p>
            <a:pPr algn="ctr">
              <a:defRPr/>
            </a:pPr>
            <a:r>
              <a:rPr lang="zh-CN" altLang="en-US" sz="1200" b="1" kern="0" dirty="0"/>
              <a:t>中环路东段</a:t>
            </a:r>
            <a:endParaRPr lang="en-US" altLang="zh-TW" sz="1200" b="1" kern="0" dirty="0"/>
          </a:p>
        </p:txBody>
      </p:sp>
      <p:sp>
        <p:nvSpPr>
          <p:cNvPr id="14" name="Rectangle 6"/>
          <p:cNvSpPr/>
          <p:nvPr/>
        </p:nvSpPr>
        <p:spPr>
          <a:xfrm rot="4491326">
            <a:off x="5017390" y="1503980"/>
            <a:ext cx="2106993" cy="276989"/>
          </a:xfrm>
          <a:prstGeom prst="rect">
            <a:avLst/>
          </a:prstGeom>
        </p:spPr>
        <p:txBody>
          <a:bodyPr wrap="square" lIns="91424" tIns="45714" rIns="91424" bIns="45714">
            <a:spAutoFit/>
          </a:bodyPr>
          <a:lstStyle/>
          <a:p>
            <a:pPr algn="ctr">
              <a:defRPr/>
            </a:pPr>
            <a:r>
              <a:rPr lang="zh-CN" altLang="en-US" sz="1200" b="1" kern="0" dirty="0"/>
              <a:t>尚礼西路</a:t>
            </a:r>
            <a:endParaRPr lang="en-US" altLang="zh-TW" sz="1200" b="1" kern="0" dirty="0"/>
          </a:p>
        </p:txBody>
      </p:sp>
      <p:sp>
        <p:nvSpPr>
          <p:cNvPr id="22" name="TextBox 21"/>
          <p:cNvSpPr txBox="1"/>
          <p:nvPr/>
        </p:nvSpPr>
        <p:spPr>
          <a:xfrm>
            <a:off x="3630705" y="3652949"/>
            <a:ext cx="850123" cy="184667"/>
          </a:xfrm>
          <a:prstGeom prst="rect">
            <a:avLst/>
          </a:prstGeom>
          <a:noFill/>
        </p:spPr>
        <p:txBody>
          <a:bodyPr wrap="square" lIns="0" tIns="0" rIns="0" bIns="0" rtlCol="0">
            <a:spAutoFit/>
          </a:bodyPr>
          <a:lstStyle/>
          <a:p>
            <a:r>
              <a:rPr lang="zh-CN" altLang="en-US" sz="1200" b="1" dirty="0">
                <a:cs typeface="BentonSans Book"/>
              </a:rPr>
              <a:t>办公楼</a:t>
            </a:r>
            <a:endParaRPr lang="en-US" altLang="zh-CN" sz="1200" b="1" dirty="0">
              <a:cs typeface="BentonSans Book"/>
            </a:endParaRPr>
          </a:p>
        </p:txBody>
      </p:sp>
      <p:sp>
        <p:nvSpPr>
          <p:cNvPr id="23" name="TextBox 22"/>
          <p:cNvSpPr txBox="1"/>
          <p:nvPr/>
        </p:nvSpPr>
        <p:spPr>
          <a:xfrm>
            <a:off x="2128575" y="3743085"/>
            <a:ext cx="626063" cy="184667"/>
          </a:xfrm>
          <a:prstGeom prst="rect">
            <a:avLst/>
          </a:prstGeom>
          <a:noFill/>
        </p:spPr>
        <p:txBody>
          <a:bodyPr wrap="square" lIns="0" tIns="0" rIns="0" bIns="0" rtlCol="0">
            <a:spAutoFit/>
          </a:bodyPr>
          <a:lstStyle/>
          <a:p>
            <a:r>
              <a:rPr lang="zh-CN" altLang="en-US" sz="1200" b="1" dirty="0">
                <a:cs typeface="BentonSans Book"/>
              </a:rPr>
              <a:t>消防站</a:t>
            </a:r>
            <a:endParaRPr lang="en-US" altLang="zh-CN" sz="1200" b="1" dirty="0">
              <a:cs typeface="BentonSans Book"/>
            </a:endParaRPr>
          </a:p>
        </p:txBody>
      </p:sp>
      <p:sp>
        <p:nvSpPr>
          <p:cNvPr id="42" name="Rectangle 6"/>
          <p:cNvSpPr/>
          <p:nvPr/>
        </p:nvSpPr>
        <p:spPr>
          <a:xfrm>
            <a:off x="5281475" y="1503452"/>
            <a:ext cx="679892" cy="276989"/>
          </a:xfrm>
          <a:prstGeom prst="rect">
            <a:avLst/>
          </a:prstGeom>
        </p:spPr>
        <p:txBody>
          <a:bodyPr wrap="square" lIns="91424" tIns="45714" rIns="91424" bIns="45714">
            <a:spAutoFit/>
          </a:bodyPr>
          <a:lstStyle/>
          <a:p>
            <a:pPr algn="r">
              <a:defRPr/>
            </a:pPr>
            <a:r>
              <a:rPr lang="en-US" altLang="zh-CN" sz="1200" b="1" kern="0" dirty="0"/>
              <a:t>+1</a:t>
            </a:r>
            <a:r>
              <a:rPr lang="en-US" altLang="zh-TW" sz="1200" b="1" kern="0" dirty="0"/>
              <a:t>087</a:t>
            </a:r>
            <a:endParaRPr lang="en-US" sz="1200" b="1" kern="0" dirty="0"/>
          </a:p>
        </p:txBody>
      </p:sp>
      <p:sp>
        <p:nvSpPr>
          <p:cNvPr id="43" name="Rectangle 6"/>
          <p:cNvSpPr/>
          <p:nvPr/>
        </p:nvSpPr>
        <p:spPr>
          <a:xfrm>
            <a:off x="4213979" y="1556988"/>
            <a:ext cx="679892" cy="276989"/>
          </a:xfrm>
          <a:prstGeom prst="rect">
            <a:avLst/>
          </a:prstGeom>
        </p:spPr>
        <p:txBody>
          <a:bodyPr wrap="square" lIns="91424" tIns="45714" rIns="91424" bIns="45714">
            <a:spAutoFit/>
          </a:bodyPr>
          <a:lstStyle/>
          <a:p>
            <a:pPr algn="r">
              <a:defRPr/>
            </a:pPr>
            <a:r>
              <a:rPr lang="en-US" altLang="zh-CN" sz="1200" b="1" kern="0" dirty="0"/>
              <a:t>+1091</a:t>
            </a:r>
            <a:endParaRPr lang="en-US" sz="1200" b="1" kern="0" dirty="0"/>
          </a:p>
        </p:txBody>
      </p:sp>
      <p:sp>
        <p:nvSpPr>
          <p:cNvPr id="44" name="Rectangle 6"/>
          <p:cNvSpPr/>
          <p:nvPr/>
        </p:nvSpPr>
        <p:spPr>
          <a:xfrm>
            <a:off x="1241023" y="3610392"/>
            <a:ext cx="679892" cy="276989"/>
          </a:xfrm>
          <a:prstGeom prst="rect">
            <a:avLst/>
          </a:prstGeom>
        </p:spPr>
        <p:txBody>
          <a:bodyPr wrap="square" lIns="91424" tIns="45714" rIns="91424" bIns="45714">
            <a:spAutoFit/>
          </a:bodyPr>
          <a:lstStyle/>
          <a:p>
            <a:pPr algn="r">
              <a:defRPr/>
            </a:pPr>
            <a:r>
              <a:rPr lang="en-US" altLang="zh-CN" sz="1200" b="1" kern="0" dirty="0"/>
              <a:t>+1107</a:t>
            </a:r>
            <a:endParaRPr lang="en-US" sz="1200" b="1" kern="0" dirty="0"/>
          </a:p>
        </p:txBody>
      </p:sp>
      <p:sp>
        <p:nvSpPr>
          <p:cNvPr id="45" name="Rectangle 6"/>
          <p:cNvSpPr/>
          <p:nvPr/>
        </p:nvSpPr>
        <p:spPr>
          <a:xfrm>
            <a:off x="2267971" y="5368600"/>
            <a:ext cx="679892" cy="276989"/>
          </a:xfrm>
          <a:prstGeom prst="rect">
            <a:avLst/>
          </a:prstGeom>
        </p:spPr>
        <p:txBody>
          <a:bodyPr wrap="square" lIns="91424" tIns="45714" rIns="91424" bIns="45714">
            <a:spAutoFit/>
          </a:bodyPr>
          <a:lstStyle/>
          <a:p>
            <a:pPr algn="r">
              <a:defRPr/>
            </a:pPr>
            <a:r>
              <a:rPr lang="en-US" altLang="zh-CN" sz="1200" b="1" kern="0" dirty="0"/>
              <a:t>+1108</a:t>
            </a:r>
            <a:endParaRPr lang="en-US" sz="1200" b="1" kern="0" dirty="0"/>
          </a:p>
        </p:txBody>
      </p:sp>
      <p:sp>
        <p:nvSpPr>
          <p:cNvPr id="46" name="Rectangle 6"/>
          <p:cNvSpPr/>
          <p:nvPr/>
        </p:nvSpPr>
        <p:spPr>
          <a:xfrm>
            <a:off x="4507871" y="4477842"/>
            <a:ext cx="870531" cy="276989"/>
          </a:xfrm>
          <a:prstGeom prst="rect">
            <a:avLst/>
          </a:prstGeom>
        </p:spPr>
        <p:txBody>
          <a:bodyPr wrap="square" lIns="91424" tIns="45714" rIns="91424" bIns="45714">
            <a:spAutoFit/>
          </a:bodyPr>
          <a:lstStyle/>
          <a:p>
            <a:pPr algn="r">
              <a:defRPr/>
            </a:pPr>
            <a:r>
              <a:rPr lang="en-US" altLang="zh-CN" sz="1200" b="1" kern="0" dirty="0"/>
              <a:t>+1108.5</a:t>
            </a:r>
            <a:endParaRPr lang="en-US" sz="1200" b="1" kern="0" dirty="0"/>
          </a:p>
        </p:txBody>
      </p:sp>
      <p:sp>
        <p:nvSpPr>
          <p:cNvPr id="47" name="Rectangle 6"/>
          <p:cNvSpPr/>
          <p:nvPr/>
        </p:nvSpPr>
        <p:spPr>
          <a:xfrm>
            <a:off x="5928037" y="4615007"/>
            <a:ext cx="870531" cy="276989"/>
          </a:xfrm>
          <a:prstGeom prst="rect">
            <a:avLst/>
          </a:prstGeom>
        </p:spPr>
        <p:txBody>
          <a:bodyPr wrap="square" lIns="91424" tIns="45714" rIns="91424" bIns="45714">
            <a:spAutoFit/>
          </a:bodyPr>
          <a:lstStyle/>
          <a:p>
            <a:pPr algn="r">
              <a:defRPr/>
            </a:pPr>
            <a:r>
              <a:rPr lang="en-US" altLang="zh-CN" sz="1200" b="1" kern="0" dirty="0"/>
              <a:t>+1107</a:t>
            </a:r>
            <a:endParaRPr lang="en-US" sz="1200" b="1" kern="0" dirty="0"/>
          </a:p>
        </p:txBody>
      </p:sp>
      <p:sp>
        <p:nvSpPr>
          <p:cNvPr id="49" name="Rectangle 6"/>
          <p:cNvSpPr/>
          <p:nvPr/>
        </p:nvSpPr>
        <p:spPr>
          <a:xfrm>
            <a:off x="4893869" y="782299"/>
            <a:ext cx="870531" cy="276989"/>
          </a:xfrm>
          <a:prstGeom prst="rect">
            <a:avLst/>
          </a:prstGeom>
        </p:spPr>
        <p:txBody>
          <a:bodyPr wrap="square" lIns="91424" tIns="45714" rIns="91424" bIns="45714">
            <a:spAutoFit/>
          </a:bodyPr>
          <a:lstStyle/>
          <a:p>
            <a:pPr algn="r">
              <a:defRPr/>
            </a:pPr>
            <a:r>
              <a:rPr lang="en-US" altLang="zh-CN" sz="1200" b="1" kern="0" dirty="0"/>
              <a:t>+1086</a:t>
            </a:r>
            <a:endParaRPr lang="en-US" sz="1200" b="1" kern="0" dirty="0"/>
          </a:p>
        </p:txBody>
      </p:sp>
      <p:sp>
        <p:nvSpPr>
          <p:cNvPr id="50" name="Rectangle 6"/>
          <p:cNvSpPr/>
          <p:nvPr/>
        </p:nvSpPr>
        <p:spPr>
          <a:xfrm>
            <a:off x="1509437" y="1684404"/>
            <a:ext cx="870531" cy="276989"/>
          </a:xfrm>
          <a:prstGeom prst="rect">
            <a:avLst/>
          </a:prstGeom>
        </p:spPr>
        <p:txBody>
          <a:bodyPr wrap="square" lIns="91424" tIns="45714" rIns="91424" bIns="45714">
            <a:spAutoFit/>
          </a:bodyPr>
          <a:lstStyle/>
          <a:p>
            <a:pPr algn="r">
              <a:defRPr/>
            </a:pPr>
            <a:r>
              <a:rPr lang="en-US" altLang="zh-CN" sz="1200" b="1" kern="0" dirty="0"/>
              <a:t>+1097.2</a:t>
            </a:r>
            <a:endParaRPr lang="en-US" sz="1200" b="1" kern="0" dirty="0"/>
          </a:p>
        </p:txBody>
      </p:sp>
      <p:sp>
        <p:nvSpPr>
          <p:cNvPr id="51" name="Rectangle 6"/>
          <p:cNvSpPr/>
          <p:nvPr/>
        </p:nvSpPr>
        <p:spPr>
          <a:xfrm>
            <a:off x="1397441" y="798923"/>
            <a:ext cx="870531" cy="276989"/>
          </a:xfrm>
          <a:prstGeom prst="rect">
            <a:avLst/>
          </a:prstGeom>
        </p:spPr>
        <p:txBody>
          <a:bodyPr wrap="square" lIns="91424" tIns="45714" rIns="91424" bIns="45714">
            <a:spAutoFit/>
          </a:bodyPr>
          <a:lstStyle/>
          <a:p>
            <a:pPr algn="r">
              <a:defRPr/>
            </a:pPr>
            <a:r>
              <a:rPr lang="en-US" altLang="zh-CN" sz="1200" b="1" kern="0" dirty="0"/>
              <a:t>+1096</a:t>
            </a:r>
            <a:endParaRPr lang="en-US" sz="1200" b="1" kern="0" dirty="0"/>
          </a:p>
        </p:txBody>
      </p:sp>
      <p:sp>
        <p:nvSpPr>
          <p:cNvPr id="52" name="Rectangle 6"/>
          <p:cNvSpPr/>
          <p:nvPr/>
        </p:nvSpPr>
        <p:spPr>
          <a:xfrm>
            <a:off x="817049" y="2729620"/>
            <a:ext cx="870531" cy="276989"/>
          </a:xfrm>
          <a:prstGeom prst="rect">
            <a:avLst/>
          </a:prstGeom>
        </p:spPr>
        <p:txBody>
          <a:bodyPr wrap="square" lIns="91424" tIns="45714" rIns="91424" bIns="45714">
            <a:spAutoFit/>
          </a:bodyPr>
          <a:lstStyle/>
          <a:p>
            <a:pPr algn="r">
              <a:defRPr/>
            </a:pPr>
            <a:r>
              <a:rPr lang="en-US" altLang="zh-CN" sz="1200" b="1" kern="0" dirty="0"/>
              <a:t>+1102</a:t>
            </a:r>
            <a:endParaRPr lang="en-US" sz="1200" b="1" kern="0" dirty="0"/>
          </a:p>
        </p:txBody>
      </p:sp>
      <p:sp>
        <p:nvSpPr>
          <p:cNvPr id="53" name="Rectangle 6"/>
          <p:cNvSpPr/>
          <p:nvPr/>
        </p:nvSpPr>
        <p:spPr>
          <a:xfrm>
            <a:off x="2249096" y="1359040"/>
            <a:ext cx="870531" cy="276989"/>
          </a:xfrm>
          <a:prstGeom prst="rect">
            <a:avLst/>
          </a:prstGeom>
        </p:spPr>
        <p:txBody>
          <a:bodyPr wrap="square" lIns="91424" tIns="45714" rIns="91424" bIns="45714">
            <a:spAutoFit/>
          </a:bodyPr>
          <a:lstStyle/>
          <a:p>
            <a:pPr algn="r">
              <a:defRPr/>
            </a:pPr>
            <a:r>
              <a:rPr lang="en-US" altLang="zh-CN" sz="1200" b="1" kern="0" dirty="0"/>
              <a:t>+1096</a:t>
            </a:r>
            <a:endParaRPr lang="en-US" sz="1200" b="1" kern="0" dirty="0"/>
          </a:p>
        </p:txBody>
      </p:sp>
      <p:sp>
        <p:nvSpPr>
          <p:cNvPr id="54" name="Rectangle 6"/>
          <p:cNvSpPr/>
          <p:nvPr/>
        </p:nvSpPr>
        <p:spPr>
          <a:xfrm>
            <a:off x="4331365" y="3784482"/>
            <a:ext cx="679892" cy="276989"/>
          </a:xfrm>
          <a:prstGeom prst="rect">
            <a:avLst/>
          </a:prstGeom>
        </p:spPr>
        <p:txBody>
          <a:bodyPr wrap="square" lIns="91424" tIns="45714" rIns="91424" bIns="45714">
            <a:spAutoFit/>
          </a:bodyPr>
          <a:lstStyle/>
          <a:p>
            <a:pPr algn="r">
              <a:defRPr/>
            </a:pPr>
            <a:r>
              <a:rPr lang="en-US" altLang="zh-CN" sz="1200" b="1" kern="0" dirty="0"/>
              <a:t>+1109</a:t>
            </a:r>
            <a:endParaRPr lang="en-US" sz="1200" b="1" kern="0" dirty="0"/>
          </a:p>
        </p:txBody>
      </p:sp>
      <p:sp>
        <p:nvSpPr>
          <p:cNvPr id="48" name="Rectangle 6"/>
          <p:cNvSpPr/>
          <p:nvPr/>
        </p:nvSpPr>
        <p:spPr>
          <a:xfrm>
            <a:off x="5928037" y="3248832"/>
            <a:ext cx="870531" cy="276989"/>
          </a:xfrm>
          <a:prstGeom prst="rect">
            <a:avLst/>
          </a:prstGeom>
        </p:spPr>
        <p:txBody>
          <a:bodyPr wrap="square" lIns="91424" tIns="45714" rIns="91424" bIns="45714">
            <a:spAutoFit/>
          </a:bodyPr>
          <a:lstStyle/>
          <a:p>
            <a:pPr algn="r">
              <a:defRPr/>
            </a:pPr>
            <a:r>
              <a:rPr lang="en-US" altLang="zh-CN" sz="1200" b="1" kern="0" dirty="0"/>
              <a:t>+1092</a:t>
            </a:r>
            <a:endParaRPr lang="en-US" sz="1200" b="1" kern="0" dirty="0"/>
          </a:p>
        </p:txBody>
      </p:sp>
      <p:sp>
        <p:nvSpPr>
          <p:cNvPr id="59" name="Rectangle 6"/>
          <p:cNvSpPr/>
          <p:nvPr/>
        </p:nvSpPr>
        <p:spPr>
          <a:xfrm rot="20737996">
            <a:off x="4064544" y="5127411"/>
            <a:ext cx="1756973" cy="276989"/>
          </a:xfrm>
          <a:prstGeom prst="rect">
            <a:avLst/>
          </a:prstGeom>
        </p:spPr>
        <p:txBody>
          <a:bodyPr wrap="square" lIns="91424" tIns="45714" rIns="91424" bIns="45714">
            <a:spAutoFit/>
          </a:bodyPr>
          <a:lstStyle/>
          <a:p>
            <a:pPr>
              <a:defRPr/>
            </a:pPr>
            <a:r>
              <a:rPr lang="zh-CN" altLang="en-US" sz="1200" b="1" kern="0" dirty="0"/>
              <a:t>北京东路</a:t>
            </a:r>
            <a:endParaRPr lang="en-US" sz="1200" b="1" kern="0" dirty="0"/>
          </a:p>
        </p:txBody>
      </p:sp>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5" name="矩形 4"/>
          <p:cNvSpPr>
            <a:spLocks noChangeArrowheads="1"/>
          </p:cNvSpPr>
          <p:nvPr/>
        </p:nvSpPr>
        <p:spPr bwMode="auto">
          <a:xfrm>
            <a:off x="3640" y="12239"/>
            <a:ext cx="3020021"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组团总平面图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56" name="矩形标注 53"/>
          <p:cNvSpPr/>
          <p:nvPr/>
        </p:nvSpPr>
        <p:spPr bwMode="auto">
          <a:xfrm>
            <a:off x="3228547" y="634591"/>
            <a:ext cx="1197804" cy="328663"/>
          </a:xfrm>
          <a:prstGeom prst="wedgeRectCallout">
            <a:avLst>
              <a:gd name="adj1" fmla="val 24487"/>
              <a:gd name="adj2" fmla="val 235586"/>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200" b="1" dirty="0">
                <a:solidFill>
                  <a:srgbClr val="FFFFFF"/>
                </a:solidFill>
                <a:latin typeface="微软雅黑" panose="020B0503020204020204" pitchFamily="34" charset="-122"/>
                <a:ea typeface="微软雅黑" panose="020B0503020204020204" pitchFamily="34" charset="-122"/>
              </a:rPr>
              <a:t>F3</a:t>
            </a:r>
            <a:r>
              <a:rPr lang="zh-CN" altLang="en-US" sz="1200" b="1" dirty="0">
                <a:solidFill>
                  <a:srgbClr val="FFFFFF"/>
                </a:solidFill>
                <a:latin typeface="微软雅黑" panose="020B0503020204020204" pitchFamily="34" charset="-122"/>
                <a:ea typeface="微软雅黑" panose="020B0503020204020204" pitchFamily="34" charset="-122"/>
              </a:rPr>
              <a:t>组团出入口</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57" name="右箭头 77"/>
          <p:cNvSpPr/>
          <p:nvPr/>
        </p:nvSpPr>
        <p:spPr bwMode="auto">
          <a:xfrm rot="6510769">
            <a:off x="4070750" y="1536573"/>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58" name="右箭头 77"/>
          <p:cNvSpPr/>
          <p:nvPr/>
        </p:nvSpPr>
        <p:spPr bwMode="auto">
          <a:xfrm rot="13265886">
            <a:off x="5351913" y="4622673"/>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0" name="矩形标注 53"/>
          <p:cNvSpPr/>
          <p:nvPr/>
        </p:nvSpPr>
        <p:spPr bwMode="auto">
          <a:xfrm>
            <a:off x="5681386" y="5178434"/>
            <a:ext cx="1197804" cy="328663"/>
          </a:xfrm>
          <a:prstGeom prst="wedgeRectCallout">
            <a:avLst>
              <a:gd name="adj1" fmla="val -57790"/>
              <a:gd name="adj2" fmla="val -138463"/>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200" b="1" dirty="0">
                <a:solidFill>
                  <a:srgbClr val="FFFFFF"/>
                </a:solidFill>
                <a:latin typeface="微软雅黑" panose="020B0503020204020204" pitchFamily="34" charset="-122"/>
                <a:ea typeface="微软雅黑" panose="020B0503020204020204" pitchFamily="34" charset="-122"/>
              </a:rPr>
              <a:t>F3</a:t>
            </a:r>
            <a:r>
              <a:rPr lang="zh-CN" altLang="en-US" sz="1200" b="1" dirty="0">
                <a:solidFill>
                  <a:srgbClr val="FFFFFF"/>
                </a:solidFill>
                <a:latin typeface="微软雅黑" panose="020B0503020204020204" pitchFamily="34" charset="-122"/>
                <a:ea typeface="微软雅黑" panose="020B0503020204020204" pitchFamily="34" charset="-122"/>
              </a:rPr>
              <a:t>组团入口</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61" name="右箭头 77"/>
          <p:cNvSpPr/>
          <p:nvPr/>
        </p:nvSpPr>
        <p:spPr bwMode="auto">
          <a:xfrm rot="10800000">
            <a:off x="6106313" y="3343061"/>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3" name="矩形标注 53"/>
          <p:cNvSpPr/>
          <p:nvPr/>
        </p:nvSpPr>
        <p:spPr bwMode="auto">
          <a:xfrm>
            <a:off x="156109" y="1942973"/>
            <a:ext cx="1148315" cy="513163"/>
          </a:xfrm>
          <a:prstGeom prst="wedgeRectCallout">
            <a:avLst>
              <a:gd name="adj1" fmla="val 54548"/>
              <a:gd name="adj2" fmla="val 23381"/>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室外至吊三层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64" name="右箭头 77"/>
          <p:cNvSpPr/>
          <p:nvPr/>
        </p:nvSpPr>
        <p:spPr bwMode="auto">
          <a:xfrm rot="1649503">
            <a:off x="1345971" y="2295298"/>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5" name="矩形标注 53"/>
          <p:cNvSpPr/>
          <p:nvPr/>
        </p:nvSpPr>
        <p:spPr bwMode="auto">
          <a:xfrm>
            <a:off x="1099741" y="4847541"/>
            <a:ext cx="1148315" cy="513163"/>
          </a:xfrm>
          <a:prstGeom prst="wedgeRectCallout">
            <a:avLst>
              <a:gd name="adj1" fmla="val 100335"/>
              <a:gd name="adj2" fmla="val -46410"/>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室外至吊一层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66" name="右箭头 77"/>
          <p:cNvSpPr/>
          <p:nvPr/>
        </p:nvSpPr>
        <p:spPr bwMode="auto">
          <a:xfrm rot="16376807">
            <a:off x="2902216" y="4683079"/>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7" name="右箭头 77"/>
          <p:cNvSpPr/>
          <p:nvPr/>
        </p:nvSpPr>
        <p:spPr bwMode="auto">
          <a:xfrm rot="9957046">
            <a:off x="5673035" y="3453771"/>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8" name="矩形标注 53"/>
          <p:cNvSpPr/>
          <p:nvPr/>
        </p:nvSpPr>
        <p:spPr bwMode="auto">
          <a:xfrm>
            <a:off x="5881124" y="2695565"/>
            <a:ext cx="1148315" cy="513163"/>
          </a:xfrm>
          <a:prstGeom prst="wedgeRectCallout">
            <a:avLst>
              <a:gd name="adj1" fmla="val -50962"/>
              <a:gd name="adj2" fmla="val 100596"/>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室外至吊四层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71" name="燕尾形 62"/>
          <p:cNvSpPr/>
          <p:nvPr/>
        </p:nvSpPr>
        <p:spPr bwMode="auto">
          <a:xfrm rot="15199630">
            <a:off x="3909339" y="4337197"/>
            <a:ext cx="292969" cy="214123"/>
          </a:xfrm>
          <a:prstGeom prst="chevron">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pic>
        <p:nvPicPr>
          <p:cNvPr id="4100" name="Picture 4"/>
          <p:cNvPicPr>
            <a:picLocks noChangeAspect="1" noChangeArrowheads="1"/>
          </p:cNvPicPr>
          <p:nvPr/>
        </p:nvPicPr>
        <p:blipFill>
          <a:blip r:embed="rId2"/>
          <a:srcRect/>
          <a:stretch>
            <a:fillRect/>
          </a:stretch>
        </p:blipFill>
        <p:spPr bwMode="auto">
          <a:xfrm>
            <a:off x="6879189" y="901805"/>
            <a:ext cx="550907" cy="6740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3" name="TextBox 4"/>
          <p:cNvSpPr txBox="1"/>
          <p:nvPr/>
        </p:nvSpPr>
        <p:spPr>
          <a:xfrm>
            <a:off x="7483475" y="934720"/>
            <a:ext cx="4646930" cy="5076190"/>
          </a:xfrm>
          <a:prstGeom prst="rect">
            <a:avLst/>
          </a:prstGeom>
          <a:noFill/>
        </p:spPr>
        <p:txBody>
          <a:bodyPr wrap="square" lIns="91436" tIns="45718" rIns="91436" bIns="45718" rtlCol="0">
            <a:spAutoFit/>
          </a:bodyPr>
          <a:lstStyle/>
          <a:p>
            <a:pPr marL="342900" indent="-342900">
              <a:lnSpc>
                <a:spcPct val="150000"/>
              </a:lnSpc>
              <a:buFont typeface="Wingdings" panose="05000000000000000000" pitchFamily="2" charset="2"/>
              <a:buChar char="Ø"/>
            </a:pPr>
            <a:r>
              <a:rPr lang="en-US" altLang="zh-CN" sz="1800" b="1" dirty="0">
                <a:latin typeface="微软雅黑" panose="020B0503020204020204" pitchFamily="34" charset="-122"/>
                <a:ea typeface="微软雅黑" panose="020B0503020204020204" pitchFamily="34" charset="-122"/>
              </a:rPr>
              <a:t>F3</a:t>
            </a:r>
            <a:r>
              <a:rPr lang="zh-CN" altLang="en-US" sz="1800" b="1" dirty="0">
                <a:latin typeface="微软雅黑" panose="020B0503020204020204" pitchFamily="34" charset="-122"/>
                <a:ea typeface="微软雅黑" panose="020B0503020204020204" pitchFamily="34" charset="-122"/>
              </a:rPr>
              <a:t>组团平台与北京东路平接，平台与北侧大寨路小区主出入口处高差约</a:t>
            </a:r>
            <a:r>
              <a:rPr lang="en-US" altLang="zh-CN" sz="1800" b="1" dirty="0">
                <a:latin typeface="微软雅黑" panose="020B0503020204020204" pitchFamily="34" charset="-122"/>
                <a:ea typeface="微软雅黑" panose="020B0503020204020204" pitchFamily="34" charset="-122"/>
              </a:rPr>
              <a:t>18</a:t>
            </a:r>
            <a:r>
              <a:rPr lang="zh-CN" altLang="en-US" sz="1800" b="1" dirty="0">
                <a:latin typeface="微软雅黑" panose="020B0503020204020204" pitchFamily="34" charset="-122"/>
                <a:ea typeface="微软雅黑" panose="020B0503020204020204" pitchFamily="34" charset="-122"/>
              </a:rPr>
              <a:t>米；</a:t>
            </a:r>
            <a:endParaRPr lang="en-US" altLang="zh-CN" sz="18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1800" b="1" dirty="0">
                <a:latin typeface="微软雅黑" panose="020B0503020204020204" pitchFamily="34" charset="-122"/>
                <a:ea typeface="微软雅黑" panose="020B0503020204020204" pitchFamily="34" charset="-122"/>
              </a:rPr>
              <a:t>F3</a:t>
            </a:r>
            <a:r>
              <a:rPr lang="zh-CN" altLang="en-US" sz="1800" b="1" dirty="0">
                <a:latin typeface="微软雅黑" panose="020B0503020204020204" pitchFamily="34" charset="-122"/>
                <a:ea typeface="微软雅黑" panose="020B0503020204020204" pitchFamily="34" charset="-122"/>
              </a:rPr>
              <a:t>组团设有北侧一个主出入口，尚礼西路侧一个如及北京东路侧一个入口，共</a:t>
            </a:r>
            <a:r>
              <a:rPr lang="en-US" altLang="zh-CN" sz="1800" b="1" dirty="0">
                <a:latin typeface="微软雅黑" panose="020B0503020204020204" pitchFamily="34" charset="-122"/>
                <a:ea typeface="微软雅黑" panose="020B0503020204020204" pitchFamily="34" charset="-122"/>
              </a:rPr>
              <a:t>3</a:t>
            </a:r>
            <a:r>
              <a:rPr lang="zh-CN" altLang="en-US" sz="1800" b="1" dirty="0">
                <a:latin typeface="微软雅黑" panose="020B0503020204020204" pitchFamily="34" charset="-122"/>
                <a:ea typeface="微软雅黑" panose="020B0503020204020204" pitchFamily="34" charset="-122"/>
              </a:rPr>
              <a:t>个组团</a:t>
            </a:r>
            <a:r>
              <a:rPr lang="zh-CN" altLang="en-US" sz="1800" b="1" dirty="0">
                <a:latin typeface="微软雅黑" panose="020B0503020204020204" pitchFamily="34" charset="-122"/>
                <a:ea typeface="微软雅黑" panose="020B0503020204020204" pitchFamily="34" charset="-122"/>
              </a:rPr>
              <a:t>出入口；</a:t>
            </a:r>
            <a:endParaRPr lang="en-US" altLang="zh-CN" sz="18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1800" b="1" dirty="0">
                <a:latin typeface="微软雅黑" panose="020B0503020204020204" pitchFamily="34" charset="-122"/>
                <a:ea typeface="微软雅黑" panose="020B0503020204020204" pitchFamily="34" charset="-122"/>
              </a:rPr>
              <a:t>F3</a:t>
            </a:r>
            <a:r>
              <a:rPr lang="zh-CN" altLang="en-US" sz="1800" b="1" dirty="0">
                <a:latin typeface="微软雅黑" panose="020B0503020204020204" pitchFamily="34" charset="-122"/>
                <a:ea typeface="微软雅黑" panose="020B0503020204020204" pitchFamily="34" charset="-122"/>
              </a:rPr>
              <a:t>组团共有</a:t>
            </a:r>
            <a:r>
              <a:rPr lang="en-US" altLang="zh-CN" sz="1800" b="1" dirty="0">
                <a:latin typeface="微软雅黑" panose="020B0503020204020204" pitchFamily="34" charset="-122"/>
                <a:ea typeface="微软雅黑" panose="020B0503020204020204" pitchFamily="34" charset="-122"/>
              </a:rPr>
              <a:t>3</a:t>
            </a:r>
            <a:r>
              <a:rPr lang="zh-CN" altLang="en-US" sz="1800" b="1" dirty="0">
                <a:latin typeface="微软雅黑" panose="020B0503020204020204" pitchFamily="34" charset="-122"/>
                <a:ea typeface="微软雅黑" panose="020B0503020204020204" pitchFamily="34" charset="-122"/>
              </a:rPr>
              <a:t>个车库出入口；</a:t>
            </a:r>
            <a:endParaRPr lang="zh-CN" altLang="en-US" sz="18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写字楼设有两个主出入口，位于北京东路一侧及其正对面小区</a:t>
            </a:r>
            <a:r>
              <a:rPr lang="zh-CN" altLang="en-US" sz="1800" b="1" dirty="0">
                <a:latin typeface="微软雅黑" panose="020B0503020204020204" pitchFamily="34" charset="-122"/>
                <a:ea typeface="微软雅黑" panose="020B0503020204020204" pitchFamily="34" charset="-122"/>
              </a:rPr>
              <a:t>平台内，其他</a:t>
            </a:r>
            <a:r>
              <a:rPr lang="zh-CN" altLang="en-US" sz="1800" b="1" dirty="0">
                <a:latin typeface="微软雅黑" panose="020B0503020204020204" pitchFamily="34" charset="-122"/>
                <a:ea typeface="微软雅黑" panose="020B0503020204020204" pitchFamily="34" charset="-122"/>
              </a:rPr>
              <a:t>两侧也均可进入一楼大堂；</a:t>
            </a:r>
            <a:endParaRPr lang="en-US" altLang="zh-CN" sz="1800" b="1" dirty="0">
              <a:latin typeface="微软雅黑" panose="020B0503020204020204" pitchFamily="34" charset="-122"/>
              <a:ea typeface="微软雅黑" panose="020B0503020204020204" pitchFamily="34" charset="-122"/>
            </a:endParaRPr>
          </a:p>
          <a:p>
            <a:pPr marL="342900" indent="-342900" algn="l">
              <a:lnSpc>
                <a:spcPct val="150000"/>
              </a:lnSpc>
              <a:buClrTx/>
              <a:buSzTx/>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车库内负二层至吊一层均设有通往写字楼一层大堂的电梯厅，前往上方写字楼必须先乘坐电梯至一层后转乘客梯。</a:t>
            </a:r>
            <a:endParaRPr lang="zh-CN" altLang="en-US" sz="1800" b="1" dirty="0">
              <a:latin typeface="微软雅黑" panose="020B0503020204020204" pitchFamily="34" charset="-122"/>
              <a:ea typeface="微软雅黑" panose="020B0503020204020204" pitchFamily="34" charset="-122"/>
            </a:endParaRPr>
          </a:p>
        </p:txBody>
      </p:sp>
      <p:sp>
        <p:nvSpPr>
          <p:cNvPr id="4096" name="矩形 4095"/>
          <p:cNvSpPr/>
          <p:nvPr/>
        </p:nvSpPr>
        <p:spPr>
          <a:xfrm rot="20623551">
            <a:off x="3609455" y="4567783"/>
            <a:ext cx="1189990" cy="274320"/>
          </a:xfrm>
          <a:prstGeom prst="rect">
            <a:avLst/>
          </a:prstGeom>
        </p:spPr>
        <p:txBody>
          <a:bodyPr wrap="none" lIns="91436" tIns="45718" rIns="91436" bIns="45718">
            <a:spAutoFit/>
          </a:bodyPr>
          <a:lstStyle/>
          <a:p>
            <a:pPr algn="ctr"/>
            <a:r>
              <a:rPr lang="zh-CN" altLang="en-US" sz="1200" b="1" dirty="0">
                <a:latin typeface="微软雅黑" panose="020B0503020204020204" pitchFamily="34" charset="-122"/>
                <a:ea typeface="微软雅黑" panose="020B0503020204020204" pitchFamily="34" charset="-122"/>
              </a:rPr>
              <a:t>写字楼主入口</a:t>
            </a:r>
            <a:r>
              <a:rPr lang="en-US" altLang="zh-CN" sz="1200" b="1"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75" name="燕尾形 62"/>
          <p:cNvSpPr/>
          <p:nvPr/>
        </p:nvSpPr>
        <p:spPr bwMode="auto">
          <a:xfrm rot="11988813">
            <a:off x="2246756" y="830356"/>
            <a:ext cx="292969" cy="214123"/>
          </a:xfrm>
          <a:prstGeom prst="chevron">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76" name="Rectangle 6"/>
          <p:cNvSpPr/>
          <p:nvPr/>
        </p:nvSpPr>
        <p:spPr>
          <a:xfrm rot="786185">
            <a:off x="2251899" y="891596"/>
            <a:ext cx="877583" cy="276989"/>
          </a:xfrm>
          <a:prstGeom prst="rect">
            <a:avLst/>
          </a:prstGeom>
        </p:spPr>
        <p:txBody>
          <a:bodyPr wrap="square" lIns="91424" tIns="45714" rIns="91424" bIns="45714">
            <a:spAutoFit/>
          </a:bodyPr>
          <a:lstStyle/>
          <a:p>
            <a:pPr algn="ctr">
              <a:defRPr/>
            </a:pPr>
            <a:r>
              <a:rPr lang="zh-CN" altLang="en-US" sz="1200" b="1" kern="0" dirty="0"/>
              <a:t>往</a:t>
            </a:r>
            <a:r>
              <a:rPr lang="en-US" altLang="zh-CN" sz="1200" b="1" kern="0" dirty="0"/>
              <a:t>F10</a:t>
            </a:r>
            <a:endParaRPr lang="en-US" sz="1200" b="1" kern="0" dirty="0"/>
          </a:p>
        </p:txBody>
      </p:sp>
      <p:sp>
        <p:nvSpPr>
          <p:cNvPr id="2" name="任意多边形 1"/>
          <p:cNvSpPr/>
          <p:nvPr/>
        </p:nvSpPr>
        <p:spPr>
          <a:xfrm>
            <a:off x="3261360" y="3130550"/>
            <a:ext cx="1289685" cy="1271270"/>
          </a:xfrm>
          <a:custGeom>
            <a:avLst/>
            <a:gdLst>
              <a:gd name="connisteX0" fmla="*/ 0 w 1289685"/>
              <a:gd name="connsiteY0" fmla="*/ 227965 h 1271270"/>
              <a:gd name="connisteX1" fmla="*/ 316230 w 1289685"/>
              <a:gd name="connsiteY1" fmla="*/ 193040 h 1271270"/>
              <a:gd name="connisteX2" fmla="*/ 386080 w 1289685"/>
              <a:gd name="connsiteY2" fmla="*/ 184150 h 1271270"/>
              <a:gd name="connisteX3" fmla="*/ 456565 w 1289685"/>
              <a:gd name="connsiteY3" fmla="*/ 166370 h 1271270"/>
              <a:gd name="connisteX4" fmla="*/ 631825 w 1289685"/>
              <a:gd name="connsiteY4" fmla="*/ 131445 h 1271270"/>
              <a:gd name="connisteX5" fmla="*/ 868680 w 1289685"/>
              <a:gd name="connsiteY5" fmla="*/ 52705 h 1271270"/>
              <a:gd name="connisteX6" fmla="*/ 1035050 w 1289685"/>
              <a:gd name="connsiteY6" fmla="*/ 0 h 1271270"/>
              <a:gd name="connisteX7" fmla="*/ 1052830 w 1289685"/>
              <a:gd name="connsiteY7" fmla="*/ 175260 h 1271270"/>
              <a:gd name="connisteX8" fmla="*/ 1078865 w 1289685"/>
              <a:gd name="connsiteY8" fmla="*/ 289560 h 1271270"/>
              <a:gd name="connisteX9" fmla="*/ 1157605 w 1289685"/>
              <a:gd name="connsiteY9" fmla="*/ 666115 h 1271270"/>
              <a:gd name="connisteX10" fmla="*/ 1289685 w 1289685"/>
              <a:gd name="connsiteY10" fmla="*/ 1034415 h 1271270"/>
              <a:gd name="connisteX11" fmla="*/ 1105535 w 1289685"/>
              <a:gd name="connsiteY11" fmla="*/ 1061085 h 1271270"/>
              <a:gd name="connisteX12" fmla="*/ 956310 w 1289685"/>
              <a:gd name="connsiteY12" fmla="*/ 1087120 h 1271270"/>
              <a:gd name="connisteX13" fmla="*/ 763270 w 1289685"/>
              <a:gd name="connsiteY13" fmla="*/ 1122680 h 1271270"/>
              <a:gd name="connisteX14" fmla="*/ 666750 w 1289685"/>
              <a:gd name="connsiteY14" fmla="*/ 1148715 h 1271270"/>
              <a:gd name="connisteX15" fmla="*/ 333375 w 1289685"/>
              <a:gd name="connsiteY15" fmla="*/ 1245235 h 1271270"/>
              <a:gd name="connisteX16" fmla="*/ 228600 w 1289685"/>
              <a:gd name="connsiteY16" fmla="*/ 1271270 h 1271270"/>
              <a:gd name="connisteX17" fmla="*/ 184150 w 1289685"/>
              <a:gd name="connsiteY17" fmla="*/ 876935 h 1271270"/>
              <a:gd name="connisteX18" fmla="*/ 123190 w 1289685"/>
              <a:gd name="connsiteY18" fmla="*/ 657860 h 1271270"/>
              <a:gd name="connisteX19" fmla="*/ 35560 w 1289685"/>
              <a:gd name="connsiteY19" fmla="*/ 333375 h 1271270"/>
              <a:gd name="connisteX20" fmla="*/ 0 w 1289685"/>
              <a:gd name="connsiteY20" fmla="*/ 227965 h 127127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Lst>
            <a:rect l="l" t="t" r="r" b="b"/>
            <a:pathLst>
              <a:path w="1289685" h="1271270">
                <a:moveTo>
                  <a:pt x="0" y="227965"/>
                </a:moveTo>
                <a:lnTo>
                  <a:pt x="316230" y="193040"/>
                </a:lnTo>
                <a:lnTo>
                  <a:pt x="386080" y="184150"/>
                </a:lnTo>
                <a:lnTo>
                  <a:pt x="456565" y="166370"/>
                </a:lnTo>
                <a:lnTo>
                  <a:pt x="631825" y="131445"/>
                </a:lnTo>
                <a:lnTo>
                  <a:pt x="868680" y="52705"/>
                </a:lnTo>
                <a:lnTo>
                  <a:pt x="1035050" y="0"/>
                </a:lnTo>
                <a:lnTo>
                  <a:pt x="1052830" y="175260"/>
                </a:lnTo>
                <a:lnTo>
                  <a:pt x="1078865" y="289560"/>
                </a:lnTo>
                <a:lnTo>
                  <a:pt x="1157605" y="666115"/>
                </a:lnTo>
                <a:lnTo>
                  <a:pt x="1289685" y="1034415"/>
                </a:lnTo>
                <a:lnTo>
                  <a:pt x="1105535" y="1061085"/>
                </a:lnTo>
                <a:lnTo>
                  <a:pt x="956310" y="1087120"/>
                </a:lnTo>
                <a:lnTo>
                  <a:pt x="763270" y="1122680"/>
                </a:lnTo>
                <a:lnTo>
                  <a:pt x="666750" y="1148715"/>
                </a:lnTo>
                <a:lnTo>
                  <a:pt x="333375" y="1245235"/>
                </a:lnTo>
                <a:lnTo>
                  <a:pt x="228600" y="1271270"/>
                </a:lnTo>
                <a:lnTo>
                  <a:pt x="184150" y="876935"/>
                </a:lnTo>
                <a:lnTo>
                  <a:pt x="123190" y="657860"/>
                </a:lnTo>
                <a:lnTo>
                  <a:pt x="35560" y="333375"/>
                </a:lnTo>
                <a:lnTo>
                  <a:pt x="0" y="227965"/>
                </a:lnTo>
                <a:close/>
              </a:path>
            </a:pathLst>
          </a:cu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800" b="1">
                <a:latin typeface="微软雅黑" panose="020B0503020204020204" pitchFamily="34" charset="-122"/>
                <a:ea typeface="微软雅黑" panose="020B0503020204020204" pitchFamily="34" charset="-122"/>
              </a:rPr>
              <a:t>写字楼</a:t>
            </a:r>
            <a:endParaRPr lang="zh-CN" altLang="en-US" sz="1800" b="1">
              <a:latin typeface="微软雅黑" panose="020B0503020204020204" pitchFamily="34" charset="-122"/>
              <a:ea typeface="微软雅黑" panose="020B0503020204020204" pitchFamily="34" charset="-122"/>
            </a:endParaRPr>
          </a:p>
        </p:txBody>
      </p:sp>
      <p:sp>
        <p:nvSpPr>
          <p:cNvPr id="62" name="矩形标注 53"/>
          <p:cNvSpPr/>
          <p:nvPr/>
        </p:nvSpPr>
        <p:spPr bwMode="auto">
          <a:xfrm>
            <a:off x="6106032" y="3887479"/>
            <a:ext cx="1197804" cy="328663"/>
          </a:xfrm>
          <a:prstGeom prst="wedgeRectCallout">
            <a:avLst>
              <a:gd name="adj1" fmla="val -34350"/>
              <a:gd name="adj2" fmla="val -141196"/>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200" b="1" dirty="0">
                <a:solidFill>
                  <a:srgbClr val="FFFFFF"/>
                </a:solidFill>
                <a:latin typeface="微软雅黑" panose="020B0503020204020204" pitchFamily="34" charset="-122"/>
                <a:ea typeface="微软雅黑" panose="020B0503020204020204" pitchFamily="34" charset="-122"/>
              </a:rPr>
              <a:t>F3</a:t>
            </a:r>
            <a:r>
              <a:rPr lang="zh-CN" altLang="en-US" sz="1200" b="1" dirty="0">
                <a:solidFill>
                  <a:srgbClr val="FFFFFF"/>
                </a:solidFill>
                <a:latin typeface="微软雅黑" panose="020B0503020204020204" pitchFamily="34" charset="-122"/>
                <a:ea typeface="微软雅黑" panose="020B0503020204020204" pitchFamily="34" charset="-122"/>
              </a:rPr>
              <a:t>组团入口</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3" name="燕尾形 62"/>
          <p:cNvSpPr/>
          <p:nvPr/>
        </p:nvSpPr>
        <p:spPr bwMode="auto">
          <a:xfrm rot="4339628">
            <a:off x="3570249" y="3002427"/>
            <a:ext cx="292969" cy="214123"/>
          </a:xfrm>
          <a:prstGeom prst="chevron">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 name="燕尾形 62"/>
          <p:cNvSpPr/>
          <p:nvPr/>
        </p:nvSpPr>
        <p:spPr bwMode="auto">
          <a:xfrm rot="9859628">
            <a:off x="4398924" y="3474867"/>
            <a:ext cx="292969" cy="214123"/>
          </a:xfrm>
          <a:prstGeom prst="chevron">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7" name="燕尾形 62"/>
          <p:cNvSpPr/>
          <p:nvPr/>
        </p:nvSpPr>
        <p:spPr bwMode="auto">
          <a:xfrm rot="20539630">
            <a:off x="3098444" y="3784747"/>
            <a:ext cx="292969" cy="214123"/>
          </a:xfrm>
          <a:prstGeom prst="chevron">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8" name="矩形 7"/>
          <p:cNvSpPr/>
          <p:nvPr/>
        </p:nvSpPr>
        <p:spPr>
          <a:xfrm rot="20683551">
            <a:off x="2994140" y="2731998"/>
            <a:ext cx="1189990" cy="274320"/>
          </a:xfrm>
          <a:prstGeom prst="rect">
            <a:avLst/>
          </a:prstGeom>
        </p:spPr>
        <p:txBody>
          <a:bodyPr wrap="none" lIns="91436" tIns="45718" rIns="91436" bIns="45718">
            <a:spAutoFit/>
          </a:bodyPr>
          <a:p>
            <a:pPr algn="ctr"/>
            <a:r>
              <a:rPr lang="zh-CN" altLang="en-US" sz="1200" b="1" dirty="0">
                <a:latin typeface="微软雅黑" panose="020B0503020204020204" pitchFamily="34" charset="-122"/>
                <a:ea typeface="微软雅黑" panose="020B0503020204020204" pitchFamily="34" charset="-122"/>
              </a:rPr>
              <a:t>写字楼主入口</a:t>
            </a:r>
            <a:r>
              <a:rPr lang="en-US" altLang="zh-CN" sz="1200" b="1"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Box 4"/>
          <p:cNvSpPr txBox="1"/>
          <p:nvPr/>
        </p:nvSpPr>
        <p:spPr>
          <a:xfrm>
            <a:off x="6012291" y="1366431"/>
            <a:ext cx="5505339" cy="4244975"/>
          </a:xfrm>
          <a:prstGeom prst="rect">
            <a:avLst/>
          </a:prstGeom>
          <a:noFill/>
        </p:spPr>
        <p:txBody>
          <a:bodyPr wrap="square" lIns="91436" tIns="45718" rIns="91436" bIns="45718" rtlCol="0">
            <a:spAutoFit/>
          </a:bodyPr>
          <a:lstStyle/>
          <a:p>
            <a:pPr marL="342900" indent="-342900">
              <a:lnSpc>
                <a:spcPct val="150000"/>
              </a:lnSpc>
              <a:buFont typeface="Wingdings" panose="05000000000000000000" pitchFamily="2" charset="2"/>
              <a:buChar char="Ø"/>
            </a:pPr>
            <a:r>
              <a:rPr lang="en-US" altLang="zh-CN" sz="1800" b="1" dirty="0">
                <a:latin typeface="微软雅黑" panose="020B0503020204020204" pitchFamily="34" charset="-122"/>
                <a:ea typeface="微软雅黑" panose="020B0503020204020204" pitchFamily="34" charset="-122"/>
              </a:rPr>
              <a:t>F3</a:t>
            </a:r>
            <a:r>
              <a:rPr lang="zh-CN" altLang="en-US" sz="1800" b="1" dirty="0">
                <a:latin typeface="微软雅黑" panose="020B0503020204020204" pitchFamily="34" charset="-122"/>
                <a:ea typeface="微软雅黑" panose="020B0503020204020204" pitchFamily="34" charset="-122"/>
              </a:rPr>
              <a:t>组团写字楼共</a:t>
            </a:r>
            <a:r>
              <a:rPr lang="en-US" altLang="zh-CN" sz="1800" b="1" dirty="0">
                <a:latin typeface="微软雅黑" panose="020B0503020204020204" pitchFamily="34" charset="-122"/>
                <a:ea typeface="微软雅黑" panose="020B0503020204020204" pitchFamily="34" charset="-122"/>
              </a:rPr>
              <a:t>53</a:t>
            </a:r>
            <a:r>
              <a:rPr lang="zh-CN" altLang="en-US" sz="1800" b="1" dirty="0">
                <a:latin typeface="微软雅黑" panose="020B0503020204020204" pitchFamily="34" charset="-122"/>
                <a:ea typeface="微软雅黑" panose="020B0503020204020204" pitchFamily="34" charset="-122"/>
              </a:rPr>
              <a:t>层，</a:t>
            </a:r>
            <a:r>
              <a:rPr lang="en-US" altLang="zh-CN" sz="1800" b="1" dirty="0">
                <a:latin typeface="微软雅黑" panose="020B0503020204020204" pitchFamily="34" charset="-122"/>
                <a:ea typeface="微软雅黑" panose="020B0503020204020204" pitchFamily="34" charset="-122"/>
              </a:rPr>
              <a:t>1</a:t>
            </a:r>
            <a:r>
              <a:rPr lang="zh-CN" altLang="en-US" sz="1800" b="1" dirty="0">
                <a:latin typeface="微软雅黑" panose="020B0503020204020204" pitchFamily="34" charset="-122"/>
                <a:ea typeface="微软雅黑" panose="020B0503020204020204" pitchFamily="34" charset="-122"/>
              </a:rPr>
              <a:t>层为大堂，</a:t>
            </a:r>
            <a:r>
              <a:rPr lang="en-US" altLang="zh-CN" sz="1800" b="1" dirty="0">
                <a:latin typeface="微软雅黑" panose="020B0503020204020204" pitchFamily="34" charset="-122"/>
                <a:ea typeface="微软雅黑" panose="020B0503020204020204" pitchFamily="34" charset="-122"/>
              </a:rPr>
              <a:t>2-53</a:t>
            </a:r>
            <a:r>
              <a:rPr lang="zh-CN" altLang="en-US" sz="1800" b="1" dirty="0">
                <a:latin typeface="微软雅黑" panose="020B0503020204020204" pitchFamily="34" charset="-122"/>
                <a:ea typeface="微软雅黑" panose="020B0503020204020204" pitchFamily="34" charset="-122"/>
              </a:rPr>
              <a:t>层为公寓，其中</a:t>
            </a:r>
            <a:r>
              <a:rPr lang="en-US" altLang="zh-CN" sz="1800" b="1" dirty="0">
                <a:latin typeface="微软雅黑" panose="020B0503020204020204" pitchFamily="34" charset="-122"/>
                <a:ea typeface="微软雅黑" panose="020B0503020204020204" pitchFamily="34" charset="-122"/>
              </a:rPr>
              <a:t>10</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21</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32</a:t>
            </a:r>
            <a:r>
              <a:rPr lang="zh-CN" altLang="en-US" sz="1800" b="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43</a:t>
            </a:r>
            <a:r>
              <a:rPr lang="zh-CN" altLang="en-US" sz="1800" b="1" dirty="0">
                <a:latin typeface="微软雅黑" panose="020B0503020204020204" pitchFamily="34" charset="-122"/>
                <a:ea typeface="微软雅黑" panose="020B0503020204020204" pitchFamily="34" charset="-122"/>
              </a:rPr>
              <a:t>层为避难层</a:t>
            </a:r>
            <a:endParaRPr lang="en-US" altLang="zh-CN" sz="18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1800" b="1" dirty="0">
                <a:latin typeface="微软雅黑" panose="020B0503020204020204" pitchFamily="34" charset="-122"/>
                <a:ea typeface="微软雅黑" panose="020B0503020204020204" pitchFamily="34" charset="-122"/>
              </a:rPr>
              <a:t>F3</a:t>
            </a:r>
            <a:r>
              <a:rPr lang="zh-CN" altLang="en-US" sz="1800" b="1" dirty="0">
                <a:latin typeface="微软雅黑" panose="020B0503020204020204" pitchFamily="34" charset="-122"/>
                <a:ea typeface="微软雅黑" panose="020B0503020204020204" pitchFamily="34" charset="-122"/>
              </a:rPr>
              <a:t>组团共有由上至下吊一、吊二、吊三 、吊四、吊五、负一、负二共七层约</a:t>
            </a:r>
            <a:r>
              <a:rPr lang="en-US" altLang="zh-CN" sz="1800" b="1" dirty="0">
                <a:latin typeface="微软雅黑" panose="020B0503020204020204" pitchFamily="34" charset="-122"/>
                <a:ea typeface="微软雅黑" panose="020B0503020204020204" pitchFamily="34" charset="-122"/>
              </a:rPr>
              <a:t>1497</a:t>
            </a:r>
            <a:r>
              <a:rPr lang="zh-CN" altLang="en-US" sz="1800" b="1" dirty="0">
                <a:latin typeface="微软雅黑" panose="020B0503020204020204" pitchFamily="34" charset="-122"/>
                <a:ea typeface="微软雅黑" panose="020B0503020204020204" pitchFamily="34" charset="-122"/>
              </a:rPr>
              <a:t>个停车位，吊一至负二层车库均设有车库电梯厅，可乘坐车库电梯直达写字楼一层大堂，后转乘低、中、高区</a:t>
            </a:r>
            <a:r>
              <a:rPr lang="zh-CN" altLang="en-US" sz="1800" b="1" dirty="0">
                <a:latin typeface="微软雅黑" panose="020B0503020204020204" pitchFamily="34" charset="-122"/>
                <a:ea typeface="微软雅黑" panose="020B0503020204020204" pitchFamily="34" charset="-122"/>
              </a:rPr>
              <a:t>电梯前往上方写字楼；</a:t>
            </a:r>
            <a:endParaRPr lang="en-US" altLang="zh-CN" sz="1800" b="1"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1800" dirty="0">
                <a:latin typeface="微软雅黑" panose="020B0503020204020204" pitchFamily="34" charset="-122"/>
                <a:ea typeface="微软雅黑" panose="020B0503020204020204" pitchFamily="34" charset="-122"/>
              </a:rPr>
              <a:t>F3</a:t>
            </a:r>
            <a:r>
              <a:rPr lang="zh-CN" altLang="en-US" sz="1800" dirty="0">
                <a:latin typeface="微软雅黑" panose="020B0503020204020204" pitchFamily="34" charset="-122"/>
                <a:ea typeface="微软雅黑" panose="020B0503020204020204" pitchFamily="34" charset="-122"/>
              </a:rPr>
              <a:t>组团小区平台（同写字楼、</a:t>
            </a:r>
            <a:r>
              <a:rPr lang="zh-CN" altLang="en-US" sz="1800" dirty="0">
                <a:latin typeface="微软雅黑" panose="020B0503020204020204" pitchFamily="34" charset="-122"/>
                <a:ea typeface="微软雅黑" panose="020B0503020204020204" pitchFamily="34" charset="-122"/>
              </a:rPr>
              <a:t>公寓一层位置）、吊一至吊五层、负一层、均设置有商业配套</a:t>
            </a:r>
            <a:endParaRPr lang="en-US"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1800" dirty="0">
                <a:latin typeface="微软雅黑" panose="020B0503020204020204" pitchFamily="34" charset="-122"/>
                <a:ea typeface="微软雅黑" panose="020B0503020204020204" pitchFamily="34" charset="-122"/>
              </a:rPr>
              <a:t>F3</a:t>
            </a:r>
            <a:r>
              <a:rPr lang="zh-CN" altLang="en-US" sz="1800" dirty="0">
                <a:latin typeface="微软雅黑" panose="020B0503020204020204" pitchFamily="34" charset="-122"/>
                <a:ea typeface="微软雅黑" panose="020B0503020204020204" pitchFamily="34" charset="-122"/>
              </a:rPr>
              <a:t>组团公寓共有</a:t>
            </a:r>
            <a:r>
              <a:rPr lang="en-US" altLang="zh-CN" sz="1800" dirty="0">
                <a:latin typeface="微软雅黑" panose="020B0503020204020204" pitchFamily="34" charset="-122"/>
                <a:ea typeface="微软雅黑" panose="020B0503020204020204" pitchFamily="34" charset="-122"/>
              </a:rPr>
              <a:t>51</a:t>
            </a:r>
            <a:r>
              <a:rPr lang="zh-CN" altLang="en-US" sz="1800" dirty="0">
                <a:latin typeface="微软雅黑" panose="020B0503020204020204" pitchFamily="34" charset="-122"/>
                <a:ea typeface="微软雅黑" panose="020B0503020204020204" pitchFamily="34" charset="-122"/>
              </a:rPr>
              <a:t>层。</a:t>
            </a:r>
            <a:endParaRPr lang="en-US" altLang="zh-CN" sz="1800" b="1"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12" name="矩形 11"/>
          <p:cNvSpPr>
            <a:spLocks noChangeArrowheads="1"/>
          </p:cNvSpPr>
          <p:nvPr/>
        </p:nvSpPr>
        <p:spPr bwMode="auto">
          <a:xfrm>
            <a:off x="16340" y="12559"/>
            <a:ext cx="3020021"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写字楼剖面图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grpSp>
        <p:nvGrpSpPr>
          <p:cNvPr id="104" name="组合 103"/>
          <p:cNvGrpSpPr/>
          <p:nvPr/>
        </p:nvGrpSpPr>
        <p:grpSpPr>
          <a:xfrm>
            <a:off x="337185" y="675005"/>
            <a:ext cx="5409565" cy="5681345"/>
            <a:chOff x="531" y="1063"/>
            <a:chExt cx="8519" cy="8947"/>
          </a:xfrm>
        </p:grpSpPr>
        <p:pic>
          <p:nvPicPr>
            <p:cNvPr id="5" name="图片 4" descr="F3立面"/>
            <p:cNvPicPr>
              <a:picLocks noChangeAspect="1"/>
            </p:cNvPicPr>
            <p:nvPr/>
          </p:nvPicPr>
          <p:blipFill>
            <a:blip r:embed="rId1"/>
            <a:srcRect l="15184" r="8638"/>
            <a:stretch>
              <a:fillRect/>
            </a:stretch>
          </p:blipFill>
          <p:spPr>
            <a:xfrm>
              <a:off x="531" y="1063"/>
              <a:ext cx="8519" cy="8947"/>
            </a:xfrm>
            <a:prstGeom prst="rect">
              <a:avLst/>
            </a:prstGeom>
          </p:spPr>
        </p:pic>
        <p:sp>
          <p:nvSpPr>
            <p:cNvPr id="6" name="任意多边形 5"/>
            <p:cNvSpPr/>
            <p:nvPr/>
          </p:nvSpPr>
          <p:spPr>
            <a:xfrm>
              <a:off x="1918" y="9148"/>
              <a:ext cx="4824" cy="644"/>
            </a:xfrm>
            <a:custGeom>
              <a:avLst/>
              <a:gdLst>
                <a:gd name="connsiteX0" fmla="*/ 406400 w 4693920"/>
                <a:gd name="connsiteY0" fmla="*/ 0 h 619760"/>
                <a:gd name="connsiteX1" fmla="*/ 406400 w 4693920"/>
                <a:gd name="connsiteY1" fmla="*/ 365760 h 619760"/>
                <a:gd name="connsiteX2" fmla="*/ 0 w 4693920"/>
                <a:gd name="connsiteY2" fmla="*/ 365760 h 619760"/>
                <a:gd name="connsiteX3" fmla="*/ 0 w 4693920"/>
                <a:gd name="connsiteY3" fmla="*/ 619760 h 619760"/>
                <a:gd name="connsiteX4" fmla="*/ 4257040 w 4693920"/>
                <a:gd name="connsiteY4" fmla="*/ 619760 h 619760"/>
                <a:gd name="connsiteX5" fmla="*/ 4257040 w 4693920"/>
                <a:gd name="connsiteY5" fmla="*/ 335280 h 619760"/>
                <a:gd name="connsiteX6" fmla="*/ 4693920 w 4693920"/>
                <a:gd name="connsiteY6" fmla="*/ 0 h 619760"/>
                <a:gd name="connsiteX7" fmla="*/ 406400 w 4693920"/>
                <a:gd name="connsiteY7" fmla="*/ 0 h 61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93920" h="619760">
                  <a:moveTo>
                    <a:pt x="406400" y="0"/>
                  </a:moveTo>
                  <a:lnTo>
                    <a:pt x="406400" y="365760"/>
                  </a:lnTo>
                  <a:lnTo>
                    <a:pt x="0" y="365760"/>
                  </a:lnTo>
                  <a:lnTo>
                    <a:pt x="0" y="619760"/>
                  </a:lnTo>
                  <a:lnTo>
                    <a:pt x="4257040" y="619760"/>
                  </a:lnTo>
                  <a:lnTo>
                    <a:pt x="4257040" y="335280"/>
                  </a:lnTo>
                  <a:lnTo>
                    <a:pt x="4693920" y="0"/>
                  </a:lnTo>
                  <a:lnTo>
                    <a:pt x="406400" y="0"/>
                  </a:lnTo>
                  <a:close/>
                </a:path>
              </a:pathLst>
            </a:custGeom>
            <a:solidFill>
              <a:srgbClr val="0070C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algn="ctr"/>
              <a:endParaRPr lang="zh-CN" altLang="en-US"/>
            </a:p>
          </p:txBody>
        </p:sp>
        <p:sp>
          <p:nvSpPr>
            <p:cNvPr id="7" name="文本框 8"/>
            <p:cNvSpPr txBox="1"/>
            <p:nvPr/>
          </p:nvSpPr>
          <p:spPr>
            <a:xfrm>
              <a:off x="3853" y="9203"/>
              <a:ext cx="1586" cy="533"/>
            </a:xfrm>
            <a:prstGeom prst="rect">
              <a:avLst/>
            </a:prstGeom>
            <a:noFill/>
          </p:spPr>
          <p:txBody>
            <a:bodyPr wrap="square" lIns="91436" tIns="45718" rIns="91436" bIns="45718" rtlCol="0">
              <a:spAutoFit/>
            </a:bodyPr>
            <a:p>
              <a:r>
                <a:rPr lang="zh-CN" altLang="en-US" sz="1600" b="1" dirty="0">
                  <a:latin typeface="微软雅黑" panose="020B0503020204020204" pitchFamily="34" charset="-122"/>
                  <a:ea typeface="微软雅黑" panose="020B0503020204020204" pitchFamily="34" charset="-122"/>
                </a:rPr>
                <a:t>车库</a:t>
              </a:r>
              <a:endParaRPr lang="zh-CN" altLang="en-US" sz="1600" b="1" dirty="0">
                <a:latin typeface="微软雅黑" panose="020B0503020204020204" pitchFamily="34" charset="-122"/>
                <a:ea typeface="微软雅黑" panose="020B0503020204020204" pitchFamily="34" charset="-122"/>
              </a:endParaRPr>
            </a:p>
          </p:txBody>
        </p:sp>
        <p:sp>
          <p:nvSpPr>
            <p:cNvPr id="22" name="矩形 21"/>
            <p:cNvSpPr/>
            <p:nvPr/>
          </p:nvSpPr>
          <p:spPr>
            <a:xfrm>
              <a:off x="2443" y="6732"/>
              <a:ext cx="760" cy="2311"/>
            </a:xfrm>
            <a:prstGeom prst="rect">
              <a:avLst/>
            </a:prstGeom>
            <a:solidFill>
              <a:schemeClr val="accent6">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 name="矩形 32"/>
            <p:cNvSpPr/>
            <p:nvPr/>
          </p:nvSpPr>
          <p:spPr>
            <a:xfrm>
              <a:off x="2443" y="4710"/>
              <a:ext cx="760" cy="1952"/>
            </a:xfrm>
            <a:prstGeom prst="rect">
              <a:avLst/>
            </a:prstGeom>
            <a:solidFill>
              <a:schemeClr val="accent2">
                <a:lumMod val="75000"/>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 name="文本框 35"/>
            <p:cNvSpPr txBox="1"/>
            <p:nvPr/>
          </p:nvSpPr>
          <p:spPr>
            <a:xfrm>
              <a:off x="2474" y="3196"/>
              <a:ext cx="698" cy="1066"/>
            </a:xfrm>
            <a:prstGeom prst="rect">
              <a:avLst/>
            </a:prstGeom>
            <a:noFill/>
          </p:spPr>
          <p:txBody>
            <a:bodyPr wrap="square" lIns="91436" tIns="45718" rIns="91436" bIns="45718" rtlCol="0">
              <a:spAutoFit/>
            </a:bodyPr>
            <a:p>
              <a:r>
                <a:rPr lang="zh-CN" altLang="en-US" b="1" dirty="0">
                  <a:latin typeface="微软雅黑" panose="020B0503020204020204" pitchFamily="34" charset="-122"/>
                  <a:ea typeface="微软雅黑" panose="020B0503020204020204" pitchFamily="34" charset="-122"/>
                </a:rPr>
                <a:t>公寓</a:t>
              </a:r>
              <a:endParaRPr lang="zh-CN" altLang="en-US" b="1" dirty="0">
                <a:latin typeface="微软雅黑" panose="020B0503020204020204" pitchFamily="34" charset="-122"/>
                <a:ea typeface="微软雅黑" panose="020B0503020204020204" pitchFamily="34" charset="-122"/>
              </a:endParaRPr>
            </a:p>
          </p:txBody>
        </p:sp>
        <p:grpSp>
          <p:nvGrpSpPr>
            <p:cNvPr id="97" name="组合 96"/>
            <p:cNvGrpSpPr/>
            <p:nvPr/>
          </p:nvGrpSpPr>
          <p:grpSpPr>
            <a:xfrm>
              <a:off x="5718" y="8788"/>
              <a:ext cx="2407" cy="508"/>
              <a:chOff x="5718" y="8788"/>
              <a:chExt cx="2407" cy="508"/>
            </a:xfrm>
          </p:grpSpPr>
          <p:sp>
            <p:nvSpPr>
              <p:cNvPr id="21" name="文本框 8"/>
              <p:cNvSpPr txBox="1"/>
              <p:nvPr/>
            </p:nvSpPr>
            <p:spPr>
              <a:xfrm>
                <a:off x="7141" y="8788"/>
                <a:ext cx="984" cy="509"/>
              </a:xfrm>
              <a:prstGeom prst="rect">
                <a:avLst/>
              </a:prstGeom>
              <a:noFill/>
            </p:spPr>
            <p:txBody>
              <a:bodyPr wrap="square" lIns="91436" tIns="45718" rIns="91436" bIns="45718" rtlCol="0">
                <a:spAutoFit/>
              </a:bodyPr>
              <a:p>
                <a:r>
                  <a:rPr lang="zh-CN" altLang="en-US" sz="1500" b="1" dirty="0">
                    <a:latin typeface="微软雅黑" panose="020B0503020204020204" pitchFamily="34" charset="-122"/>
                    <a:ea typeface="微软雅黑" panose="020B0503020204020204" pitchFamily="34" charset="-122"/>
                  </a:rPr>
                  <a:t>大堂</a:t>
                </a:r>
                <a:endParaRPr lang="zh-CN" altLang="en-US" sz="1500" b="1" dirty="0">
                  <a:latin typeface="微软雅黑" panose="020B0503020204020204" pitchFamily="34" charset="-122"/>
                  <a:ea typeface="微软雅黑" panose="020B0503020204020204" pitchFamily="34" charset="-122"/>
                </a:endParaRPr>
              </a:p>
            </p:txBody>
          </p:sp>
          <p:cxnSp>
            <p:nvCxnSpPr>
              <p:cNvPr id="40" name="直接连接符 39"/>
              <p:cNvCxnSpPr/>
              <p:nvPr/>
            </p:nvCxnSpPr>
            <p:spPr>
              <a:xfrm>
                <a:off x="5718" y="9043"/>
                <a:ext cx="1423"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7" name="文本框 46"/>
            <p:cNvSpPr txBox="1"/>
            <p:nvPr/>
          </p:nvSpPr>
          <p:spPr>
            <a:xfrm>
              <a:off x="2474" y="5155"/>
              <a:ext cx="698" cy="1062"/>
            </a:xfrm>
            <a:prstGeom prst="rect">
              <a:avLst/>
            </a:prstGeom>
            <a:noFill/>
          </p:spPr>
          <p:txBody>
            <a:bodyPr wrap="square" lIns="91436" tIns="45718" rIns="91436" bIns="45718" rtlCol="0">
              <a:spAutoFit/>
            </a:bodyPr>
            <a:p>
              <a:r>
                <a:rPr lang="zh-CN" altLang="en-US" b="1" dirty="0">
                  <a:latin typeface="微软雅黑" panose="020B0503020204020204" pitchFamily="34" charset="-122"/>
                  <a:ea typeface="微软雅黑" panose="020B0503020204020204" pitchFamily="34" charset="-122"/>
                </a:rPr>
                <a:t>高区</a:t>
              </a:r>
              <a:endParaRPr lang="zh-CN" altLang="en-US" b="1" dirty="0">
                <a:latin typeface="微软雅黑" panose="020B0503020204020204" pitchFamily="34" charset="-122"/>
                <a:ea typeface="微软雅黑" panose="020B0503020204020204" pitchFamily="34" charset="-122"/>
              </a:endParaRPr>
            </a:p>
          </p:txBody>
        </p:sp>
        <p:sp>
          <p:nvSpPr>
            <p:cNvPr id="48" name="文本框 47"/>
            <p:cNvSpPr txBox="1"/>
            <p:nvPr/>
          </p:nvSpPr>
          <p:spPr>
            <a:xfrm>
              <a:off x="2474" y="7357"/>
              <a:ext cx="698" cy="1062"/>
            </a:xfrm>
            <a:prstGeom prst="rect">
              <a:avLst/>
            </a:prstGeom>
            <a:noFill/>
          </p:spPr>
          <p:txBody>
            <a:bodyPr wrap="square" lIns="91436" tIns="45718" rIns="91436" bIns="45718" rtlCol="0">
              <a:spAutoFit/>
            </a:bodyPr>
            <a:p>
              <a:r>
                <a:rPr lang="zh-CN" altLang="en-US" b="1" dirty="0">
                  <a:latin typeface="微软雅黑" panose="020B0503020204020204" pitchFamily="34" charset="-122"/>
                  <a:ea typeface="微软雅黑" panose="020B0503020204020204" pitchFamily="34" charset="-122"/>
                </a:rPr>
                <a:t>低区</a:t>
              </a:r>
              <a:endParaRPr lang="zh-CN" altLang="en-US" b="1" dirty="0">
                <a:latin typeface="微软雅黑" panose="020B0503020204020204" pitchFamily="34" charset="-122"/>
                <a:ea typeface="微软雅黑" panose="020B0503020204020204" pitchFamily="34" charset="-122"/>
              </a:endParaRPr>
            </a:p>
          </p:txBody>
        </p:sp>
        <p:sp>
          <p:nvSpPr>
            <p:cNvPr id="49" name="文本框 48"/>
            <p:cNvSpPr txBox="1"/>
            <p:nvPr/>
          </p:nvSpPr>
          <p:spPr>
            <a:xfrm>
              <a:off x="5948" y="1063"/>
              <a:ext cx="698" cy="1523"/>
            </a:xfrm>
            <a:prstGeom prst="rect">
              <a:avLst/>
            </a:prstGeom>
            <a:noFill/>
          </p:spPr>
          <p:txBody>
            <a:bodyPr wrap="square" lIns="91436" tIns="45718" rIns="91436" bIns="45718" rtlCol="0">
              <a:spAutoFit/>
            </a:bodyPr>
            <a:p>
              <a:r>
                <a:rPr lang="zh-CN" altLang="en-US" b="1" dirty="0">
                  <a:latin typeface="微软雅黑" panose="020B0503020204020204" pitchFamily="34" charset="-122"/>
                  <a:ea typeface="微软雅黑" panose="020B0503020204020204" pitchFamily="34" charset="-122"/>
                </a:rPr>
                <a:t>写字楼</a:t>
              </a:r>
              <a:endParaRPr lang="zh-CN" altLang="en-US" b="1" dirty="0">
                <a:latin typeface="微软雅黑" panose="020B0503020204020204" pitchFamily="34" charset="-122"/>
                <a:ea typeface="微软雅黑" panose="020B0503020204020204" pitchFamily="34" charset="-122"/>
              </a:endParaRPr>
            </a:p>
          </p:txBody>
        </p:sp>
        <p:grpSp>
          <p:nvGrpSpPr>
            <p:cNvPr id="52" name="组合 51"/>
            <p:cNvGrpSpPr/>
            <p:nvPr/>
          </p:nvGrpSpPr>
          <p:grpSpPr>
            <a:xfrm rot="0">
              <a:off x="6038" y="7671"/>
              <a:ext cx="2315" cy="432"/>
              <a:chOff x="5726" y="7671"/>
              <a:chExt cx="2315" cy="432"/>
            </a:xfrm>
          </p:grpSpPr>
          <p:cxnSp>
            <p:nvCxnSpPr>
              <p:cNvPr id="50" name="直接连接符 49"/>
              <p:cNvCxnSpPr/>
              <p:nvPr/>
            </p:nvCxnSpPr>
            <p:spPr>
              <a:xfrm>
                <a:off x="5726" y="7901"/>
                <a:ext cx="81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1" name="文本框 8"/>
              <p:cNvSpPr txBox="1"/>
              <p:nvPr/>
            </p:nvSpPr>
            <p:spPr>
              <a:xfrm>
                <a:off x="6601" y="7671"/>
                <a:ext cx="1440" cy="432"/>
              </a:xfrm>
              <a:prstGeom prst="rect">
                <a:avLst/>
              </a:prstGeom>
              <a:noFill/>
            </p:spPr>
            <p:txBody>
              <a:bodyPr wrap="square" lIns="91436" tIns="45718" rIns="91436" bIns="45718" rtlCol="0">
                <a:spAutoFit/>
              </a:bodyPr>
              <a:p>
                <a:pPr algn="ctr"/>
                <a:r>
                  <a:rPr lang="en-US" altLang="zh-CN" sz="1200" b="1" dirty="0">
                    <a:latin typeface="微软雅黑" panose="020B0503020204020204" pitchFamily="34" charset="-122"/>
                    <a:ea typeface="微软雅黑" panose="020B0503020204020204" pitchFamily="34" charset="-122"/>
                  </a:rPr>
                  <a:t>10F</a:t>
                </a:r>
                <a:r>
                  <a:rPr lang="zh-CN" altLang="en-US" sz="1200" b="1" dirty="0">
                    <a:latin typeface="微软雅黑" panose="020B0503020204020204" pitchFamily="34" charset="-122"/>
                    <a:ea typeface="微软雅黑" panose="020B0503020204020204" pitchFamily="34" charset="-122"/>
                  </a:rPr>
                  <a:t>避难层</a:t>
                </a:r>
                <a:endParaRPr lang="zh-CN" altLang="en-US" sz="1200" b="1" dirty="0">
                  <a:latin typeface="微软雅黑" panose="020B0503020204020204" pitchFamily="34" charset="-122"/>
                  <a:ea typeface="微软雅黑" panose="020B0503020204020204" pitchFamily="34" charset="-122"/>
                </a:endParaRPr>
              </a:p>
            </p:txBody>
          </p:sp>
        </p:grpSp>
        <p:grpSp>
          <p:nvGrpSpPr>
            <p:cNvPr id="53" name="组合 52"/>
            <p:cNvGrpSpPr/>
            <p:nvPr/>
          </p:nvGrpSpPr>
          <p:grpSpPr>
            <a:xfrm rot="0">
              <a:off x="6038" y="6484"/>
              <a:ext cx="2315" cy="432"/>
              <a:chOff x="5726" y="7671"/>
              <a:chExt cx="2315" cy="432"/>
            </a:xfrm>
          </p:grpSpPr>
          <p:cxnSp>
            <p:nvCxnSpPr>
              <p:cNvPr id="54" name="直接连接符 53"/>
              <p:cNvCxnSpPr/>
              <p:nvPr/>
            </p:nvCxnSpPr>
            <p:spPr>
              <a:xfrm>
                <a:off x="5726" y="7901"/>
                <a:ext cx="81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5" name="文本框 8"/>
              <p:cNvSpPr txBox="1"/>
              <p:nvPr/>
            </p:nvSpPr>
            <p:spPr>
              <a:xfrm>
                <a:off x="6601" y="7671"/>
                <a:ext cx="1440" cy="432"/>
              </a:xfrm>
              <a:prstGeom prst="rect">
                <a:avLst/>
              </a:prstGeom>
              <a:noFill/>
            </p:spPr>
            <p:txBody>
              <a:bodyPr wrap="square" lIns="91436" tIns="45718" rIns="91436" bIns="45718" rtlCol="0">
                <a:spAutoFit/>
              </a:bodyPr>
              <a:p>
                <a:pPr algn="ctr"/>
                <a:r>
                  <a:rPr lang="en-US" altLang="zh-CN" sz="1200" b="1" dirty="0">
                    <a:latin typeface="微软雅黑" panose="020B0503020204020204" pitchFamily="34" charset="-122"/>
                    <a:ea typeface="微软雅黑" panose="020B0503020204020204" pitchFamily="34" charset="-122"/>
                  </a:rPr>
                  <a:t>21F</a:t>
                </a:r>
                <a:r>
                  <a:rPr lang="zh-CN" altLang="en-US" sz="1200" b="1" dirty="0">
                    <a:latin typeface="微软雅黑" panose="020B0503020204020204" pitchFamily="34" charset="-122"/>
                    <a:ea typeface="微软雅黑" panose="020B0503020204020204" pitchFamily="34" charset="-122"/>
                  </a:rPr>
                  <a:t>避难层</a:t>
                </a:r>
                <a:endParaRPr lang="zh-CN" altLang="en-US" sz="1200" b="1" dirty="0">
                  <a:latin typeface="微软雅黑" panose="020B0503020204020204" pitchFamily="34" charset="-122"/>
                  <a:ea typeface="微软雅黑" panose="020B0503020204020204" pitchFamily="34" charset="-122"/>
                </a:endParaRPr>
              </a:p>
            </p:txBody>
          </p:sp>
        </p:grpSp>
        <p:grpSp>
          <p:nvGrpSpPr>
            <p:cNvPr id="61" name="组合 60"/>
            <p:cNvGrpSpPr/>
            <p:nvPr/>
          </p:nvGrpSpPr>
          <p:grpSpPr>
            <a:xfrm rot="0">
              <a:off x="6038" y="5265"/>
              <a:ext cx="2315" cy="432"/>
              <a:chOff x="5726" y="7671"/>
              <a:chExt cx="2315" cy="432"/>
            </a:xfrm>
          </p:grpSpPr>
          <p:cxnSp>
            <p:nvCxnSpPr>
              <p:cNvPr id="62" name="直接连接符 61"/>
              <p:cNvCxnSpPr/>
              <p:nvPr/>
            </p:nvCxnSpPr>
            <p:spPr>
              <a:xfrm>
                <a:off x="5726" y="7901"/>
                <a:ext cx="81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3" name="文本框 8"/>
              <p:cNvSpPr txBox="1"/>
              <p:nvPr/>
            </p:nvSpPr>
            <p:spPr>
              <a:xfrm>
                <a:off x="6601" y="7671"/>
                <a:ext cx="1440" cy="432"/>
              </a:xfrm>
              <a:prstGeom prst="rect">
                <a:avLst/>
              </a:prstGeom>
              <a:noFill/>
            </p:spPr>
            <p:txBody>
              <a:bodyPr wrap="square" lIns="91436" tIns="45718" rIns="91436" bIns="45718" rtlCol="0">
                <a:spAutoFit/>
              </a:bodyPr>
              <a:p>
                <a:pPr algn="ctr"/>
                <a:r>
                  <a:rPr lang="en-US" altLang="zh-CN" sz="1200" b="1" dirty="0">
                    <a:latin typeface="微软雅黑" panose="020B0503020204020204" pitchFamily="34" charset="-122"/>
                    <a:ea typeface="微软雅黑" panose="020B0503020204020204" pitchFamily="34" charset="-122"/>
                  </a:rPr>
                  <a:t>32F</a:t>
                </a:r>
                <a:r>
                  <a:rPr lang="zh-CN" altLang="en-US" sz="1200" b="1" dirty="0">
                    <a:latin typeface="微软雅黑" panose="020B0503020204020204" pitchFamily="34" charset="-122"/>
                    <a:ea typeface="微软雅黑" panose="020B0503020204020204" pitchFamily="34" charset="-122"/>
                  </a:rPr>
                  <a:t>避难层</a:t>
                </a:r>
                <a:endParaRPr lang="zh-CN" altLang="en-US" sz="1200" b="1" dirty="0">
                  <a:latin typeface="微软雅黑" panose="020B0503020204020204" pitchFamily="34" charset="-122"/>
                  <a:ea typeface="微软雅黑" panose="020B0503020204020204" pitchFamily="34" charset="-122"/>
                </a:endParaRPr>
              </a:p>
            </p:txBody>
          </p:sp>
        </p:grpSp>
        <p:grpSp>
          <p:nvGrpSpPr>
            <p:cNvPr id="66" name="组合 65"/>
            <p:cNvGrpSpPr/>
            <p:nvPr/>
          </p:nvGrpSpPr>
          <p:grpSpPr>
            <a:xfrm rot="0">
              <a:off x="6098" y="4042"/>
              <a:ext cx="2315" cy="432"/>
              <a:chOff x="5726" y="7671"/>
              <a:chExt cx="2315" cy="432"/>
            </a:xfrm>
          </p:grpSpPr>
          <p:cxnSp>
            <p:nvCxnSpPr>
              <p:cNvPr id="67" name="直接连接符 66"/>
              <p:cNvCxnSpPr/>
              <p:nvPr/>
            </p:nvCxnSpPr>
            <p:spPr>
              <a:xfrm>
                <a:off x="5726" y="7901"/>
                <a:ext cx="81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文本框 8"/>
              <p:cNvSpPr txBox="1"/>
              <p:nvPr/>
            </p:nvSpPr>
            <p:spPr>
              <a:xfrm>
                <a:off x="6601" y="7671"/>
                <a:ext cx="1440" cy="432"/>
              </a:xfrm>
              <a:prstGeom prst="rect">
                <a:avLst/>
              </a:prstGeom>
              <a:noFill/>
            </p:spPr>
            <p:txBody>
              <a:bodyPr wrap="square" lIns="91436" tIns="45718" rIns="91436" bIns="45718" rtlCol="0">
                <a:spAutoFit/>
              </a:bodyPr>
              <a:p>
                <a:pPr algn="ctr"/>
                <a:r>
                  <a:rPr lang="en-US" altLang="zh-CN" sz="1200" b="1" dirty="0">
                    <a:latin typeface="微软雅黑" panose="020B0503020204020204" pitchFamily="34" charset="-122"/>
                    <a:ea typeface="微软雅黑" panose="020B0503020204020204" pitchFamily="34" charset="-122"/>
                  </a:rPr>
                  <a:t>43F</a:t>
                </a:r>
                <a:r>
                  <a:rPr lang="zh-CN" altLang="en-US" sz="1200" b="1" dirty="0">
                    <a:latin typeface="微软雅黑" panose="020B0503020204020204" pitchFamily="34" charset="-122"/>
                    <a:ea typeface="微软雅黑" panose="020B0503020204020204" pitchFamily="34" charset="-122"/>
                  </a:rPr>
                  <a:t>避难层</a:t>
                </a:r>
                <a:endParaRPr lang="zh-CN" altLang="en-US" sz="1200" b="1" dirty="0">
                  <a:latin typeface="微软雅黑" panose="020B0503020204020204" pitchFamily="34" charset="-122"/>
                  <a:ea typeface="微软雅黑" panose="020B0503020204020204" pitchFamily="34" charset="-122"/>
                </a:endParaRPr>
              </a:p>
            </p:txBody>
          </p:sp>
        </p:grpSp>
        <p:grpSp>
          <p:nvGrpSpPr>
            <p:cNvPr id="70" name="组合 69"/>
            <p:cNvGrpSpPr/>
            <p:nvPr/>
          </p:nvGrpSpPr>
          <p:grpSpPr>
            <a:xfrm rot="0">
              <a:off x="6038" y="8585"/>
              <a:ext cx="2315" cy="432"/>
              <a:chOff x="5726" y="7671"/>
              <a:chExt cx="2315" cy="432"/>
            </a:xfrm>
          </p:grpSpPr>
          <p:cxnSp>
            <p:nvCxnSpPr>
              <p:cNvPr id="71" name="直接连接符 70"/>
              <p:cNvCxnSpPr/>
              <p:nvPr/>
            </p:nvCxnSpPr>
            <p:spPr>
              <a:xfrm>
                <a:off x="5726" y="7901"/>
                <a:ext cx="81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2" name="文本框 8"/>
              <p:cNvSpPr txBox="1"/>
              <p:nvPr/>
            </p:nvSpPr>
            <p:spPr>
              <a:xfrm>
                <a:off x="6601" y="7671"/>
                <a:ext cx="1440" cy="432"/>
              </a:xfrm>
              <a:prstGeom prst="rect">
                <a:avLst/>
              </a:prstGeom>
              <a:noFill/>
            </p:spPr>
            <p:txBody>
              <a:bodyPr wrap="square" lIns="91436" tIns="45718" rIns="91436" bIns="45718" rtlCol="0">
                <a:spAutoFit/>
              </a:bodyPr>
              <a:p>
                <a:pPr algn="l"/>
                <a:r>
                  <a:rPr lang="en-US" altLang="zh-CN" sz="1200" b="1" dirty="0">
                    <a:latin typeface="微软雅黑" panose="020B0503020204020204" pitchFamily="34" charset="-122"/>
                    <a:ea typeface="微软雅黑" panose="020B0503020204020204" pitchFamily="34" charset="-122"/>
                  </a:rPr>
                  <a:t>2F</a:t>
                </a:r>
                <a:endParaRPr lang="zh-CN" altLang="en-US" sz="1200" b="1" dirty="0">
                  <a:latin typeface="微软雅黑" panose="020B0503020204020204" pitchFamily="34" charset="-122"/>
                  <a:ea typeface="微软雅黑" panose="020B0503020204020204" pitchFamily="34" charset="-122"/>
                </a:endParaRPr>
              </a:p>
            </p:txBody>
          </p:sp>
        </p:grpSp>
        <p:sp>
          <p:nvSpPr>
            <p:cNvPr id="73" name="矩形 72"/>
            <p:cNvSpPr/>
            <p:nvPr/>
          </p:nvSpPr>
          <p:spPr>
            <a:xfrm>
              <a:off x="5146" y="7120"/>
              <a:ext cx="1148" cy="1785"/>
            </a:xfrm>
            <a:prstGeom prst="rect">
              <a:avLst/>
            </a:prstGeom>
            <a:solidFill>
              <a:schemeClr val="accent6">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 name="文本框 73"/>
            <p:cNvSpPr txBox="1"/>
            <p:nvPr/>
          </p:nvSpPr>
          <p:spPr>
            <a:xfrm>
              <a:off x="5340" y="7481"/>
              <a:ext cx="698" cy="1062"/>
            </a:xfrm>
            <a:prstGeom prst="rect">
              <a:avLst/>
            </a:prstGeom>
            <a:noFill/>
          </p:spPr>
          <p:txBody>
            <a:bodyPr wrap="square" lIns="91436" tIns="45718" rIns="91436" bIns="45718" rtlCol="0">
              <a:spAutoFit/>
            </a:bodyPr>
            <a:p>
              <a:r>
                <a:rPr lang="zh-CN" altLang="en-US" b="1" dirty="0">
                  <a:latin typeface="微软雅黑" panose="020B0503020204020204" pitchFamily="34" charset="-122"/>
                  <a:ea typeface="微软雅黑" panose="020B0503020204020204" pitchFamily="34" charset="-122"/>
                </a:rPr>
                <a:t>低区</a:t>
              </a:r>
              <a:endParaRPr lang="zh-CN" altLang="en-US" b="1" dirty="0">
                <a:latin typeface="微软雅黑" panose="020B0503020204020204" pitchFamily="34" charset="-122"/>
                <a:ea typeface="微软雅黑" panose="020B0503020204020204" pitchFamily="34" charset="-122"/>
              </a:endParaRPr>
            </a:p>
          </p:txBody>
        </p:sp>
        <p:sp>
          <p:nvSpPr>
            <p:cNvPr id="76" name="矩形 75"/>
            <p:cNvSpPr/>
            <p:nvPr/>
          </p:nvSpPr>
          <p:spPr>
            <a:xfrm>
              <a:off x="5146" y="5323"/>
              <a:ext cx="1148" cy="1796"/>
            </a:xfrm>
            <a:prstGeom prst="rect">
              <a:avLst/>
            </a:prstGeom>
            <a:solidFill>
              <a:srgbClr val="00B0F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 name="矩形 80"/>
            <p:cNvSpPr/>
            <p:nvPr/>
          </p:nvSpPr>
          <p:spPr>
            <a:xfrm>
              <a:off x="5146" y="3118"/>
              <a:ext cx="1148" cy="2205"/>
            </a:xfrm>
            <a:prstGeom prst="rect">
              <a:avLst/>
            </a:prstGeom>
            <a:solidFill>
              <a:schemeClr val="accent2">
                <a:lumMod val="75000"/>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88" name="文本框 87"/>
            <p:cNvSpPr txBox="1"/>
            <p:nvPr/>
          </p:nvSpPr>
          <p:spPr>
            <a:xfrm>
              <a:off x="5371" y="5690"/>
              <a:ext cx="698" cy="1062"/>
            </a:xfrm>
            <a:prstGeom prst="rect">
              <a:avLst/>
            </a:prstGeom>
            <a:noFill/>
          </p:spPr>
          <p:txBody>
            <a:bodyPr wrap="square" lIns="91436" tIns="45718" rIns="91436" bIns="45718" rtlCol="0">
              <a:spAutoFit/>
            </a:bodyPr>
            <a:p>
              <a:r>
                <a:rPr lang="zh-CN" altLang="en-US" b="1" dirty="0">
                  <a:latin typeface="微软雅黑" panose="020B0503020204020204" pitchFamily="34" charset="-122"/>
                  <a:ea typeface="微软雅黑" panose="020B0503020204020204" pitchFamily="34" charset="-122"/>
                </a:rPr>
                <a:t>中区</a:t>
              </a:r>
              <a:endParaRPr lang="zh-CN" altLang="en-US" b="1" dirty="0">
                <a:latin typeface="微软雅黑" panose="020B0503020204020204" pitchFamily="34" charset="-122"/>
                <a:ea typeface="微软雅黑" panose="020B0503020204020204" pitchFamily="34" charset="-122"/>
              </a:endParaRPr>
            </a:p>
          </p:txBody>
        </p:sp>
        <p:sp>
          <p:nvSpPr>
            <p:cNvPr id="89" name="文本框 88"/>
            <p:cNvSpPr txBox="1"/>
            <p:nvPr/>
          </p:nvSpPr>
          <p:spPr>
            <a:xfrm>
              <a:off x="5371" y="3727"/>
              <a:ext cx="698" cy="1062"/>
            </a:xfrm>
            <a:prstGeom prst="rect">
              <a:avLst/>
            </a:prstGeom>
            <a:noFill/>
          </p:spPr>
          <p:txBody>
            <a:bodyPr wrap="square" lIns="91436" tIns="45718" rIns="91436" bIns="45718" rtlCol="0">
              <a:spAutoFit/>
            </a:bodyPr>
            <a:p>
              <a:r>
                <a:rPr lang="zh-CN" altLang="en-US" b="1" dirty="0">
                  <a:latin typeface="微软雅黑" panose="020B0503020204020204" pitchFamily="34" charset="-122"/>
                  <a:ea typeface="微软雅黑" panose="020B0503020204020204" pitchFamily="34" charset="-122"/>
                </a:rPr>
                <a:t>高区</a:t>
              </a:r>
              <a:endParaRPr lang="zh-CN" altLang="en-US" b="1" dirty="0">
                <a:latin typeface="微软雅黑" panose="020B0503020204020204" pitchFamily="34" charset="-122"/>
                <a:ea typeface="微软雅黑" panose="020B0503020204020204" pitchFamily="34" charset="-122"/>
              </a:endParaRPr>
            </a:p>
          </p:txBody>
        </p:sp>
        <p:sp>
          <p:nvSpPr>
            <p:cNvPr id="91" name="矩形 90"/>
            <p:cNvSpPr/>
            <p:nvPr/>
          </p:nvSpPr>
          <p:spPr>
            <a:xfrm>
              <a:off x="5146" y="2626"/>
              <a:ext cx="1148" cy="493"/>
            </a:xfrm>
            <a:prstGeom prst="rect">
              <a:avLst/>
            </a:prstGeom>
            <a:solidFill>
              <a:srgbClr val="FF0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grpSp>
          <p:nvGrpSpPr>
            <p:cNvPr id="98" name="组合 97"/>
            <p:cNvGrpSpPr/>
            <p:nvPr/>
          </p:nvGrpSpPr>
          <p:grpSpPr>
            <a:xfrm>
              <a:off x="5793" y="2813"/>
              <a:ext cx="2407" cy="505"/>
              <a:chOff x="5718" y="8788"/>
              <a:chExt cx="2407" cy="505"/>
            </a:xfrm>
          </p:grpSpPr>
          <p:sp>
            <p:nvSpPr>
              <p:cNvPr id="99" name="文本框 8"/>
              <p:cNvSpPr txBox="1"/>
              <p:nvPr/>
            </p:nvSpPr>
            <p:spPr>
              <a:xfrm>
                <a:off x="7141" y="8788"/>
                <a:ext cx="984" cy="505"/>
              </a:xfrm>
              <a:prstGeom prst="rect">
                <a:avLst/>
              </a:prstGeom>
              <a:noFill/>
            </p:spPr>
            <p:txBody>
              <a:bodyPr wrap="square" lIns="91436" tIns="45718" rIns="91436" bIns="45718" rtlCol="0">
                <a:spAutoFit/>
              </a:bodyPr>
              <a:p>
                <a:r>
                  <a:rPr lang="zh-CN" altLang="en-US" sz="1500" b="1" dirty="0">
                    <a:latin typeface="微软雅黑" panose="020B0503020204020204" pitchFamily="34" charset="-122"/>
                    <a:ea typeface="微软雅黑" panose="020B0503020204020204" pitchFamily="34" charset="-122"/>
                  </a:rPr>
                  <a:t>天面</a:t>
                </a:r>
                <a:endParaRPr lang="zh-CN" altLang="en-US" sz="1500" b="1" dirty="0">
                  <a:latin typeface="微软雅黑" panose="020B0503020204020204" pitchFamily="34" charset="-122"/>
                  <a:ea typeface="微软雅黑" panose="020B0503020204020204" pitchFamily="34" charset="-122"/>
                </a:endParaRPr>
              </a:p>
            </p:txBody>
          </p:sp>
          <p:cxnSp>
            <p:nvCxnSpPr>
              <p:cNvPr id="100" name="直接连接符 99"/>
              <p:cNvCxnSpPr/>
              <p:nvPr/>
            </p:nvCxnSpPr>
            <p:spPr>
              <a:xfrm>
                <a:off x="5718" y="9043"/>
                <a:ext cx="1423"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6" name="矩形 5"/>
          <p:cNvSpPr>
            <a:spLocks noChangeArrowheads="1"/>
          </p:cNvSpPr>
          <p:nvPr/>
        </p:nvSpPr>
        <p:spPr bwMode="auto">
          <a:xfrm>
            <a:off x="0" y="144008"/>
            <a:ext cx="4017183"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组团公寓产品信息</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7" name="矩形 5"/>
          <p:cNvSpPr>
            <a:spLocks noChangeArrowheads="1"/>
          </p:cNvSpPr>
          <p:nvPr/>
        </p:nvSpPr>
        <p:spPr bwMode="auto">
          <a:xfrm>
            <a:off x="179390" y="677692"/>
            <a:ext cx="113014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80" tIns="45694" rIns="91380" bIns="45694">
            <a:spAutoFit/>
          </a:bodyPr>
          <a:lstStyle>
            <a:lvl1pPr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tx1"/>
                </a:solidFill>
                <a:latin typeface="Arial" panose="020B0604020202020204" pitchFamily="34" charset="0"/>
                <a:ea typeface="微软雅黑" panose="020B0503020204020204" pitchFamily="34" charset="-122"/>
              </a:defRPr>
            </a:lvl2pPr>
            <a:lvl3pPr marL="1143000" indent="-228600" eaLnBrk="0" hangingPunct="0">
              <a:spcBef>
                <a:spcPct val="20000"/>
              </a:spcBef>
              <a:buChar char="•"/>
              <a:defRPr sz="2400">
                <a:solidFill>
                  <a:schemeClr val="tx1"/>
                </a:solidFill>
                <a:latin typeface="Arial" panose="020B0604020202020204" pitchFamily="34" charset="0"/>
                <a:ea typeface="微软雅黑" panose="020B0503020204020204" pitchFamily="34" charset="-122"/>
              </a:defRPr>
            </a:lvl3pPr>
            <a:lvl4pPr marL="16002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4pPr>
            <a:lvl5pPr marL="2057400" indent="-228600" eaLnBrk="0" hangingPunct="0">
              <a:spcBef>
                <a:spcPct val="20000"/>
              </a:spcBef>
              <a:buChar char="»"/>
              <a:defRPr sz="16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Arial" panose="020B0604020202020204" pitchFamily="34" charset="0"/>
                <a:ea typeface="微软雅黑" panose="020B0503020204020204" pitchFamily="34" charset="-122"/>
              </a:defRPr>
            </a:lvl9pPr>
          </a:lstStyle>
          <a:p>
            <a:pPr indent="457200" eaLnBrk="1" fontAlgn="auto" hangingPunct="1">
              <a:lnSpc>
                <a:spcPct val="150000"/>
              </a:lnSpc>
              <a:spcBef>
                <a:spcPts val="0"/>
              </a:spcBef>
              <a:buFont typeface="Arial" panose="020B0604020202020204" pitchFamily="34" charset="0"/>
              <a:buNone/>
            </a:pPr>
            <a:r>
              <a:rPr lang="en-US" altLang="zh-CN" sz="1800" b="1" dirty="0">
                <a:solidFill>
                  <a:srgbClr val="C00000"/>
                </a:solidFill>
                <a:latin typeface="微软雅黑" panose="020B0503020204020204" pitchFamily="34" charset="-122"/>
                <a:sym typeface="微软雅黑" panose="020B0503020204020204" pitchFamily="34" charset="-122"/>
              </a:rPr>
              <a:t>F3</a:t>
            </a:r>
            <a:r>
              <a:rPr lang="zh-CN" altLang="en-US" sz="1800" b="1" dirty="0">
                <a:solidFill>
                  <a:srgbClr val="C00000"/>
                </a:solidFill>
                <a:latin typeface="微软雅黑" panose="020B0503020204020204" pitchFamily="34" charset="-122"/>
                <a:sym typeface="微软雅黑" panose="020B0503020204020204" pitchFamily="34" charset="-122"/>
              </a:rPr>
              <a:t>组团写字楼共约</a:t>
            </a:r>
            <a:r>
              <a:rPr lang="en-US" altLang="zh-CN" sz="1800" b="1" dirty="0">
                <a:solidFill>
                  <a:srgbClr val="C00000"/>
                </a:solidFill>
                <a:latin typeface="微软雅黑" panose="020B0503020204020204" pitchFamily="34" charset="-122"/>
                <a:sym typeface="微软雅黑" panose="020B0503020204020204" pitchFamily="34" charset="-122"/>
              </a:rPr>
              <a:t>10.5</a:t>
            </a:r>
            <a:r>
              <a:rPr lang="zh-CN" altLang="en-US" sz="1800" b="1" dirty="0">
                <a:solidFill>
                  <a:srgbClr val="C00000"/>
                </a:solidFill>
                <a:latin typeface="微软雅黑" panose="020B0503020204020204" pitchFamily="34" charset="-122"/>
                <a:sym typeface="微软雅黑" panose="020B0503020204020204" pitchFamily="34" charset="-122"/>
              </a:rPr>
              <a:t>万㎡，</a:t>
            </a:r>
            <a:r>
              <a:rPr lang="en-US" altLang="zh-CN" sz="1800" b="1" dirty="0">
                <a:solidFill>
                  <a:srgbClr val="C00000"/>
                </a:solidFill>
                <a:latin typeface="微软雅黑" panose="020B0503020204020204" pitchFamily="34" charset="-122"/>
                <a:sym typeface="微软雅黑" panose="020B0503020204020204" pitchFamily="34" charset="-122"/>
              </a:rPr>
              <a:t>53</a:t>
            </a:r>
            <a:r>
              <a:rPr lang="zh-CN" altLang="en-US" sz="1800" b="1" dirty="0">
                <a:solidFill>
                  <a:srgbClr val="C00000"/>
                </a:solidFill>
                <a:latin typeface="微软雅黑" panose="020B0503020204020204" pitchFamily="34" charset="-122"/>
                <a:sym typeface="微软雅黑" panose="020B0503020204020204" pitchFamily="34" charset="-122"/>
              </a:rPr>
              <a:t>层，</a:t>
            </a:r>
            <a:r>
              <a:rPr lang="en-US" altLang="zh-CN" sz="1800" b="1" dirty="0">
                <a:solidFill>
                  <a:srgbClr val="C00000"/>
                </a:solidFill>
                <a:latin typeface="微软雅黑" panose="020B0503020204020204" pitchFamily="34" charset="-122"/>
                <a:sym typeface="微软雅黑" panose="020B0503020204020204" pitchFamily="34" charset="-122"/>
              </a:rPr>
              <a:t>384</a:t>
            </a:r>
            <a:r>
              <a:rPr lang="zh-CN" altLang="en-US" sz="1800" b="1" dirty="0">
                <a:solidFill>
                  <a:srgbClr val="C00000"/>
                </a:solidFill>
                <a:latin typeface="微软雅黑" panose="020B0503020204020204" pitchFamily="34" charset="-122"/>
                <a:sym typeface="微软雅黑" panose="020B0503020204020204" pitchFamily="34" charset="-122"/>
              </a:rPr>
              <a:t>套；每层均有办公</a:t>
            </a:r>
            <a:r>
              <a:rPr lang="en-US" altLang="zh-CN" sz="1800" b="1" dirty="0">
                <a:solidFill>
                  <a:srgbClr val="C00000"/>
                </a:solidFill>
                <a:latin typeface="微软雅黑" panose="020B0503020204020204" pitchFamily="34" charset="-122"/>
                <a:sym typeface="微软雅黑" panose="020B0503020204020204" pitchFamily="34" charset="-122"/>
              </a:rPr>
              <a:t>8</a:t>
            </a:r>
            <a:r>
              <a:rPr lang="zh-CN" altLang="en-US" sz="1800" b="1" dirty="0">
                <a:solidFill>
                  <a:srgbClr val="C00000"/>
                </a:solidFill>
                <a:latin typeface="微软雅黑" panose="020B0503020204020204" pitchFamily="34" charset="-122"/>
                <a:sym typeface="微软雅黑" panose="020B0503020204020204" pitchFamily="34" charset="-122"/>
              </a:rPr>
              <a:t>套，单层建筑面积约</a:t>
            </a:r>
            <a:r>
              <a:rPr lang="en-US" altLang="zh-CN" sz="1800" b="1" dirty="0">
                <a:solidFill>
                  <a:srgbClr val="C00000"/>
                </a:solidFill>
                <a:latin typeface="微软雅黑" panose="020B0503020204020204" pitchFamily="34" charset="-122"/>
                <a:sym typeface="微软雅黑" panose="020B0503020204020204" pitchFamily="34" charset="-122"/>
              </a:rPr>
              <a:t>2114.37-2233.62</a:t>
            </a:r>
            <a:r>
              <a:rPr lang="zh-CN" altLang="en-US" sz="1800" b="1" dirty="0">
                <a:solidFill>
                  <a:srgbClr val="C00000"/>
                </a:solidFill>
                <a:latin typeface="微软雅黑" panose="020B0503020204020204" pitchFamily="34" charset="-122"/>
                <a:sym typeface="微软雅黑" panose="020B0503020204020204" pitchFamily="34" charset="-122"/>
              </a:rPr>
              <a:t>㎡；</a:t>
            </a:r>
            <a:r>
              <a:rPr lang="en-US" altLang="zh-CN" sz="1800" b="1" dirty="0">
                <a:solidFill>
                  <a:srgbClr val="C00000"/>
                </a:solidFill>
                <a:latin typeface="微软雅黑" panose="020B0503020204020204" pitchFamily="34" charset="-122"/>
                <a:sym typeface="微软雅黑" panose="020B0503020204020204" pitchFamily="34" charset="-122"/>
              </a:rPr>
              <a:t>2-17</a:t>
            </a:r>
            <a:r>
              <a:rPr lang="zh-CN" altLang="en-US" sz="1800" b="1" dirty="0">
                <a:solidFill>
                  <a:srgbClr val="C00000"/>
                </a:solidFill>
                <a:latin typeface="微软雅黑" panose="020B0503020204020204" pitchFamily="34" charset="-122"/>
                <a:sym typeface="微软雅黑" panose="020B0503020204020204" pitchFamily="34" charset="-122"/>
              </a:rPr>
              <a:t>层为低区办公、</a:t>
            </a:r>
            <a:r>
              <a:rPr lang="en-US" altLang="zh-CN" sz="1800" b="1" dirty="0">
                <a:solidFill>
                  <a:srgbClr val="C00000"/>
                </a:solidFill>
                <a:latin typeface="微软雅黑" panose="020B0503020204020204" pitchFamily="34" charset="-122"/>
                <a:sym typeface="微软雅黑" panose="020B0503020204020204" pitchFamily="34" charset="-122"/>
              </a:rPr>
              <a:t>18-33</a:t>
            </a:r>
            <a:r>
              <a:rPr lang="zh-CN" altLang="en-US" sz="1800" b="1" dirty="0">
                <a:solidFill>
                  <a:srgbClr val="C00000"/>
                </a:solidFill>
                <a:latin typeface="微软雅黑" panose="020B0503020204020204" pitchFamily="34" charset="-122"/>
                <a:sym typeface="微软雅黑" panose="020B0503020204020204" pitchFamily="34" charset="-122"/>
              </a:rPr>
              <a:t>层为中区办公、</a:t>
            </a:r>
            <a:r>
              <a:rPr lang="en-US" altLang="zh-CN" sz="1800" b="1" dirty="0">
                <a:solidFill>
                  <a:srgbClr val="C00000"/>
                </a:solidFill>
                <a:latin typeface="微软雅黑" panose="020B0503020204020204" pitchFamily="34" charset="-122"/>
                <a:sym typeface="微软雅黑" panose="020B0503020204020204" pitchFamily="34" charset="-122"/>
              </a:rPr>
              <a:t>34-53</a:t>
            </a:r>
            <a:r>
              <a:rPr lang="zh-CN" altLang="en-US" sz="1800" b="1" dirty="0">
                <a:solidFill>
                  <a:srgbClr val="C00000"/>
                </a:solidFill>
                <a:latin typeface="微软雅黑" panose="020B0503020204020204" pitchFamily="34" charset="-122"/>
                <a:sym typeface="微软雅黑" panose="020B0503020204020204" pitchFamily="34" charset="-122"/>
              </a:rPr>
              <a:t>层为高区</a:t>
            </a:r>
            <a:r>
              <a:rPr lang="zh-CN" altLang="en-US" sz="1800" b="1" dirty="0">
                <a:solidFill>
                  <a:srgbClr val="C00000"/>
                </a:solidFill>
                <a:latin typeface="微软雅黑" panose="020B0503020204020204" pitchFamily="34" charset="-122"/>
                <a:sym typeface="微软雅黑" panose="020B0503020204020204" pitchFamily="34" charset="-122"/>
              </a:rPr>
              <a:t>办公。</a:t>
            </a:r>
            <a:endParaRPr lang="zh-CN" altLang="en-US" sz="1800" b="1" dirty="0">
              <a:solidFill>
                <a:srgbClr val="C00000"/>
              </a:solidFill>
              <a:latin typeface="微软雅黑" panose="020B0503020204020204" pitchFamily="34" charset="-122"/>
              <a:sym typeface="微软雅黑" panose="020B0503020204020204" pitchFamily="34" charset="-122"/>
            </a:endParaRPr>
          </a:p>
        </p:txBody>
      </p:sp>
      <p:sp>
        <p:nvSpPr>
          <p:cNvPr id="8" name="TextBox 1"/>
          <p:cNvSpPr txBox="1"/>
          <p:nvPr/>
        </p:nvSpPr>
        <p:spPr>
          <a:xfrm>
            <a:off x="2895600" y="6399153"/>
            <a:ext cx="6400800" cy="369328"/>
          </a:xfrm>
          <a:prstGeom prst="rect">
            <a:avLst/>
          </a:prstGeom>
          <a:noFill/>
        </p:spPr>
        <p:txBody>
          <a:bodyPr wrap="square" lIns="91436" tIns="45718" rIns="91436" bIns="45718" rtlCol="0">
            <a:spAutoFit/>
          </a:bodyPr>
          <a:lstStyle/>
          <a:p>
            <a:r>
              <a:rPr lang="zh-CN" altLang="en-US" sz="1800" b="1" dirty="0">
                <a:solidFill>
                  <a:srgbClr val="C00000"/>
                </a:solidFill>
                <a:latin typeface="微软雅黑" panose="020B0503020204020204" pitchFamily="34" charset="-122"/>
                <a:ea typeface="微软雅黑" panose="020B0503020204020204" pitchFamily="34" charset="-122"/>
              </a:rPr>
              <a:t>面积数据来源于预测绘，最终以商品房买卖合同为准</a:t>
            </a:r>
            <a:endParaRPr lang="zh-CN" altLang="en-US" sz="1800" b="1" dirty="0">
              <a:solidFill>
                <a:srgbClr val="C0000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128905" y="1621895"/>
          <a:ext cx="5778500" cy="4758690"/>
        </p:xfrm>
        <a:graphic>
          <a:graphicData uri="http://schemas.openxmlformats.org/drawingml/2006/table">
            <a:tbl>
              <a:tblPr firstRow="1" bandRow="1">
                <a:tableStyleId>{5C22544A-7EE6-4342-B048-85BDC9FD1C3A}</a:tableStyleId>
              </a:tblPr>
              <a:tblGrid>
                <a:gridCol w="601345"/>
                <a:gridCol w="968375"/>
                <a:gridCol w="911225"/>
                <a:gridCol w="748030"/>
                <a:gridCol w="642620"/>
                <a:gridCol w="1906905"/>
              </a:tblGrid>
              <a:tr h="438150">
                <a:tc gridSpan="6">
                  <a:txBody>
                    <a:bodyPr/>
                    <a:p>
                      <a:pPr indent="0" algn="ctr">
                        <a:buNone/>
                      </a:pPr>
                      <a:r>
                        <a:rPr lang="zh-CN" sz="1600" b="1">
                          <a:solidFill>
                            <a:srgbClr val="FFFFFF"/>
                          </a:solidFill>
                          <a:latin typeface="Arial" panose="020B0604020202020204" pitchFamily="34" charset="0"/>
                          <a:ea typeface="微软雅黑" panose="020B0503020204020204" pitchFamily="34" charset="-122"/>
                        </a:rPr>
                        <a:t>F3组团写字楼信息统计</a:t>
                      </a:r>
                      <a:endParaRPr lang="en-US" altLang="en-US" sz="1600" b="1">
                        <a:solidFill>
                          <a:srgbClr val="FFFFFF"/>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144D73"/>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614045">
                <a:tc>
                  <a:txBody>
                    <a:bodyPr/>
                    <a:p>
                      <a:pPr indent="0" algn="ctr">
                        <a:buNone/>
                      </a:pPr>
                      <a:r>
                        <a:rPr lang="zh-CN" sz="1200" b="1">
                          <a:solidFill>
                            <a:srgbClr val="144D73"/>
                          </a:solidFill>
                          <a:latin typeface="Arial" panose="020B0604020202020204" pitchFamily="34" charset="0"/>
                          <a:ea typeface="微软雅黑" panose="020B0503020204020204" pitchFamily="34" charset="-122"/>
                        </a:rPr>
                        <a:t>楼栋</a:t>
                      </a:r>
                      <a:endParaRPr lang="en-US" altLang="en-US" sz="1200" b="1">
                        <a:solidFill>
                          <a:srgbClr val="144D73"/>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200" b="1">
                          <a:solidFill>
                            <a:srgbClr val="144D73"/>
                          </a:solidFill>
                          <a:latin typeface="Arial" panose="020B0604020202020204" pitchFamily="34" charset="0"/>
                          <a:ea typeface="微软雅黑" panose="020B0503020204020204" pitchFamily="34" charset="-122"/>
                        </a:rPr>
                        <a:t>分层性质</a:t>
                      </a:r>
                      <a:endParaRPr lang="en-US" altLang="en-US" sz="1200" b="1">
                        <a:solidFill>
                          <a:srgbClr val="144D73"/>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200" b="1">
                          <a:solidFill>
                            <a:srgbClr val="144D73"/>
                          </a:solidFill>
                          <a:latin typeface="Arial" panose="020B0604020202020204" pitchFamily="34" charset="0"/>
                          <a:ea typeface="微软雅黑" panose="020B0503020204020204" pitchFamily="34" charset="-122"/>
                        </a:rPr>
                        <a:t>建筑面积</a:t>
                      </a:r>
                      <a:endParaRPr lang="zh-CN" sz="1200" b="1">
                        <a:solidFill>
                          <a:srgbClr val="144D73"/>
                        </a:solidFill>
                        <a:latin typeface="Arial" panose="020B0604020202020204" pitchFamily="34" charset="0"/>
                        <a:ea typeface="微软雅黑" panose="020B0503020204020204" pitchFamily="34" charset="-122"/>
                      </a:endParaRPr>
                    </a:p>
                    <a:p>
                      <a:pPr indent="0" algn="ctr">
                        <a:buNone/>
                      </a:pPr>
                      <a:r>
                        <a:rPr lang="zh-CN" sz="1200" b="1">
                          <a:solidFill>
                            <a:srgbClr val="144D73"/>
                          </a:solidFill>
                          <a:latin typeface="Arial" panose="020B0604020202020204" pitchFamily="34" charset="0"/>
                          <a:ea typeface="微软雅黑" panose="020B0503020204020204" pitchFamily="34" charset="-122"/>
                        </a:rPr>
                        <a:t>（㎡）</a:t>
                      </a:r>
                      <a:endParaRPr lang="en-US" altLang="en-US" sz="1200" b="1">
                        <a:solidFill>
                          <a:srgbClr val="144D73"/>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200" b="1">
                          <a:solidFill>
                            <a:srgbClr val="144D73"/>
                          </a:solidFill>
                          <a:latin typeface="Arial" panose="020B0604020202020204" pitchFamily="34" charset="0"/>
                          <a:ea typeface="微软雅黑" panose="020B0503020204020204" pitchFamily="34" charset="-122"/>
                        </a:rPr>
                        <a:t>层高</a:t>
                      </a:r>
                      <a:endParaRPr lang="zh-CN" sz="1200" b="1">
                        <a:solidFill>
                          <a:srgbClr val="144D73"/>
                        </a:solidFill>
                        <a:latin typeface="Arial" panose="020B0604020202020204" pitchFamily="34" charset="0"/>
                        <a:ea typeface="微软雅黑" panose="020B0503020204020204" pitchFamily="34" charset="-122"/>
                      </a:endParaRPr>
                    </a:p>
                    <a:p>
                      <a:pPr indent="0" algn="ctr">
                        <a:buNone/>
                      </a:pPr>
                      <a:r>
                        <a:rPr lang="zh-CN" sz="1200" b="1">
                          <a:solidFill>
                            <a:srgbClr val="144D73"/>
                          </a:solidFill>
                          <a:latin typeface="Arial" panose="020B0604020202020204" pitchFamily="34" charset="0"/>
                          <a:ea typeface="微软雅黑" panose="020B0503020204020204" pitchFamily="34" charset="-122"/>
                        </a:rPr>
                        <a:t>（m）</a:t>
                      </a:r>
                      <a:endParaRPr lang="en-US" altLang="en-US" sz="1200" b="1">
                        <a:solidFill>
                          <a:srgbClr val="144D73"/>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200" b="1">
                          <a:solidFill>
                            <a:srgbClr val="144D73"/>
                          </a:solidFill>
                          <a:latin typeface="Arial" panose="020B0604020202020204" pitchFamily="34" charset="0"/>
                          <a:ea typeface="微软雅黑" panose="020B0503020204020204" pitchFamily="34" charset="-122"/>
                        </a:rPr>
                        <a:t>套数</a:t>
                      </a:r>
                      <a:endParaRPr lang="en-US" altLang="en-US" sz="1200" b="1">
                        <a:solidFill>
                          <a:srgbClr val="144D73"/>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200" b="1">
                          <a:solidFill>
                            <a:srgbClr val="144D73"/>
                          </a:solidFill>
                          <a:latin typeface="Arial" panose="020B0604020202020204" pitchFamily="34" charset="0"/>
                          <a:ea typeface="微软雅黑" panose="020B0503020204020204" pitchFamily="34" charset="-122"/>
                        </a:rPr>
                        <a:t>楼层规划用途</a:t>
                      </a:r>
                      <a:endParaRPr lang="en-US" altLang="en-US" sz="1200" b="1">
                        <a:solidFill>
                          <a:srgbClr val="144D73"/>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773430">
                <a:tc rowSpan="4">
                  <a:txBody>
                    <a:bodyPr/>
                    <a:p>
                      <a:pPr indent="0" algn="ctr">
                        <a:buNone/>
                      </a:pPr>
                      <a:r>
                        <a:rPr lang="zh-CN" sz="1100" b="0">
                          <a:solidFill>
                            <a:srgbClr val="404040"/>
                          </a:solidFill>
                          <a:latin typeface="Arial" panose="020B0604020202020204" pitchFamily="34" charset="0"/>
                          <a:ea typeface="微软雅黑" panose="020B0503020204020204" pitchFamily="34" charset="-122"/>
                        </a:rPr>
                        <a:t>T1栋写字楼</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低区办公</a:t>
                      </a:r>
                      <a:endParaRPr lang="zh-CN" sz="1100" b="0">
                        <a:solidFill>
                          <a:srgbClr val="404040"/>
                        </a:solidFill>
                        <a:latin typeface="Arial" panose="020B0604020202020204" pitchFamily="34" charset="0"/>
                        <a:ea typeface="微软雅黑" panose="020B0503020204020204" pitchFamily="34" charset="-122"/>
                      </a:endParaRPr>
                    </a:p>
                    <a:p>
                      <a:pPr indent="0" algn="ctr">
                        <a:buNone/>
                      </a:pPr>
                      <a:r>
                        <a:rPr lang="zh-CN" sz="1100" b="0">
                          <a:solidFill>
                            <a:srgbClr val="404040"/>
                          </a:solidFill>
                          <a:latin typeface="Arial" panose="020B0604020202020204" pitchFamily="34" charset="0"/>
                          <a:ea typeface="微软雅黑" panose="020B0503020204020204" pitchFamily="34" charset="-122"/>
                        </a:rPr>
                        <a:t>（2-17F）</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31963.19</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4.5</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120</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低区办公（楼层面积区间2114.37-2150.67㎡）</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77279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中区办公</a:t>
                      </a:r>
                      <a:endParaRPr lang="zh-CN" sz="1100" b="0">
                        <a:solidFill>
                          <a:srgbClr val="404040"/>
                        </a:solidFill>
                        <a:latin typeface="Arial" panose="020B0604020202020204" pitchFamily="34" charset="0"/>
                        <a:ea typeface="微软雅黑" panose="020B0503020204020204" pitchFamily="34" charset="-122"/>
                      </a:endParaRPr>
                    </a:p>
                    <a:p>
                      <a:pPr indent="0" algn="ctr">
                        <a:buNone/>
                      </a:pPr>
                      <a:r>
                        <a:rPr lang="zh-CN" sz="1100" b="0">
                          <a:solidFill>
                            <a:srgbClr val="404040"/>
                          </a:solidFill>
                          <a:latin typeface="Arial" panose="020B0604020202020204" pitchFamily="34" charset="0"/>
                          <a:ea typeface="微软雅黑" panose="020B0503020204020204" pitchFamily="34" charset="-122"/>
                        </a:rPr>
                        <a:t>（18-33F）</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30963.22</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4.5</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112</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中区办公（楼层面积区间2204.3-2233.62㎡）</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77279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高区办公</a:t>
                      </a:r>
                      <a:endParaRPr lang="zh-CN" sz="1100" b="0">
                        <a:solidFill>
                          <a:srgbClr val="404040"/>
                        </a:solidFill>
                        <a:latin typeface="Arial" panose="020B0604020202020204" pitchFamily="34" charset="0"/>
                        <a:ea typeface="微软雅黑" panose="020B0503020204020204" pitchFamily="34" charset="-122"/>
                      </a:endParaRPr>
                    </a:p>
                    <a:p>
                      <a:pPr indent="0" algn="ctr">
                        <a:buNone/>
                      </a:pPr>
                      <a:r>
                        <a:rPr lang="zh-CN" sz="1100" b="0">
                          <a:solidFill>
                            <a:srgbClr val="404040"/>
                          </a:solidFill>
                          <a:latin typeface="Arial" panose="020B0604020202020204" pitchFamily="34" charset="0"/>
                          <a:ea typeface="微软雅黑" panose="020B0503020204020204" pitchFamily="34" charset="-122"/>
                        </a:rPr>
                        <a:t>（34-53F）</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42389.76</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4.5</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152</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高区办公（楼层面积均为2231.04㎡）</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77279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车库</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1497个</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100" b="0">
                          <a:solidFill>
                            <a:srgbClr val="404040"/>
                          </a:solidFill>
                          <a:latin typeface="Arial" panose="020B0604020202020204" pitchFamily="34" charset="0"/>
                          <a:ea typeface="微软雅黑" panose="020B0503020204020204" pitchFamily="34" charset="-122"/>
                        </a:rPr>
                        <a:t>车位为F3组团公寓、写字楼及商业共用</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614680">
                <a:tc gridSpan="6">
                  <a:txBody>
                    <a:bodyPr/>
                    <a:p>
                      <a:pPr indent="0" algn="ctr">
                        <a:buNone/>
                      </a:pPr>
                      <a:r>
                        <a:rPr lang="zh-CN" sz="1200" b="1">
                          <a:solidFill>
                            <a:srgbClr val="C00000"/>
                          </a:solidFill>
                          <a:latin typeface="Arial" panose="020B0604020202020204" pitchFamily="34" charset="0"/>
                          <a:ea typeface="微软雅黑" panose="020B0503020204020204" pitchFamily="34" charset="-122"/>
                        </a:rPr>
                        <a:t>T1栋写字楼总计容建筑面积：105316.17㎡；其中低区办公：31963.19㎡；中区办公：30963.22㎡；高区办公：42389.76㎡；配备18台电梯，车位1497个。</a:t>
                      </a:r>
                      <a:endParaRPr lang="en-US" altLang="en-US" sz="1200" b="1">
                        <a:solidFill>
                          <a:srgbClr val="C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bl>
          </a:graphicData>
        </a:graphic>
      </p:graphicFrame>
      <p:graphicFrame>
        <p:nvGraphicFramePr>
          <p:cNvPr id="12" name="表格 11"/>
          <p:cNvGraphicFramePr/>
          <p:nvPr>
            <p:custDataLst>
              <p:tags r:id="rId2"/>
            </p:custDataLst>
          </p:nvPr>
        </p:nvGraphicFramePr>
        <p:xfrm>
          <a:off x="6013132" y="1626235"/>
          <a:ext cx="5972175" cy="4744720"/>
        </p:xfrm>
        <a:graphic>
          <a:graphicData uri="http://schemas.openxmlformats.org/drawingml/2006/table">
            <a:tbl>
              <a:tblPr firstRow="1" bandRow="1">
                <a:tableStyleId>{5C22544A-7EE6-4342-B048-85BDC9FD1C3A}</a:tableStyleId>
              </a:tblPr>
              <a:tblGrid>
                <a:gridCol w="1203960"/>
                <a:gridCol w="2382520"/>
                <a:gridCol w="2385695"/>
              </a:tblGrid>
              <a:tr h="594995">
                <a:tc gridSpan="3">
                  <a:txBody>
                    <a:bodyPr/>
                    <a:p>
                      <a:pPr indent="0" algn="ctr">
                        <a:buNone/>
                      </a:pPr>
                      <a:r>
                        <a:rPr lang="zh-CN" sz="1600" b="1">
                          <a:solidFill>
                            <a:srgbClr val="FFFFFF"/>
                          </a:solidFill>
                          <a:latin typeface="Arial" panose="020B0604020202020204" pitchFamily="34" charset="0"/>
                          <a:ea typeface="微软雅黑" panose="020B0503020204020204" pitchFamily="34" charset="-122"/>
                        </a:rPr>
                        <a:t>F3组团写字楼产品信息</a:t>
                      </a:r>
                      <a:endParaRPr lang="en-US" altLang="en-US" sz="1600" b="1">
                        <a:solidFill>
                          <a:srgbClr val="FFFFFF"/>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B0F0"/>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471170">
                <a:tc rowSpan="4">
                  <a:txBody>
                    <a:bodyPr/>
                    <a:p>
                      <a:pPr indent="0" algn="ctr">
                        <a:buNone/>
                      </a:pPr>
                      <a:r>
                        <a:rPr lang="zh-CN" sz="1200" b="1">
                          <a:solidFill>
                            <a:srgbClr val="000000"/>
                          </a:solidFill>
                          <a:latin typeface="Arial" panose="020B0604020202020204" pitchFamily="34" charset="0"/>
                          <a:ea typeface="微软雅黑" panose="020B0503020204020204" pitchFamily="34" charset="-122"/>
                        </a:rPr>
                        <a:t>公寓</a:t>
                      </a:r>
                      <a:endParaRPr lang="en-US" altLang="en-US" sz="1200" b="1">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200" b="1">
                          <a:solidFill>
                            <a:srgbClr val="000000"/>
                          </a:solidFill>
                          <a:latin typeface="Arial" panose="020B0604020202020204" pitchFamily="34" charset="0"/>
                          <a:ea typeface="微软雅黑" panose="020B0503020204020204" pitchFamily="34" charset="-122"/>
                        </a:rPr>
                        <a:t>面积区间（㎡）</a:t>
                      </a:r>
                      <a:endParaRPr lang="en-US" altLang="en-US" sz="1200" b="1">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zh-CN" sz="1200" b="1">
                          <a:solidFill>
                            <a:srgbClr val="000000"/>
                          </a:solidFill>
                          <a:latin typeface="Arial" panose="020B0604020202020204" pitchFamily="34" charset="0"/>
                          <a:ea typeface="微软雅黑" panose="020B0503020204020204" pitchFamily="34" charset="-122"/>
                        </a:rPr>
                        <a:t>套数</a:t>
                      </a:r>
                      <a:endParaRPr lang="en-US" altLang="en-US" sz="1200" b="1">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44640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lgn="ctr">
                        <a:buNone/>
                      </a:pPr>
                      <a:r>
                        <a:rPr lang="en-US" sz="1100" b="0">
                          <a:solidFill>
                            <a:srgbClr val="404040"/>
                          </a:solidFill>
                          <a:latin typeface="微软雅黑" panose="020B0503020204020204" pitchFamily="34" charset="-122"/>
                        </a:rPr>
                        <a:t>160-170</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58</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44069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indent="0" algn="ctr">
                        <a:buNone/>
                      </a:pPr>
                      <a:r>
                        <a:rPr lang="en-US" sz="1100" b="0">
                          <a:solidFill>
                            <a:srgbClr val="404040"/>
                          </a:solidFill>
                          <a:latin typeface="微软雅黑" panose="020B0503020204020204" pitchFamily="34" charset="-122"/>
                        </a:rPr>
                        <a:t>170-180</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134</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44132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indent="0" algn="ctr">
                        <a:buNone/>
                      </a:pPr>
                      <a:r>
                        <a:rPr lang="en-US" sz="1100" b="0">
                          <a:solidFill>
                            <a:srgbClr val="404040"/>
                          </a:solidFill>
                          <a:latin typeface="微软雅黑" panose="020B0503020204020204" pitchFamily="34" charset="-122"/>
                        </a:rPr>
                        <a:t>360-380.5</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a:txBody>
                    <a:bodyPr/>
                    <a:p>
                      <a:pPr indent="0" algn="ctr">
                        <a:buNone/>
                      </a:pPr>
                      <a:r>
                        <a:rPr lang="en-US" sz="1100" b="0">
                          <a:solidFill>
                            <a:srgbClr val="404040"/>
                          </a:solidFill>
                          <a:latin typeface="微软雅黑" panose="020B0503020204020204" pitchFamily="34" charset="-122"/>
                        </a:rPr>
                        <a:t>192</a:t>
                      </a:r>
                      <a:endParaRPr lang="en-US" altLang="en-US" sz="11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r>
              <a:tr h="530225">
                <a:tc>
                  <a:txBody>
                    <a:bodyPr/>
                    <a:p>
                      <a:pPr indent="0" algn="ctr">
                        <a:buNone/>
                      </a:pPr>
                      <a:r>
                        <a:rPr lang="zh-CN" sz="1200" b="1">
                          <a:solidFill>
                            <a:srgbClr val="000000"/>
                          </a:solidFill>
                          <a:latin typeface="Arial" panose="020B0604020202020204" pitchFamily="34" charset="0"/>
                          <a:ea typeface="微软雅黑" panose="020B0503020204020204" pitchFamily="34" charset="-122"/>
                        </a:rPr>
                        <a:t>总面积</a:t>
                      </a:r>
                      <a:endParaRPr lang="en-US" altLang="en-US" sz="1200" b="1">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gridSpan="2">
                  <a:txBody>
                    <a:bodyPr/>
                    <a:p>
                      <a:pPr indent="0" algn="ctr">
                        <a:buNone/>
                      </a:pPr>
                      <a:r>
                        <a:rPr lang="zh-CN" sz="1400" b="0">
                          <a:solidFill>
                            <a:srgbClr val="404040"/>
                          </a:solidFill>
                          <a:latin typeface="Arial" panose="020B0604020202020204" pitchFamily="34" charset="0"/>
                          <a:ea typeface="微软雅黑" panose="020B0503020204020204" pitchFamily="34" charset="-122"/>
                        </a:rPr>
                        <a:t>105316.17㎡</a:t>
                      </a:r>
                      <a:endParaRPr lang="en-US" altLang="en-US" sz="14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530860">
                <a:tc>
                  <a:txBody>
                    <a:bodyPr/>
                    <a:p>
                      <a:pPr indent="0" algn="ctr">
                        <a:buNone/>
                      </a:pPr>
                      <a:r>
                        <a:rPr lang="zh-CN" sz="1200" b="1">
                          <a:solidFill>
                            <a:srgbClr val="000000"/>
                          </a:solidFill>
                          <a:latin typeface="Arial" panose="020B0604020202020204" pitchFamily="34" charset="0"/>
                          <a:ea typeface="微软雅黑" panose="020B0503020204020204" pitchFamily="34" charset="-122"/>
                        </a:rPr>
                        <a:t>总套数</a:t>
                      </a:r>
                      <a:endParaRPr lang="en-US" altLang="en-US" sz="1200" b="1">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gridSpan="2">
                  <a:txBody>
                    <a:bodyPr/>
                    <a:p>
                      <a:pPr indent="0" algn="ctr">
                        <a:buNone/>
                      </a:pPr>
                      <a:r>
                        <a:rPr lang="en-US" sz="1400" b="0">
                          <a:solidFill>
                            <a:srgbClr val="404040"/>
                          </a:solidFill>
                          <a:latin typeface="微软雅黑" panose="020B0503020204020204" pitchFamily="34" charset="-122"/>
                        </a:rPr>
                        <a:t>384</a:t>
                      </a:r>
                      <a:endParaRPr lang="en-US" altLang="en-US" sz="1400" b="0">
                        <a:solidFill>
                          <a:srgbClr val="40404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289050">
                <a:tc>
                  <a:txBody>
                    <a:bodyPr/>
                    <a:p>
                      <a:pPr indent="0" algn="ctr">
                        <a:buNone/>
                      </a:pPr>
                      <a:r>
                        <a:rPr lang="zh-CN" sz="1200" b="1">
                          <a:solidFill>
                            <a:srgbClr val="000000"/>
                          </a:solidFill>
                          <a:latin typeface="Arial" panose="020B0604020202020204" pitchFamily="34" charset="0"/>
                          <a:ea typeface="微软雅黑" panose="020B0503020204020204" pitchFamily="34" charset="-122"/>
                        </a:rPr>
                        <a:t>公摊</a:t>
                      </a:r>
                      <a:endParaRPr lang="en-US" altLang="en-US" sz="1200" b="1">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gridSpan="2">
                  <a:txBody>
                    <a:bodyPr/>
                    <a:p>
                      <a:pPr indent="0" algn="ctr">
                        <a:buNone/>
                      </a:pPr>
                      <a:r>
                        <a:rPr lang="zh-CN" sz="1400" b="1">
                          <a:solidFill>
                            <a:srgbClr val="C00000"/>
                          </a:solidFill>
                          <a:latin typeface="Arial" panose="020B0604020202020204" pitchFamily="34" charset="0"/>
                          <a:ea typeface="微软雅黑" panose="020B0503020204020204" pitchFamily="34" charset="-122"/>
                        </a:rPr>
                        <a:t>低区约31%，中、高区约33%</a:t>
                      </a:r>
                      <a:endParaRPr lang="zh-CN" sz="1400" b="1">
                        <a:solidFill>
                          <a:srgbClr val="C00000"/>
                        </a:solidFill>
                        <a:latin typeface="Arial" panose="020B0604020202020204" pitchFamily="34" charset="0"/>
                        <a:ea typeface="微软雅黑" panose="020B0503020204020204" pitchFamily="34" charset="-122"/>
                      </a:endParaRPr>
                    </a:p>
                    <a:p>
                      <a:pPr indent="0" algn="ctr">
                        <a:buNone/>
                      </a:pPr>
                      <a:r>
                        <a:rPr lang="zh-CN" sz="1400" b="1">
                          <a:solidFill>
                            <a:srgbClr val="C00000"/>
                          </a:solidFill>
                          <a:latin typeface="Arial" panose="020B0604020202020204" pitchFamily="34" charset="0"/>
                          <a:ea typeface="微软雅黑" panose="020B0503020204020204" pitchFamily="34" charset="-122"/>
                        </a:rPr>
                        <a:t>注：此处公摊=公摊面积/建筑面积</a:t>
                      </a:r>
                      <a:endParaRPr lang="en-US" altLang="en-US" sz="1400" b="1">
                        <a:solidFill>
                          <a:srgbClr val="C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FFFFF"/>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5" name="矩形 4"/>
          <p:cNvSpPr>
            <a:spLocks noChangeArrowheads="1"/>
          </p:cNvSpPr>
          <p:nvPr/>
        </p:nvSpPr>
        <p:spPr bwMode="auto">
          <a:xfrm>
            <a:off x="0" y="0"/>
            <a:ext cx="4105910" cy="533400"/>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组团写字楼标准层平面</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图</a:t>
            </a:r>
            <a:endPar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5" name="组合 24"/>
          <p:cNvGrpSpPr/>
          <p:nvPr/>
        </p:nvGrpSpPr>
        <p:grpSpPr>
          <a:xfrm>
            <a:off x="2877820" y="1136015"/>
            <a:ext cx="6052185" cy="5633720"/>
            <a:chOff x="4532" y="1046"/>
            <a:chExt cx="9020" cy="8542"/>
          </a:xfrm>
        </p:grpSpPr>
        <p:pic>
          <p:nvPicPr>
            <p:cNvPr id="2" name="图片 1" descr="111"/>
            <p:cNvPicPr>
              <a:picLocks noChangeAspect="1"/>
            </p:cNvPicPr>
            <p:nvPr/>
          </p:nvPicPr>
          <p:blipFill>
            <a:blip r:embed="rId1"/>
            <a:srcRect l="8213" r="7314"/>
            <a:stretch>
              <a:fillRect/>
            </a:stretch>
          </p:blipFill>
          <p:spPr>
            <a:xfrm>
              <a:off x="4532" y="1046"/>
              <a:ext cx="9020" cy="8542"/>
            </a:xfrm>
            <a:prstGeom prst="rect">
              <a:avLst/>
            </a:prstGeom>
          </p:spPr>
        </p:pic>
        <p:sp>
          <p:nvSpPr>
            <p:cNvPr id="3" name="任意多边形 2"/>
            <p:cNvSpPr/>
            <p:nvPr/>
          </p:nvSpPr>
          <p:spPr>
            <a:xfrm>
              <a:off x="8037" y="1534"/>
              <a:ext cx="2014" cy="1604"/>
            </a:xfrm>
            <a:custGeom>
              <a:avLst/>
              <a:gdLst>
                <a:gd name="connisteX0" fmla="*/ 0 w 1278890"/>
                <a:gd name="connsiteY0" fmla="*/ 1018540 h 1018540"/>
                <a:gd name="connisteX1" fmla="*/ 1278890 w 1278890"/>
                <a:gd name="connsiteY1" fmla="*/ 1018540 h 1018540"/>
                <a:gd name="connisteX2" fmla="*/ 1270635 w 1278890"/>
                <a:gd name="connsiteY2" fmla="*/ 0 h 1018540"/>
                <a:gd name="connisteX3" fmla="*/ 0 w 1278890"/>
                <a:gd name="connsiteY3" fmla="*/ 17145 h 1018540"/>
                <a:gd name="connisteX4" fmla="*/ 0 w 1278890"/>
                <a:gd name="connsiteY4" fmla="*/ 1018540 h 101854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278890" h="1018540">
                  <a:moveTo>
                    <a:pt x="0" y="1018540"/>
                  </a:moveTo>
                  <a:lnTo>
                    <a:pt x="1278890" y="1018540"/>
                  </a:lnTo>
                  <a:lnTo>
                    <a:pt x="1270635" y="0"/>
                  </a:lnTo>
                  <a:lnTo>
                    <a:pt x="0" y="17145"/>
                  </a:lnTo>
                  <a:lnTo>
                    <a:pt x="0" y="1018540"/>
                  </a:lnTo>
                  <a:close/>
                </a:path>
              </a:pathLst>
            </a:custGeom>
            <a:solidFill>
              <a:schemeClr val="accent2">
                <a:lumMod val="40000"/>
                <a:lumOff val="6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任意多边形 5"/>
            <p:cNvSpPr/>
            <p:nvPr/>
          </p:nvSpPr>
          <p:spPr>
            <a:xfrm>
              <a:off x="8037" y="7551"/>
              <a:ext cx="2028" cy="1576"/>
            </a:xfrm>
            <a:custGeom>
              <a:avLst/>
              <a:gdLst>
                <a:gd name="connisteX0" fmla="*/ 0 w 1287780"/>
                <a:gd name="connsiteY0" fmla="*/ 0 h 1000760"/>
                <a:gd name="connisteX1" fmla="*/ 1287780 w 1287780"/>
                <a:gd name="connsiteY1" fmla="*/ 0 h 1000760"/>
                <a:gd name="connisteX2" fmla="*/ 1278890 w 1287780"/>
                <a:gd name="connsiteY2" fmla="*/ 1000760 h 1000760"/>
                <a:gd name="connisteX3" fmla="*/ 643890 w 1287780"/>
                <a:gd name="connsiteY3" fmla="*/ 974725 h 1000760"/>
                <a:gd name="connisteX4" fmla="*/ 200025 w 1287780"/>
                <a:gd name="connsiteY4" fmla="*/ 974725 h 1000760"/>
                <a:gd name="connisteX5" fmla="*/ 8255 w 1287780"/>
                <a:gd name="connsiteY5" fmla="*/ 991870 h 1000760"/>
                <a:gd name="connisteX6" fmla="*/ 0 w 1287780"/>
                <a:gd name="connsiteY6" fmla="*/ 0 h 100076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1287780" h="1000760">
                  <a:moveTo>
                    <a:pt x="0" y="0"/>
                  </a:moveTo>
                  <a:lnTo>
                    <a:pt x="1287780" y="0"/>
                  </a:lnTo>
                  <a:lnTo>
                    <a:pt x="1278890" y="1000760"/>
                  </a:lnTo>
                  <a:lnTo>
                    <a:pt x="643890" y="974725"/>
                  </a:lnTo>
                  <a:lnTo>
                    <a:pt x="200025" y="974725"/>
                  </a:lnTo>
                  <a:lnTo>
                    <a:pt x="8255" y="991870"/>
                  </a:lnTo>
                  <a:lnTo>
                    <a:pt x="0" y="0"/>
                  </a:lnTo>
                  <a:close/>
                </a:path>
              </a:pathLst>
            </a:custGeom>
            <a:solidFill>
              <a:schemeClr val="accent2">
                <a:lumMod val="40000"/>
                <a:lumOff val="6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任意多边形 6"/>
            <p:cNvSpPr/>
            <p:nvPr/>
          </p:nvSpPr>
          <p:spPr>
            <a:xfrm rot="16200000">
              <a:off x="5035" y="4515"/>
              <a:ext cx="2014" cy="1604"/>
            </a:xfrm>
            <a:custGeom>
              <a:avLst/>
              <a:gdLst>
                <a:gd name="connisteX0" fmla="*/ 0 w 1278890"/>
                <a:gd name="connsiteY0" fmla="*/ 1018540 h 1018540"/>
                <a:gd name="connisteX1" fmla="*/ 1278890 w 1278890"/>
                <a:gd name="connsiteY1" fmla="*/ 1018540 h 1018540"/>
                <a:gd name="connisteX2" fmla="*/ 1270635 w 1278890"/>
                <a:gd name="connsiteY2" fmla="*/ 0 h 1018540"/>
                <a:gd name="connisteX3" fmla="*/ 0 w 1278890"/>
                <a:gd name="connsiteY3" fmla="*/ 17145 h 1018540"/>
                <a:gd name="connisteX4" fmla="*/ 0 w 1278890"/>
                <a:gd name="connsiteY4" fmla="*/ 1018540 h 101854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278890" h="1018540">
                  <a:moveTo>
                    <a:pt x="0" y="1018540"/>
                  </a:moveTo>
                  <a:lnTo>
                    <a:pt x="1278890" y="1018540"/>
                  </a:lnTo>
                  <a:lnTo>
                    <a:pt x="1270635" y="0"/>
                  </a:lnTo>
                  <a:lnTo>
                    <a:pt x="0" y="17145"/>
                  </a:lnTo>
                  <a:lnTo>
                    <a:pt x="0" y="1018540"/>
                  </a:lnTo>
                  <a:close/>
                </a:path>
              </a:pathLst>
            </a:custGeom>
            <a:solidFill>
              <a:schemeClr val="accent2">
                <a:lumMod val="40000"/>
                <a:lumOff val="6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任意多边形 7"/>
            <p:cNvSpPr/>
            <p:nvPr/>
          </p:nvSpPr>
          <p:spPr>
            <a:xfrm rot="16200000">
              <a:off x="11065" y="4515"/>
              <a:ext cx="2014" cy="1604"/>
            </a:xfrm>
            <a:custGeom>
              <a:avLst/>
              <a:gdLst>
                <a:gd name="connisteX0" fmla="*/ 0 w 1278890"/>
                <a:gd name="connsiteY0" fmla="*/ 1018540 h 1018540"/>
                <a:gd name="connisteX1" fmla="*/ 1278890 w 1278890"/>
                <a:gd name="connsiteY1" fmla="*/ 1018540 h 1018540"/>
                <a:gd name="connisteX2" fmla="*/ 1270635 w 1278890"/>
                <a:gd name="connsiteY2" fmla="*/ 0 h 1018540"/>
                <a:gd name="connisteX3" fmla="*/ 0 w 1278890"/>
                <a:gd name="connsiteY3" fmla="*/ 17145 h 1018540"/>
                <a:gd name="connisteX4" fmla="*/ 0 w 1278890"/>
                <a:gd name="connsiteY4" fmla="*/ 1018540 h 101854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1278890" h="1018540">
                  <a:moveTo>
                    <a:pt x="0" y="1018540"/>
                  </a:moveTo>
                  <a:lnTo>
                    <a:pt x="1278890" y="1018540"/>
                  </a:lnTo>
                  <a:lnTo>
                    <a:pt x="1270635" y="0"/>
                  </a:lnTo>
                  <a:lnTo>
                    <a:pt x="0" y="17145"/>
                  </a:lnTo>
                  <a:lnTo>
                    <a:pt x="0" y="1018540"/>
                  </a:lnTo>
                  <a:close/>
                </a:path>
              </a:pathLst>
            </a:custGeom>
            <a:solidFill>
              <a:schemeClr val="accent2">
                <a:lumMod val="40000"/>
                <a:lumOff val="60000"/>
                <a:alpha val="7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任意多边形 8"/>
            <p:cNvSpPr/>
            <p:nvPr/>
          </p:nvSpPr>
          <p:spPr>
            <a:xfrm>
              <a:off x="5117" y="1370"/>
              <a:ext cx="2947" cy="2933"/>
            </a:xfrm>
            <a:custGeom>
              <a:avLst/>
              <a:gdLst>
                <a:gd name="connisteX0" fmla="*/ 1871345 w 1871345"/>
                <a:gd name="connsiteY0" fmla="*/ 104140 h 1862455"/>
                <a:gd name="connisteX1" fmla="*/ 670560 w 1871345"/>
                <a:gd name="connsiteY1" fmla="*/ 78105 h 1862455"/>
                <a:gd name="connisteX2" fmla="*/ 0 w 1871345"/>
                <a:gd name="connsiteY2" fmla="*/ 0 h 1862455"/>
                <a:gd name="connisteX3" fmla="*/ 52705 w 1871345"/>
                <a:gd name="connsiteY3" fmla="*/ 756920 h 1862455"/>
                <a:gd name="connisteX4" fmla="*/ 86995 w 1871345"/>
                <a:gd name="connsiteY4" fmla="*/ 1862455 h 1862455"/>
                <a:gd name="connisteX5" fmla="*/ 1079500 w 1871345"/>
                <a:gd name="connsiteY5" fmla="*/ 1844675 h 1862455"/>
                <a:gd name="connisteX6" fmla="*/ 1070610 w 1871345"/>
                <a:gd name="connsiteY6" fmla="*/ 1357630 h 1862455"/>
                <a:gd name="connisteX7" fmla="*/ 1340485 w 1871345"/>
                <a:gd name="connsiteY7" fmla="*/ 1104900 h 1862455"/>
                <a:gd name="connisteX8" fmla="*/ 1862455 w 1871345"/>
                <a:gd name="connsiteY8" fmla="*/ 1122680 h 1862455"/>
                <a:gd name="connisteX9" fmla="*/ 1871345 w 1871345"/>
                <a:gd name="connsiteY9" fmla="*/ 104140 h 18624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Lst>
              <a:rect l="l" t="t" r="r" b="b"/>
              <a:pathLst>
                <a:path w="1871345" h="1862455">
                  <a:moveTo>
                    <a:pt x="1871345" y="104140"/>
                  </a:moveTo>
                  <a:lnTo>
                    <a:pt x="670560" y="78105"/>
                  </a:lnTo>
                  <a:lnTo>
                    <a:pt x="0" y="0"/>
                  </a:lnTo>
                  <a:lnTo>
                    <a:pt x="52705" y="756920"/>
                  </a:lnTo>
                  <a:lnTo>
                    <a:pt x="86995" y="1862455"/>
                  </a:lnTo>
                  <a:lnTo>
                    <a:pt x="1079500" y="1844675"/>
                  </a:lnTo>
                  <a:lnTo>
                    <a:pt x="1070610" y="1357630"/>
                  </a:lnTo>
                  <a:lnTo>
                    <a:pt x="1340485" y="1104900"/>
                  </a:lnTo>
                  <a:lnTo>
                    <a:pt x="1862455" y="1122680"/>
                  </a:lnTo>
                  <a:lnTo>
                    <a:pt x="1871345" y="104140"/>
                  </a:lnTo>
                  <a:close/>
                </a:path>
              </a:pathLst>
            </a:custGeom>
            <a:solidFill>
              <a:schemeClr val="accent6">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任意多边形 9"/>
            <p:cNvSpPr/>
            <p:nvPr/>
          </p:nvSpPr>
          <p:spPr>
            <a:xfrm>
              <a:off x="10065" y="1411"/>
              <a:ext cx="2906" cy="2878"/>
            </a:xfrm>
            <a:custGeom>
              <a:avLst/>
              <a:gdLst>
                <a:gd name="connisteX0" fmla="*/ 0 w 1845310"/>
                <a:gd name="connsiteY0" fmla="*/ 95250 h 1827530"/>
                <a:gd name="connisteX1" fmla="*/ 1192530 w 1845310"/>
                <a:gd name="connsiteY1" fmla="*/ 69215 h 1827530"/>
                <a:gd name="connisteX2" fmla="*/ 1845310 w 1845310"/>
                <a:gd name="connsiteY2" fmla="*/ 0 h 1827530"/>
                <a:gd name="connisteX3" fmla="*/ 1792605 w 1845310"/>
                <a:gd name="connsiteY3" fmla="*/ 591820 h 1827530"/>
                <a:gd name="connisteX4" fmla="*/ 1758315 w 1845310"/>
                <a:gd name="connsiteY4" fmla="*/ 1052830 h 1827530"/>
                <a:gd name="connisteX5" fmla="*/ 1749425 w 1845310"/>
                <a:gd name="connsiteY5" fmla="*/ 1827530 h 1827530"/>
                <a:gd name="connisteX6" fmla="*/ 748665 w 1845310"/>
                <a:gd name="connsiteY6" fmla="*/ 1818640 h 1827530"/>
                <a:gd name="connisteX7" fmla="*/ 765810 w 1845310"/>
                <a:gd name="connsiteY7" fmla="*/ 1357630 h 1827530"/>
                <a:gd name="connisteX8" fmla="*/ 495935 w 1845310"/>
                <a:gd name="connsiteY8" fmla="*/ 1069975 h 1827530"/>
                <a:gd name="connisteX9" fmla="*/ 8890 w 1845310"/>
                <a:gd name="connsiteY9" fmla="*/ 1069975 h 1827530"/>
                <a:gd name="connisteX10" fmla="*/ 0 w 1845310"/>
                <a:gd name="connsiteY10" fmla="*/ 95250 h 182753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Lst>
              <a:rect l="l" t="t" r="r" b="b"/>
              <a:pathLst>
                <a:path w="1845310" h="1827530">
                  <a:moveTo>
                    <a:pt x="0" y="95250"/>
                  </a:moveTo>
                  <a:lnTo>
                    <a:pt x="1192530" y="69215"/>
                  </a:lnTo>
                  <a:lnTo>
                    <a:pt x="1845310" y="0"/>
                  </a:lnTo>
                  <a:lnTo>
                    <a:pt x="1792605" y="591820"/>
                  </a:lnTo>
                  <a:lnTo>
                    <a:pt x="1758315" y="1052830"/>
                  </a:lnTo>
                  <a:lnTo>
                    <a:pt x="1749425" y="1827530"/>
                  </a:lnTo>
                  <a:lnTo>
                    <a:pt x="748665" y="1818640"/>
                  </a:lnTo>
                  <a:lnTo>
                    <a:pt x="765810" y="1357630"/>
                  </a:lnTo>
                  <a:lnTo>
                    <a:pt x="495935" y="1069975"/>
                  </a:lnTo>
                  <a:lnTo>
                    <a:pt x="8890" y="1069975"/>
                  </a:lnTo>
                  <a:lnTo>
                    <a:pt x="0" y="95250"/>
                  </a:lnTo>
                  <a:close/>
                </a:path>
              </a:pathLst>
            </a:custGeom>
            <a:solidFill>
              <a:schemeClr val="accent6">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任意多边形 10"/>
            <p:cNvSpPr/>
            <p:nvPr/>
          </p:nvSpPr>
          <p:spPr>
            <a:xfrm rot="5400000">
              <a:off x="10079" y="6359"/>
              <a:ext cx="2906" cy="2878"/>
            </a:xfrm>
            <a:custGeom>
              <a:avLst/>
              <a:gdLst>
                <a:gd name="connisteX0" fmla="*/ 0 w 1845310"/>
                <a:gd name="connsiteY0" fmla="*/ 95250 h 1827530"/>
                <a:gd name="connisteX1" fmla="*/ 1192530 w 1845310"/>
                <a:gd name="connsiteY1" fmla="*/ 69215 h 1827530"/>
                <a:gd name="connisteX2" fmla="*/ 1845310 w 1845310"/>
                <a:gd name="connsiteY2" fmla="*/ 0 h 1827530"/>
                <a:gd name="connisteX3" fmla="*/ 1792605 w 1845310"/>
                <a:gd name="connsiteY3" fmla="*/ 591820 h 1827530"/>
                <a:gd name="connisteX4" fmla="*/ 1758315 w 1845310"/>
                <a:gd name="connsiteY4" fmla="*/ 1052830 h 1827530"/>
                <a:gd name="connisteX5" fmla="*/ 1749425 w 1845310"/>
                <a:gd name="connsiteY5" fmla="*/ 1827530 h 1827530"/>
                <a:gd name="connisteX6" fmla="*/ 748665 w 1845310"/>
                <a:gd name="connsiteY6" fmla="*/ 1818640 h 1827530"/>
                <a:gd name="connisteX7" fmla="*/ 765810 w 1845310"/>
                <a:gd name="connsiteY7" fmla="*/ 1357630 h 1827530"/>
                <a:gd name="connisteX8" fmla="*/ 495935 w 1845310"/>
                <a:gd name="connsiteY8" fmla="*/ 1069975 h 1827530"/>
                <a:gd name="connisteX9" fmla="*/ 8890 w 1845310"/>
                <a:gd name="connsiteY9" fmla="*/ 1069975 h 1827530"/>
                <a:gd name="connisteX10" fmla="*/ 0 w 1845310"/>
                <a:gd name="connsiteY10" fmla="*/ 95250 h 182753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Lst>
              <a:rect l="l" t="t" r="r" b="b"/>
              <a:pathLst>
                <a:path w="1845310" h="1827530">
                  <a:moveTo>
                    <a:pt x="0" y="95250"/>
                  </a:moveTo>
                  <a:lnTo>
                    <a:pt x="1192530" y="69215"/>
                  </a:lnTo>
                  <a:lnTo>
                    <a:pt x="1845310" y="0"/>
                  </a:lnTo>
                  <a:lnTo>
                    <a:pt x="1792605" y="591820"/>
                  </a:lnTo>
                  <a:lnTo>
                    <a:pt x="1758315" y="1052830"/>
                  </a:lnTo>
                  <a:lnTo>
                    <a:pt x="1749425" y="1827530"/>
                  </a:lnTo>
                  <a:lnTo>
                    <a:pt x="748665" y="1818640"/>
                  </a:lnTo>
                  <a:lnTo>
                    <a:pt x="765810" y="1357630"/>
                  </a:lnTo>
                  <a:lnTo>
                    <a:pt x="495935" y="1069975"/>
                  </a:lnTo>
                  <a:lnTo>
                    <a:pt x="8890" y="1069975"/>
                  </a:lnTo>
                  <a:lnTo>
                    <a:pt x="0" y="95250"/>
                  </a:lnTo>
                  <a:close/>
                </a:path>
              </a:pathLst>
            </a:custGeom>
            <a:solidFill>
              <a:schemeClr val="accent6">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任意多边形 11"/>
            <p:cNvSpPr/>
            <p:nvPr/>
          </p:nvSpPr>
          <p:spPr>
            <a:xfrm rot="10800000">
              <a:off x="5103" y="6372"/>
              <a:ext cx="2906" cy="2878"/>
            </a:xfrm>
            <a:custGeom>
              <a:avLst/>
              <a:gdLst>
                <a:gd name="connisteX0" fmla="*/ 0 w 1845310"/>
                <a:gd name="connsiteY0" fmla="*/ 95250 h 1827530"/>
                <a:gd name="connisteX1" fmla="*/ 1192530 w 1845310"/>
                <a:gd name="connsiteY1" fmla="*/ 69215 h 1827530"/>
                <a:gd name="connisteX2" fmla="*/ 1845310 w 1845310"/>
                <a:gd name="connsiteY2" fmla="*/ 0 h 1827530"/>
                <a:gd name="connisteX3" fmla="*/ 1792605 w 1845310"/>
                <a:gd name="connsiteY3" fmla="*/ 591820 h 1827530"/>
                <a:gd name="connisteX4" fmla="*/ 1758315 w 1845310"/>
                <a:gd name="connsiteY4" fmla="*/ 1052830 h 1827530"/>
                <a:gd name="connisteX5" fmla="*/ 1749425 w 1845310"/>
                <a:gd name="connsiteY5" fmla="*/ 1827530 h 1827530"/>
                <a:gd name="connisteX6" fmla="*/ 748665 w 1845310"/>
                <a:gd name="connsiteY6" fmla="*/ 1818640 h 1827530"/>
                <a:gd name="connisteX7" fmla="*/ 765810 w 1845310"/>
                <a:gd name="connsiteY7" fmla="*/ 1357630 h 1827530"/>
                <a:gd name="connisteX8" fmla="*/ 495935 w 1845310"/>
                <a:gd name="connsiteY8" fmla="*/ 1069975 h 1827530"/>
                <a:gd name="connisteX9" fmla="*/ 8890 w 1845310"/>
                <a:gd name="connsiteY9" fmla="*/ 1069975 h 1827530"/>
                <a:gd name="connisteX10" fmla="*/ 0 w 1845310"/>
                <a:gd name="connsiteY10" fmla="*/ 95250 h 182753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Lst>
              <a:rect l="l" t="t" r="r" b="b"/>
              <a:pathLst>
                <a:path w="1845310" h="1827530">
                  <a:moveTo>
                    <a:pt x="0" y="95250"/>
                  </a:moveTo>
                  <a:lnTo>
                    <a:pt x="1192530" y="69215"/>
                  </a:lnTo>
                  <a:lnTo>
                    <a:pt x="1845310" y="0"/>
                  </a:lnTo>
                  <a:lnTo>
                    <a:pt x="1792605" y="591820"/>
                  </a:lnTo>
                  <a:lnTo>
                    <a:pt x="1758315" y="1052830"/>
                  </a:lnTo>
                  <a:lnTo>
                    <a:pt x="1749425" y="1827530"/>
                  </a:lnTo>
                  <a:lnTo>
                    <a:pt x="748665" y="1818640"/>
                  </a:lnTo>
                  <a:lnTo>
                    <a:pt x="765810" y="1357630"/>
                  </a:lnTo>
                  <a:lnTo>
                    <a:pt x="495935" y="1069975"/>
                  </a:lnTo>
                  <a:lnTo>
                    <a:pt x="8890" y="1069975"/>
                  </a:lnTo>
                  <a:lnTo>
                    <a:pt x="0" y="95250"/>
                  </a:lnTo>
                  <a:close/>
                </a:path>
              </a:pathLst>
            </a:custGeom>
            <a:solidFill>
              <a:schemeClr val="accent6">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文本框 16"/>
            <p:cNvSpPr txBox="1"/>
            <p:nvPr/>
          </p:nvSpPr>
          <p:spPr>
            <a:xfrm>
              <a:off x="5796" y="2273"/>
              <a:ext cx="1048" cy="582"/>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办公</a:t>
              </a:r>
              <a:endParaRPr lang="zh-CN" altLang="en-US">
                <a:latin typeface="微软雅黑" panose="020B0503020204020204" pitchFamily="34" charset="-122"/>
                <a:ea typeface="微软雅黑" panose="020B0503020204020204" pitchFamily="34" charset="-122"/>
              </a:endParaRPr>
            </a:p>
          </p:txBody>
        </p:sp>
        <p:sp>
          <p:nvSpPr>
            <p:cNvPr id="18" name="文本框 17"/>
            <p:cNvSpPr txBox="1"/>
            <p:nvPr/>
          </p:nvSpPr>
          <p:spPr>
            <a:xfrm>
              <a:off x="8518" y="2034"/>
              <a:ext cx="1048" cy="582"/>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办公</a:t>
              </a:r>
              <a:endParaRPr lang="zh-CN" altLang="en-US">
                <a:latin typeface="微软雅黑" panose="020B0503020204020204" pitchFamily="34" charset="-122"/>
                <a:ea typeface="微软雅黑" panose="020B0503020204020204" pitchFamily="34" charset="-122"/>
              </a:endParaRPr>
            </a:p>
          </p:txBody>
        </p:sp>
        <p:sp>
          <p:nvSpPr>
            <p:cNvPr id="19" name="文本框 18"/>
            <p:cNvSpPr txBox="1"/>
            <p:nvPr/>
          </p:nvSpPr>
          <p:spPr>
            <a:xfrm>
              <a:off x="11244" y="2273"/>
              <a:ext cx="1048" cy="582"/>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办公</a:t>
              </a:r>
              <a:endParaRPr lang="zh-CN" altLang="en-US">
                <a:latin typeface="微软雅黑" panose="020B0503020204020204" pitchFamily="34" charset="-122"/>
                <a:ea typeface="微软雅黑" panose="020B0503020204020204" pitchFamily="34" charset="-122"/>
              </a:endParaRPr>
            </a:p>
          </p:txBody>
        </p:sp>
        <p:sp>
          <p:nvSpPr>
            <p:cNvPr id="20" name="文本框 19"/>
            <p:cNvSpPr txBox="1"/>
            <p:nvPr/>
          </p:nvSpPr>
          <p:spPr>
            <a:xfrm>
              <a:off x="11548" y="5015"/>
              <a:ext cx="1048" cy="582"/>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办公</a:t>
              </a:r>
              <a:endParaRPr lang="zh-CN" altLang="en-US">
                <a:latin typeface="微软雅黑" panose="020B0503020204020204" pitchFamily="34" charset="-122"/>
                <a:ea typeface="微软雅黑" panose="020B0503020204020204" pitchFamily="34" charset="-122"/>
              </a:endParaRPr>
            </a:p>
          </p:txBody>
        </p:sp>
        <p:sp>
          <p:nvSpPr>
            <p:cNvPr id="21" name="文本框 20"/>
            <p:cNvSpPr txBox="1"/>
            <p:nvPr/>
          </p:nvSpPr>
          <p:spPr>
            <a:xfrm>
              <a:off x="11270" y="7551"/>
              <a:ext cx="1048" cy="582"/>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办公</a:t>
              </a:r>
              <a:endParaRPr lang="zh-CN" altLang="en-US">
                <a:latin typeface="微软雅黑" panose="020B0503020204020204" pitchFamily="34" charset="-122"/>
                <a:ea typeface="微软雅黑" panose="020B0503020204020204" pitchFamily="34" charset="-122"/>
              </a:endParaRPr>
            </a:p>
          </p:txBody>
        </p:sp>
        <p:sp>
          <p:nvSpPr>
            <p:cNvPr id="22" name="文本框 21"/>
            <p:cNvSpPr txBox="1"/>
            <p:nvPr/>
          </p:nvSpPr>
          <p:spPr>
            <a:xfrm>
              <a:off x="8527" y="7838"/>
              <a:ext cx="1048" cy="582"/>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办公</a:t>
              </a:r>
              <a:endParaRPr lang="zh-CN" altLang="en-US">
                <a:latin typeface="微软雅黑" panose="020B0503020204020204" pitchFamily="34" charset="-122"/>
                <a:ea typeface="微软雅黑" panose="020B0503020204020204" pitchFamily="34" charset="-122"/>
              </a:endParaRPr>
            </a:p>
          </p:txBody>
        </p:sp>
        <p:sp>
          <p:nvSpPr>
            <p:cNvPr id="23" name="文本框 22"/>
            <p:cNvSpPr txBox="1"/>
            <p:nvPr/>
          </p:nvSpPr>
          <p:spPr>
            <a:xfrm>
              <a:off x="5924" y="7551"/>
              <a:ext cx="1048" cy="582"/>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办公</a:t>
              </a:r>
              <a:endParaRPr lang="zh-CN" altLang="en-US">
                <a:latin typeface="微软雅黑" panose="020B0503020204020204" pitchFamily="34" charset="-122"/>
                <a:ea typeface="微软雅黑" panose="020B0503020204020204" pitchFamily="34" charset="-122"/>
              </a:endParaRPr>
            </a:p>
          </p:txBody>
        </p:sp>
        <p:sp>
          <p:nvSpPr>
            <p:cNvPr id="24" name="文本框 23"/>
            <p:cNvSpPr txBox="1"/>
            <p:nvPr/>
          </p:nvSpPr>
          <p:spPr>
            <a:xfrm>
              <a:off x="5518" y="5015"/>
              <a:ext cx="1048" cy="582"/>
            </a:xfrm>
            <a:prstGeom prst="rect">
              <a:avLst/>
            </a:prstGeom>
            <a:noFill/>
          </p:spPr>
          <p:txBody>
            <a:bodyPr wrap="square" rtlCol="0">
              <a:spAutoFit/>
            </a:bodyPr>
            <a:p>
              <a:r>
                <a:rPr lang="zh-CN" altLang="en-US">
                  <a:latin typeface="微软雅黑" panose="020B0503020204020204" pitchFamily="34" charset="-122"/>
                  <a:ea typeface="微软雅黑" panose="020B0503020204020204" pitchFamily="34" charset="-122"/>
                </a:rPr>
                <a:t>办公</a:t>
              </a:r>
              <a:endParaRPr lang="zh-CN" altLang="en-US">
                <a:latin typeface="微软雅黑" panose="020B0503020204020204" pitchFamily="34" charset="-122"/>
                <a:ea typeface="微软雅黑" panose="020B0503020204020204" pitchFamily="34" charset="-122"/>
              </a:endParaRPr>
            </a:p>
          </p:txBody>
        </p:sp>
      </p:grpSp>
      <p:sp>
        <p:nvSpPr>
          <p:cNvPr id="26" name="文本框 25"/>
          <p:cNvSpPr txBox="1"/>
          <p:nvPr/>
        </p:nvSpPr>
        <p:spPr>
          <a:xfrm>
            <a:off x="2800350" y="635000"/>
            <a:ext cx="6460490" cy="383540"/>
          </a:xfrm>
          <a:prstGeom prst="rect">
            <a:avLst/>
          </a:prstGeom>
          <a:noFill/>
        </p:spPr>
        <p:txBody>
          <a:bodyPr wrap="none" rtlCol="0" anchor="t">
            <a:spAutoFit/>
          </a:bodyPr>
          <a:p>
            <a:r>
              <a:rPr lang="zh-CN" altLang="en-US" b="1" dirty="0">
                <a:solidFill>
                  <a:srgbClr val="C00000"/>
                </a:solidFill>
                <a:latin typeface="微软雅黑" panose="020B0503020204020204" pitchFamily="34" charset="-122"/>
                <a:sym typeface="微软雅黑" panose="020B0503020204020204" pitchFamily="34" charset="-122"/>
              </a:rPr>
              <a:t>每层均有办公</a:t>
            </a:r>
            <a:r>
              <a:rPr lang="en-US" altLang="zh-CN" b="1" dirty="0">
                <a:solidFill>
                  <a:srgbClr val="C00000"/>
                </a:solidFill>
                <a:latin typeface="微软雅黑" panose="020B0503020204020204" pitchFamily="34" charset="-122"/>
                <a:sym typeface="微软雅黑" panose="020B0503020204020204" pitchFamily="34" charset="-122"/>
              </a:rPr>
              <a:t>8</a:t>
            </a:r>
            <a:r>
              <a:rPr lang="zh-CN" altLang="en-US" b="1" dirty="0">
                <a:solidFill>
                  <a:srgbClr val="C00000"/>
                </a:solidFill>
                <a:latin typeface="微软雅黑" panose="020B0503020204020204" pitchFamily="34" charset="-122"/>
                <a:sym typeface="微软雅黑" panose="020B0503020204020204" pitchFamily="34" charset="-122"/>
              </a:rPr>
              <a:t>套，单层建筑面积约</a:t>
            </a:r>
            <a:r>
              <a:rPr lang="en-US" altLang="zh-CN" b="1" dirty="0">
                <a:solidFill>
                  <a:srgbClr val="C00000"/>
                </a:solidFill>
                <a:latin typeface="微软雅黑" panose="020B0503020204020204" pitchFamily="34" charset="-122"/>
                <a:sym typeface="微软雅黑" panose="020B0503020204020204" pitchFamily="34" charset="-122"/>
              </a:rPr>
              <a:t>2114.37-2233.62</a:t>
            </a:r>
            <a:r>
              <a:rPr lang="zh-CN" altLang="en-US" b="1" dirty="0">
                <a:solidFill>
                  <a:srgbClr val="C00000"/>
                </a:solidFill>
                <a:latin typeface="微软雅黑" panose="020B0503020204020204" pitchFamily="34" charset="-122"/>
                <a:sym typeface="微软雅黑" panose="020B0503020204020204" pitchFamily="34" charset="-122"/>
              </a:rPr>
              <a:t>㎡。</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G:\F3抠图-吊一.jpg"/>
          <p:cNvPicPr>
            <a:picLocks noChangeAspect="1" noChangeArrowheads="1"/>
          </p:cNvPicPr>
          <p:nvPr/>
        </p:nvPicPr>
        <p:blipFill rotWithShape="1">
          <a:blip r:embed="rId1"/>
          <a:srcRect/>
          <a:stretch>
            <a:fillRect/>
          </a:stretch>
        </p:blipFill>
        <p:spPr bwMode="auto">
          <a:xfrm>
            <a:off x="1574431" y="341861"/>
            <a:ext cx="8633567" cy="6059979"/>
          </a:xfrm>
          <a:prstGeom prst="rect">
            <a:avLst/>
          </a:prstGeom>
          <a:noFill/>
          <a:extLst>
            <a:ext uri="{909E8E84-426E-40DD-AFC4-6F175D3DCCD1}">
              <a14:hiddenFill xmlns:a14="http://schemas.microsoft.com/office/drawing/2010/main">
                <a:solidFill>
                  <a:srgbClr val="FFFFFF"/>
                </a:solidFill>
              </a14:hiddenFill>
            </a:ext>
          </a:extLst>
        </p:spPr>
      </p:pic>
      <p:sp>
        <p:nvSpPr>
          <p:cNvPr id="177" name="矩形 176"/>
          <p:cNvSpPr>
            <a:spLocks noChangeArrowheads="1"/>
          </p:cNvSpPr>
          <p:nvPr/>
        </p:nvSpPr>
        <p:spPr bwMode="auto">
          <a:xfrm>
            <a:off x="-12374" y="1407"/>
            <a:ext cx="5163068"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组团吊一层车库平面图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7054C4FD-7E9E-A448-98D3-6D4D6A94B966}" type="slidenum">
              <a:rPr kumimoji="1" lang="zh-CN" altLang="en-US" smtClean="0"/>
            </a:fld>
            <a:endParaRPr kumimoji="1" lang="zh-CN" altLang="en-US" dirty="0"/>
          </a:p>
        </p:txBody>
      </p:sp>
      <p:sp>
        <p:nvSpPr>
          <p:cNvPr id="173" name="矩形标注 53"/>
          <p:cNvSpPr/>
          <p:nvPr/>
        </p:nvSpPr>
        <p:spPr bwMode="auto">
          <a:xfrm>
            <a:off x="2983405" y="5909209"/>
            <a:ext cx="1148315" cy="513163"/>
          </a:xfrm>
          <a:prstGeom prst="wedgeRectCallout">
            <a:avLst>
              <a:gd name="adj1" fmla="val 100335"/>
              <a:gd name="adj2" fmla="val -46410"/>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室外至吊一层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174" name="右箭头 77"/>
          <p:cNvSpPr/>
          <p:nvPr/>
        </p:nvSpPr>
        <p:spPr bwMode="auto">
          <a:xfrm rot="16376807">
            <a:off x="4584712" y="5789503"/>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grpSp>
        <p:nvGrpSpPr>
          <p:cNvPr id="2" name="组合 1"/>
          <p:cNvGrpSpPr/>
          <p:nvPr/>
        </p:nvGrpSpPr>
        <p:grpSpPr>
          <a:xfrm>
            <a:off x="6146165" y="4224020"/>
            <a:ext cx="1093470" cy="937260"/>
            <a:chOff x="9679" y="6652"/>
            <a:chExt cx="1722" cy="1476"/>
          </a:xfrm>
        </p:grpSpPr>
        <p:sp>
          <p:nvSpPr>
            <p:cNvPr id="4" name="矩形 3"/>
            <p:cNvSpPr/>
            <p:nvPr/>
          </p:nvSpPr>
          <p:spPr>
            <a:xfrm>
              <a:off x="9679" y="6652"/>
              <a:ext cx="1723" cy="1476"/>
            </a:xfrm>
            <a:prstGeom prst="rect">
              <a:avLst/>
            </a:prstGeom>
            <a:noFill/>
            <a:ln w="317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 name="矩形 4"/>
            <p:cNvSpPr/>
            <p:nvPr/>
          </p:nvSpPr>
          <p:spPr>
            <a:xfrm>
              <a:off x="9828" y="6859"/>
              <a:ext cx="1426" cy="1062"/>
            </a:xfrm>
            <a:prstGeom prst="rect">
              <a:avLst/>
            </a:prstGeom>
          </p:spPr>
          <p:txBody>
            <a:bodyPr wrap="none" lIns="91436" tIns="45718" rIns="91436" bIns="45718">
              <a:spAutoFit/>
            </a:bodyPr>
            <a:lstStyle/>
            <a:p>
              <a:pPr algn="ctr"/>
              <a:r>
                <a:rPr lang="zh-CN" altLang="en-US" b="1" dirty="0">
                  <a:solidFill>
                    <a:srgbClr val="FF0000"/>
                  </a:solidFill>
                  <a:latin typeface="微软雅黑" panose="020B0503020204020204" pitchFamily="34" charset="-122"/>
                  <a:ea typeface="微软雅黑" panose="020B0503020204020204" pitchFamily="34" charset="-122"/>
                </a:rPr>
                <a:t>写字楼</a:t>
              </a:r>
              <a:endParaRPr lang="zh-CN" altLang="en-US" b="1" dirty="0">
                <a:solidFill>
                  <a:srgbClr val="FF0000"/>
                </a:solidFill>
                <a:latin typeface="微软雅黑" panose="020B0503020204020204" pitchFamily="34" charset="-122"/>
                <a:ea typeface="微软雅黑" panose="020B0503020204020204" pitchFamily="34" charset="-122"/>
              </a:endParaRPr>
            </a:p>
            <a:p>
              <a:pPr algn="ctr"/>
              <a:r>
                <a:rPr lang="zh-CN" altLang="en-US" b="1" dirty="0">
                  <a:solidFill>
                    <a:srgbClr val="FF0000"/>
                  </a:solidFill>
                  <a:latin typeface="微软雅黑" panose="020B0503020204020204" pitchFamily="34" charset="-122"/>
                  <a:ea typeface="微软雅黑" panose="020B0503020204020204" pitchFamily="34" charset="-122"/>
                </a:rPr>
                <a:t>大堂</a:t>
              </a:r>
              <a:endParaRPr lang="zh-CN" altLang="en-US" b="1" dirty="0">
                <a:solidFill>
                  <a:srgbClr val="FF0000"/>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G:\F3抠图-Model吊三.jpg"/>
          <p:cNvPicPr>
            <a:picLocks noChangeAspect="1" noChangeArrowheads="1"/>
          </p:cNvPicPr>
          <p:nvPr/>
        </p:nvPicPr>
        <p:blipFill rotWithShape="1">
          <a:blip r:embed="rId1"/>
          <a:srcRect/>
          <a:stretch>
            <a:fillRect/>
          </a:stretch>
        </p:blipFill>
        <p:spPr bwMode="auto">
          <a:xfrm>
            <a:off x="685801" y="268248"/>
            <a:ext cx="10114467" cy="6153653"/>
          </a:xfrm>
          <a:prstGeom prst="rect">
            <a:avLst/>
          </a:prstGeom>
          <a:noFill/>
          <a:extLst>
            <a:ext uri="{909E8E84-426E-40DD-AFC4-6F175D3DCCD1}">
              <a14:hiddenFill xmlns:a14="http://schemas.microsoft.com/office/drawing/2010/main">
                <a:solidFill>
                  <a:srgbClr val="FFFFFF"/>
                </a:solidFill>
              </a14:hiddenFill>
            </a:ext>
          </a:extLst>
        </p:spPr>
      </p:pic>
      <p:sp>
        <p:nvSpPr>
          <p:cNvPr id="169" name="矩形 168"/>
          <p:cNvSpPr>
            <a:spLocks noChangeArrowheads="1"/>
          </p:cNvSpPr>
          <p:nvPr/>
        </p:nvSpPr>
        <p:spPr bwMode="auto">
          <a:xfrm>
            <a:off x="-12374" y="1407"/>
            <a:ext cx="5163068"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组团吊三层车库平面图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9" name="任意多边形 8"/>
          <p:cNvSpPr/>
          <p:nvPr/>
        </p:nvSpPr>
        <p:spPr>
          <a:xfrm>
            <a:off x="2683827" y="1070848"/>
            <a:ext cx="3752535" cy="1155328"/>
          </a:xfrm>
          <a:custGeom>
            <a:avLst/>
            <a:gdLst>
              <a:gd name="connsiteX0" fmla="*/ 3752535 w 3752535"/>
              <a:gd name="connsiteY0" fmla="*/ 564912 h 1155328"/>
              <a:gd name="connsiteX1" fmla="*/ 3417255 w 3752535"/>
              <a:gd name="connsiteY1" fmla="*/ 1154192 h 1155328"/>
              <a:gd name="connsiteX2" fmla="*/ 2319975 w 3752535"/>
              <a:gd name="connsiteY2" fmla="*/ 696992 h 1155328"/>
              <a:gd name="connsiteX3" fmla="*/ 1222695 w 3752535"/>
              <a:gd name="connsiteY3" fmla="*/ 97552 h 1155328"/>
              <a:gd name="connsiteX4" fmla="*/ 420055 w 3752535"/>
              <a:gd name="connsiteY4" fmla="*/ 36592 h 1155328"/>
              <a:gd name="connsiteX5" fmla="*/ 13655 w 3752535"/>
              <a:gd name="connsiteY5" fmla="*/ 463312 h 1155328"/>
              <a:gd name="connsiteX6" fmla="*/ 135575 w 3752535"/>
              <a:gd name="connsiteY6" fmla="*/ 900192 h 1155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2535" h="1155328">
                <a:moveTo>
                  <a:pt x="3752535" y="564912"/>
                </a:moveTo>
                <a:cubicBezTo>
                  <a:pt x="3704275" y="848545"/>
                  <a:pt x="3656015" y="1132179"/>
                  <a:pt x="3417255" y="1154192"/>
                </a:cubicBezTo>
                <a:cubicBezTo>
                  <a:pt x="3178495" y="1176205"/>
                  <a:pt x="2685735" y="873099"/>
                  <a:pt x="2319975" y="696992"/>
                </a:cubicBezTo>
                <a:cubicBezTo>
                  <a:pt x="1954215" y="520885"/>
                  <a:pt x="1539348" y="207619"/>
                  <a:pt x="1222695" y="97552"/>
                </a:cubicBezTo>
                <a:cubicBezTo>
                  <a:pt x="906042" y="-12515"/>
                  <a:pt x="621562" y="-24368"/>
                  <a:pt x="420055" y="36592"/>
                </a:cubicBezTo>
                <a:cubicBezTo>
                  <a:pt x="218548" y="97552"/>
                  <a:pt x="61068" y="319379"/>
                  <a:pt x="13655" y="463312"/>
                </a:cubicBezTo>
                <a:cubicBezTo>
                  <a:pt x="-33758" y="607245"/>
                  <a:pt x="50908" y="753718"/>
                  <a:pt x="135575" y="900192"/>
                </a:cubicBezTo>
              </a:path>
            </a:pathLst>
          </a:custGeom>
          <a:noFill/>
          <a:ln w="31750">
            <a:solidFill>
              <a:srgbClr val="FF0000"/>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172" name="矩形标注 53"/>
          <p:cNvSpPr/>
          <p:nvPr/>
        </p:nvSpPr>
        <p:spPr bwMode="auto">
          <a:xfrm>
            <a:off x="5510974" y="971021"/>
            <a:ext cx="1413068" cy="328663"/>
          </a:xfrm>
          <a:prstGeom prst="wedgeRectCallout">
            <a:avLst>
              <a:gd name="adj1" fmla="val 17476"/>
              <a:gd name="adj2" fmla="val 149802"/>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500" b="1" dirty="0">
                <a:solidFill>
                  <a:srgbClr val="FFFFFF"/>
                </a:solidFill>
                <a:latin typeface="微软雅黑" panose="020B0503020204020204" pitchFamily="34" charset="-122"/>
                <a:ea typeface="微软雅黑" panose="020B0503020204020204" pitchFamily="34" charset="-122"/>
              </a:rPr>
              <a:t>F3</a:t>
            </a:r>
            <a:r>
              <a:rPr lang="zh-CN" altLang="en-US" sz="1500" b="1" dirty="0">
                <a:solidFill>
                  <a:srgbClr val="FFFFFF"/>
                </a:solidFill>
                <a:latin typeface="微软雅黑" panose="020B0503020204020204" pitchFamily="34" charset="-122"/>
                <a:ea typeface="微软雅黑" panose="020B0503020204020204" pitchFamily="34" charset="-122"/>
              </a:rPr>
              <a:t>组团出入口</a:t>
            </a:r>
            <a:endParaRPr lang="zh-CN" altLang="en-US" sz="1500" b="1" dirty="0">
              <a:solidFill>
                <a:srgbClr val="FFFFFF"/>
              </a:solidFill>
              <a:latin typeface="微软雅黑" panose="020B0503020204020204" pitchFamily="34" charset="-122"/>
              <a:ea typeface="微软雅黑" panose="020B0503020204020204" pitchFamily="34" charset="-122"/>
            </a:endParaRPr>
          </a:p>
        </p:txBody>
      </p:sp>
      <p:sp>
        <p:nvSpPr>
          <p:cNvPr id="173" name="右箭头 77"/>
          <p:cNvSpPr/>
          <p:nvPr/>
        </p:nvSpPr>
        <p:spPr bwMode="auto">
          <a:xfrm rot="6510769">
            <a:off x="6312537" y="1644169"/>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184" name="矩形标注 53"/>
          <p:cNvSpPr/>
          <p:nvPr/>
        </p:nvSpPr>
        <p:spPr bwMode="auto">
          <a:xfrm>
            <a:off x="793925" y="1135349"/>
            <a:ext cx="1148315" cy="513163"/>
          </a:xfrm>
          <a:prstGeom prst="wedgeRectCallout">
            <a:avLst>
              <a:gd name="adj1" fmla="val 21369"/>
              <a:gd name="adj2" fmla="val 84262"/>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室外至吊三层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185" name="右箭头 77"/>
          <p:cNvSpPr/>
          <p:nvPr/>
        </p:nvSpPr>
        <p:spPr bwMode="auto">
          <a:xfrm rot="2143463">
            <a:off x="1572272" y="1841977"/>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188" name="Rectangle 6"/>
          <p:cNvSpPr/>
          <p:nvPr/>
        </p:nvSpPr>
        <p:spPr>
          <a:xfrm rot="1483041">
            <a:off x="6909247" y="1530184"/>
            <a:ext cx="877583" cy="276989"/>
          </a:xfrm>
          <a:prstGeom prst="rect">
            <a:avLst/>
          </a:prstGeom>
        </p:spPr>
        <p:txBody>
          <a:bodyPr wrap="square" lIns="91424" tIns="45714" rIns="91424" bIns="45714">
            <a:spAutoFit/>
          </a:bodyPr>
          <a:lstStyle/>
          <a:p>
            <a:pPr algn="ctr">
              <a:defRPr/>
            </a:pPr>
            <a:r>
              <a:rPr lang="zh-CN" altLang="en-US" sz="1200" b="1" kern="0" dirty="0"/>
              <a:t>大寨路</a:t>
            </a:r>
            <a:endParaRPr lang="en-US" sz="1200" b="1" kern="0" dirty="0"/>
          </a:p>
        </p:txBody>
      </p:sp>
      <p:sp>
        <p:nvSpPr>
          <p:cNvPr id="189" name="燕尾形 62"/>
          <p:cNvSpPr/>
          <p:nvPr/>
        </p:nvSpPr>
        <p:spPr bwMode="auto">
          <a:xfrm rot="12709157">
            <a:off x="4678073" y="597465"/>
            <a:ext cx="292969" cy="214123"/>
          </a:xfrm>
          <a:prstGeom prst="chevron">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190" name="Rectangle 6"/>
          <p:cNvSpPr/>
          <p:nvPr/>
        </p:nvSpPr>
        <p:spPr>
          <a:xfrm rot="1506529">
            <a:off x="4693375" y="729824"/>
            <a:ext cx="877583" cy="276989"/>
          </a:xfrm>
          <a:prstGeom prst="rect">
            <a:avLst/>
          </a:prstGeom>
        </p:spPr>
        <p:txBody>
          <a:bodyPr wrap="square" lIns="91424" tIns="45714" rIns="91424" bIns="45714">
            <a:spAutoFit/>
          </a:bodyPr>
          <a:lstStyle/>
          <a:p>
            <a:pPr algn="ctr">
              <a:defRPr/>
            </a:pPr>
            <a:r>
              <a:rPr lang="zh-CN" altLang="en-US" sz="1200" b="1" kern="0" dirty="0"/>
              <a:t>往</a:t>
            </a:r>
            <a:r>
              <a:rPr lang="en-US" altLang="zh-CN" sz="1200" b="1" kern="0" dirty="0"/>
              <a:t>F10</a:t>
            </a:r>
            <a:endParaRPr lang="en-US" sz="1200" b="1" kern="0" dirty="0"/>
          </a:p>
        </p:txBody>
      </p:sp>
      <p:sp>
        <p:nvSpPr>
          <p:cNvPr id="191" name="灯片编号占位符 2"/>
          <p:cNvSpPr>
            <a:spLocks noGrp="1"/>
          </p:cNvSpPr>
          <p:nvPr>
            <p:ph type="sldNum" sz="quarter" idx="12"/>
          </p:nvPr>
        </p:nvSpPr>
        <p:spPr>
          <a:xfrm>
            <a:off x="8610600" y="6356352"/>
            <a:ext cx="2743200" cy="365125"/>
          </a:xfrm>
        </p:spPr>
        <p:txBody>
          <a:bodyPr/>
          <a:lstStyle/>
          <a:p>
            <a:fld id="{7054C4FD-7E9E-A448-98D3-6D4D6A94B966}" type="slidenum">
              <a:rPr kumimoji="1" lang="zh-CN" altLang="en-US" smtClean="0"/>
            </a:fld>
            <a:endParaRPr kumimoji="1" lang="zh-CN" altLang="en-US" dirty="0"/>
          </a:p>
        </p:txBody>
      </p:sp>
      <p:sp>
        <p:nvSpPr>
          <p:cNvPr id="192" name="Rectangle 6"/>
          <p:cNvSpPr/>
          <p:nvPr/>
        </p:nvSpPr>
        <p:spPr>
          <a:xfrm>
            <a:off x="9350635" y="3318393"/>
            <a:ext cx="438791" cy="830987"/>
          </a:xfrm>
          <a:prstGeom prst="rect">
            <a:avLst/>
          </a:prstGeom>
        </p:spPr>
        <p:txBody>
          <a:bodyPr wrap="square" lIns="91424" tIns="45714" rIns="91424" bIns="45714">
            <a:spAutoFit/>
          </a:bodyPr>
          <a:lstStyle/>
          <a:p>
            <a:pPr algn="ctr">
              <a:defRPr/>
            </a:pPr>
            <a:r>
              <a:rPr lang="zh-CN" altLang="en-US" sz="1200" b="1" kern="0" dirty="0"/>
              <a:t>尚礼西路</a:t>
            </a:r>
            <a:endParaRPr lang="en-US" sz="1200" b="1" kern="0" dirty="0"/>
          </a:p>
        </p:txBody>
      </p:sp>
      <p:grpSp>
        <p:nvGrpSpPr>
          <p:cNvPr id="2" name="组合 1"/>
          <p:cNvGrpSpPr/>
          <p:nvPr/>
        </p:nvGrpSpPr>
        <p:grpSpPr>
          <a:xfrm>
            <a:off x="4585335" y="4806950"/>
            <a:ext cx="1093470" cy="937260"/>
            <a:chOff x="9679" y="6652"/>
            <a:chExt cx="1722" cy="1476"/>
          </a:xfrm>
        </p:grpSpPr>
        <p:sp>
          <p:nvSpPr>
            <p:cNvPr id="4" name="矩形 3"/>
            <p:cNvSpPr/>
            <p:nvPr/>
          </p:nvSpPr>
          <p:spPr>
            <a:xfrm>
              <a:off x="9679" y="6652"/>
              <a:ext cx="1723" cy="1476"/>
            </a:xfrm>
            <a:prstGeom prst="rect">
              <a:avLst/>
            </a:prstGeom>
            <a:noFill/>
            <a:ln w="317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algn="ctr"/>
              <a:endParaRPr lang="zh-CN" altLang="en-US"/>
            </a:p>
          </p:txBody>
        </p:sp>
        <p:sp>
          <p:nvSpPr>
            <p:cNvPr id="5" name="矩形 4"/>
            <p:cNvSpPr/>
            <p:nvPr/>
          </p:nvSpPr>
          <p:spPr>
            <a:xfrm>
              <a:off x="9828" y="6859"/>
              <a:ext cx="1426" cy="1062"/>
            </a:xfrm>
            <a:prstGeom prst="rect">
              <a:avLst/>
            </a:prstGeom>
          </p:spPr>
          <p:txBody>
            <a:bodyPr wrap="none" lIns="91436" tIns="45718" rIns="91436" bIns="45718">
              <a:spAutoFit/>
            </a:bodyPr>
            <a:p>
              <a:pPr algn="ctr"/>
              <a:r>
                <a:rPr lang="zh-CN" altLang="en-US" b="1" dirty="0">
                  <a:solidFill>
                    <a:srgbClr val="FF0000"/>
                  </a:solidFill>
                  <a:latin typeface="微软雅黑" panose="020B0503020204020204" pitchFamily="34" charset="-122"/>
                  <a:ea typeface="微软雅黑" panose="020B0503020204020204" pitchFamily="34" charset="-122"/>
                </a:rPr>
                <a:t>写字楼</a:t>
              </a:r>
              <a:endParaRPr lang="zh-CN" altLang="en-US" b="1" dirty="0">
                <a:solidFill>
                  <a:srgbClr val="FF0000"/>
                </a:solidFill>
                <a:latin typeface="微软雅黑" panose="020B0503020204020204" pitchFamily="34" charset="-122"/>
                <a:ea typeface="微软雅黑" panose="020B0503020204020204" pitchFamily="34" charset="-122"/>
              </a:endParaRPr>
            </a:p>
            <a:p>
              <a:pPr algn="ctr"/>
              <a:r>
                <a:rPr lang="zh-CN" altLang="en-US" b="1" dirty="0">
                  <a:solidFill>
                    <a:srgbClr val="FF0000"/>
                  </a:solidFill>
                  <a:latin typeface="微软雅黑" panose="020B0503020204020204" pitchFamily="34" charset="-122"/>
                  <a:ea typeface="微软雅黑" panose="020B0503020204020204" pitchFamily="34" charset="-122"/>
                </a:rPr>
                <a:t>大堂</a:t>
              </a:r>
              <a:endParaRPr lang="zh-CN" altLang="en-US" b="1" dirty="0">
                <a:solidFill>
                  <a:srgbClr val="FF0000"/>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Users\Administrator\Desktop\F3组团裙房地下室（调整）2019.1.18吊4-Model.jpg"/>
          <p:cNvPicPr>
            <a:picLocks noChangeAspect="1" noChangeArrowheads="1"/>
          </p:cNvPicPr>
          <p:nvPr/>
        </p:nvPicPr>
        <p:blipFill rotWithShape="1">
          <a:blip r:embed="rId1"/>
          <a:srcRect/>
          <a:stretch>
            <a:fillRect/>
          </a:stretch>
        </p:blipFill>
        <p:spPr bwMode="auto">
          <a:xfrm>
            <a:off x="806007" y="127162"/>
            <a:ext cx="10282228" cy="6267892"/>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54" name="矩形 53"/>
          <p:cNvSpPr>
            <a:spLocks noChangeArrowheads="1"/>
          </p:cNvSpPr>
          <p:nvPr/>
        </p:nvSpPr>
        <p:spPr bwMode="auto">
          <a:xfrm>
            <a:off x="-12374" y="1407"/>
            <a:ext cx="5163068"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组团吊四层车库平面图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
        <p:nvSpPr>
          <p:cNvPr id="56" name="右箭头 77"/>
          <p:cNvSpPr/>
          <p:nvPr/>
        </p:nvSpPr>
        <p:spPr bwMode="auto">
          <a:xfrm rot="10474581">
            <a:off x="8736275" y="5511171"/>
            <a:ext cx="242888" cy="239415"/>
          </a:xfrm>
          <a:prstGeom prst="rightArrow">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57" name="矩形标注 53"/>
          <p:cNvSpPr/>
          <p:nvPr/>
        </p:nvSpPr>
        <p:spPr bwMode="auto">
          <a:xfrm>
            <a:off x="8944364" y="4752965"/>
            <a:ext cx="1148315" cy="513163"/>
          </a:xfrm>
          <a:prstGeom prst="wedgeRectCallout">
            <a:avLst>
              <a:gd name="adj1" fmla="val -50962"/>
              <a:gd name="adj2" fmla="val 100596"/>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zh-CN" altLang="en-US" sz="1200" b="1" dirty="0">
                <a:latin typeface="微软雅黑" panose="020B0503020204020204" pitchFamily="34" charset="-122"/>
                <a:ea typeface="微软雅黑" panose="020B0503020204020204" pitchFamily="34" charset="-122"/>
              </a:rPr>
              <a:t>室外至吊四层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车库出入口</a:t>
            </a:r>
            <a:endParaRPr lang="zh-CN" altLang="en-US" sz="1200" b="1" dirty="0">
              <a:latin typeface="微软雅黑" panose="020B0503020204020204" pitchFamily="34" charset="-122"/>
              <a:ea typeface="微软雅黑" panose="020B0503020204020204" pitchFamily="34" charset="-122"/>
            </a:endParaRPr>
          </a:p>
        </p:txBody>
      </p:sp>
      <p:sp>
        <p:nvSpPr>
          <p:cNvPr id="58" name="右箭头 77"/>
          <p:cNvSpPr/>
          <p:nvPr/>
        </p:nvSpPr>
        <p:spPr bwMode="auto">
          <a:xfrm rot="10800000">
            <a:off x="9242705" y="5496040"/>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59" name="矩形标注 53"/>
          <p:cNvSpPr/>
          <p:nvPr/>
        </p:nvSpPr>
        <p:spPr bwMode="auto">
          <a:xfrm>
            <a:off x="9591674" y="5925526"/>
            <a:ext cx="1197804" cy="328663"/>
          </a:xfrm>
          <a:prstGeom prst="wedgeRectCallout">
            <a:avLst>
              <a:gd name="adj1" fmla="val -57790"/>
              <a:gd name="adj2" fmla="val -138463"/>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200" b="1" dirty="0">
                <a:solidFill>
                  <a:srgbClr val="FFFFFF"/>
                </a:solidFill>
                <a:latin typeface="微软雅黑" panose="020B0503020204020204" pitchFamily="34" charset="-122"/>
                <a:ea typeface="微软雅黑" panose="020B0503020204020204" pitchFamily="34" charset="-122"/>
              </a:rPr>
              <a:t>F3</a:t>
            </a:r>
            <a:r>
              <a:rPr lang="zh-CN" altLang="en-US" sz="1200" b="1" dirty="0">
                <a:solidFill>
                  <a:srgbClr val="FFFFFF"/>
                </a:solidFill>
                <a:latin typeface="微软雅黑" panose="020B0503020204020204" pitchFamily="34" charset="-122"/>
                <a:ea typeface="微软雅黑" panose="020B0503020204020204" pitchFamily="34" charset="-122"/>
              </a:rPr>
              <a:t>组团入口</a:t>
            </a:r>
            <a:endParaRPr lang="zh-CN" altLang="en-US" sz="1200" b="1" dirty="0">
              <a:solidFill>
                <a:srgbClr val="FFFFFF"/>
              </a:solidFill>
              <a:latin typeface="微软雅黑" panose="020B0503020204020204" pitchFamily="34" charset="-122"/>
              <a:ea typeface="微软雅黑" panose="020B0503020204020204" pitchFamily="34" charset="-122"/>
            </a:endParaRPr>
          </a:p>
        </p:txBody>
      </p:sp>
      <p:sp>
        <p:nvSpPr>
          <p:cNvPr id="60" name="矩形 59"/>
          <p:cNvSpPr/>
          <p:nvPr/>
        </p:nvSpPr>
        <p:spPr>
          <a:xfrm rot="20529624">
            <a:off x="2313437" y="1956389"/>
            <a:ext cx="1139915" cy="581025"/>
          </a:xfrm>
          <a:prstGeom prst="rect">
            <a:avLst/>
          </a:prstGeom>
          <a:noFill/>
          <a:ln w="317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1" name="矩形 60"/>
          <p:cNvSpPr/>
          <p:nvPr/>
        </p:nvSpPr>
        <p:spPr>
          <a:xfrm rot="20404663">
            <a:off x="2303751" y="2143307"/>
            <a:ext cx="1159288" cy="384719"/>
          </a:xfrm>
          <a:prstGeom prst="rect">
            <a:avLst/>
          </a:prstGeom>
        </p:spPr>
        <p:txBody>
          <a:bodyPr wrap="none" lIns="91436" tIns="45718" rIns="91436" bIns="45718">
            <a:spAutoFit/>
          </a:bodyPr>
          <a:lstStyle/>
          <a:p>
            <a:r>
              <a:rPr lang="zh-CN" altLang="en-US" b="1" dirty="0">
                <a:latin typeface="微软雅黑" panose="020B0503020204020204" pitchFamily="34" charset="-122"/>
                <a:ea typeface="微软雅黑" panose="020B0503020204020204" pitchFamily="34" charset="-122"/>
              </a:rPr>
              <a:t>公寓大堂</a:t>
            </a:r>
            <a:endParaRPr lang="zh-CN" altLang="en-US" b="1" dirty="0">
              <a:latin typeface="微软雅黑" panose="020B0503020204020204" pitchFamily="34" charset="-122"/>
              <a:ea typeface="微软雅黑" panose="020B0503020204020204" pitchFamily="34" charset="-122"/>
            </a:endParaRPr>
          </a:p>
        </p:txBody>
      </p:sp>
      <p:sp>
        <p:nvSpPr>
          <p:cNvPr id="65" name="Rectangle 6"/>
          <p:cNvSpPr/>
          <p:nvPr/>
        </p:nvSpPr>
        <p:spPr>
          <a:xfrm rot="1483041">
            <a:off x="5399123" y="685835"/>
            <a:ext cx="877583" cy="276989"/>
          </a:xfrm>
          <a:prstGeom prst="rect">
            <a:avLst/>
          </a:prstGeom>
        </p:spPr>
        <p:txBody>
          <a:bodyPr wrap="square" lIns="91424" tIns="45714" rIns="91424" bIns="45714">
            <a:spAutoFit/>
          </a:bodyPr>
          <a:lstStyle/>
          <a:p>
            <a:pPr algn="ctr">
              <a:defRPr/>
            </a:pPr>
            <a:r>
              <a:rPr lang="zh-CN" altLang="en-US" sz="1200" b="1" kern="0" dirty="0"/>
              <a:t>大寨路</a:t>
            </a:r>
            <a:endParaRPr lang="en-US" sz="1200" b="1" kern="0" dirty="0"/>
          </a:p>
        </p:txBody>
      </p:sp>
      <p:sp>
        <p:nvSpPr>
          <p:cNvPr id="66" name="燕尾形 62"/>
          <p:cNvSpPr/>
          <p:nvPr/>
        </p:nvSpPr>
        <p:spPr bwMode="auto">
          <a:xfrm rot="12709157">
            <a:off x="4678073" y="597465"/>
            <a:ext cx="292969" cy="214123"/>
          </a:xfrm>
          <a:prstGeom prst="chevron">
            <a:avLst/>
          </a:prstGeom>
          <a:solidFill>
            <a:srgbClr val="0070C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sp>
        <p:nvSpPr>
          <p:cNvPr id="67" name="Rectangle 6"/>
          <p:cNvSpPr/>
          <p:nvPr/>
        </p:nvSpPr>
        <p:spPr>
          <a:xfrm rot="1506529">
            <a:off x="4693375" y="729824"/>
            <a:ext cx="877583" cy="276989"/>
          </a:xfrm>
          <a:prstGeom prst="rect">
            <a:avLst/>
          </a:prstGeom>
        </p:spPr>
        <p:txBody>
          <a:bodyPr wrap="square" lIns="91424" tIns="45714" rIns="91424" bIns="45714">
            <a:spAutoFit/>
          </a:bodyPr>
          <a:lstStyle/>
          <a:p>
            <a:pPr algn="ctr">
              <a:defRPr/>
            </a:pPr>
            <a:r>
              <a:rPr lang="zh-CN" altLang="en-US" sz="1200" b="1" kern="0" dirty="0"/>
              <a:t>往</a:t>
            </a:r>
            <a:r>
              <a:rPr lang="en-US" altLang="zh-CN" sz="1200" b="1" kern="0" dirty="0"/>
              <a:t>F10</a:t>
            </a:r>
            <a:endParaRPr lang="en-US" sz="1200" b="1" kern="0" dirty="0"/>
          </a:p>
        </p:txBody>
      </p:sp>
      <p:sp>
        <p:nvSpPr>
          <p:cNvPr id="68" name="Rectangle 6"/>
          <p:cNvSpPr/>
          <p:nvPr/>
        </p:nvSpPr>
        <p:spPr>
          <a:xfrm>
            <a:off x="9350635" y="3318393"/>
            <a:ext cx="438791" cy="830987"/>
          </a:xfrm>
          <a:prstGeom prst="rect">
            <a:avLst/>
          </a:prstGeom>
        </p:spPr>
        <p:txBody>
          <a:bodyPr wrap="square" lIns="91424" tIns="45714" rIns="91424" bIns="45714">
            <a:spAutoFit/>
          </a:bodyPr>
          <a:lstStyle/>
          <a:p>
            <a:pPr algn="ctr">
              <a:defRPr/>
            </a:pPr>
            <a:r>
              <a:rPr lang="zh-CN" altLang="en-US" sz="1200" b="1" kern="0" dirty="0"/>
              <a:t>尚礼西路</a:t>
            </a:r>
            <a:endParaRPr lang="en-US" sz="1200" b="1" kern="0" dirty="0"/>
          </a:p>
        </p:txBody>
      </p:sp>
      <p:sp>
        <p:nvSpPr>
          <p:cNvPr id="69" name="矩形标注 53"/>
          <p:cNvSpPr/>
          <p:nvPr/>
        </p:nvSpPr>
        <p:spPr bwMode="auto">
          <a:xfrm>
            <a:off x="6294415" y="969282"/>
            <a:ext cx="1413068" cy="328663"/>
          </a:xfrm>
          <a:prstGeom prst="wedgeRectCallout">
            <a:avLst>
              <a:gd name="adj1" fmla="val -31057"/>
              <a:gd name="adj2" fmla="val 130327"/>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ctr" anchorCtr="0" compatLnSpc="1"/>
          <a:lstStyle/>
          <a:p>
            <a:pPr algn="ctr"/>
            <a:r>
              <a:rPr lang="en-US" altLang="zh-CN" sz="1500" b="1" dirty="0">
                <a:solidFill>
                  <a:srgbClr val="FFFFFF"/>
                </a:solidFill>
                <a:latin typeface="微软雅黑" panose="020B0503020204020204" pitchFamily="34" charset="-122"/>
                <a:ea typeface="微软雅黑" panose="020B0503020204020204" pitchFamily="34" charset="-122"/>
              </a:rPr>
              <a:t>F3</a:t>
            </a:r>
            <a:r>
              <a:rPr lang="zh-CN" altLang="en-US" sz="1500" b="1" dirty="0">
                <a:solidFill>
                  <a:srgbClr val="FFFFFF"/>
                </a:solidFill>
                <a:latin typeface="微软雅黑" panose="020B0503020204020204" pitchFamily="34" charset="-122"/>
                <a:ea typeface="微软雅黑" panose="020B0503020204020204" pitchFamily="34" charset="-122"/>
              </a:rPr>
              <a:t>组团出入口</a:t>
            </a:r>
            <a:endParaRPr lang="zh-CN" altLang="en-US" sz="1500" b="1" dirty="0">
              <a:solidFill>
                <a:srgbClr val="FFFFFF"/>
              </a:solidFill>
              <a:latin typeface="微软雅黑" panose="020B0503020204020204" pitchFamily="34" charset="-122"/>
              <a:ea typeface="微软雅黑" panose="020B0503020204020204" pitchFamily="34" charset="-122"/>
            </a:endParaRPr>
          </a:p>
        </p:txBody>
      </p:sp>
      <p:sp>
        <p:nvSpPr>
          <p:cNvPr id="70" name="右箭头 77"/>
          <p:cNvSpPr/>
          <p:nvPr/>
        </p:nvSpPr>
        <p:spPr bwMode="auto">
          <a:xfrm rot="6510769">
            <a:off x="6340596" y="1524409"/>
            <a:ext cx="267177" cy="289691"/>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36" tIns="45718" rIns="91436" bIns="45718" numCol="1" rtlCol="0" anchor="t" anchorCtr="0" compatLnSpc="1"/>
          <a:lstStyle/>
          <a:p>
            <a:pPr defTabSz="956945" fontAlgn="base">
              <a:spcBef>
                <a:spcPct val="0"/>
              </a:spcBef>
              <a:spcAft>
                <a:spcPct val="0"/>
              </a:spcAft>
            </a:pPr>
            <a:endParaRPr lang="zh-CN" altLang="en-US">
              <a:latin typeface="Arial" panose="020B0604020202020204" pitchFamily="34" charset="0"/>
              <a:ea typeface="宋体" panose="02010600030101010101" pitchFamily="2" charset="-122"/>
            </a:endParaRPr>
          </a:p>
        </p:txBody>
      </p:sp>
      <p:grpSp>
        <p:nvGrpSpPr>
          <p:cNvPr id="3" name="组合 2"/>
          <p:cNvGrpSpPr/>
          <p:nvPr/>
        </p:nvGrpSpPr>
        <p:grpSpPr>
          <a:xfrm>
            <a:off x="4584700" y="4752975"/>
            <a:ext cx="1093470" cy="937260"/>
            <a:chOff x="9679" y="6652"/>
            <a:chExt cx="1722" cy="1476"/>
          </a:xfrm>
        </p:grpSpPr>
        <p:sp>
          <p:nvSpPr>
            <p:cNvPr id="4" name="矩形 3"/>
            <p:cNvSpPr/>
            <p:nvPr/>
          </p:nvSpPr>
          <p:spPr>
            <a:xfrm>
              <a:off x="9679" y="6652"/>
              <a:ext cx="1723" cy="1476"/>
            </a:xfrm>
            <a:prstGeom prst="rect">
              <a:avLst/>
            </a:prstGeom>
            <a:noFill/>
            <a:ln w="317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p>
              <a:pPr algn="ctr"/>
              <a:endParaRPr lang="zh-CN" altLang="en-US"/>
            </a:p>
          </p:txBody>
        </p:sp>
        <p:sp>
          <p:nvSpPr>
            <p:cNvPr id="5" name="矩形 4"/>
            <p:cNvSpPr/>
            <p:nvPr/>
          </p:nvSpPr>
          <p:spPr>
            <a:xfrm>
              <a:off x="9828" y="6859"/>
              <a:ext cx="1426" cy="1062"/>
            </a:xfrm>
            <a:prstGeom prst="rect">
              <a:avLst/>
            </a:prstGeom>
          </p:spPr>
          <p:txBody>
            <a:bodyPr wrap="none" lIns="91436" tIns="45718" rIns="91436" bIns="45718">
              <a:spAutoFit/>
            </a:bodyPr>
            <a:p>
              <a:pPr algn="ctr"/>
              <a:r>
                <a:rPr lang="zh-CN" altLang="en-US" b="1" dirty="0">
                  <a:solidFill>
                    <a:srgbClr val="FF0000"/>
                  </a:solidFill>
                  <a:latin typeface="微软雅黑" panose="020B0503020204020204" pitchFamily="34" charset="-122"/>
                  <a:ea typeface="微软雅黑" panose="020B0503020204020204" pitchFamily="34" charset="-122"/>
                </a:rPr>
                <a:t>写字楼</a:t>
              </a:r>
              <a:endParaRPr lang="zh-CN" altLang="en-US" b="1" dirty="0">
                <a:solidFill>
                  <a:srgbClr val="FF0000"/>
                </a:solidFill>
                <a:latin typeface="微软雅黑" panose="020B0503020204020204" pitchFamily="34" charset="-122"/>
                <a:ea typeface="微软雅黑" panose="020B0503020204020204" pitchFamily="34" charset="-122"/>
              </a:endParaRPr>
            </a:p>
            <a:p>
              <a:pPr algn="ctr"/>
              <a:r>
                <a:rPr lang="zh-CN" altLang="en-US" b="1" dirty="0">
                  <a:solidFill>
                    <a:srgbClr val="FF0000"/>
                  </a:solidFill>
                  <a:latin typeface="微软雅黑" panose="020B0503020204020204" pitchFamily="34" charset="-122"/>
                  <a:ea typeface="微软雅黑" panose="020B0503020204020204" pitchFamily="34" charset="-122"/>
                </a:rPr>
                <a:t>大堂</a:t>
              </a:r>
              <a:endParaRPr lang="zh-CN" altLang="en-US" b="1" dirty="0">
                <a:solidFill>
                  <a:srgbClr val="FF0000"/>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pic>
        <p:nvPicPr>
          <p:cNvPr id="5" name="图片 4"/>
          <p:cNvPicPr>
            <a:picLocks noChangeAspect="1"/>
          </p:cNvPicPr>
          <p:nvPr/>
        </p:nvPicPr>
        <p:blipFill>
          <a:blip r:embed="rId1"/>
          <a:stretch>
            <a:fillRect/>
          </a:stretch>
        </p:blipFill>
        <p:spPr>
          <a:xfrm>
            <a:off x="1568699" y="774699"/>
            <a:ext cx="9723683" cy="6081221"/>
          </a:xfrm>
          <a:prstGeom prst="rect">
            <a:avLst/>
          </a:prstGeom>
        </p:spPr>
      </p:pic>
      <p:sp>
        <p:nvSpPr>
          <p:cNvPr id="6" name="矩形 5"/>
          <p:cNvSpPr>
            <a:spLocks noChangeArrowheads="1"/>
          </p:cNvSpPr>
          <p:nvPr/>
        </p:nvSpPr>
        <p:spPr bwMode="auto">
          <a:xfrm>
            <a:off x="3637" y="2079"/>
            <a:ext cx="4696379"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组团效果图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6" name="矩形 5"/>
          <p:cNvSpPr>
            <a:spLocks noChangeArrowheads="1"/>
          </p:cNvSpPr>
          <p:nvPr/>
        </p:nvSpPr>
        <p:spPr bwMode="auto">
          <a:xfrm>
            <a:off x="3637" y="2079"/>
            <a:ext cx="4696379"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组团效果图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2500152" y="615950"/>
            <a:ext cx="7191695" cy="62420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6" name="矩形 5"/>
          <p:cNvSpPr>
            <a:spLocks noChangeArrowheads="1"/>
          </p:cNvSpPr>
          <p:nvPr/>
        </p:nvSpPr>
        <p:spPr bwMode="auto">
          <a:xfrm>
            <a:off x="3637" y="2079"/>
            <a:ext cx="4696379"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组团效果图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484230" y="533684"/>
            <a:ext cx="5559339" cy="6322237"/>
          </a:xfrm>
          <a:prstGeom prst="rect">
            <a:avLst/>
          </a:prstGeom>
        </p:spPr>
      </p:pic>
      <p:pic>
        <p:nvPicPr>
          <p:cNvPr id="8" name="图片 7"/>
          <p:cNvPicPr>
            <a:picLocks noChangeAspect="1"/>
          </p:cNvPicPr>
          <p:nvPr/>
        </p:nvPicPr>
        <p:blipFill>
          <a:blip r:embed="rId2"/>
          <a:stretch>
            <a:fillRect/>
          </a:stretch>
        </p:blipFill>
        <p:spPr>
          <a:xfrm>
            <a:off x="6354719" y="482884"/>
            <a:ext cx="4941219" cy="637303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
        <p:nvSpPr>
          <p:cNvPr id="6" name="矩形 5"/>
          <p:cNvSpPr>
            <a:spLocks noChangeArrowheads="1"/>
          </p:cNvSpPr>
          <p:nvPr/>
        </p:nvSpPr>
        <p:spPr bwMode="auto">
          <a:xfrm>
            <a:off x="3637" y="2079"/>
            <a:ext cx="4696379" cy="533684"/>
          </a:xfrm>
          <a:prstGeom prst="rect">
            <a:avLst/>
          </a:prstGeom>
          <a:solidFill>
            <a:srgbClr val="938953"/>
          </a:solidFill>
          <a:ln>
            <a:noFill/>
          </a:ln>
          <a:extLst>
            <a:ext uri="{91240B29-F687-4F45-9708-019B960494DF}">
              <a14:hiddenLine xmlns:a14="http://schemas.microsoft.com/office/drawing/2010/main" w="9525">
                <a:solidFill>
                  <a:srgbClr val="000000"/>
                </a:solidFill>
                <a:round/>
              </a14:hiddenLine>
            </a:ext>
          </a:extLst>
        </p:spPr>
        <p:txBody>
          <a:bodyPr lIns="91436" tIns="45718" rIns="91436" bIns="45718" anchor="ctr"/>
          <a:lstStyle/>
          <a:p>
            <a:pPr>
              <a:buFont typeface="Arial" panose="020B0604020202020204" pitchFamily="34" charset="0"/>
              <a:buNone/>
            </a:pPr>
            <a:r>
              <a:rPr lang="en-US" altLang="zh-CN"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F3</a:t>
            </a:r>
            <a:r>
              <a:rPr lang="zh-CN" altLang="en-US" sz="24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组团效果图</a:t>
            </a:r>
            <a:endParaRPr lang="zh-CN" altLang="en-US" sz="2400" b="1" dirty="0">
              <a:solidFill>
                <a:srgbClr val="FFFFFF"/>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stretch>
            <a:fillRect/>
          </a:stretch>
        </p:blipFill>
        <p:spPr>
          <a:xfrm>
            <a:off x="1531723" y="535762"/>
            <a:ext cx="9128554" cy="632223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054C4FD-7E9E-A448-98D3-6D4D6A94B966}" type="slidenum">
              <a:rPr kumimoji="1" lang="zh-CN" altLang="en-US" smtClean="0"/>
            </a:fld>
            <a:endParaRPr kumimoji="1" lang="zh-CN" altLang="en-US"/>
          </a:p>
        </p:txBody>
      </p:sp>
    </p:spTree>
  </p:cSld>
  <p:clrMapOvr>
    <a:masterClrMapping/>
  </p:clrMapOvr>
</p:sld>
</file>

<file path=ppt/tags/tag1.xml><?xml version="1.0" encoding="utf-8"?>
<p:tagLst xmlns:p="http://schemas.openxmlformats.org/presentationml/2006/main">
  <p:tag name="MH" val="20151030010321"/>
  <p:tag name="MH_LIBRARY" val="GRAPHIC"/>
  <p:tag name="MH_TYPE" val="Other"/>
  <p:tag name="MH_ORDER" val="1"/>
</p:tagLst>
</file>

<file path=ppt/tags/tag2.xml><?xml version="1.0" encoding="utf-8"?>
<p:tagLst xmlns:p="http://schemas.openxmlformats.org/presentationml/2006/main">
  <p:tag name="MH" val="20151030010321"/>
  <p:tag name="MH_LIBRARY" val="GRAPHIC"/>
  <p:tag name="MH_TYPE" val="Picture"/>
  <p:tag name="MH_ORDER" val="1"/>
</p:tagLst>
</file>

<file path=ppt/tags/tag3.xml><?xml version="1.0" encoding="utf-8"?>
<p:tagLst xmlns:p="http://schemas.openxmlformats.org/presentationml/2006/main">
  <p:tag name="MH" val="20151030010321"/>
  <p:tag name="MH_LIBRARY" val="GRAPHIC"/>
  <p:tag name="MH_TYPE" val="Picture"/>
  <p:tag name="MH_ORDER" val="2"/>
</p:tagLst>
</file>

<file path=ppt/tags/tag4.xml><?xml version="1.0" encoding="utf-8"?>
<p:tagLst xmlns:p="http://schemas.openxmlformats.org/presentationml/2006/main">
  <p:tag name="MH" val="20151030010321"/>
  <p:tag name="MH_LIBRARY" val="GRAPHIC"/>
  <p:tag name="MH_TYPE" val="Picture"/>
  <p:tag name="MH_ORDER" val="3"/>
</p:tagLst>
</file>

<file path=ppt/tags/tag5.xml><?xml version="1.0" encoding="utf-8"?>
<p:tagLst xmlns:p="http://schemas.openxmlformats.org/presentationml/2006/main">
  <p:tag name="MH" val="20151030010321"/>
  <p:tag name="MH_LIBRARY" val="GRAPHIC"/>
  <p:tag name="MH_TYPE" val="Picture"/>
  <p:tag name="MH_ORDER" val="4"/>
</p:tagLst>
</file>

<file path=ppt/tags/tag6.xml><?xml version="1.0" encoding="utf-8"?>
<p:tagLst xmlns:p="http://schemas.openxmlformats.org/presentationml/2006/main">
  <p:tag name="KSO_WM_UNIT_TABLE_BEAUTIFY" val="smartTable{88d03d8d-668e-4500-95ee-ae61316119b7}"/>
  <p:tag name="TABLE_ENDDRAG_ORIGIN_RECT" val="455*374"/>
  <p:tag name="TABLE_ENDDRAG_RECT" val="10*127*455*374"/>
</p:tagLst>
</file>

<file path=ppt/tags/tag7.xml><?xml version="1.0" encoding="utf-8"?>
<p:tagLst xmlns:p="http://schemas.openxmlformats.org/presentationml/2006/main">
  <p:tag name="KSO_WM_UNIT_TABLE_BEAUTIFY" val="smartTable{40077192-9d39-4434-94a8-ace0ddb049f6}"/>
  <p:tag name="TABLE_ENDDRAG_ORIGIN_RECT" val="470*373"/>
  <p:tag name="TABLE_ENDDRAG_RECT" val="473*128*470*37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3565</Words>
  <Application>WPS 演示</Application>
  <PresentationFormat>宽屏</PresentationFormat>
  <Paragraphs>542</Paragraphs>
  <Slides>27</Slides>
  <Notes>10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27</vt:i4>
      </vt:variant>
    </vt:vector>
  </HeadingPairs>
  <TitlesOfParts>
    <vt:vector size="43" baseType="lpstr">
      <vt:lpstr>Arial</vt:lpstr>
      <vt:lpstr>宋体</vt:lpstr>
      <vt:lpstr>Wingdings</vt:lpstr>
      <vt:lpstr>Arial</vt:lpstr>
      <vt:lpstr>微软雅黑</vt:lpstr>
      <vt:lpstr>方正黑体简体</vt:lpstr>
      <vt:lpstr>Calibri</vt:lpstr>
      <vt:lpstr>黑体</vt:lpstr>
      <vt:lpstr>等线</vt:lpstr>
      <vt:lpstr>Arial Unicode MS</vt:lpstr>
      <vt:lpstr>等线 Light</vt:lpstr>
      <vt:lpstr>Calibri</vt:lpstr>
      <vt:lpstr>BentonSans Book</vt:lpstr>
      <vt:lpstr>AMGDT</vt:lpstr>
      <vt:lpstr>PMingLiU</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方案一</dc:title>
  <dc:creator>Microsoft Office 用户</dc:creator>
  <cp:lastModifiedBy>蒋鑫</cp:lastModifiedBy>
  <cp:revision>404</cp:revision>
  <dcterms:created xsi:type="dcterms:W3CDTF">2017-06-27T03:49:00Z</dcterms:created>
  <dcterms:modified xsi:type="dcterms:W3CDTF">2022-02-21T06:59:32Z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2052-11.1.0.11294</vt:lpwstr>
  </property>
  <property fmtid="{D5CDD505-2E9C-101B-9397-08002B2CF9AE}" pid="3" name="ICV">
    <vt:lpwstr>5EBBE93F988247CF8EFE35725A6FFF6D</vt:lpwstr>
  </property>
</Properties>
</file>